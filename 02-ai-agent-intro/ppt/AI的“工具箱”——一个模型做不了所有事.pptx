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notesSlides/notesSlide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2.xml" Type="http://schemas.openxmlformats.org/officeDocument/2006/relationships/notesSlide"/><Relationship Id="rId41" Target="notesSlides/notesSlide3.xml" Type="http://schemas.openxmlformats.org/officeDocument/2006/relationships/notesSlide"/><Relationship Id="rId42" Target="notesSlides/notesSlide4.xml" Type="http://schemas.openxmlformats.org/officeDocument/2006/relationships/notesSlide"/><Relationship Id="rId43" Target="notesSlides/notesSlide5.xml" Type="http://schemas.openxmlformats.org/officeDocument/2006/relationships/notesSlide"/><Relationship Id="rId44" Target="notesSlides/notesSlide6.xml" Type="http://schemas.openxmlformats.org/officeDocument/2006/relationships/notesSlide"/><Relationship Id="rId45" Target="notesSlides/notesSlide7.xml" Type="http://schemas.openxmlformats.org/officeDocument/2006/relationships/notesSlide"/><Relationship Id="rId46" Target="notesSlides/notesSlide8.xml" Type="http://schemas.openxmlformats.org/officeDocument/2006/relationships/notesSlide"/><Relationship Id="rId47" Target="notesSlides/notesSlide9.xml" Type="http://schemas.openxmlformats.org/officeDocument/2006/relationships/notesSlide"/><Relationship Id="rId48" Target="notesSlides/notesSlide10.xml" Type="http://schemas.openxmlformats.org/officeDocument/2006/relationships/notesSlide"/><Relationship Id="rId49" Target="notesSlides/notesSlide11.xml" Type="http://schemas.openxmlformats.org/officeDocument/2006/relationships/notesSlide"/><Relationship Id="rId50" Target="notesSlides/notesSlide12.xml" Type="http://schemas.openxmlformats.org/officeDocument/2006/relationships/notesSlide"/><Relationship Id="rId51" Target="notesSlides/notesSlide13.xml" Type="http://schemas.openxmlformats.org/officeDocument/2006/relationships/notesSlide"/><Relationship Id="rId52" Target="notesSlides/notesSlide14.xml" Type="http://schemas.openxmlformats.org/officeDocument/2006/relationships/notesSlide"/><Relationship Id="rId53" Target="notesSlides/notesSlide15.xml" Type="http://schemas.openxmlformats.org/officeDocument/2006/relationships/notesSlide"/><Relationship Id="rId54" Target="notesSlides/notesSlide16.xml" Type="http://schemas.openxmlformats.org/officeDocument/2006/relationships/notesSlide"/><Relationship Id="rId55" Target="notesSlides/notesSlide17.xml" Type="http://schemas.openxmlformats.org/officeDocument/2006/relationships/notesSlide"/><Relationship Id="rId56" Target="notesSlides/notesSlide18.xml" Type="http://schemas.openxmlformats.org/officeDocument/2006/relationships/notesSlide"/><Relationship Id="rId57" Target="notesSlides/notesSlide19.xml" Type="http://schemas.openxmlformats.org/officeDocument/2006/relationships/notesSlide"/><Relationship Id="rId58" Target="notesSlides/notesSlide20.xml" Type="http://schemas.openxmlformats.org/officeDocument/2006/relationships/notesSlide"/><Relationship Id="rId59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2.xml" Type="http://schemas.openxmlformats.org/officeDocument/2006/relationships/notesSlide"/><Relationship Id="rId61" Target="notesSlides/notesSlide23.xml" Type="http://schemas.openxmlformats.org/officeDocument/2006/relationships/notesSlide"/><Relationship Id="rId62" Target="notesSlides/notesSlide24.xml" Type="http://schemas.openxmlformats.org/officeDocument/2006/relationships/notesSlide"/><Relationship Id="rId63" Target="notesSlides/notesSlide25.xml" Type="http://schemas.openxmlformats.org/officeDocument/2006/relationships/notesSlide"/><Relationship Id="rId64" Target="notesSlides/notesSlide26.xml" Type="http://schemas.openxmlformats.org/officeDocument/2006/relationships/notesSlide"/><Relationship Id="rId65" Target="notesSlides/notesSlide27.xml" Type="http://schemas.openxmlformats.org/officeDocument/2006/relationships/notesSlide"/><Relationship Id="rId66" Target="notesSlides/notesSlide28.xml" Type="http://schemas.openxmlformats.org/officeDocument/2006/relationships/notesSlide"/><Relationship Id="rId67" Target="notesSlides/notesSlide29.xml" Type="http://schemas.openxmlformats.org/officeDocument/2006/relationships/notesSlide"/><Relationship Id="rId68" Target="notesSlides/notesSlide30.xml" Type="http://schemas.openxmlformats.org/officeDocument/2006/relationships/notesSlide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大家好，欢迎来到“读懂AI Agent”通识课的第二课。在上一课中，我们了解了记忆对于AI Agent的重要性。今天，我们将探讨另一个核心话题：为什么说一个模型做不了所有事，以及一个强大的AI系统，是如何像一个“工具箱”一样，合理利用不同的AI模型来完成复杂任务的。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今天的课程大纲。我们会从一个有趣的AI模型对决体验开始，然后认识当前主流的AI模型，了解它们的计费方式和成本差异。休息之后，我们将重点讲解智能路由的概念，它就像医院的分诊台。接着，我们会通过互动体验和练习来巩固所学，最后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开始之前，我们先来做一个小体验。请大家打开三个不同的AI产品，比如ChatGPT、Kimi和Claude，分别让它们完成屏幕上的三个任务：解释量子力学、写一首七言绝句，以及调试一段代码。完成后，请给每个AI的表现打个分，并思考一个问题：这些AI模型，它们擅长的事情看起来一样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相信大家的体验结果已经出来了，不同的AI在不同任务上的表现确实有所差异。这就像我们去看病一样，感冒发烧去社区诊所就够了，但心脏手术必须去专科医院，心理问题则需要找心理咨询师。我们不会让同一个医生处理所有病症，因为世界上没有“万能医生”。同样的道理，AI模型也是如此，它们各有所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可以把构建AI系统比作组建一个医务室。方案A是请一个“全科医生”，什么都看，但什么都不精，而且成本很高。方案B则是请一个“专科医生团队”，通过分诊台将病人引导至最合适的科室，这样既能保证治疗效果，又能降低整体成本。显然，方案B是更优的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所以，我们必须建立一个核心认知：不同的AI模型，就像是不同科室的专科医生，它们各有所长。在构建AI系统时，与其执着于使用一个“最强最贵”的模型，不如根据具体的任务类型，选择最合适的那个。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我们来看一下当前主流的几个AI模型。GPT-4像是一位全科教授，综合能力强；GPT-4o-mini则像实习医生，速度快、费用低；Claude 3.5是代码天才，特别擅长编程；Gemini 1.5是速读冠军，处理超长文档能力出众；而Kimi则是中文专家，在中文理解上有优势。关键在于，没有任何一个模型能在所有方面都做到最好。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以我们的OpenClaw系统为例，它就采用了这样的多模型策略。对于简单的问候，它会调用快速便宜的mini模型；对于代码调试，它会交给Claude这位代码专家；对于总结长文档，它会使用Gemini这位速读冠军；而对于需要深度推理的架构设计，则会启用主力模型Kimi。如果所有任务都用GPT-4，那就好比杀鸡用牛刀，既浪费资源又没有必要。智能地选择合适的模型，才能做到又快又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AI是如何收费的呢？这很像我们去打印店。打印店按页收费，而AI则按“Token”收费，一个Token大约相当于一个字。不同的模型，就像打印店的不同服务：黑白打印便宜，对应快速的mini模型；彩色打印价格适中，对应普通模型；而精装印刷最贵，就像功能最强大的GPT-4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这是一张“AI打印店”的价目表。我们可以看到，最便宜的GPT-4o-mini和最贵的GPT-4之间，价格差距高达200倍！这意味着，如果我们不分任务类型，全部使用最贵的模型，成本将是巨大的。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几个具体的场景。对于“你好，天气怎么样”这样的简单问题，用GPT-4的成本是用mini模型的125倍。对于总结文章这样的任务，差距更是达到了180倍。如果一个月每天使用100次，全用GPT-4的月成本是450美元，而全用mini模型只需3美元。通过智能路由混合使用，成本可以控制在45美元左右，这显然是最佳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所以，“全部用最贵的模型”这种做法，就像把所有文件都用精装印刷一样，完全没有必要，也非常不划算。根据任务的复杂程度，选择合适的模型，我们最多可以节省90%的成本。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好了，我们先休息10分钟。在休息的时候，大家可以思考一下，一个AI系统是如何自动地为不同的任务选择合适的模型的呢？休息回来，我们将揭晓答案，关键词是：“分诊台”。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休息结束，我们回到正题。AI系统自动选择模型的机制，就叫做“智能路由”，它的工作方式和医院的分诊台非常相似。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当你去医院看病时，分诊台的护士会根据你的症状，判断你应该去哪个科室，甚至在紧急情况下直接送往急诊。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智能路由做的也是同样的事情：根据用户请求的“症状”，将其分配到最合适的AI“科室”（模型）。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具体来说，当一个用户请求进来后，智能路由系统会对其进行分析和判断。如果是代码调试请求，就交给Claude；如果是总结长报告，就交给Gemini；如果是简单的日期查询，就交给快速的mini模型；如果是复杂的产品方案设计，就交给主力模型Kimi。这样就实现了“轻症不用找专家，重症不能被耽误”的高效分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智能路由的判断依据，就是一套预设的“路由规则”，我们可以把它类比为医院的“分诊手册”。例如，如果用户的请求中包含“代码”、“编程”等关键词，就将其分配给代码专家模型；如果包含“总结”、“摘要”，就分配给长文档专家模型。对于简单问题，就使用快速模型。如果没有匹配到任何规则，就默认使用主力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一个好的分诊台护士，不仅会判断病人该去哪个科室，还会评估病情的严重程度。智能路由也是如此，它不仅会识别请求的类型，还会评估其“难度”。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例如，通过分析问题的长度、是否包含专业术语、是否需要深度思考等因素，来判断问题的复杂度，然后决定是使用mini模型、普通模型还是最强的模型。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同样是代码问题，写一个“Hello World”和重构一个万行系统，难度是天差地别的。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智能路由的实际效果如何呢？数据显示，与全部使用GPT-4相比，采用智能路由后，平均每次请求的成本下降了68%，平均响应时间提升了49%，而用户满意度保持不变。这意味着，我们在几乎不损失体验的情况下，实现了成本的大幅降低和速度的显著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什么智能路由能取得这么好的效果呢？这主要是由日常请求的分布决定的。在实际应用中，大约70%的请求是简单任务，20%是中等任务，只有10%是真正复杂的任务。如果不对请求进行分类，全部使用最强的模型，就意味着90%的资源被浪费在了本可以用更廉价模型处理的任务上。这就像公司里，如果70%的电话都是简单的咨询，却让副总去接每一个电话，这不仅浪费了副总的宝贵时间，客户体验也不会因此变得更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我们再次强调这个核心策略：“够用就好”。这并不是一种将就，而是在资源有限的情况下，最聪明、最高效的策略。就像我们通勤不需要开跑车，发微信不需要用企业专线一样，回复一句简单的“你好”，也完全不需要动用GPT-4这样的“超跑”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学习完了，我们来亲身体验一下当“分诊台”的感觉。这里有一些用户请求的示例，请大家快速判断，这些请求应该分别分配给快速便宜的mini模型、中等模型，还是最强的专家模型？每张卡片给大家30秒的决策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刚才的体验，相信大家对如何选择模型有了更直观的认识。这里我们总结了一个“选模型”三步法：第一步，定义任务类型，是简单对话、内容生成还是代码开发？第二步，确定优先级，是速度优先、质量优先还是成本优先？第三步，考虑整体预算。通过这三个步骤，我们就能为不同的任务找到最合适的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实际操作中，我们还需要避免一些常见的选型误区。比如，认为“只用最贵的就对了”，这就像天天吃午餐都去五星酒店，完全没有必要；或者认为“一个模型可以搞定所有”，这就像要求一个人同时当医生、律师和厨师，显然不现实；还有人误以为“AI不花钱”，但实际上，当使用规模变大后，成本差距会非常惊人。正确的做法是混合使用不同的模型，并通过智能路由进行合理分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来做一个综合练习。假设你是一家在线教育公司的AI架构师，公司的月预算是500美元。你们需要AI完成四类任务：回答学生的简单问题、批改作文、生成课程大纲，以及解答复杂的学术问题。请大家分组讨论，为每一类任务设计合适的模型分配方案，并预估总成本是否在预算内。如果超出了预算，应该如何优化？给大家20分钟的讨论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这里为大家提供一个参考模板，你们可以在这个表格里填写你们的设计方案。再次提醒大家，70%的请求都是简单问答，用mini模型来处理这部分请求，就能节省大部分预算。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的最后，我们来回顾一下今天的核心知识点。我们学习了为什么需要使用多个AI模型，了解了Token的计费方式和成本差异，掌握了智能路由的工作原理和惊人的优化效果，以及一套实用的模型选型三步法。希望这些内容能帮助大家在实际工作中更好地构建和使用AI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最后，请大家记住本课的核心金句：“够用就好”，这不是将就，而是最聪明的策略。让便宜的模型去处理简单的任务，让昂贵的模型专注于解决困难的问题，这就是智能路由的核心价值所在。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后，给大家留一个思考题。如果你的老板说：“我们公司不差钱，就用最强的GPT-4来做所有的AI功能。”你会如何运用我们今天学到的知识，特别是“医院分诊台”的类比，来劝说他这并不是一个好主意呢？大家可以在课后好好思考一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这张知识卡片总结了我们这一课的所有核心内容，希望能帮助大家更好地记忆和回顾。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当我们的AI系统拥有了多个模型工具，能够处理各种任务之后，如果任务变得越来越复杂、越来越多，一个AI可能就忙不过来了。就像人需要同事协作一样，AI也需要“同事”。下一课，我们将探讨AI团队协作的话题，看看一个AI系统是如何从“独行侠”演变成一个分工明确的“AI公司”的。感谢大家的参与，我们下次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3.jpe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jpe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15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13" Target="../media/image49.png" Type="http://schemas.openxmlformats.org/officeDocument/2006/relationships/image"/><Relationship Id="rId14" Target="../media/image50.svg" Type="http://schemas.openxmlformats.org/officeDocument/2006/relationships/image"/><Relationship Id="rId15" Target="../media/image51.png" Type="http://schemas.openxmlformats.org/officeDocument/2006/relationships/image"/><Relationship Id="rId16" Target="../media/image52.svg" Type="http://schemas.openxmlformats.org/officeDocument/2006/relationships/image"/><Relationship Id="rId17" Target="../media/image53.png" Type="http://schemas.openxmlformats.org/officeDocument/2006/relationships/image"/><Relationship Id="rId18" Target="../media/image54.svg" Type="http://schemas.openxmlformats.org/officeDocument/2006/relationships/image"/><Relationship Id="rId19" Target="../media/image55.jpeg" Type="http://schemas.openxmlformats.org/officeDocument/2006/relationships/image"/><Relationship Id="rId2" Target="../media/image2.jpeg" Type="http://schemas.openxmlformats.org/officeDocument/2006/relationships/image"/><Relationship Id="rId20" Target="../notesSlides/notesSlide9.xml" Type="http://schemas.openxmlformats.org/officeDocument/2006/relationships/notesSlid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2.jpe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26.jpe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8.svg" Type="http://schemas.openxmlformats.org/officeDocument/2006/relationships/image"/><Relationship Id="rId11" Target="../media/image79.png" Type="http://schemas.openxmlformats.org/officeDocument/2006/relationships/image"/><Relationship Id="rId12" Target="../media/image80.svg" Type="http://schemas.openxmlformats.org/officeDocument/2006/relationships/image"/><Relationship Id="rId13" Target="../media/image81.png" Type="http://schemas.openxmlformats.org/officeDocument/2006/relationships/image"/><Relationship Id="rId14" Target="../media/image8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71.png" Type="http://schemas.openxmlformats.org/officeDocument/2006/relationships/image"/><Relationship Id="rId4" Target="../media/image72.svg" Type="http://schemas.openxmlformats.org/officeDocument/2006/relationships/image"/><Relationship Id="rId5" Target="../media/image73.png" Type="http://schemas.openxmlformats.org/officeDocument/2006/relationships/image"/><Relationship Id="rId6" Target="../media/image74.svg" Type="http://schemas.openxmlformats.org/officeDocument/2006/relationships/image"/><Relationship Id="rId7" Target="../media/image75.png" Type="http://schemas.openxmlformats.org/officeDocument/2006/relationships/image"/><Relationship Id="rId8" Target="../media/image76.sv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8.svg" Type="http://schemas.openxmlformats.org/officeDocument/2006/relationships/image"/><Relationship Id="rId11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83.png" Type="http://schemas.openxmlformats.org/officeDocument/2006/relationships/image"/><Relationship Id="rId4" Target="../media/image84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85.png" Type="http://schemas.openxmlformats.org/officeDocument/2006/relationships/image"/><Relationship Id="rId8" Target="../media/image86.sv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8.svg" Type="http://schemas.openxmlformats.org/officeDocument/2006/relationships/image"/><Relationship Id="rId11" Target="../media/image93.png" Type="http://schemas.openxmlformats.org/officeDocument/2006/relationships/image"/><Relationship Id="rId12" Target="../media/image94.svg" Type="http://schemas.openxmlformats.org/officeDocument/2006/relationships/image"/><Relationship Id="rId13" Target="../media/image95.png" Type="http://schemas.openxmlformats.org/officeDocument/2006/relationships/image"/><Relationship Id="rId14" Target="../media/image96.svg" Type="http://schemas.openxmlformats.org/officeDocument/2006/relationships/image"/><Relationship Id="rId15" Target="../media/image97.png" Type="http://schemas.openxmlformats.org/officeDocument/2006/relationships/image"/><Relationship Id="rId16" Target="../media/image98.svg" Type="http://schemas.openxmlformats.org/officeDocument/2006/relationships/image"/><Relationship Id="rId17" Target="../media/image99.png" Type="http://schemas.openxmlformats.org/officeDocument/2006/relationships/image"/><Relationship Id="rId18" Target="../media/image100.svg" Type="http://schemas.openxmlformats.org/officeDocument/2006/relationships/image"/><Relationship Id="rId19" Target="../notesSlides/notesSlide17.xml" Type="http://schemas.openxmlformats.org/officeDocument/2006/relationships/notesSlide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89.png" Type="http://schemas.openxmlformats.org/officeDocument/2006/relationships/image"/><Relationship Id="rId6" Target="../media/image90.svg" Type="http://schemas.openxmlformats.org/officeDocument/2006/relationships/image"/><Relationship Id="rId7" Target="../media/image91.png" Type="http://schemas.openxmlformats.org/officeDocument/2006/relationships/image"/><Relationship Id="rId8" Target="../media/image92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01.png" Type="http://schemas.openxmlformats.org/officeDocument/2006/relationships/image"/><Relationship Id="rId4" Target="../media/image102.sv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Relationship Id="rId7" Target="../media/image105.png" Type="http://schemas.openxmlformats.org/officeDocument/2006/relationships/image"/><Relationship Id="rId8" Target="../media/image106.svg" Type="http://schemas.openxmlformats.org/officeDocument/2006/relationships/image"/><Relationship Id="rId9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0.svg" Type="http://schemas.openxmlformats.org/officeDocument/2006/relationships/image"/><Relationship Id="rId11" Target="../media/image111.png" Type="http://schemas.openxmlformats.org/officeDocument/2006/relationships/image"/><Relationship Id="rId12" Target="../media/image112.svg" Type="http://schemas.openxmlformats.org/officeDocument/2006/relationships/image"/><Relationship Id="rId13" Target="../media/image113.png" Type="http://schemas.openxmlformats.org/officeDocument/2006/relationships/image"/><Relationship Id="rId14" Target="../media/image114.svg" Type="http://schemas.openxmlformats.org/officeDocument/2006/relationships/image"/><Relationship Id="rId15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93.png" Type="http://schemas.openxmlformats.org/officeDocument/2006/relationships/image"/><Relationship Id="rId4" Target="../media/image94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107.png" Type="http://schemas.openxmlformats.org/officeDocument/2006/relationships/image"/><Relationship Id="rId8" Target="../media/image108.svg" Type="http://schemas.openxmlformats.org/officeDocument/2006/relationships/image"/><Relationship Id="rId9" Target="../media/image10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5.png" Type="http://schemas.openxmlformats.org/officeDocument/2006/relationships/image"/><Relationship Id="rId4" Target="../media/image116.sv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117.png" Type="http://schemas.openxmlformats.org/officeDocument/2006/relationships/image"/><Relationship Id="rId8" Target="../media/image118.svg" Type="http://schemas.openxmlformats.org/officeDocument/2006/relationships/image"/><Relationship Id="rId9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9.png" Type="http://schemas.openxmlformats.org/officeDocument/2006/relationships/image"/><Relationship Id="rId4" Target="../media/image120.svg" Type="http://schemas.openxmlformats.org/officeDocument/2006/relationships/image"/><Relationship Id="rId5" Target="../media/image121.png" Type="http://schemas.openxmlformats.org/officeDocument/2006/relationships/image"/><Relationship Id="rId6" Target="../media/image122.svg" Type="http://schemas.openxmlformats.org/officeDocument/2006/relationships/image"/><Relationship Id="rId7" Target="../media/image99.png" Type="http://schemas.openxmlformats.org/officeDocument/2006/relationships/image"/><Relationship Id="rId8" Target="../media/image100.svg" Type="http://schemas.openxmlformats.org/officeDocument/2006/relationships/image"/><Relationship Id="rId9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23.png" Type="http://schemas.openxmlformats.org/officeDocument/2006/relationships/image"/><Relationship Id="rId4" Target="../media/image124.svg" Type="http://schemas.openxmlformats.org/officeDocument/2006/relationships/image"/><Relationship Id="rId5" Target="../media/image125.png" Type="http://schemas.openxmlformats.org/officeDocument/2006/relationships/image"/><Relationship Id="rId6" Target="../media/image126.svg" Type="http://schemas.openxmlformats.org/officeDocument/2006/relationships/image"/><Relationship Id="rId7" Target="../media/image127.png" Type="http://schemas.openxmlformats.org/officeDocument/2006/relationships/image"/><Relationship Id="rId8" Target="../media/image128.svg" Type="http://schemas.openxmlformats.org/officeDocument/2006/relationships/image"/><Relationship Id="rId9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8.svg" Type="http://schemas.openxmlformats.org/officeDocument/2006/relationships/image"/><Relationship Id="rId11" Target="../media/image135.png" Type="http://schemas.openxmlformats.org/officeDocument/2006/relationships/image"/><Relationship Id="rId12" Target="../media/image136.svg" Type="http://schemas.openxmlformats.org/officeDocument/2006/relationships/image"/><Relationship Id="rId13" Target="../media/image137.png" Type="http://schemas.openxmlformats.org/officeDocument/2006/relationships/image"/><Relationship Id="rId14" Target="../media/image138.svg" Type="http://schemas.openxmlformats.org/officeDocument/2006/relationships/image"/><Relationship Id="rId15" Target="../media/image139.png" Type="http://schemas.openxmlformats.org/officeDocument/2006/relationships/image"/><Relationship Id="rId16" Target="../media/image140.svg" Type="http://schemas.openxmlformats.org/officeDocument/2006/relationships/image"/><Relationship Id="rId17" Target="../media/image141.png" Type="http://schemas.openxmlformats.org/officeDocument/2006/relationships/image"/><Relationship Id="rId18" Target="../media/image142.svg" Type="http://schemas.openxmlformats.org/officeDocument/2006/relationships/image"/><Relationship Id="rId19" Target="../media/image143.png" Type="http://schemas.openxmlformats.org/officeDocument/2006/relationships/image"/><Relationship Id="rId2" Target="../media/image2.jpeg" Type="http://schemas.openxmlformats.org/officeDocument/2006/relationships/image"/><Relationship Id="rId20" Target="../media/image144.svg" Type="http://schemas.openxmlformats.org/officeDocument/2006/relationships/image"/><Relationship Id="rId21" Target="../media/image145.png" Type="http://schemas.openxmlformats.org/officeDocument/2006/relationships/image"/><Relationship Id="rId22" Target="../media/image146.svg" Type="http://schemas.openxmlformats.org/officeDocument/2006/relationships/image"/><Relationship Id="rId23" Target="../notesSlides/notesSlide24.xml" Type="http://schemas.openxmlformats.org/officeDocument/2006/relationships/notesSlide"/><Relationship Id="rId3" Target="../media/image129.png" Type="http://schemas.openxmlformats.org/officeDocument/2006/relationships/image"/><Relationship Id="rId4" Target="../media/image130.svg" Type="http://schemas.openxmlformats.org/officeDocument/2006/relationships/image"/><Relationship Id="rId5" Target="../media/image131.png" Type="http://schemas.openxmlformats.org/officeDocument/2006/relationships/image"/><Relationship Id="rId6" Target="../media/image132.svg" Type="http://schemas.openxmlformats.org/officeDocument/2006/relationships/image"/><Relationship Id="rId7" Target="../media/image133.png" Type="http://schemas.openxmlformats.org/officeDocument/2006/relationships/image"/><Relationship Id="rId8" Target="../media/image134.sv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47.png" Type="http://schemas.openxmlformats.org/officeDocument/2006/relationships/image"/><Relationship Id="rId4" Target="../media/image148.svg" Type="http://schemas.openxmlformats.org/officeDocument/2006/relationships/image"/><Relationship Id="rId5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49.png" Type="http://schemas.openxmlformats.org/officeDocument/2006/relationships/image"/><Relationship Id="rId4" Target="../media/image150.svg" Type="http://schemas.openxmlformats.org/officeDocument/2006/relationships/image"/><Relationship Id="rId5" Target="../media/image99.png" Type="http://schemas.openxmlformats.org/officeDocument/2006/relationships/image"/><Relationship Id="rId6" Target="../media/image100.svg" Type="http://schemas.openxmlformats.org/officeDocument/2006/relationships/image"/><Relationship Id="rId7" Target="../media/image151.png" Type="http://schemas.openxmlformats.org/officeDocument/2006/relationships/image"/><Relationship Id="rId8" Target="../media/image152.svg" Type="http://schemas.openxmlformats.org/officeDocument/2006/relationships/image"/><Relationship Id="rId9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53.png" Type="http://schemas.openxmlformats.org/officeDocument/2006/relationships/image"/><Relationship Id="rId4" Target="../media/image154.svg" Type="http://schemas.openxmlformats.org/officeDocument/2006/relationships/image"/><Relationship Id="rId5" Target="../media/image155.png" Type="http://schemas.openxmlformats.org/officeDocument/2006/relationships/image"/><Relationship Id="rId6" Target="../media/image156.svg" Type="http://schemas.openxmlformats.org/officeDocument/2006/relationships/image"/><Relationship Id="rId7" Target="../media/image147.png" Type="http://schemas.openxmlformats.org/officeDocument/2006/relationships/image"/><Relationship Id="rId8" Target="../media/image148.svg" Type="http://schemas.openxmlformats.org/officeDocument/2006/relationships/image"/><Relationship Id="rId9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8.svg" Type="http://schemas.openxmlformats.org/officeDocument/2006/relationships/image"/><Relationship Id="rId11" Target="../notesSlides/notesSlide29.xml" Type="http://schemas.openxmlformats.org/officeDocument/2006/relationships/notesSlide"/><Relationship Id="rId2" Target="../media/image1.jpeg" Type="http://schemas.openxmlformats.org/officeDocument/2006/relationships/image"/><Relationship Id="rId3" Target="../media/image157.png" Type="http://schemas.openxmlformats.org/officeDocument/2006/relationships/image"/><Relationship Id="rId4" Target="../media/image158.svg" Type="http://schemas.openxmlformats.org/officeDocument/2006/relationships/image"/><Relationship Id="rId5" Target="../media/image159.png" Type="http://schemas.openxmlformats.org/officeDocument/2006/relationships/image"/><Relationship Id="rId6" Target="../media/image160.svg" Type="http://schemas.openxmlformats.org/officeDocument/2006/relationships/image"/><Relationship Id="rId7" Target="../media/image161.png" Type="http://schemas.openxmlformats.org/officeDocument/2006/relationships/image"/><Relationship Id="rId8" Target="../media/image162.svg" Type="http://schemas.openxmlformats.org/officeDocument/2006/relationships/image"/><Relationship Id="rId9" Target="../media/image10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9.png" Type="http://schemas.openxmlformats.org/officeDocument/2006/relationships/image"/><Relationship Id="rId2" Target="../media/image1.jpeg" Type="http://schemas.openxmlformats.org/officeDocument/2006/relationships/image"/><Relationship Id="rId3" Target="../media/image163.png" Type="http://schemas.openxmlformats.org/officeDocument/2006/relationships/image"/><Relationship Id="rId4" Target="../media/image164.svg" Type="http://schemas.openxmlformats.org/officeDocument/2006/relationships/image"/><Relationship Id="rId5" Target="../media/image165.png" Type="http://schemas.openxmlformats.org/officeDocument/2006/relationships/image"/><Relationship Id="rId6" Target="../media/image166.svg" Type="http://schemas.openxmlformats.org/officeDocument/2006/relationships/image"/><Relationship Id="rId7" Target="../media/image167.png" Type="http://schemas.openxmlformats.org/officeDocument/2006/relationships/image"/><Relationship Id="rId8" Target="../media/image168.svg" Type="http://schemas.openxmlformats.org/officeDocument/2006/relationships/image"/><Relationship Id="rId9" Target="../notesSlides/notesSlide3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🧰 AI的“工具箱”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857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一个模型做不了所有事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D7E1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81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读懂AI Agent —— 给每个人的智能助手通识课 | 第2课 / 共6课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今天的旅程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414000" cy="416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6096000"/>
                <a:gridCol w="2032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环节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🧪 导入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AI模型对决体验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🏥 模块2.1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认识主流AI模型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💰 模块2.2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Token与成本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☕ 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🔀 模块2.3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智能路由=分诊台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🎭 体验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你来当分诊台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✏️ 练习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设计模型分配方案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📌 总结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核心回顾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🧪 体验：AI模型对决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请打开三个AI产品，分别完成以下任务，体验不同模型的差异：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286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任务一：逻辑解释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626" flipH="false" flipV="false">
            <a:off x="1016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使用工具：ChatGPT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02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"用一句话解释量子力学"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207000" y="2286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任务二：创意创作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5626" flipH="false" flipV="false">
            <a:off x="4699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699000" y="2921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使用工具：Kimi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3302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"写一首关于春天的七言绝句"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890000" y="2286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任务三：代码调试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5626" flipH="false" flipV="false">
            <a:off x="8382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382000" y="2921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使用工具：Claude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82000" y="3302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"这段代码有什么bug？`for i in range(10) print(i)`"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080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0F8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397000" y="5334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给每个AI的回答打分（1-5分），记录表现差异。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53340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731000" y="53340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思考问题：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它们擅长的领域看起来一样吗？为什么？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🤔 你看病会怎么做？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感冒发烧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症状较轻，去</a:t>
            </a: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社区诊所</a:t>
            </a: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就行，方便快捷。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207000" y="1905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心脏手术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241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病情复杂，必须去</a:t>
            </a: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专科医院</a:t>
            </a: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，专业保障。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890000" y="1905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心理问题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241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情绪困扰，找专业的</a:t>
            </a: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心理咨询师</a:t>
            </a: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318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EBF8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397000" y="4546600"/>
            <a:ext cx="977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思考：为什么不是所有病都找同一个医生？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297" flipH="false" flipV="false">
            <a:off x="1016004" y="5010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207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397000" y="5181600"/>
            <a:ext cx="977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因为没有“万能医生” →</a:t>
            </a: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AI模型也一样！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不同的AI擅长处理不同的任务。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🏥 两种“医务室”方案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05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方案A：请一个“全科医生” (❌ 贵且不精)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2540000"/>
            <a:ext cx="1270000" cy="1270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4038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什么都看，但不够专业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4508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4483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复杂手术（如心脏）不如专家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4927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响应速度不够快，薪资成本高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1905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方案B：请一组“专科医生” (✅ 又好又省)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604000" y="2540000"/>
            <a:ext cx="1270000" cy="1270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4064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85000" y="4038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设立分诊台，精准引导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4508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4483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内科、骨科、心理各司其职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4953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4927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治疗效果优，整体成本更低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核心认知：AI模型的选择之道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51000" y="1778000"/>
            <a:ext cx="889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2159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2921000" y="2159000"/>
            <a:ext cx="711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不同AI模型 = 不同科室的专科医生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5544" flipH="false" flipV="false">
            <a:off x="2159005" y="2914650"/>
            <a:ext cx="787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159000" y="3175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667000" y="3175000"/>
            <a:ext cx="736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各有所长，与其只用一个“最强最贵”的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2159000" y="3810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667000" y="3810000"/>
            <a:ext cx="736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不如根据任务类型，选择</a:t>
            </a:r>
            <a:r>
              <a:rPr lang="en-US" b="tru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最合适</a:t>
            </a:r>
            <a:r>
              <a:rPr lang="en-US" b="false" i="false" strike="noStrike" u="none" sz="2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的模型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主流AI模型"能力雷达图"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414000" cy="3492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794000"/>
                <a:gridCol w="2794000"/>
                <a:gridCol w="2794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一句话定位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特别擅长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GPT-4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全科教授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综合能力强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大学教授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GPT-4o-mini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实习医生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速度快，费用低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实习生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Claude 3.5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代码天才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编程、写代码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程序员天才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Gemini 1.5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速读冠军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超长文档处理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律师助理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Kimi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中文专家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中文理解能力强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中文系高材生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26666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6261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5461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关键结论：没有哪个模型在所有方面都最好，按需选择才是王道。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OpenClaw为什么用多个模型？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2540000" cy="2794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27200" y="2032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730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简单问候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111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"你好" 👋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→ Mini模型 (快速便宜)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67100" y="1778000"/>
            <a:ext cx="2540000" cy="2794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432300" y="20320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594100" y="2730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代码调试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94100" y="3111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"Debug代码" 💻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→ Claude (代码专家)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72200" y="1778000"/>
            <a:ext cx="2540000" cy="2794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137400" y="2032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299200" y="2730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长文档总结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99200" y="3111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"总结100页PDF" 📄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→ Gemini (速读王)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0" y="1778000"/>
            <a:ext cx="2540000" cy="2794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6F42C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855200" y="2032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017000" y="2730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017000" y="3111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"设计架构方案" 🏗️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F42C1"/>
                </a:solidFill>
                <a:latin typeface="Noto Sans SC"/>
                <a:ea typeface="Noto Sans SC"/>
                <a:cs typeface="Noto Sans SC"/>
                <a:sym typeface="Noto Sans SC"/>
              </a:rPr>
              <a:t>→ Kimi (深度推理)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0F8FF">
              <a:alpha val="8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524000" y="51435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全部用GPT-4 = 杀鸡用牛刀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5350892" flipH="false" flipV="false">
            <a:off x="5651500" y="5454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3" id="23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350000" y="51435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858000" y="51435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智能选择 = 又快又省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💰 AI怎么收费？像打印店！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7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计费单位：Token (≈ 字数)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5781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1个英文单词 ≈ 1个 Token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111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30861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1个中文字 ≈ 1-2个 Token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619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460500" y="35941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1000字文章 ≈ 1500-2000 Token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1905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94500" y="187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服务类比：AI打印店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549" flipH="false" flipV="false">
            <a:off x="6350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350000" y="2603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794500" y="25781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黑白打印 (便宜) → Mini模型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350000" y="3111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794500" y="30861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彩色打印 (适中) → 普通模型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350000" y="3619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94500" y="35941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精装印刷 (最贵) → GPT-4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rcRect l="0" r="0" t="16666" b="16666"/>
          <a:stretch>
            <a:fillRect/>
          </a:stretch>
        </p:blipFill>
        <p:spPr>
          <a:xfrm rot="0" flipH="false" flipV="false">
            <a:off x="7493000" y="4191000"/>
            <a:ext cx="2286000" cy="1524000"/>
          </a:xfrm>
          <a:prstGeom prst="roundRect">
            <a:avLst>
              <a:gd name="adj" fmla="val 8333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"AI打印店"价目表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2540000"/>
                <a:gridCol w="2540000"/>
                <a:gridCol w="3048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模型名称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输入（读）/百万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输出（写）/百万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类比服务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GPT-4o-mini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$0.15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$0.60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黑白打印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GPT-4o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$2.50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$10.00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普通彩打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Claude 3.5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$3.00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$15.00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高清彩打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GPT-4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$30.00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$60.00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精装印刷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3E0">
              <a:alpha val="10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016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4889500"/>
            <a:ext cx="939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成本洞察：最贵 vs 最便宜 = 200倍差距！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盲目使用高性能模型会导致成本失控，按需选择才是最优解。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四个场景的成本对比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简单问答场景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问题：“你好，天气怎么样”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GPT-4: $0.005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mini: $0.00004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成本差距高达 125 倍 😱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长文本总结场景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540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任务：总结5000字文章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GPT-4: $0.27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mini: $0.0015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成本差距高达 180 倍 😱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月度高频使用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2540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假设：每天调用100次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全用GPT-4: $450/月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全用mini: $3/月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智能路由: $45/月 ✅ 最佳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模型选择策略：拒绝盲目追求昂贵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159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905000" y="2159000"/>
            <a:ext cx="355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误区：盲目追求顶配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0110" flipH="false" flipV="false">
            <a:off x="1143009" y="2851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143000" y="3048000"/>
            <a:ext cx="431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“全部用最贵的”这种做法，就像把所有文件都用精装印刷一样，完全没有必要，也非常不划算。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731000" y="2159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493000" y="2159000"/>
            <a:ext cx="355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策略：按需匹配模型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0110" flipH="false" flipV="false">
            <a:off x="6731009" y="2851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731000" y="3048000"/>
            <a:ext cx="431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根据任务复杂度选择合适的模型，避免算力浪费。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预计可节省成本高达：</a:t>
            </a:r>
            <a:r>
              <a:rPr lang="en-US" b="true" i="false" strike="noStrike" u="none" sz="2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90%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☕ 休息 10 分钟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2032000"/>
            <a:ext cx="965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651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159000" y="2286000"/>
            <a:ext cx="863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休息回来，我们看看——AI系统如何</a:t>
            </a: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自动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选择合适的模型？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3810000"/>
            <a:ext cx="965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651000" y="4064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159000" y="4064000"/>
            <a:ext cx="863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关键词：</a:t>
            </a: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分诊台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🏥 智能路由 = 医院分诊台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0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就医场景模拟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5654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症状：咳嗽流鼻涕三天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➡ 分诊结果：前往 3 楼呼吸内科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4544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症状：突发胸口疼痛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➡ 分诊结果：立即送往急诊室！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445000"/>
            <a:ext cx="4572000" cy="1270000"/>
          </a:xfrm>
          <a:prstGeom prst="roundRect">
            <a:avLst>
              <a:gd name="adj" fmla="val 10000"/>
            </a:avLst>
          </a:prstGeom>
          <a:solidFill>
            <a:srgbClr val="007B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分诊台核心价值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根据“症状”把“病人”送到最合适的“科室”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90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智能路由类比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549" flipH="false" flipV="false">
            <a:off x="6350009" y="2343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rcRect l="0" r="0" t="20000" b="20000"/>
          <a:stretch>
            <a:fillRect/>
          </a:stretch>
        </p:blipFill>
        <p:spPr>
          <a:xfrm rot="0" flipH="false" flipV="false">
            <a:off x="7048500" y="2540000"/>
            <a:ext cx="3175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46355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731000" y="4597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病人的“症状” ➔ 用户的“请求内容”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50165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731000" y="4978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分诊台“护士” ➔ AI 智能路由算法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53975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731000" y="5359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医院“科室” ➔ 最匹配的 AI 模型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智能路由的工作方式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2540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27200" y="2032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730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用户请求输入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自然语言指令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556000" y="1778000"/>
            <a:ext cx="2540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21200" y="2032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3683000" y="2730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智能路由系统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意图识别与分发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778000"/>
            <a:ext cx="5080000" cy="698500"/>
          </a:xfrm>
          <a:prstGeom prst="roundRect">
            <a:avLst>
              <a:gd name="adj" fmla="val 1818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540500" y="19431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85000" y="18796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"帮我debug代码" →</a:t>
            </a: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Claude (代码专家)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2603500"/>
            <a:ext cx="5080000" cy="698500"/>
          </a:xfrm>
          <a:prstGeom prst="roundRect">
            <a:avLst>
              <a:gd name="adj" fmla="val 1818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27686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985000" y="27051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"总结100页报告" →</a:t>
            </a: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Gemini (长文处理)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3429000"/>
            <a:ext cx="5080000" cy="698500"/>
          </a:xfrm>
          <a:prstGeom prst="roundRect">
            <a:avLst>
              <a:gd name="adj" fmla="val 1818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40500" y="35941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85000" y="35306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"今天几号？" →</a:t>
            </a: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Mini (快速响应)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4254500"/>
            <a:ext cx="5080000" cy="698500"/>
          </a:xfrm>
          <a:prstGeom prst="roundRect">
            <a:avLst>
              <a:gd name="adj" fmla="val 1818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540500" y="44196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43561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"设计产品方案" →</a:t>
            </a: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Kimi (主力模型)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16000" y="55118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524000" y="5461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核心理念：像分诊台一样，轻症不用找专家 · 重症不能被耽误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路由规则 = "分诊手册"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415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代码专家模型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触发词：代码、编程、debug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规则：匹配技术关键词时分配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841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18415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长文档专家模型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41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触发词：总结、摘要、长文本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规则：处理长文档理解任务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841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18415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快速响应模型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241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触发词：快速、简单、基础问题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规则：低复杂度问题快速回复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3937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6C757D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524000" y="41910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默认主力模型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297" flipH="false" flipV="false">
            <a:off x="1016004" y="462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C757D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1016000" y="4762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兜底规则：当用户的请求没有匹配到上述任何特定规则时，系统默认分配给主力模型进行处理，确保所有请求都能得到回应。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不只看类型，还判断“难度”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87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复杂度评估维度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279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540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540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问题长度：输入文本的长短与信息量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175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专业术语：是否包含特定领域的专业词汇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810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深度思考：是否需要多步推理或逻辑链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1651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1905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31000" y="187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分级处理策略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549" flipH="false" flipV="false">
            <a:off x="6350009" y="2279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350000" y="2540000"/>
            <a:ext cx="4572000" cy="762000"/>
          </a:xfrm>
          <a:prstGeom prst="roundRect">
            <a:avLst>
              <a:gd name="adj" fmla="val 16666"/>
            </a:avLst>
          </a:prstGeom>
          <a:solidFill>
            <a:srgbClr val="28A74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540500" y="2730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21500" y="2667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简单 (&lt;0.3) → Mini模型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例："Hello World" 代码编写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3429000"/>
            <a:ext cx="4572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540500" y="3619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21500" y="3556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中等 (0.3-0.8) → 普通模型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例：常规业务逻辑代码实现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4318000"/>
            <a:ext cx="4572000" cy="762000"/>
          </a:xfrm>
          <a:prstGeom prst="roundRect">
            <a:avLst>
              <a:gd name="adj" fmla="val 16666"/>
            </a:avLst>
          </a:prstGeom>
          <a:solidFill>
            <a:srgbClr val="FD7E1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540500" y="4508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21500" y="4445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复杂 (&gt;0.8) → 最强模型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例：重构万行系统、深度架构设计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智能路由的真实效果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668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2794000"/>
                <a:gridCol w="2794000"/>
                <a:gridCol w="2540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全用 GPT-4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智能路由方案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效果对比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平均成本/请求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$0.025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$0.008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↓ 68%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平均响应时间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3500ms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1800ms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↑ 49%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用户满意度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持平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457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0F8FF">
              <a:alpha val="8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482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4762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成本大幅降低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↓ 68%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4826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080000" y="4762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响应速度提升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↑ 49%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874000" y="482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8382000" y="4762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用户体验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保持不变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为什么效果这么好？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87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日常请求分布规律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27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5400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514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简单任务 (70%)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857500"/>
            <a:ext cx="4318000" cy="152400"/>
          </a:xfrm>
          <a:prstGeom prst="roundRect">
            <a:avLst>
              <a:gd name="adj" fmla="val 50000"/>
            </a:avLst>
          </a:prstGeom>
          <a:solidFill>
            <a:srgbClr val="E9EC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857500"/>
            <a:ext cx="3022600" cy="152400"/>
          </a:xfrm>
          <a:prstGeom prst="roundRect">
            <a:avLst>
              <a:gd name="adj" fmla="val 50000"/>
            </a:avLst>
          </a:prstGeom>
          <a:solidFill>
            <a:srgbClr val="28A7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238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2131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中等任务 (20%)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556000"/>
            <a:ext cx="4318000" cy="152400"/>
          </a:xfrm>
          <a:prstGeom prst="roundRect">
            <a:avLst>
              <a:gd name="adj" fmla="val 50000"/>
            </a:avLst>
          </a:prstGeom>
          <a:solidFill>
            <a:srgbClr val="E9EC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3556000"/>
            <a:ext cx="863600" cy="152400"/>
          </a:xfrm>
          <a:prstGeom prst="roundRect">
            <a:avLst>
              <a:gd name="adj" fmla="val 5000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3911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复杂任务 (10%)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254500"/>
            <a:ext cx="4318000" cy="152400"/>
          </a:xfrm>
          <a:prstGeom prst="roundRect">
            <a:avLst>
              <a:gd name="adj" fmla="val 50000"/>
            </a:avLst>
          </a:prstGeom>
          <a:solidFill>
            <a:srgbClr val="E9EC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254500"/>
            <a:ext cx="431800" cy="152400"/>
          </a:xfrm>
          <a:prstGeom prst="roundRect">
            <a:avLst>
              <a:gd name="adj" fmla="val 50000"/>
            </a:avLst>
          </a:prstGeom>
          <a:solidFill>
            <a:srgbClr val="FD7E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96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1905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731000" y="187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资源配置分析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9549" flipH="false" flipV="false">
            <a:off x="6350009" y="227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350000" y="2413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如果不进行分类，100%的请求都调用最强模型，意味着90%的算力资源被浪费在简单任务上。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350000" y="35560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731000" y="353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生活场景类比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549" flipH="false" flipV="false">
            <a:off x="6350009" y="393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350000" y="4064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就像70%的来电是查快递或问营业时间，若让副总亲自接听每一通电话，不仅浪费人力，客户体验也未必更好。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核心策略：够用就好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不是将就，是最聪明的策略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86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81200" y="2667000"/>
            <a:ext cx="863600" cy="863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683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通勤出行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不需要跑车，实用即可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2286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664200" y="2667000"/>
            <a:ext cx="863600" cy="863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572000" y="3683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日常沟通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发微信不需要企业专线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2286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347200" y="2667000"/>
            <a:ext cx="863600" cy="863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8255000" y="3683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简单交互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回复“你好”不需要GPT-4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🎭 体验：你来当"分诊台"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879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快速便宜 (Mini)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343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适合简单问候、快速响应类任务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048000"/>
            <a:ext cx="2794000" cy="762000"/>
          </a:xfrm>
          <a:prstGeom prst="roundRect">
            <a:avLst>
              <a:gd name="adj" fmla="val 8333"/>
            </a:avLst>
          </a:prstGeom>
          <a:solidFill>
            <a:srgbClr val="007B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"今天天气怎么样？"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937000"/>
            <a:ext cx="2794000" cy="762000"/>
          </a:xfrm>
          <a:prstGeom prst="roundRect">
            <a:avLst>
              <a:gd name="adj" fmla="val 8333"/>
            </a:avLst>
          </a:prstGeom>
          <a:solidFill>
            <a:srgbClr val="007B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"你好"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080000" y="1879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中等 (普通)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5626" flipH="false" flipV="false">
            <a:off x="4699014" y="2343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699000" y="2476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适合常规内容生成、文案撰写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3048000"/>
            <a:ext cx="2794000" cy="762000"/>
          </a:xfrm>
          <a:prstGeom prst="roundRect">
            <a:avLst>
              <a:gd name="adj" fmla="val 8333"/>
            </a:avLst>
          </a:prstGeom>
          <a:solidFill>
            <a:srgbClr val="28A74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"帮我写一份季度报告"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3937000"/>
            <a:ext cx="2794000" cy="762000"/>
          </a:xfrm>
          <a:prstGeom prst="roundRect">
            <a:avLst>
              <a:gd name="adj" fmla="val 8333"/>
            </a:avLst>
          </a:prstGeom>
          <a:solidFill>
            <a:srgbClr val="28A74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"分析这份合同有没有风险"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763000" y="1879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最强 (专家)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626" flipH="false" flipV="false">
            <a:off x="8382014" y="2343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82000" y="2476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适合复杂代码编写、深度逻辑推理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3048000"/>
            <a:ext cx="2794000" cy="762000"/>
          </a:xfrm>
          <a:prstGeom prst="roundRect">
            <a:avLst>
              <a:gd name="adj" fmla="val 8333"/>
            </a:avLst>
          </a:prstGeom>
          <a:solidFill>
            <a:srgbClr val="FD7E1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"重构这段500行的代码"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“选模型”三步法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定义任务类型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简单对话：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轻量模型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内容生成：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中等模型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代码开发：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代码专用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长文档处理：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大上下文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复杂推理：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最强模型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02 确定优先级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540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速度优先：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选择快速模型 (如客服场景)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质量优先：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选择最强模型 (如报告撰写)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成本优先：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选择性价比高的便宜模型 (如批量处理)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03 考虑预算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2540000"/>
            <a:ext cx="279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&lt; $50/月：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全用轻量模型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$50-500：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智能路由混合使用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&gt; $500：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更多场景使用强力模型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❌ 常见选型误区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9906000" cy="292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02000"/>
                <a:gridCol w="3302000"/>
                <a:gridCol w="3302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误区 (Pitfall)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类比 (Analogy)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正解 (Solution)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“只用最贵的就对了”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吃午餐去五星酒店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日常用便宜够了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“一个模型搞定所有”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一人当医生+律师+厨师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各有专长才正常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“AI不花钱”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“免费”的背后有成本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规模大了差距惊人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49530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正确做法：混合使用 + 智能路由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建议配比：70% 便宜模型 + 20% 普通模型 + 10% 最强模型，实现成本与效果的最优平衡。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✏️ 练习：设计模型分配方案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752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场景设定：在线教育公司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22500"/>
            <a:ext cx="4572000" cy="457200"/>
          </a:xfrm>
          <a:prstGeom prst="roundRect">
            <a:avLst>
              <a:gd name="adj" fmla="val 13888"/>
            </a:avLst>
          </a:prstGeom>
          <a:solidFill>
            <a:srgbClr val="FD7E1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💰 月预算限制：$500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需要AI完成的任务：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2385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32131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回答学生简单问题（每天500次）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6195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33500" y="35941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批改作文（每天100篇）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33500" y="39751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生成课程大纲（每周10份）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33500" y="43561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解答复杂学术问题（每天50次）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0" y="1524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350000" y="1778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731000" y="1752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核心挑战任务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350000" y="22860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667500" y="2260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模型选型：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每类任务匹配哪个级别的模型？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350000" y="27940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667500" y="2768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成本预估：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方案总成本是否在$500预算内？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 flipH="false" flipV="false">
            <a:off x="6350000" y="33020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667500" y="3276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优化策略：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若超预算，如何调整以平衡效果与成本？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9549" flipH="false" flipV="false">
            <a:off x="6350009" y="393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6" id="2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 flipH="false" flipV="false">
            <a:off x="6350000" y="41910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731000" y="4165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⏰ 分组讨论时间：20分钟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✏️ 练习参考模板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1176000" cy="3657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/>
                <a:gridCol w="2286000"/>
                <a:gridCol w="2540000"/>
                <a:gridCol w="3556000"/>
              </a:tblGrid>
              <a:tr h="609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日频次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模型级别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估算成本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简单问答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500次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💚 mini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$?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批改作文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🟡 中等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$?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课程大纲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~1.5次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🔴 最强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$?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学术问答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🟡 中等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$?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月总计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7E14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7E14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7E14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$???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7E14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334000"/>
            <a:ext cx="10668000" cy="889000"/>
          </a:xfrm>
          <a:prstGeom prst="roundRect">
            <a:avLst>
              <a:gd name="adj" fmla="val 22857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524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54610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提示：70%的请求是简单问答，用mini处理就能省大部分预算！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本课核心知识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1651000"/>
          <a:ext cx="10414000" cy="4127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3810000"/>
                <a:gridCol w="5588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#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知识点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关键类比 / 核心要点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多模型必要性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不同科室的专科医生，各司其职效果最佳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6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Token与成本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类比打印店按页收费，Token即“页数”，影响费用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智能路由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如同医院分诊台，将请求精准分配给最合适的模型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6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成本优化效果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综合成本降低</a:t>
                      </a: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68%</a:t>
                      </a: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，响应速度提升</a:t>
                      </a: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49%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98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选型三步法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第一步看任务场景 → 第二步定优先级 → 第三步对预算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📌 本课金句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“够用就好” —— 不是将就，是最聪明的策略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594" flipH="false" flipV="false">
            <a:off x="3556008" y="2533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524000" y="3048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032000" y="2997200"/>
            <a:ext cx="863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让便宜模型处理简单任务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524000" y="3683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032000" y="3632200"/>
            <a:ext cx="863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让昂贵模型专注困难任务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524000" y="4318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032000" y="4267200"/>
            <a:ext cx="863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这就是智能路由的核心价值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🤔 思考题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007BFF">
              <a:alpha val="8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74800" y="18415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场景假设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74800" y="2222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你的老板说：“我们公司不差钱，就用最强的 GPT-4 来做所有的 AI 功能。”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2385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D7E14">
              <a:alpha val="8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3429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74800" y="34290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74800" y="38100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面对这样的决定，你会怎么劝说他，使其意识到这并非最佳方案？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826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28A745">
              <a:alpha val="8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5016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74800" y="50165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思考提示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74800" y="5397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请尝试使用“医院分诊台”的类比，来解释为什么“一刀切”使用最强模型不是好主意。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本课知识卡片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0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没有万能AI：各司其职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349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GPT-4 ≈ 教授，擅长复杂推理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Mini ≈ 实习生，适合简单任务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Claude ≈ 代码天才，Gemini ≈ 速读王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85000" y="190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Token = AI计费单位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2349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Token是AI服务的核心计量标准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不同模型价格差异巨大，最贵与最便宜相差约200倍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44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智能路由 = 分诊台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889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简单任务找便宜模型，复杂任务找专家模型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效果显著：成本降低68%，速度提升49%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85000" y="444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核心策略：够用就好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4889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并非越贵越好，选择最适合当前任务的模型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平衡成本与效果是最聪明的AI使用策略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📢 下一课预告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E7F5FF">
              <a:alpha val="100000"/>
            </a:srgbClr>
          </a:solidFill>
          <a:ln w="12700" cmpd="sng" cap="flat">
            <a:solidFill>
              <a:srgbClr val="BAE7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812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879600" y="1905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</a:t>
            </a: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AI有了多个模型“工具”，但任务越来越多、越来越复杂，该怎么办？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3E0">
              <a:alpha val="100000"/>
            </a:srgbClr>
          </a:solidFill>
          <a:ln w="12700" cmpd="sng" cap="flat">
            <a:solidFill>
              <a:srgbClr val="FFE0B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35052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879600" y="3429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单个AI模型能力有限，难以应对复杂的多任务并行处理，效率瓶颈明显。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12700" cmpd="sng" cap="flat">
            <a:solidFill>
              <a:srgbClr val="A5D6A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50292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879600" y="4953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预告：</a:t>
            </a: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第3课：AI团队协作——从独行侠到“AI公司”，构建多智能体协同系统。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