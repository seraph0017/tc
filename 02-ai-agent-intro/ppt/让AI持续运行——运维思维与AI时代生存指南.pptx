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34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slides/slide16.xml" Type="http://schemas.openxmlformats.org/officeDocument/2006/relationships/slide"/><Relationship Id="rId25" Target="slides/slide17.xml" Type="http://schemas.openxmlformats.org/officeDocument/2006/relationships/slide"/><Relationship Id="rId26" Target="slides/slide18.xml" Type="http://schemas.openxmlformats.org/officeDocument/2006/relationships/slide"/><Relationship Id="rId27" Target="slides/slide19.xml" Type="http://schemas.openxmlformats.org/officeDocument/2006/relationships/slide"/><Relationship Id="rId28" Target="slides/slide20.xml" Type="http://schemas.openxmlformats.org/officeDocument/2006/relationships/slide"/><Relationship Id="rId29" Target="slides/slide21.xml" Type="http://schemas.openxmlformats.org/officeDocument/2006/relationships/slide"/><Relationship Id="rId3" Target="presProps.xml" Type="http://schemas.openxmlformats.org/officeDocument/2006/relationships/presProps"/><Relationship Id="rId30" Target="slides/slide22.xml" Type="http://schemas.openxmlformats.org/officeDocument/2006/relationships/slide"/><Relationship Id="rId31" Target="slides/slide23.xml" Type="http://schemas.openxmlformats.org/officeDocument/2006/relationships/slide"/><Relationship Id="rId32" Target="slides/slide24.xml" Type="http://schemas.openxmlformats.org/officeDocument/2006/relationships/slide"/><Relationship Id="rId33" Target="slides/slide25.xml" Type="http://schemas.openxmlformats.org/officeDocument/2006/relationships/slide"/><Relationship Id="rId34" Target="slides/slide26.xml" Type="http://schemas.openxmlformats.org/officeDocument/2006/relationships/slide"/><Relationship Id="rId35" Target="slides/slide27.xml" Type="http://schemas.openxmlformats.org/officeDocument/2006/relationships/slide"/><Relationship Id="rId36" Target="slides/slide28.xml" Type="http://schemas.openxmlformats.org/officeDocument/2006/relationships/slide"/><Relationship Id="rId37" Target="slides/slide29.xml" Type="http://schemas.openxmlformats.org/officeDocument/2006/relationships/slide"/><Relationship Id="rId38" Target="slides/slide30.xml" Type="http://schemas.openxmlformats.org/officeDocument/2006/relationships/slide"/><Relationship Id="rId39" Target="slides/slide31.xml" Type="http://schemas.openxmlformats.org/officeDocument/2006/relationships/slide"/><Relationship Id="rId4" Target="slideMasters/slideMaster1.xml" Type="http://schemas.openxmlformats.org/officeDocument/2006/relationships/slideMaster"/><Relationship Id="rId40" Target="slides/slide32.xml" Type="http://schemas.openxmlformats.org/officeDocument/2006/relationships/slide"/><Relationship Id="rId41" Target="slides/slide33.xml" Type="http://schemas.openxmlformats.org/officeDocument/2006/relationships/slide"/><Relationship Id="rId42" Target="slides/slide34.xml" Type="http://schemas.openxmlformats.org/officeDocument/2006/relationships/slide"/><Relationship Id="rId43" Target="notesSlides/notesSlide1.xml" Type="http://schemas.openxmlformats.org/officeDocument/2006/relationships/notesSlide"/><Relationship Id="rId44" Target="notesSlides/notesSlide2.xml" Type="http://schemas.openxmlformats.org/officeDocument/2006/relationships/notesSlide"/><Relationship Id="rId45" Target="notesSlides/notesSlide3.xml" Type="http://schemas.openxmlformats.org/officeDocument/2006/relationships/notesSlide"/><Relationship Id="rId46" Target="notesSlides/notesSlide4.xml" Type="http://schemas.openxmlformats.org/officeDocument/2006/relationships/notesSlide"/><Relationship Id="rId47" Target="notesSlides/notesSlide5.xml" Type="http://schemas.openxmlformats.org/officeDocument/2006/relationships/notesSlide"/><Relationship Id="rId48" Target="notesSlides/notesSlide6.xml" Type="http://schemas.openxmlformats.org/officeDocument/2006/relationships/notesSlide"/><Relationship Id="rId49" Target="notesSlides/notesSlide7.xml" Type="http://schemas.openxmlformats.org/officeDocument/2006/relationships/notesSlide"/><Relationship Id="rId50" Target="notesSlides/notesSlide8.xml" Type="http://schemas.openxmlformats.org/officeDocument/2006/relationships/notesSlide"/><Relationship Id="rId51" Target="notesSlides/notesSlide9.xml" Type="http://schemas.openxmlformats.org/officeDocument/2006/relationships/notesSlide"/><Relationship Id="rId52" Target="notesSlides/notesSlide10.xml" Type="http://schemas.openxmlformats.org/officeDocument/2006/relationships/notesSlide"/><Relationship Id="rId53" Target="notesSlides/notesSlide11.xml" Type="http://schemas.openxmlformats.org/officeDocument/2006/relationships/notesSlide"/><Relationship Id="rId54" Target="notesSlides/notesSlide12.xml" Type="http://schemas.openxmlformats.org/officeDocument/2006/relationships/notesSlide"/><Relationship Id="rId55" Target="notesSlides/notesSlide13.xml" Type="http://schemas.openxmlformats.org/officeDocument/2006/relationships/notesSlide"/><Relationship Id="rId56" Target="notesSlides/notesSlide14.xml" Type="http://schemas.openxmlformats.org/officeDocument/2006/relationships/notesSlide"/><Relationship Id="rId57" Target="notesSlides/notesSlide15.xml" Type="http://schemas.openxmlformats.org/officeDocument/2006/relationships/notesSlide"/><Relationship Id="rId58" Target="notesSlides/notesSlide16.xml" Type="http://schemas.openxmlformats.org/officeDocument/2006/relationships/notesSlide"/><Relationship Id="rId59" Target="notesSlides/notesSlide17.xml" Type="http://schemas.openxmlformats.org/officeDocument/2006/relationships/notesSlide"/><Relationship Id="rId6" Target="notesMasters/notesMaster1.xml" Type="http://schemas.openxmlformats.org/officeDocument/2006/relationships/notesMaster"/><Relationship Id="rId60" Target="notesSlides/notesSlide18.xml" Type="http://schemas.openxmlformats.org/officeDocument/2006/relationships/notesSlide"/><Relationship Id="rId61" Target="notesSlides/notesSlide19.xml" Type="http://schemas.openxmlformats.org/officeDocument/2006/relationships/notesSlide"/><Relationship Id="rId62" Target="notesSlides/notesSlide20.xml" Type="http://schemas.openxmlformats.org/officeDocument/2006/relationships/notesSlide"/><Relationship Id="rId63" Target="notesSlides/notesSlide21.xml" Type="http://schemas.openxmlformats.org/officeDocument/2006/relationships/notesSlide"/><Relationship Id="rId64" Target="notesSlides/notesSlide22.xml" Type="http://schemas.openxmlformats.org/officeDocument/2006/relationships/notesSlide"/><Relationship Id="rId65" Target="notesSlides/notesSlide23.xml" Type="http://schemas.openxmlformats.org/officeDocument/2006/relationships/notesSlide"/><Relationship Id="rId66" Target="notesSlides/notesSlide24.xml" Type="http://schemas.openxmlformats.org/officeDocument/2006/relationships/notesSlide"/><Relationship Id="rId67" Target="notesSlides/notesSlide25.xml" Type="http://schemas.openxmlformats.org/officeDocument/2006/relationships/notesSlide"/><Relationship Id="rId68" Target="notesSlides/notesSlide26.xml" Type="http://schemas.openxmlformats.org/officeDocument/2006/relationships/notesSlide"/><Relationship Id="rId69" Target="notesSlides/notesSlide27.xml" Type="http://schemas.openxmlformats.org/officeDocument/2006/relationships/notesSlide"/><Relationship Id="rId7" Target="theme/theme2.xml" Type="http://schemas.openxmlformats.org/officeDocument/2006/relationships/theme"/><Relationship Id="rId70" Target="notesSlides/notesSlide28.xml" Type="http://schemas.openxmlformats.org/officeDocument/2006/relationships/notesSlide"/><Relationship Id="rId71" Target="notesSlides/notesSlide29.xml" Type="http://schemas.openxmlformats.org/officeDocument/2006/relationships/notesSlide"/><Relationship Id="rId72" Target="notesSlides/notesSlide30.xml" Type="http://schemas.openxmlformats.org/officeDocument/2006/relationships/notesSlide"/><Relationship Id="rId73" Target="notesSlides/notesSlide31.xml" Type="http://schemas.openxmlformats.org/officeDocument/2006/relationships/notesSlide"/><Relationship Id="rId74" Target="notesSlides/notesSlide32.xml" Type="http://schemas.openxmlformats.org/officeDocument/2006/relationships/notesSlide"/><Relationship Id="rId75" Target="notesSlides/notesSlide33.xml" Type="http://schemas.openxmlformats.org/officeDocument/2006/relationships/notesSlide"/><Relationship Id="rId76" Target="notesSlides/notesSlide34.xml" Type="http://schemas.openxmlformats.org/officeDocument/2006/relationships/notesSlid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_rels/notesSlide2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_rels/notesSlide2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6.xml" Type="http://schemas.openxmlformats.org/officeDocument/2006/relationships/slide"/></Relationships>
</file>

<file path=ppt/notesSlides/_rels/notesSlide2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7.xml" Type="http://schemas.openxmlformats.org/officeDocument/2006/relationships/slide"/></Relationships>
</file>

<file path=ppt/notesSlides/_rels/notesSlide2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8.xml" Type="http://schemas.openxmlformats.org/officeDocument/2006/relationships/slide"/></Relationships>
</file>

<file path=ppt/notesSlides/_rels/notesSlide2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9.xml" Type="http://schemas.openxmlformats.org/officeDocument/2006/relationships/slide"/></Relationships>
</file>

<file path=ppt/notesSlides/_rels/notesSlide3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0.xml" Type="http://schemas.openxmlformats.org/officeDocument/2006/relationships/slide"/></Relationships>
</file>

<file path=ppt/notesSlides/_rels/notesSlide3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1.xml" Type="http://schemas.openxmlformats.org/officeDocument/2006/relationships/slide"/></Relationships>
</file>

<file path=ppt/notesSlides/_rels/notesSlide3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2.xml" Type="http://schemas.openxmlformats.org/officeDocument/2006/relationships/slide"/></Relationships>
</file>

<file path=ppt/notesSlides/_rels/notesSlide3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3.xml" Type="http://schemas.openxmlformats.org/officeDocument/2006/relationships/slide"/></Relationships>
</file>

<file path=ppt/notesSlides/_rels/notesSlide3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4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大家好，欢迎来到“读懂AI Agent”通识课的最后一课！在前面的课程中，我们学习了AI的记忆、团队协作、能力建设和安全边界。今天，我们将探讨如何让AI系统持续、稳定地运行，这就像为我们的AI请了一位“物业管家”。同时，这也是我们的结业课，我们会一起回顾整个课程的精华，并探讨AI时代的生存指南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是我们今天的课程大纲。我们将从AI系统的24小时运维入手，学习配置管理、定时任务和监控报警等核心运维概念，并将它们与物业管理进行生动的类比。休息之后，我们会深入研讨OpenClaw团队总结的四大经验教训，然后进行课程全景回顾，总结AI时代的核心素养，并完成一个综合练习。最后，我们将正式结业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正式开始之前，请大家思考两个问题：开一家餐厅，最难的是开业那天吗？显然不是，最难的是开业后日复一日的运营。同样，如果一个小区的物业突然撤走，整个小区很快就会陷入混乱。AI系统的上线也是如此，它就像餐厅开业或小区交付，真正的挑战在于上线之后，如何保证它每一天都能稳定、可靠地运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一个没有物业的小区，其衰败过程是可以预见的：从最初的完美，到垃圾堆积、设施损坏，最终可能变得一片狼藉。AI系统也是如此，如果没有持续的维护和管理，即使它一开始功能再强大，也终将因为各种小问题的积累而崩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因此，我们可以将AI的运维工作，类比为小区的物业管理。物业负责制定规章制度、安排保洁排班、维护安防系统；而AI运维则负责进行配置管理、设置定时任务、实施监控报警。简单来说，物业做的三件事——定规矩、排排班、看监控，同样也是AI运维的核心工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里有一个关键数据：OpenClaw的正常运行时间达到了99.5%。这意味着它每年最多只有不到44小时的时间可能出现问题。这个看似微小的数字背后，是大量扎实的运维工作在支撑。反过来想，如果没有运维，一个AI系统可能99.5%的时间都在出问题，根本无法投入实际使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所以，我们必须认识到，AI系统的上线仅仅是“开业剪彩”，真正的挑战在于后续的稳定运行。一个好的运维团队，就像一个好的物业公司，平时你可能感觉不到它的存在，但一旦失去它，整个系统就会迅速崩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，我们来看运维的第一项核心工作：配置管理。这就像物业公司的规章制度。一个好的物业公司，会把所有规矩都写在一本手册里，方便查阅和执行。如果规矩只存在于个人的记忆中，一旦这个人不在，工作就会陷入混乱。AI的配置管理也是如此，我们需要将所有系统设置集中管理在一个配置文件中，确保修改一处即可全局生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这张表格展示了OpenClaw的“规章制度总册”，也就是它的配置文件。从运行环境、记忆更新频率，到默认使用的AI模型、交易亏损上限，所有这些设置都集中在这里。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当我们需要调整某个策略时，比如修改日最大亏损限额，只需要改动这一个数字，整个系统就会生效，而不需要去修改每一个AI Agent的代码。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配置的集中管理带来了四大好处：首先，所有设置一目了然，就像规章制度都在一本书里；其次，修改一处即可生效，提高了效率；再次，不容易出错，避免了不同部分设置不一致的问题；最后，所有修改都有记录，方便追溯和审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，我们看运维的第二项核心工作：定时任务。这就像物业公司的保洁排班表。物业会为保洁员安排好每天固定时间的工作，比如早上六点扫大厅，八点收垃圾，这些工作会自动执行，无需临时安排。AI系统的定时任务也是如此，它为系统安排了一系列需要在特定时间自动执行的例行工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张表格展示了OpenClaw的10个定时任务，从每天早上的晨报、每小时的系统监控，到深夜的记忆收敛，这些任务就像物业的晨会、保安巡逻、财务日结一样，每天都在默默地自动运行，确保系统的各个部分都能正常工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关于AI运维的三大核心工作我们就讲到这里。接下来大家休息10分钟，放松一下。休息回来，我们将进入本课程的重头戏——学习OpenClaw团队在实践中总结出的四大经验教训。这四条教训非常宝贵，它们不仅适用于AI系统，也适用于我们日常的工作和生活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条教训是：分层是必要的。在AI团队中，专业的Agent比通用的Agent工作效率更高，但同时也要注意控制协调成本。架构设计决定了系统能力的上限。这对于公司管理也有启发：创业初期可以一人多职，但随着公司发展，必须进行专业化分工，关键在于找到分工的合适粒度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三条教训是：约束出质量。Skill系统为AI的输出提供了必要的结构，无约束的输出很容易失控。就像麦当劳的成功在于其标准化的SOP，而不是依赖某个大厨。这个原则告诉我们，一个拥有标准化流程的团队，其长期表现一定优于那些“全凭感觉”工作的团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四条教训是：必须有熔断。任何自动化系统都需要熔断机制来防止灾难性后果。监控比策略本身更重要，因为过去的规律不一定适用于未来。熔断机制不是“最好有”，而是“必须有”。这提醒我们，任何业务都应该有应急预案，提前想好“如果出了问题怎么办”，而不是等到问题发生后再手忙脚乱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四条教训之间存在着清晰的逻辑关系，它们构成了一个从底层到顶层的完整体系：首先，记忆是AI的核心，是其拥有“智慧”的基础；其次，基于记忆，我们可以进行专业化分工，提升团队“效率”；分工之后，需要通过约束来保证输出的“质量”；最后，为整个系统设置熔断机制，提供最后的“安全”兜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现在，我们来进行一次分组讨论。请大家分成四组，每组选择一条经验教训，结合自己的工作和生活经验，深入探讨其迁移价值。比如，A组可以讨论公司的知识积累机制，B组可以讨论分工的粒度问题。给大家15分钟的讨论时间，之后每组派一位代表进行3分钟的展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讨论非常精彩。我们可以总结出，这四大教训并不仅仅适用于AI系统，它们是所有复杂系统的通用法则。无论是一个公司、一个团队，还是一个个人，都需要：有记忆才能成长，有分工才有效率，有标准才有质量，有兜底才能安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回顾OpenClaw的发展历程，它从一个只有几十行代码的简单聊天机器人ClawBot，发展成为一个拥有5万行代码、8个AI Agent、70多种技能的复杂系统，并且能够保持99.5%的正常运行时间。这个从简单到复杂的演进过程，本身就是我们学习AI Agent最好的教材。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现在，让我们对整个六节课的内容进行一次全景回顾。我们从AI Agent的基础概念讲起，学习了它的记忆机制；然后认识了AI的“工具箱”，了解了多模型协作；接着探讨了AI团队的组织架构和协作方式；之后学习了如何通过Skill系统建设AI的能力；然后重点讲解了AI的安全边界和风险管理；最后，也就是今天，我们学习了如何通过运维让AI系统持续运行，并总结了四大经验教训和AI时代的核心素养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通过这六节课的学习，我们希望大家能够建立起AI时代的四项核心素养：第一，能够判断一个任务是否适合交给AI去做；第二，能够向技术团队提出清晰、靠谱的AI需求；第三，能够识别市面上AI产品宣传中的“虚”与“实”；第四，能够运用我们学到的记忆、分层、约束、信任公式等思维，参与到AI相关的决策中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回到课程最开始的承诺，我们希望大家能够听懂技术讨论、判断AI适用场景、提出靠谱需求、识别AI宣传的虚实。现在，我相信大家已经能够做到这些了。恭喜你，你已经成为了AI时代的“明白人”！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现在，我们来完成最后一个综合练习。请大家结合自己的工作场景，设计一份完整的AI Agent需求方案。方案需要包括核心问题、Agent角色、记忆设计、安全机制、监控方案和成功标准这六个部分。这是对我们六节课所学知识的一次综合运用。给大家20分钟的设计时间。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里为大家提供一个参考思路，以客服部门为例。我们可以设定核心问题是减少重复性咨询，设计三个Agent角色，分别负责接待、查询和退款，并为它们设计不同层级的记忆和相应的安全机制，最后通过客服满意度、解决率等指标来监控和衡量方案的成功与否。希望这个例子能给大家带来启发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让我们以一种更生动的方式来回顾整个课程。我们可以把学习过程看作是为一个初始的聊天机器人ClawBot不断赋能的过程：第一课给了它记忆，第二课给了它选择能力，第三课给了它同事，第四课给了它操作手册，第五课给了它安全系统，而今天的第六课，则为它配备了专业的物业团队，确保它能够7x24小时稳定运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这是我们课程的终极金句：你不需要写一行代码，就理解了这一切背后的逻辑。在AI时代，最重要的能力不是编程，而是理解。通过这六节课的学习，我相信大家已经具备了这种理解AI、与AI共处的能力。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来总结一下今天这一课的核心知识。我们学习了AI运维的概念，并将其与物业管理进行了类比，了解了配置管理、定时任务和监控报警这三项核心工作。我们还深入学习了四大经验教训，并总结了AI时代的四项核心素养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这张知识卡片浓缩了我们六节课的全部精华。从记忆、模型、团队、能力、安全到运维，我们构建了一个完整的AI Agent知识体系。最重要的是，通过这个课程，你已经成为了能够判断、提需求、识别和决策的AI时代明白人。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恭喜大家！我们的“读懂AI Agent”通识课到此圆满结束。在这6课、18个学时的旅程中，我们一起从一个简单的ClawBot出发，逐步构建出了复杂的OpenClaw系统，更重要的是，我们理解了这一切背后的逻辑。你现在已经是一名AI时代的明白人了！感谢大家的认真学习和积极参与，希望这次课程能为你未来的工作和生活带来启发和帮助。谢谢大家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6.svg" Type="http://schemas.openxmlformats.org/officeDocument/2006/relationships/image"/><Relationship Id="rId11" Target="../media/image17.png" Type="http://schemas.openxmlformats.org/officeDocument/2006/relationships/image"/><Relationship Id="rId12" Target="../media/image18.svg" Type="http://schemas.openxmlformats.org/officeDocument/2006/relationships/image"/><Relationship Id="rId13" Target="../media/image19.png" Type="http://schemas.openxmlformats.org/officeDocument/2006/relationships/image"/><Relationship Id="rId14" Target="../media/image20.svg" Type="http://schemas.openxmlformats.org/officeDocument/2006/relationships/image"/><Relationship Id="rId15" Target="../notesSlides/notesSlide4.xml" Type="http://schemas.openxmlformats.org/officeDocument/2006/relationships/notesSlide"/><Relationship Id="rId2" Target="../media/image2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28.svg" Type="http://schemas.openxmlformats.org/officeDocument/2006/relationships/image"/><Relationship Id="rId11" Target="../media/image29.png" Type="http://schemas.openxmlformats.org/officeDocument/2006/relationships/image"/><Relationship Id="rId12" Target="../media/image30.svg" Type="http://schemas.openxmlformats.org/officeDocument/2006/relationships/image"/><Relationship Id="rId13" Target="../media/image31.png" Type="http://schemas.openxmlformats.org/officeDocument/2006/relationships/image"/><Relationship Id="rId14" Target="../media/image32.svg" Type="http://schemas.openxmlformats.org/officeDocument/2006/relationships/image"/><Relationship Id="rId15" Target="../notesSlides/notesSlide5.xml" Type="http://schemas.openxmlformats.org/officeDocument/2006/relationships/notesSlide"/><Relationship Id="rId2" Target="../media/image2.jpeg" Type="http://schemas.openxmlformats.org/officeDocument/2006/relationships/image"/><Relationship Id="rId3" Target="../media/image21.png" Type="http://schemas.openxmlformats.org/officeDocument/2006/relationships/image"/><Relationship Id="rId4" Target="../media/image22.svg" Type="http://schemas.openxmlformats.org/officeDocument/2006/relationships/image"/><Relationship Id="rId5" Target="../media/image23.png" Type="http://schemas.openxmlformats.org/officeDocument/2006/relationships/image"/><Relationship Id="rId6" Target="../media/image24.svg" Type="http://schemas.openxmlformats.org/officeDocument/2006/relationships/image"/><Relationship Id="rId7" Target="../media/image25.png" Type="http://schemas.openxmlformats.org/officeDocument/2006/relationships/image"/><Relationship Id="rId8" Target="../media/image26.svg" Type="http://schemas.openxmlformats.org/officeDocument/2006/relationships/image"/><Relationship Id="rId9" Target="../media/image2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33.png" Type="http://schemas.openxmlformats.org/officeDocument/2006/relationships/image"/><Relationship Id="rId4" Target="../media/image34.svg" Type="http://schemas.openxmlformats.org/officeDocument/2006/relationships/image"/><Relationship Id="rId5" Target="../media/image35.png" Type="http://schemas.openxmlformats.org/officeDocument/2006/relationships/image"/><Relationship Id="rId6" Target="../media/image36.svg" Type="http://schemas.openxmlformats.org/officeDocument/2006/relationships/image"/><Relationship Id="rId7" Target="../media/image29.png" Type="http://schemas.openxmlformats.org/officeDocument/2006/relationships/image"/><Relationship Id="rId8" Target="../media/image30.svg" Type="http://schemas.openxmlformats.org/officeDocument/2006/relationships/image"/><Relationship Id="rId9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37.png" Type="http://schemas.openxmlformats.org/officeDocument/2006/relationships/image"/><Relationship Id="rId4" Target="../media/image38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39.png" Type="http://schemas.openxmlformats.org/officeDocument/2006/relationships/image"/><Relationship Id="rId6" Target="../media/image40.svg" Type="http://schemas.openxmlformats.org/officeDocument/2006/relationships/image"/><Relationship Id="rId7" Target="../media/image41.png" Type="http://schemas.openxmlformats.org/officeDocument/2006/relationships/image"/><Relationship Id="rId8" Target="../media/image42.svg" Type="http://schemas.openxmlformats.org/officeDocument/2006/relationships/image"/><Relationship Id="rId9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43.png" Type="http://schemas.openxmlformats.org/officeDocument/2006/relationships/image"/><Relationship Id="rId4" Target="../media/image44.svg" Type="http://schemas.openxmlformats.org/officeDocument/2006/relationships/image"/><Relationship Id="rId5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45.png" Type="http://schemas.openxmlformats.org/officeDocument/2006/relationships/image"/><Relationship Id="rId4" Target="../media/image46.svg" Type="http://schemas.openxmlformats.org/officeDocument/2006/relationships/image"/><Relationship Id="rId5" Target="../media/image47.png" Type="http://schemas.openxmlformats.org/officeDocument/2006/relationships/image"/><Relationship Id="rId6" Target="../media/image48.svg" Type="http://schemas.openxmlformats.org/officeDocument/2006/relationships/image"/><Relationship Id="rId7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56.svg" Type="http://schemas.openxmlformats.org/officeDocument/2006/relationships/image"/><Relationship Id="rId11" Target="../media/image57.png" Type="http://schemas.openxmlformats.org/officeDocument/2006/relationships/image"/><Relationship Id="rId12" Target="../media/image58.svg" Type="http://schemas.openxmlformats.org/officeDocument/2006/relationships/image"/><Relationship Id="rId13" Target="../media/image35.png" Type="http://schemas.openxmlformats.org/officeDocument/2006/relationships/image"/><Relationship Id="rId14" Target="../media/image36.svg" Type="http://schemas.openxmlformats.org/officeDocument/2006/relationships/image"/><Relationship Id="rId15" Target="../media/image59.png" Type="http://schemas.openxmlformats.org/officeDocument/2006/relationships/image"/><Relationship Id="rId16" Target="../media/image60.svg" Type="http://schemas.openxmlformats.org/officeDocument/2006/relationships/image"/><Relationship Id="rId17" Target="../media/image61.png" Type="http://schemas.openxmlformats.org/officeDocument/2006/relationships/image"/><Relationship Id="rId18" Target="../media/image62.svg" Type="http://schemas.openxmlformats.org/officeDocument/2006/relationships/image"/><Relationship Id="rId19" Target="../media/image7.png" Type="http://schemas.openxmlformats.org/officeDocument/2006/relationships/image"/><Relationship Id="rId2" Target="../media/image2.jpeg" Type="http://schemas.openxmlformats.org/officeDocument/2006/relationships/image"/><Relationship Id="rId20" Target="../media/image8.svg" Type="http://schemas.openxmlformats.org/officeDocument/2006/relationships/image"/><Relationship Id="rId21" Target="../notesSlides/notesSlide13.xml" Type="http://schemas.openxmlformats.org/officeDocument/2006/relationships/notesSlide"/><Relationship Id="rId3" Target="../media/image49.png" Type="http://schemas.openxmlformats.org/officeDocument/2006/relationships/image"/><Relationship Id="rId4" Target="../media/image50.svg" Type="http://schemas.openxmlformats.org/officeDocument/2006/relationships/image"/><Relationship Id="rId5" Target="../media/image51.png" Type="http://schemas.openxmlformats.org/officeDocument/2006/relationships/image"/><Relationship Id="rId6" Target="../media/image52.svg" Type="http://schemas.openxmlformats.org/officeDocument/2006/relationships/image"/><Relationship Id="rId7" Target="../media/image53.png" Type="http://schemas.openxmlformats.org/officeDocument/2006/relationships/image"/><Relationship Id="rId8" Target="../media/image54.svg" Type="http://schemas.openxmlformats.org/officeDocument/2006/relationships/image"/><Relationship Id="rId9" Target="../media/image55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70.svg" Type="http://schemas.openxmlformats.org/officeDocument/2006/relationships/image"/><Relationship Id="rId11" Target="../notesSlides/notesSlide14.xml" Type="http://schemas.openxmlformats.org/officeDocument/2006/relationships/notesSlide"/><Relationship Id="rId2" Target="../media/image2.jpeg" Type="http://schemas.openxmlformats.org/officeDocument/2006/relationships/image"/><Relationship Id="rId3" Target="../media/image63.png" Type="http://schemas.openxmlformats.org/officeDocument/2006/relationships/image"/><Relationship Id="rId4" Target="../media/image64.svg" Type="http://schemas.openxmlformats.org/officeDocument/2006/relationships/image"/><Relationship Id="rId5" Target="../media/image65.png" Type="http://schemas.openxmlformats.org/officeDocument/2006/relationships/image"/><Relationship Id="rId6" Target="../media/image66.svg" Type="http://schemas.openxmlformats.org/officeDocument/2006/relationships/image"/><Relationship Id="rId7" Target="../media/image67.png" Type="http://schemas.openxmlformats.org/officeDocument/2006/relationships/image"/><Relationship Id="rId8" Target="../media/image68.svg" Type="http://schemas.openxmlformats.org/officeDocument/2006/relationships/image"/><Relationship Id="rId9" Target="../media/image69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74.svg" Type="http://schemas.openxmlformats.org/officeDocument/2006/relationships/image"/><Relationship Id="rId11" Target="../notesSlides/notesSlide15.xml" Type="http://schemas.openxmlformats.org/officeDocument/2006/relationships/notesSlide"/><Relationship Id="rId2" Target="../media/image2.jpeg" Type="http://schemas.openxmlformats.org/officeDocument/2006/relationships/image"/><Relationship Id="rId3" Target="../media/image27.png" Type="http://schemas.openxmlformats.org/officeDocument/2006/relationships/image"/><Relationship Id="rId4" Target="../media/image28.svg" Type="http://schemas.openxmlformats.org/officeDocument/2006/relationships/image"/><Relationship Id="rId5" Target="../media/image33.png" Type="http://schemas.openxmlformats.org/officeDocument/2006/relationships/image"/><Relationship Id="rId6" Target="../media/image34.svg" Type="http://schemas.openxmlformats.org/officeDocument/2006/relationships/image"/><Relationship Id="rId7" Target="../media/image71.png" Type="http://schemas.openxmlformats.org/officeDocument/2006/relationships/image"/><Relationship Id="rId8" Target="../media/image72.svg" Type="http://schemas.openxmlformats.org/officeDocument/2006/relationships/image"/><Relationship Id="rId9" Target="../media/image7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75.jpeg" Type="http://schemas.openxmlformats.org/officeDocument/2006/relationships/image"/><Relationship Id="rId3" Target="../media/image76.png" Type="http://schemas.openxmlformats.org/officeDocument/2006/relationships/image"/><Relationship Id="rId4" Target="../media/image77.svg" Type="http://schemas.openxmlformats.org/officeDocument/2006/relationships/image"/><Relationship Id="rId5" Target="../media/image43.png" Type="http://schemas.openxmlformats.org/officeDocument/2006/relationships/image"/><Relationship Id="rId6" Target="../media/image44.svg" Type="http://schemas.openxmlformats.org/officeDocument/2006/relationships/image"/><Relationship Id="rId7" Target="../notesSlides/notesSlide16.xml" Type="http://schemas.openxmlformats.org/officeDocument/2006/relationships/notesSlide"/></Relationships>
</file>

<file path=ppt/slides/_rels/slide1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69.png" Type="http://schemas.openxmlformats.org/officeDocument/2006/relationships/image"/><Relationship Id="rId4" Target="../media/image70.svg" Type="http://schemas.openxmlformats.org/officeDocument/2006/relationships/image"/><Relationship Id="rId5" Target="../media/image71.png" Type="http://schemas.openxmlformats.org/officeDocument/2006/relationships/image"/><Relationship Id="rId6" Target="../media/image72.svg" Type="http://schemas.openxmlformats.org/officeDocument/2006/relationships/image"/><Relationship Id="rId7" Target="../notesSlides/notesSlide17.xml" Type="http://schemas.openxmlformats.org/officeDocument/2006/relationships/notesSlide"/></Relationships>
</file>

<file path=ppt/slides/_rels/slide1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81.svg" Type="http://schemas.openxmlformats.org/officeDocument/2006/relationships/image"/><Relationship Id="rId11" Target="../media/image82.png" Type="http://schemas.openxmlformats.org/officeDocument/2006/relationships/image"/><Relationship Id="rId12" Target="../media/image83.svg" Type="http://schemas.openxmlformats.org/officeDocument/2006/relationships/image"/><Relationship Id="rId13" Target="../media/image84.png" Type="http://schemas.openxmlformats.org/officeDocument/2006/relationships/image"/><Relationship Id="rId14" Target="../media/image85.svg" Type="http://schemas.openxmlformats.org/officeDocument/2006/relationships/image"/><Relationship Id="rId15" Target="../notesSlides/notesSlide18.xml" Type="http://schemas.openxmlformats.org/officeDocument/2006/relationships/notesSlide"/><Relationship Id="rId2" Target="../media/image2.jpeg" Type="http://schemas.openxmlformats.org/officeDocument/2006/relationships/image"/><Relationship Id="rId3" Target="../media/image69.png" Type="http://schemas.openxmlformats.org/officeDocument/2006/relationships/image"/><Relationship Id="rId4" Target="../media/image70.svg" Type="http://schemas.openxmlformats.org/officeDocument/2006/relationships/image"/><Relationship Id="rId5" Target="../media/image71.png" Type="http://schemas.openxmlformats.org/officeDocument/2006/relationships/image"/><Relationship Id="rId6" Target="../media/image72.svg" Type="http://schemas.openxmlformats.org/officeDocument/2006/relationships/image"/><Relationship Id="rId7" Target="../media/image78.png" Type="http://schemas.openxmlformats.org/officeDocument/2006/relationships/image"/><Relationship Id="rId8" Target="../media/image79.svg" Type="http://schemas.openxmlformats.org/officeDocument/2006/relationships/image"/><Relationship Id="rId9" Target="../media/image80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89.svg" Type="http://schemas.openxmlformats.org/officeDocument/2006/relationships/image"/><Relationship Id="rId11" Target="../notesSlides/notesSlide19.xml" Type="http://schemas.openxmlformats.org/officeDocument/2006/relationships/notesSlide"/><Relationship Id="rId2" Target="../media/image2.jpeg" Type="http://schemas.openxmlformats.org/officeDocument/2006/relationships/image"/><Relationship Id="rId3" Target="../media/image86.png" Type="http://schemas.openxmlformats.org/officeDocument/2006/relationships/image"/><Relationship Id="rId4" Target="../media/image87.svg" Type="http://schemas.openxmlformats.org/officeDocument/2006/relationships/image"/><Relationship Id="rId5" Target="../media/image71.png" Type="http://schemas.openxmlformats.org/officeDocument/2006/relationships/image"/><Relationship Id="rId6" Target="../media/image72.svg" Type="http://schemas.openxmlformats.org/officeDocument/2006/relationships/image"/><Relationship Id="rId7" Target="../media/image78.png" Type="http://schemas.openxmlformats.org/officeDocument/2006/relationships/image"/><Relationship Id="rId8" Target="../media/image79.svg" Type="http://schemas.openxmlformats.org/officeDocument/2006/relationships/image"/><Relationship Id="rId9" Target="../media/image88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90.png" Type="http://schemas.openxmlformats.org/officeDocument/2006/relationships/image"/><Relationship Id="rId4" Target="../media/image91.svg" Type="http://schemas.openxmlformats.org/officeDocument/2006/relationships/image"/><Relationship Id="rId5" Target="../media/image71.png" Type="http://schemas.openxmlformats.org/officeDocument/2006/relationships/image"/><Relationship Id="rId6" Target="../media/image72.svg" Type="http://schemas.openxmlformats.org/officeDocument/2006/relationships/image"/><Relationship Id="rId7" Target="../media/image45.png" Type="http://schemas.openxmlformats.org/officeDocument/2006/relationships/image"/><Relationship Id="rId8" Target="../media/image46.svg" Type="http://schemas.openxmlformats.org/officeDocument/2006/relationships/image"/><Relationship Id="rId9" Target="../notesSlides/notesSlide20.xml" Type="http://schemas.openxmlformats.org/officeDocument/2006/relationships/notesSlide"/></Relationships>
</file>

<file path=ppt/slides/_rels/slide2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99.svg" Type="http://schemas.openxmlformats.org/officeDocument/2006/relationships/image"/><Relationship Id="rId11" Target="../media/image90.png" Type="http://schemas.openxmlformats.org/officeDocument/2006/relationships/image"/><Relationship Id="rId12" Target="../media/image91.svg" Type="http://schemas.openxmlformats.org/officeDocument/2006/relationships/image"/><Relationship Id="rId13" Target="../media/image100.png" Type="http://schemas.openxmlformats.org/officeDocument/2006/relationships/image"/><Relationship Id="rId14" Target="../media/image101.svg" Type="http://schemas.openxmlformats.org/officeDocument/2006/relationships/image"/><Relationship Id="rId15" Target="../notesSlides/notesSlide21.xml" Type="http://schemas.openxmlformats.org/officeDocument/2006/relationships/notesSlide"/><Relationship Id="rId2" Target="../media/image2.jpeg" Type="http://schemas.openxmlformats.org/officeDocument/2006/relationships/image"/><Relationship Id="rId3" Target="../media/image92.png" Type="http://schemas.openxmlformats.org/officeDocument/2006/relationships/image"/><Relationship Id="rId4" Target="../media/image93.svg" Type="http://schemas.openxmlformats.org/officeDocument/2006/relationships/image"/><Relationship Id="rId5" Target="../media/image94.png" Type="http://schemas.openxmlformats.org/officeDocument/2006/relationships/image"/><Relationship Id="rId6" Target="../media/image95.svg" Type="http://schemas.openxmlformats.org/officeDocument/2006/relationships/image"/><Relationship Id="rId7" Target="../media/image96.png" Type="http://schemas.openxmlformats.org/officeDocument/2006/relationships/image"/><Relationship Id="rId8" Target="../media/image97.svg" Type="http://schemas.openxmlformats.org/officeDocument/2006/relationships/image"/><Relationship Id="rId9" Target="../media/image98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03.svg" Type="http://schemas.openxmlformats.org/officeDocument/2006/relationships/image"/><Relationship Id="rId11" Target="../media/image104.png" Type="http://schemas.openxmlformats.org/officeDocument/2006/relationships/image"/><Relationship Id="rId12" Target="../media/image105.svg" Type="http://schemas.openxmlformats.org/officeDocument/2006/relationships/image"/><Relationship Id="rId13" Target="../notesSlides/notesSlide22.xml" Type="http://schemas.openxmlformats.org/officeDocument/2006/relationships/notesSlide"/><Relationship Id="rId2" Target="../media/image2.jpeg" Type="http://schemas.openxmlformats.org/officeDocument/2006/relationships/image"/><Relationship Id="rId3" Target="../media/image92.png" Type="http://schemas.openxmlformats.org/officeDocument/2006/relationships/image"/><Relationship Id="rId4" Target="../media/image93.svg" Type="http://schemas.openxmlformats.org/officeDocument/2006/relationships/image"/><Relationship Id="rId5" Target="../media/image96.png" Type="http://schemas.openxmlformats.org/officeDocument/2006/relationships/image"/><Relationship Id="rId6" Target="../media/image97.svg" Type="http://schemas.openxmlformats.org/officeDocument/2006/relationships/image"/><Relationship Id="rId7" Target="../media/image29.png" Type="http://schemas.openxmlformats.org/officeDocument/2006/relationships/image"/><Relationship Id="rId8" Target="../media/image30.svg" Type="http://schemas.openxmlformats.org/officeDocument/2006/relationships/image"/><Relationship Id="rId9" Target="../media/image102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13.svg" Type="http://schemas.openxmlformats.org/officeDocument/2006/relationships/image"/><Relationship Id="rId11" Target="../notesSlides/notesSlide23.xml" Type="http://schemas.openxmlformats.org/officeDocument/2006/relationships/notesSlide"/><Relationship Id="rId2" Target="../media/image2.jpeg" Type="http://schemas.openxmlformats.org/officeDocument/2006/relationships/image"/><Relationship Id="rId3" Target="../media/image106.png" Type="http://schemas.openxmlformats.org/officeDocument/2006/relationships/image"/><Relationship Id="rId4" Target="../media/image107.svg" Type="http://schemas.openxmlformats.org/officeDocument/2006/relationships/image"/><Relationship Id="rId5" Target="../media/image108.png" Type="http://schemas.openxmlformats.org/officeDocument/2006/relationships/image"/><Relationship Id="rId6" Target="../media/image109.svg" Type="http://schemas.openxmlformats.org/officeDocument/2006/relationships/image"/><Relationship Id="rId7" Target="../media/image110.png" Type="http://schemas.openxmlformats.org/officeDocument/2006/relationships/image"/><Relationship Id="rId8" Target="../media/image111.svg" Type="http://schemas.openxmlformats.org/officeDocument/2006/relationships/image"/><Relationship Id="rId9" Target="../media/image112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114.png" Type="http://schemas.openxmlformats.org/officeDocument/2006/relationships/image"/><Relationship Id="rId4" Target="../media/image115.svg" Type="http://schemas.openxmlformats.org/officeDocument/2006/relationships/image"/><Relationship Id="rId5" Target="../notesSlides/notesSlide24.xml" Type="http://schemas.openxmlformats.org/officeDocument/2006/relationships/notesSlide"/></Relationships>
</file>

<file path=ppt/slides/_rels/slide2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19.svg" Type="http://schemas.openxmlformats.org/officeDocument/2006/relationships/image"/><Relationship Id="rId11" Target="../media/image112.png" Type="http://schemas.openxmlformats.org/officeDocument/2006/relationships/image"/><Relationship Id="rId12" Target="../media/image113.svg" Type="http://schemas.openxmlformats.org/officeDocument/2006/relationships/image"/><Relationship Id="rId13" Target="../media/image120.png" Type="http://schemas.openxmlformats.org/officeDocument/2006/relationships/image"/><Relationship Id="rId14" Target="../media/image121.svg" Type="http://schemas.openxmlformats.org/officeDocument/2006/relationships/image"/><Relationship Id="rId15" Target="../notesSlides/notesSlide25.xml" Type="http://schemas.openxmlformats.org/officeDocument/2006/relationships/notesSlide"/><Relationship Id="rId2" Target="../media/image1.jpeg" Type="http://schemas.openxmlformats.org/officeDocument/2006/relationships/image"/><Relationship Id="rId3" Target="../media/image92.png" Type="http://schemas.openxmlformats.org/officeDocument/2006/relationships/image"/><Relationship Id="rId4" Target="../media/image93.svg" Type="http://schemas.openxmlformats.org/officeDocument/2006/relationships/image"/><Relationship Id="rId5" Target="../media/image47.png" Type="http://schemas.openxmlformats.org/officeDocument/2006/relationships/image"/><Relationship Id="rId6" Target="../media/image48.svg" Type="http://schemas.openxmlformats.org/officeDocument/2006/relationships/image"/><Relationship Id="rId7" Target="../media/image116.png" Type="http://schemas.openxmlformats.org/officeDocument/2006/relationships/image"/><Relationship Id="rId8" Target="../media/image117.svg" Type="http://schemas.openxmlformats.org/officeDocument/2006/relationships/image"/><Relationship Id="rId9" Target="../media/image118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93.svg" Type="http://schemas.openxmlformats.org/officeDocument/2006/relationships/image"/><Relationship Id="rId11" Target="../notesSlides/notesSlide26.xml" Type="http://schemas.openxmlformats.org/officeDocument/2006/relationships/notesSlide"/><Relationship Id="rId2" Target="../media/image1.jpeg" Type="http://schemas.openxmlformats.org/officeDocument/2006/relationships/image"/><Relationship Id="rId3" Target="../media/image122.png" Type="http://schemas.openxmlformats.org/officeDocument/2006/relationships/image"/><Relationship Id="rId4" Target="../media/image123.svg" Type="http://schemas.openxmlformats.org/officeDocument/2006/relationships/image"/><Relationship Id="rId5" Target="../media/image124.png" Type="http://schemas.openxmlformats.org/officeDocument/2006/relationships/image"/><Relationship Id="rId6" Target="../media/image125.svg" Type="http://schemas.openxmlformats.org/officeDocument/2006/relationships/image"/><Relationship Id="rId7" Target="../media/image82.png" Type="http://schemas.openxmlformats.org/officeDocument/2006/relationships/image"/><Relationship Id="rId8" Target="../media/image83.svg" Type="http://schemas.openxmlformats.org/officeDocument/2006/relationships/image"/><Relationship Id="rId9" Target="../media/image92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media/image88.png" Type="http://schemas.openxmlformats.org/officeDocument/2006/relationships/image"/><Relationship Id="rId4" Target="../media/image89.svg" Type="http://schemas.openxmlformats.org/officeDocument/2006/relationships/image"/><Relationship Id="rId5" Target="../notesSlides/notesSlide27.xml" Type="http://schemas.openxmlformats.org/officeDocument/2006/relationships/notesSlide"/></Relationships>
</file>

<file path=ppt/slides/_rels/slide2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31.svg" Type="http://schemas.openxmlformats.org/officeDocument/2006/relationships/image"/><Relationship Id="rId11" Target="../media/image132.png" Type="http://schemas.openxmlformats.org/officeDocument/2006/relationships/image"/><Relationship Id="rId12" Target="../media/image133.svg" Type="http://schemas.openxmlformats.org/officeDocument/2006/relationships/image"/><Relationship Id="rId13" Target="../media/image88.png" Type="http://schemas.openxmlformats.org/officeDocument/2006/relationships/image"/><Relationship Id="rId14" Target="../media/image89.svg" Type="http://schemas.openxmlformats.org/officeDocument/2006/relationships/image"/><Relationship Id="rId15" Target="../media/image104.png" Type="http://schemas.openxmlformats.org/officeDocument/2006/relationships/image"/><Relationship Id="rId16" Target="../media/image105.svg" Type="http://schemas.openxmlformats.org/officeDocument/2006/relationships/image"/><Relationship Id="rId17" Target="../notesSlides/notesSlide28.xml" Type="http://schemas.openxmlformats.org/officeDocument/2006/relationships/notesSlide"/><Relationship Id="rId2" Target="../media/image1.jpeg" Type="http://schemas.openxmlformats.org/officeDocument/2006/relationships/image"/><Relationship Id="rId3" Target="../media/image126.png" Type="http://schemas.openxmlformats.org/officeDocument/2006/relationships/image"/><Relationship Id="rId4" Target="../media/image127.svg" Type="http://schemas.openxmlformats.org/officeDocument/2006/relationships/image"/><Relationship Id="rId5" Target="../media/image128.png" Type="http://schemas.openxmlformats.org/officeDocument/2006/relationships/image"/><Relationship Id="rId6" Target="../media/image129.svg" Type="http://schemas.openxmlformats.org/officeDocument/2006/relationships/image"/><Relationship Id="rId7" Target="../media/image65.png" Type="http://schemas.openxmlformats.org/officeDocument/2006/relationships/image"/><Relationship Id="rId8" Target="../media/image66.svg" Type="http://schemas.openxmlformats.org/officeDocument/2006/relationships/image"/><Relationship Id="rId9" Target="../media/image130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39.svg" Type="http://schemas.openxmlformats.org/officeDocument/2006/relationships/image"/><Relationship Id="rId11" Target="../media/image140.png" Type="http://schemas.openxmlformats.org/officeDocument/2006/relationships/image"/><Relationship Id="rId12" Target="../media/image141.svg" Type="http://schemas.openxmlformats.org/officeDocument/2006/relationships/image"/><Relationship Id="rId13" Target="../notesSlides/notesSlide29.xml" Type="http://schemas.openxmlformats.org/officeDocument/2006/relationships/notesSlide"/><Relationship Id="rId2" Target="../media/image1.jpeg" Type="http://schemas.openxmlformats.org/officeDocument/2006/relationships/image"/><Relationship Id="rId3" Target="../media/image134.png" Type="http://schemas.openxmlformats.org/officeDocument/2006/relationships/image"/><Relationship Id="rId4" Target="../media/image135.svg" Type="http://schemas.openxmlformats.org/officeDocument/2006/relationships/image"/><Relationship Id="rId5" Target="../media/image128.png" Type="http://schemas.openxmlformats.org/officeDocument/2006/relationships/image"/><Relationship Id="rId6" Target="../media/image129.svg" Type="http://schemas.openxmlformats.org/officeDocument/2006/relationships/image"/><Relationship Id="rId7" Target="../media/image136.png" Type="http://schemas.openxmlformats.org/officeDocument/2006/relationships/image"/><Relationship Id="rId8" Target="../media/image137.svg" Type="http://schemas.openxmlformats.org/officeDocument/2006/relationships/image"/><Relationship Id="rId9" Target="../media/image138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45.svg" Type="http://schemas.openxmlformats.org/officeDocument/2006/relationships/image"/><Relationship Id="rId11" Target="../media/image112.png" Type="http://schemas.openxmlformats.org/officeDocument/2006/relationships/image"/><Relationship Id="rId12" Target="../media/image113.svg" Type="http://schemas.openxmlformats.org/officeDocument/2006/relationships/image"/><Relationship Id="rId13" Target="../media/image7.png" Type="http://schemas.openxmlformats.org/officeDocument/2006/relationships/image"/><Relationship Id="rId14" Target="../media/image8.svg" Type="http://schemas.openxmlformats.org/officeDocument/2006/relationships/image"/><Relationship Id="rId15" Target="../notesSlides/notesSlide30.xml" Type="http://schemas.openxmlformats.org/officeDocument/2006/relationships/notesSlide"/><Relationship Id="rId2" Target="../media/image1.jpeg" Type="http://schemas.openxmlformats.org/officeDocument/2006/relationships/image"/><Relationship Id="rId3" Target="../media/image92.png" Type="http://schemas.openxmlformats.org/officeDocument/2006/relationships/image"/><Relationship Id="rId4" Target="../media/image93.svg" Type="http://schemas.openxmlformats.org/officeDocument/2006/relationships/image"/><Relationship Id="rId5" Target="../media/image142.png" Type="http://schemas.openxmlformats.org/officeDocument/2006/relationships/image"/><Relationship Id="rId6" Target="../media/image143.svg" Type="http://schemas.openxmlformats.org/officeDocument/2006/relationships/image"/><Relationship Id="rId7" Target="../media/image116.png" Type="http://schemas.openxmlformats.org/officeDocument/2006/relationships/image"/><Relationship Id="rId8" Target="../media/image117.svg" Type="http://schemas.openxmlformats.org/officeDocument/2006/relationships/image"/><Relationship Id="rId9" Target="../media/image144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media/image146.png" Type="http://schemas.openxmlformats.org/officeDocument/2006/relationships/image"/><Relationship Id="rId4" Target="../media/image147.svg" Type="http://schemas.openxmlformats.org/officeDocument/2006/relationships/image"/><Relationship Id="rId5" Target="../media/image148.png" Type="http://schemas.openxmlformats.org/officeDocument/2006/relationships/image"/><Relationship Id="rId6" Target="../media/image149.svg" Type="http://schemas.openxmlformats.org/officeDocument/2006/relationships/image"/><Relationship Id="rId7" Target="../media/image114.png" Type="http://schemas.openxmlformats.org/officeDocument/2006/relationships/image"/><Relationship Id="rId8" Target="../media/image115.svg" Type="http://schemas.openxmlformats.org/officeDocument/2006/relationships/image"/><Relationship Id="rId9" Target="../notesSlides/notesSlide31.xml" Type="http://schemas.openxmlformats.org/officeDocument/2006/relationships/notesSlide"/></Relationships>
</file>

<file path=ppt/slides/_rels/slide3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32.xml" Type="http://schemas.openxmlformats.org/officeDocument/2006/relationships/notesSlide"/></Relationships>
</file>

<file path=ppt/slides/_rels/slide3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53.svg" Type="http://schemas.openxmlformats.org/officeDocument/2006/relationships/image"/><Relationship Id="rId11" Target="../media/image90.png" Type="http://schemas.openxmlformats.org/officeDocument/2006/relationships/image"/><Relationship Id="rId12" Target="../media/image91.svg" Type="http://schemas.openxmlformats.org/officeDocument/2006/relationships/image"/><Relationship Id="rId13" Target="../media/image154.png" Type="http://schemas.openxmlformats.org/officeDocument/2006/relationships/image"/><Relationship Id="rId14" Target="../media/image155.svg" Type="http://schemas.openxmlformats.org/officeDocument/2006/relationships/image"/><Relationship Id="rId15" Target="../media/image88.png" Type="http://schemas.openxmlformats.org/officeDocument/2006/relationships/image"/><Relationship Id="rId16" Target="../media/image89.svg" Type="http://schemas.openxmlformats.org/officeDocument/2006/relationships/image"/><Relationship Id="rId17" Target="../notesSlides/notesSlide33.xml" Type="http://schemas.openxmlformats.org/officeDocument/2006/relationships/notesSlide"/><Relationship Id="rId2" Target="../media/image1.jpeg" Type="http://schemas.openxmlformats.org/officeDocument/2006/relationships/image"/><Relationship Id="rId3" Target="../media/image92.png" Type="http://schemas.openxmlformats.org/officeDocument/2006/relationships/image"/><Relationship Id="rId4" Target="../media/image93.svg" Type="http://schemas.openxmlformats.org/officeDocument/2006/relationships/image"/><Relationship Id="rId5" Target="../media/image118.png" Type="http://schemas.openxmlformats.org/officeDocument/2006/relationships/image"/><Relationship Id="rId6" Target="../media/image119.svg" Type="http://schemas.openxmlformats.org/officeDocument/2006/relationships/image"/><Relationship Id="rId7" Target="../media/image150.png" Type="http://schemas.openxmlformats.org/officeDocument/2006/relationships/image"/><Relationship Id="rId8" Target="../media/image151.svg" Type="http://schemas.openxmlformats.org/officeDocument/2006/relationships/image"/><Relationship Id="rId9" Target="../media/image152.pn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60.png" Type="http://schemas.openxmlformats.org/officeDocument/2006/relationships/image"/><Relationship Id="rId2" Target="../media/image1.jpeg" Type="http://schemas.openxmlformats.org/officeDocument/2006/relationships/image"/><Relationship Id="rId3" Target="../media/image156.png" Type="http://schemas.openxmlformats.org/officeDocument/2006/relationships/image"/><Relationship Id="rId4" Target="../media/image157.svg" Type="http://schemas.openxmlformats.org/officeDocument/2006/relationships/image"/><Relationship Id="rId5" Target="../media/image35.png" Type="http://schemas.openxmlformats.org/officeDocument/2006/relationships/image"/><Relationship Id="rId6" Target="../media/image36.svg" Type="http://schemas.openxmlformats.org/officeDocument/2006/relationships/image"/><Relationship Id="rId7" Target="../media/image158.png" Type="http://schemas.openxmlformats.org/officeDocument/2006/relationships/image"/><Relationship Id="rId8" Target="../media/image159.svg" Type="http://schemas.openxmlformats.org/officeDocument/2006/relationships/image"/><Relationship Id="rId9" Target="../notesSlides/notesSlide34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2032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🏠 让AI持续运行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28575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运维思维与AI时代生存指南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34376" flipH="false" flipV="false">
            <a:off x="5461032" y="3549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FD7E14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1016000" y="3810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读懂AI Agent —— 给每个人的智能助手通识课 | 第6课 / 共6课（最后一课！🎉）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📋 今天的旅程</a:t>
            </a:r>
            <a:endParaRPr lang="en-US" sz="1100"/>
          </a:p>
        </p:txBody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762000" y="1651000"/>
          <a:ext cx="10160000" cy="41656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032000"/>
                <a:gridCol w="6096000"/>
                <a:gridCol w="2032000"/>
              </a:tblGrid>
              <a:tr h="508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007B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环节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BFF">
                        <a:alpha val="1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007B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内容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BFF">
                        <a:alpha val="1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007B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时间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BFF">
                        <a:alpha val="10000"/>
                      </a:srgbClr>
                    </a:solidFill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🏠 导入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AI系统的24小时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20min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📋 模块6.2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配置管理=规章制度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30min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⏰ 模块6.3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定时任务=保洁排班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25min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☕ 休息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课间休息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10min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💬 讨论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四大经验教训研讨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35min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📊 模块6.6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全景回顾+AI素养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25min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✏️ 练习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你的AI Agent需求方案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25min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📌 总结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课程结业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10min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🤔 两个问题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51435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905000"/>
            <a:ext cx="406400" cy="4064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524000" y="1879600"/>
            <a:ext cx="41275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问题1：开一家餐厅最难的是什么？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9418" flipH="false" flipV="false">
            <a:off x="1016009" y="2343150"/>
            <a:ext cx="46355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D7E1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1016000" y="2476500"/>
            <a:ext cx="46355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不是开业那天，而是之后的每一天：买菜、卫生、维修、排班……繁琐的日常运营才是真正的考验。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286500" y="1651000"/>
            <a:ext cx="51435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540500" y="19050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7048500" y="1879600"/>
            <a:ext cx="41275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问题2：小区物业突然撤走会怎样？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9418" flipH="false" flipV="false">
            <a:off x="6540509" y="2343150"/>
            <a:ext cx="46355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8A74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6540500" y="2476500"/>
            <a:ext cx="46355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电梯停运、垃圾堆积、门禁损坏、水管漏水……缺乏持续的维护，小区将迅速陷入瘫痪。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4191000"/>
            <a:ext cx="10668000" cy="1778000"/>
          </a:xfrm>
          <a:prstGeom prst="roundRect">
            <a:avLst>
              <a:gd name="adj" fmla="val 7142"/>
            </a:avLst>
          </a:prstGeom>
          <a:solidFill>
            <a:srgbClr val="EBF8FF">
              <a:alpha val="95000"/>
            </a:srgbClr>
          </a:solidFill>
          <a:ln w="25400" cmpd="sng" cap="flat">
            <a:solidFill>
              <a:srgbClr val="007BFF">
                <a:alpha val="10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44450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1524000" y="4419600"/>
            <a:ext cx="9652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核心洞察：AI系统上线后的挑战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4297" flipH="false" flipV="false">
            <a:off x="1016004" y="4883150"/>
            <a:ext cx="1016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1016000" y="50165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AI系统上线 = 餐厅开业 = 小区交付。真正的挑战不是上线那一刻，而是</a:t>
            </a:r>
            <a:r>
              <a:rPr lang="en-US" b="true" i="false" strike="noStrike" u="none" sz="18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之后每一天</a:t>
            </a:r>
            <a:r>
              <a:rPr lang="en-US" b="false" i="false" strike="noStrike" u="none" sz="16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的稳定运行与维护。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🏠 没有物业的小区：从完美到混乱的衰败之路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778000"/>
            <a:ext cx="3302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28A745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52500" y="1968500"/>
            <a:ext cx="406400" cy="4064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460500" y="1930400"/>
            <a:ext cx="241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入住第1天：一切完美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52500" y="2349500"/>
            <a:ext cx="2921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崭新的环境，设施齐全，充满希望。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4445000" y="1778000"/>
            <a:ext cx="3302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FD7E14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35500" y="1968500"/>
            <a:ext cx="406400" cy="4064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5143500" y="1930400"/>
            <a:ext cx="241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第1周：出现异味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635500" y="2349500"/>
            <a:ext cx="2921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垃圾堆积无人清理，楼道开始散发异味。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128000" y="1778000"/>
            <a:ext cx="3302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FD7E14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318500" y="19685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8826500" y="1930400"/>
            <a:ext cx="241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第1个月：设施损坏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318500" y="2349500"/>
            <a:ext cx="2921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电梯故障无人维修，生活开始不便。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62000" y="3429000"/>
            <a:ext cx="3302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DC3545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952500" y="3619500"/>
            <a:ext cx="406400" cy="4064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1460500" y="3581400"/>
            <a:ext cx="241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DC3545"/>
                </a:solidFill>
                <a:latin typeface="Noto Sans SC"/>
                <a:ea typeface="Noto Sans SC"/>
                <a:cs typeface="Noto Sans SC"/>
                <a:sym typeface="Noto Sans SC"/>
              </a:rPr>
              <a:t>第3个月：安全隐患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952500" y="4000500"/>
            <a:ext cx="2921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门禁密码泄露，闲杂人等随意进出。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4445000" y="3429000"/>
            <a:ext cx="3302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DC3545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4635500" y="3619500"/>
            <a:ext cx="406400" cy="4064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5143500" y="3581400"/>
            <a:ext cx="241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DC3545"/>
                </a:solidFill>
                <a:latin typeface="Noto Sans SC"/>
                <a:ea typeface="Noto Sans SC"/>
                <a:cs typeface="Noto Sans SC"/>
                <a:sym typeface="Noto Sans SC"/>
              </a:rPr>
              <a:t>第6个月：一片狼藉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4635500" y="4000500"/>
            <a:ext cx="2921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水管漏水严重，小区环境破败不堪。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8128000" y="3429000"/>
            <a:ext cx="3302000" cy="1397000"/>
          </a:xfrm>
          <a:prstGeom prst="roundRect">
            <a:avLst>
              <a:gd name="adj" fmla="val 9090"/>
            </a:avLst>
          </a:prstGeom>
          <a:solidFill>
            <a:srgbClr val="007BFF">
              <a:alpha val="10000"/>
            </a:srgbClr>
          </a:solidFill>
          <a:ln w="12700" cmpd="sng" cap="flat">
            <a:solidFill>
              <a:srgbClr val="007BFF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8318500" y="3619500"/>
            <a:ext cx="406400" cy="4064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8826500" y="3581400"/>
            <a:ext cx="241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核心启示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8318500" y="4000500"/>
            <a:ext cx="2921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再好的硬件没有维护终将衰败，AI系统亦如此！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762000" y="5080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8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1016000" y="52705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结论：好的硬件设施，如果没有持续的维护和管理，终将退化成一团糟。这就是为什么我们需要重视AI系统的持续运维。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运维 = AI的物业管理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DCDCDC">
                <a:alpha val="10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968500"/>
            <a:ext cx="609600" cy="6096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778000" y="1841500"/>
            <a:ext cx="254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物业管理：规章制度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制定社区运行准则</a:t>
            </a:r>
          </a:p>
        </p:txBody>
      </p:sp>
      <p:cxnSp>
        <p:nvCxnSpPr>
          <p:cNvPr name="Connector 6" id="6"/>
          <p:cNvCxnSpPr/>
          <p:nvPr/>
        </p:nvCxnSpPr>
        <p:spPr>
          <a:xfrm rot="5350892" flipH="false" flipV="false">
            <a:off x="4127500" y="2279695"/>
            <a:ext cx="889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CDCDC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name="Picture 7" id="7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826000" y="1968500"/>
            <a:ext cx="609600" cy="6096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5588000" y="1841500"/>
            <a:ext cx="558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AI运维：配置管理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所有规则集中管理，确保系统按规范运行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31115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DCDCDC">
                <a:alpha val="10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3429000"/>
            <a:ext cx="609600" cy="6096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778000" y="3302000"/>
            <a:ext cx="254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物业管理：保洁排班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定期清洁，维护环境</a:t>
            </a:r>
          </a:p>
        </p:txBody>
      </p:sp>
      <p:cxnSp>
        <p:nvCxnSpPr>
          <p:cNvPr name="Connector 12" id="12"/>
          <p:cNvCxnSpPr/>
          <p:nvPr/>
        </p:nvCxnSpPr>
        <p:spPr>
          <a:xfrm rot="5350892" flipH="false" flipV="false">
            <a:off x="4127500" y="3740195"/>
            <a:ext cx="889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CDCDC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name="Picture 13" id="13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4826000" y="3429000"/>
            <a:ext cx="609600" cy="6096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5588000" y="3302000"/>
            <a:ext cx="558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AI运维：定时任务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每天自动执行例行工作，保持系统整洁高效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62000" y="45720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DCDCDC">
                <a:alpha val="10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1016000" y="4889500"/>
            <a:ext cx="609600" cy="6096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1778000" y="4762500"/>
            <a:ext cx="254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物业管理：安防系统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全天候巡逻与监控</a:t>
            </a:r>
          </a:p>
        </p:txBody>
      </p:sp>
      <p:cxnSp>
        <p:nvCxnSpPr>
          <p:cNvPr name="Connector 18" id="18"/>
          <p:cNvCxnSpPr/>
          <p:nvPr/>
        </p:nvCxnSpPr>
        <p:spPr>
          <a:xfrm rot="5350892" flipH="false" flipV="false">
            <a:off x="4127500" y="5200695"/>
            <a:ext cx="889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CDCDC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name="Picture 19" id="19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4826000" y="4889500"/>
            <a:ext cx="609600" cy="6096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5588000" y="4762500"/>
            <a:ext cx="558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AI运维：监控报警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7×24小时实时监控，异常情况自动报警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关键数据：OpenClaw 99.5% 正常运行时间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3302000" cy="4318000"/>
          </a:xfrm>
          <a:prstGeom prst="roundRect">
            <a:avLst>
              <a:gd name="adj" fmla="val 3846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2095500" y="1968500"/>
            <a:ext cx="635000" cy="6350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889000" y="2730500"/>
            <a:ext cx="304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核心指标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89000" y="3238500"/>
            <a:ext cx="304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99.5%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89000" y="4127500"/>
            <a:ext cx="3048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6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OpenClaw 系统保持高可用性，这是运维团队专业能力的直接体现。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445000" y="1651000"/>
            <a:ext cx="3302000" cy="4318000"/>
          </a:xfrm>
          <a:prstGeom prst="roundRect">
            <a:avLst>
              <a:gd name="adj" fmla="val 3846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5778500" y="1968500"/>
            <a:ext cx="635000" cy="6350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4572000" y="2730500"/>
            <a:ext cx="304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计算与影响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572000" y="3238500"/>
            <a:ext cx="30480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203200" marL="203200">
              <a:lnSpc>
                <a:spcPct val="116666"/>
              </a:lnSpc>
              <a:buClr>
                <a:srgbClr val="555555"/>
              </a:buClr>
              <a:buChar char="•"/>
              <a:defRPr/>
            </a:pPr>
            <a:r>
              <a:rPr lang="en-US" b="false" i="false" strike="noStrike" u="none" sz="16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每年不可用时间：&lt; 44小时</a:t>
            </a:r>
            <a:r>
              <a:rPr lang="en-US" b="false" i="false" strike="noStrike" u="none" sz="16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203200" marL="203200">
              <a:lnSpc>
                <a:spcPct val="116666"/>
              </a:lnSpc>
              <a:buClr>
                <a:srgbClr val="555555"/>
              </a:buClr>
              <a:buChar char="•"/>
            </a:pPr>
            <a:r>
              <a:rPr lang="en-US" b="false" i="false" strike="noStrike" u="none" sz="16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每月平均：约 3.6小时</a:t>
            </a:r>
            <a:r>
              <a:rPr lang="en-US" b="false" i="false" strike="noStrike" u="none" sz="16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16666"/>
              </a:lnSpc>
              <a:buClr>
                <a:srgbClr val="555555"/>
              </a:buClr>
              <a:buChar char="•"/>
            </a:pPr>
            <a:r>
              <a:rPr lang="en-US" b="false" i="false" strike="noStrike" u="none" sz="16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潜在风险：交易信号错失、请求无响应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128000" y="1651000"/>
            <a:ext cx="3302000" cy="4318000"/>
          </a:xfrm>
          <a:prstGeom prst="roundRect">
            <a:avLst>
              <a:gd name="adj" fmla="val 3846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9461500" y="1968500"/>
            <a:ext cx="635000" cy="6350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8255000" y="2730500"/>
            <a:ext cx="304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运维的价值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255000" y="3238500"/>
            <a:ext cx="30480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6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结论：</a:t>
            </a:r>
            <a:r>
              <a:rPr lang="en-US" b="true" i="false" strike="noStrike" u="none" sz="1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没有运维的AI → 99.5%的时间在出问题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16666"/>
              </a:lnSpc>
            </a:pPr>
            <a:r>
              <a:rPr lang="en-US" b="false" i="false" strike="noStrike" u="none" sz="16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扎实的运维是AI系统落地的基石，保障业务连续性。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AI系统运维挑战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651000" y="1778000"/>
            <a:ext cx="8890000" cy="4064000"/>
          </a:xfrm>
          <a:prstGeom prst="roundRect">
            <a:avLst>
              <a:gd name="adj" fmla="val 4687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27000" blurRad="254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5689600" y="2095500"/>
            <a:ext cx="812800" cy="8128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905000" y="2984500"/>
            <a:ext cx="838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AI系统上线只是“开业剪彩”，真正的挑战在于稳定运行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6875" flipH="false" flipV="false">
            <a:off x="2921006" y="3613150"/>
            <a:ext cx="635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CDCD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7" id="7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3556000" y="3873500"/>
            <a:ext cx="609600" cy="6096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4318000" y="3873500"/>
            <a:ext cx="5715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好的运维就像好的物业——</a:t>
            </a:r>
            <a:r>
              <a:rPr lang="en-US" b="fals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20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平时你感觉不到它的存在，但没有它</a:t>
            </a:r>
            <a:r>
              <a:rPr lang="en-US" b="true" i="false" strike="noStrike" u="none" sz="2000">
                <a:solidFill>
                  <a:srgbClr val="DC3545"/>
                </a:solidFill>
                <a:latin typeface="Noto Sans SC"/>
                <a:ea typeface="Noto Sans SC"/>
                <a:cs typeface="Noto Sans SC"/>
                <a:sym typeface="Noto Sans SC"/>
              </a:rPr>
              <a:t>一切都会崩塌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📋 配置管理 = 规章制度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778000"/>
            <a:ext cx="3302000" cy="3810000"/>
          </a:xfrm>
          <a:prstGeom prst="roundRect">
            <a:avLst>
              <a:gd name="adj" fmla="val 3846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016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032000"/>
            <a:ext cx="609600" cy="6096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016000" y="27305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好的物业管理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15626" flipH="false" flipV="false">
            <a:off x="1016014" y="3168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28A745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1016000" y="3302000"/>
            <a:ext cx="2794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拥有一本“小区规章制度”，所有规矩写在一个地方，新来的人翻一本就全知道，执行标准统一。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445000" y="1778000"/>
            <a:ext cx="3302000" cy="3810000"/>
          </a:xfrm>
          <a:prstGeom prst="roundRect">
            <a:avLst>
              <a:gd name="adj" fmla="val 3846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016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99000" y="2032000"/>
            <a:ext cx="609600" cy="6096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4699000" y="27305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零散的规则记忆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15626" flipH="false" flipV="false">
            <a:off x="4699014" y="3168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FD7E14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4699000" y="3302000"/>
            <a:ext cx="2794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如果规矩只存在于个人脑子里，一旦负责人请假或离职，工作就会陷入混乱，无法正常运转。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128000" y="1778000"/>
            <a:ext cx="3302000" cy="3810000"/>
          </a:xfrm>
          <a:prstGeom prst="roundRect">
            <a:avLst>
              <a:gd name="adj" fmla="val 3846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016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382000" y="2032000"/>
            <a:ext cx="609600" cy="6096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8382000" y="27305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AI系统配置管理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15626" flipH="false" flipV="false">
            <a:off x="8382014" y="3168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7B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8382000" y="3302000"/>
            <a:ext cx="2794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将所有系统设置集中在一个配置文件里，实现“一处修改，全局生效”，确保系统的稳定性和一致性。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OpenClaw的“规章制度总册”</a:t>
            </a:r>
            <a:endParaRPr lang="en-US" sz="1100"/>
          </a:p>
        </p:txBody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762000" y="1524000"/>
          <a:ext cx="10668000" cy="4064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5334000"/>
                <a:gridCol w="5334000"/>
              </a:tblGrid>
              <a:tr h="508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007B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配置项 (Config Key)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BFF">
                        <a:alpha val="1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007B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白话翻译 (Description)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BFF">
                        <a:alpha val="10000"/>
                      </a:srgbClr>
                    </a:solidFill>
                  </a:tcPr>
                </a:tc>
              </a:tr>
              <a:tr h="4445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environment: production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正式运行环境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445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memory.update_interval: 14400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每4小时更新记忆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445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memory.retention_days: 90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保留90天记忆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445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models.default: kimi-k2.5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默认用Kimi模型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445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models.fallback: gpt-4o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Kimi挂了自动切换到GPT-4o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445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agents.sync_interval: 21600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每6小时同步记忆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445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trading.max_daily_loss: 100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日最大亏损限制为 $100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445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notifications.default: feishu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默认使用飞书接收通知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name="AutoShape 4" id="4"/>
          <p:cNvSpPr/>
          <p:nvPr/>
        </p:nvSpPr>
        <p:spPr>
          <a:xfrm rot="0" flipH="false" flipV="false">
            <a:off x="762000" y="5461000"/>
            <a:ext cx="10668000" cy="1016000"/>
          </a:xfrm>
          <a:prstGeom prst="roundRect">
            <a:avLst>
              <a:gd name="adj" fmla="val 20000"/>
            </a:avLst>
          </a:prstGeom>
          <a:solidFill>
            <a:srgbClr val="FD7E14">
              <a:alpha val="10000"/>
            </a:srgbClr>
          </a:solidFill>
          <a:ln w="12700" cmpd="sng" cap="flat">
            <a:solidFill>
              <a:srgbClr val="FD7E14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5651500"/>
            <a:ext cx="406400" cy="4064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524000" y="5588000"/>
            <a:ext cx="965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核心优势总结：</a:t>
            </a: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无论是修改交易限额还是更换通知渠道，只需修改一处配置即可生效，无需逐一调整8个Agent，极大提升了维护效率。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集中管理的四大好处</a:t>
            </a:r>
            <a:endParaRPr lang="en-US" sz="1100"/>
          </a:p>
        </p:txBody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762000" y="1778000"/>
          <a:ext cx="10414000" cy="3683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86000"/>
                <a:gridCol w="4572000"/>
                <a:gridCol w="3556000"/>
              </a:tblGrid>
              <a:tr h="635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007B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核心优势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254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BFF">
                        <a:alpha val="1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007B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具体说明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254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BFF">
                        <a:alpha val="1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007B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物业场景类比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254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BFF">
                        <a:alpha val="10000"/>
                      </a:srgbClr>
                    </a:solidFill>
                  </a:tcPr>
                </a:tc>
              </a:tr>
              <a:tr h="762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28A7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👁️ 一目了然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254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所有设置在一个文件，全局视角清晰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254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规章制度汇总在一本书里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254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</a:tr>
              <a:tr h="762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FD7E1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✏️ 改一处生效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只改一个文件，系统自动同步更新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改一本手册就行，无需逐户通知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</a:tr>
              <a:tr h="762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28A7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✅ 不易出错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避免“A改了B忘了”的不一致情况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不会出现不同楼栋规矩不同的混乱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</a:tr>
              <a:tr h="762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FD7E1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📝 有记录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可追溯修改历史，责任明确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清楚知道谁修改了什么规则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⏰ 定时任务 = 保洁排班表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778000"/>
            <a:ext cx="5080000" cy="4064000"/>
          </a:xfrm>
          <a:prstGeom prst="roundRect">
            <a:avLst>
              <a:gd name="adj" fmla="val 3125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143000" y="2159000"/>
            <a:ext cx="609600" cy="6096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905000" y="2222500"/>
            <a:ext cx="3556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物业保洁排班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10110" flipH="false" flipV="false">
            <a:off x="1143009" y="2851150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1143000" y="3048000"/>
            <a:ext cx="43180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228600" marL="228600">
              <a:lnSpc>
                <a:spcPct val="125000"/>
              </a:lnSpc>
              <a:buClr>
                <a:srgbClr val="374151"/>
              </a:buClr>
              <a:buChar char="•"/>
              <a:defRPr/>
            </a:pPr>
            <a:r>
              <a:rPr lang="en-US" b="fals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每天自动按时间执行扫大厅、收垃圾、擦电梯等工作</a:t>
            </a:r>
            <a:r>
              <a:rPr lang="en-US" b="fals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228600" marL="228600">
              <a:lnSpc>
                <a:spcPct val="125000"/>
              </a:lnSpc>
              <a:buClr>
                <a:srgbClr val="374151"/>
              </a:buClr>
              <a:buChar char="•"/>
            </a:pPr>
            <a:r>
              <a:rPr lang="en-US" b="fals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无需临时安排，工作已固定在“日程表”上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350000" y="1778000"/>
            <a:ext cx="5080000" cy="4064000"/>
          </a:xfrm>
          <a:prstGeom prst="roundRect">
            <a:avLst>
              <a:gd name="adj" fmla="val 3125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731000" y="2159000"/>
            <a:ext cx="609600" cy="6096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7493000" y="2222500"/>
            <a:ext cx="3556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AI系统定时任务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10110" flipH="false" flipV="false">
            <a:off x="6731009" y="2851150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6731000" y="3048000"/>
            <a:ext cx="43180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228600" marL="228600">
              <a:lnSpc>
                <a:spcPct val="125000"/>
              </a:lnSpc>
              <a:buClr>
                <a:srgbClr val="374151"/>
              </a:buClr>
              <a:buChar char="•"/>
              <a:defRPr/>
            </a:pPr>
            <a:r>
              <a:rPr lang="en-US" b="fals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系统内置“每日行程表”，即定时任务模块</a:t>
            </a:r>
            <a:r>
              <a:rPr lang="en-US" b="fals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228600" marL="228600">
              <a:lnSpc>
                <a:spcPct val="125000"/>
              </a:lnSpc>
              <a:buClr>
                <a:srgbClr val="374151"/>
              </a:buClr>
              <a:buChar char="•"/>
            </a:pPr>
            <a:r>
              <a:rPr lang="en-US" b="fals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自动执行各种例行工作，确保运维自动化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OpenClaw的10个定时任务</a:t>
            </a:r>
            <a:endParaRPr lang="en-US" sz="1100"/>
          </a:p>
        </p:txBody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762000" y="1524000"/>
          <a:ext cx="10414000" cy="4572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032000"/>
                <a:gridCol w="3556000"/>
                <a:gridCol w="4826000"/>
              </a:tblGrid>
              <a:tr h="508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007B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⏰ 时间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254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BFF">
                        <a:alpha val="1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007B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📋 任务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254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BFF">
                        <a:alpha val="1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007B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🏠 物业类比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254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BFF">
                        <a:alpha val="10000"/>
                      </a:srgbClr>
                    </a:solidFill>
                  </a:tcPr>
                </a:tc>
              </a:tr>
              <a:tr h="4064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每天7:00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254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每日晨报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254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物业晨会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254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4064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每天23:00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工作总结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物业日报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64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每小时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系统监控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保安巡逻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64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每小时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内存监控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检查水电表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64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每小时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失败监控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检查漏扫区域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64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每6小时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记忆同步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部门信息同步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64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每天22:00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交易复盘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财务日结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64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每天22:55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策略复盘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经营分析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64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每4小时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任务检查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检查报修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64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每天3:00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记忆收敛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夜间整理档案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name="AutoShape 4" id="4"/>
          <p:cNvSpPr/>
          <p:nvPr/>
        </p:nvSpPr>
        <p:spPr>
          <a:xfrm rot="0" flipH="false" flipV="false">
            <a:off x="762000" y="5969000"/>
            <a:ext cx="10668000" cy="508000"/>
          </a:xfrm>
          <a:prstGeom prst="roundRect">
            <a:avLst>
              <a:gd name="adj" fmla="val 40000"/>
            </a:avLst>
          </a:prstGeom>
          <a:solidFill>
            <a:srgbClr val="28A745">
              <a:alpha val="10000"/>
            </a:srgbClr>
          </a:solidFill>
          <a:ln w="12700" cmpd="sng" cap="flat">
            <a:solidFill>
              <a:srgbClr val="28A745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总结：10个任务，完全自动，每天默默运行，保障系统稳定高效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最关键的两个任务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5143500" cy="4318000"/>
          </a:xfrm>
          <a:prstGeom prst="roundRect">
            <a:avLst>
              <a:gd name="adj" fmla="val 2941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905000"/>
            <a:ext cx="406400" cy="4064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524000" y="1879600"/>
            <a:ext cx="4064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凌晨3点：记忆收敛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9418" flipH="false" flipV="false">
            <a:off x="1016009" y="2343150"/>
            <a:ext cx="463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7B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7" id="7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26035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397000" y="25654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扫描当天所有 Agent 对话记录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3048000"/>
            <a:ext cx="304800" cy="3048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397000" y="30099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提取重要信息并写入长期记忆</a:t>
            </a:r>
            <a:endParaRPr lang="en-US" sz="1100"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1016000" y="3492500"/>
            <a:ext cx="304800" cy="3048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1397000" y="34544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更新搜索索引，确保信息可检索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016000" y="4064000"/>
            <a:ext cx="4635500" cy="1651000"/>
          </a:xfrm>
          <a:prstGeom prst="roundRect">
            <a:avLst>
              <a:gd name="adj" fmla="val 7692"/>
            </a:avLst>
          </a:prstGeom>
          <a:solidFill>
            <a:srgbClr val="F8F9F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1206500" y="4254500"/>
            <a:ext cx="304800" cy="3048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1587500" y="42164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类比：物业深夜整理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206500" y="4572000"/>
            <a:ext cx="42545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就像物业深夜整理报修单、归档重要事项，确保第二天工作有序进行。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286500" y="1651000"/>
            <a:ext cx="5143500" cy="4318000"/>
          </a:xfrm>
          <a:prstGeom prst="roundRect">
            <a:avLst>
              <a:gd name="adj" fmla="val 2941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28A745">
                <a:alpha val="3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6540500" y="1905000"/>
            <a:ext cx="406400" cy="4064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7048500" y="1879600"/>
            <a:ext cx="4064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每小时：系统状态监控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-9418" flipH="false" flipV="false">
            <a:off x="6540509" y="2343150"/>
            <a:ext cx="463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8A745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21" id="21"/>
          <p:cNvPicPr>
            <a:picLocks noChangeAspect="true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 flipH="false" flipV="false">
            <a:off x="6540500" y="2603500"/>
            <a:ext cx="304800" cy="3048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6921500" y="25654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检查所有 AI “员工” 是否在线</a:t>
            </a:r>
            <a:endParaRPr lang="en-US" sz="1100"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0" flipH="false" flipV="false">
            <a:off x="6540500" y="3048000"/>
            <a:ext cx="304800" cy="3048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6921500" y="30099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排查是否有 Agent 发生“失联”</a:t>
            </a:r>
            <a:endParaRPr lang="en-US" sz="1100"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 rot="0" flipH="false" flipV="false">
            <a:off x="6540500" y="3492500"/>
            <a:ext cx="304800" cy="304800"/>
          </a:xfrm>
          <a:prstGeom prst="rect">
            <a:avLst/>
          </a:prstGeom>
        </p:spPr>
      </p:pic>
      <p:sp>
        <p:nvSpPr>
          <p:cNvPr name="AutoShape 26" id="26"/>
          <p:cNvSpPr/>
          <p:nvPr/>
        </p:nvSpPr>
        <p:spPr>
          <a:xfrm rot="0" flipH="false" flipV="false">
            <a:off x="6921500" y="34544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监控系统资源使用情况是否充足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🔐 监控报警 = 安防系统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3429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007BFF">
                <a:alpha val="2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841500"/>
            <a:ext cx="406400" cy="4064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524000" y="1841500"/>
            <a:ext cx="241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磁盘空间检查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286000"/>
            <a:ext cx="292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类比：检查水管水压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触发：使用率 &gt; 80%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4381500" y="1651000"/>
            <a:ext cx="3429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007BFF">
                <a:alpha val="2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35500" y="1841500"/>
            <a:ext cx="406400" cy="4064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5143500" y="1841500"/>
            <a:ext cx="241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内存使用检查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635500" y="2286000"/>
            <a:ext cx="292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类比：检查电梯运行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触发：使用率 &gt; 90%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001000" y="1651000"/>
            <a:ext cx="3429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007BFF">
                <a:alpha val="2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255000" y="18415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8763000" y="1841500"/>
            <a:ext cx="241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网关状态检查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255000" y="2286000"/>
            <a:ext cx="292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类比：检查门禁进出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触发：连接失败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62000" y="3556000"/>
            <a:ext cx="3429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007BFF">
                <a:alpha val="2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1016000" y="3746500"/>
            <a:ext cx="406400" cy="4064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1524000" y="3746500"/>
            <a:ext cx="241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Agent状态检查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016000" y="4191000"/>
            <a:ext cx="292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类比：检查保安到岗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触发：有人失联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4381500" y="3556000"/>
            <a:ext cx="3429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007BFF">
                <a:alpha val="2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报警工作流程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778000"/>
            <a:ext cx="3048000" cy="1270000"/>
          </a:xfrm>
          <a:prstGeom prst="roundRect">
            <a:avLst>
              <a:gd name="adj" fmla="val 16000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07BFF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032000"/>
            <a:ext cx="406400" cy="4064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524000" y="1968500"/>
            <a:ext cx="2159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自动健康检查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每小时自动执行一次</a:t>
            </a:r>
          </a:p>
        </p:txBody>
      </p:sp>
      <p:cxnSp>
        <p:nvCxnSpPr>
          <p:cNvPr name="Connector 6" id="6"/>
          <p:cNvCxnSpPr/>
          <p:nvPr/>
        </p:nvCxnSpPr>
        <p:spPr>
          <a:xfrm rot="-85925" flipH="false" flipV="false">
            <a:off x="3937079" y="24066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C8C8C8">
                <a:alpha val="100000"/>
              </a:srgbClr>
            </a:solidFill>
            <a:prstDash val="solid"/>
            <a:round/>
            <a:headEnd type="none" w="lg" len="lg"/>
            <a:tailEnd type="arrow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4572000" y="1778000"/>
            <a:ext cx="3048000" cy="1270000"/>
          </a:xfrm>
          <a:prstGeom prst="roundRect">
            <a:avLst>
              <a:gd name="adj" fmla="val 16000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07BFF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826000" y="2032000"/>
            <a:ext cx="406400" cy="4064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5334000" y="1968500"/>
            <a:ext cx="2159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指标状态判断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检查所有监控指标</a:t>
            </a:r>
          </a:p>
        </p:txBody>
      </p:sp>
      <p:cxnSp>
        <p:nvCxnSpPr>
          <p:cNvPr name="Connector 10" id="10"/>
          <p:cNvCxnSpPr/>
          <p:nvPr/>
        </p:nvCxnSpPr>
        <p:spPr>
          <a:xfrm rot="-1670760" flipH="false" flipV="false">
            <a:off x="7717083" y="2279618"/>
            <a:ext cx="567961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28A745">
                <a:alpha val="100000"/>
              </a:srgbClr>
            </a:solidFill>
            <a:prstDash val="solid"/>
            <a:round/>
            <a:headEnd type="none" w="lg" len="lg"/>
            <a:tailEnd type="arrow" w="med" len="med"/>
          </a:ln>
        </p:spPr>
      </p:cxnSp>
      <p:cxnSp>
        <p:nvCxnSpPr>
          <p:cNvPr name="Connector 11" id="11"/>
          <p:cNvCxnSpPr/>
          <p:nvPr/>
        </p:nvCxnSpPr>
        <p:spPr>
          <a:xfrm rot="2639234" flipH="false" flipV="false">
            <a:off x="7641829" y="2660690"/>
            <a:ext cx="71842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FD7E14">
                <a:alpha val="100000"/>
              </a:srgbClr>
            </a:solidFill>
            <a:prstDash val="solid"/>
            <a:round/>
            <a:headEnd type="none" w="lg" len="lg"/>
            <a:tailEnd type="arrow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8382000" y="1778000"/>
            <a:ext cx="3048000" cy="1016000"/>
          </a:xfrm>
          <a:prstGeom prst="roundRect">
            <a:avLst>
              <a:gd name="adj" fmla="val 20000"/>
            </a:avLst>
          </a:prstGeom>
          <a:solidFill>
            <a:srgbClr val="EBF8F1">
              <a:alpha val="90000"/>
            </a:srgbClr>
          </a:solidFill>
          <a:ln w="12700" cmpd="sng" cap="flat">
            <a:solidFill>
              <a:srgbClr val="28A745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636000" y="2032000"/>
            <a:ext cx="406400" cy="4064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9144000" y="1968500"/>
            <a:ext cx="2159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状态正常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记录日志，继续运行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382000" y="2794000"/>
            <a:ext cx="3048000" cy="1524000"/>
          </a:xfrm>
          <a:prstGeom prst="roundRect">
            <a:avLst>
              <a:gd name="adj" fmla="val 13333"/>
            </a:avLst>
          </a:prstGeom>
          <a:solidFill>
            <a:srgbClr val="FFF5EB">
              <a:alpha val="90000"/>
            </a:srgbClr>
          </a:solidFill>
          <a:ln w="12700" cmpd="sng" cap="flat">
            <a:solidFill>
              <a:srgbClr val="FD7E14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8636000" y="3048000"/>
            <a:ext cx="406400" cy="4064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9144000" y="2984500"/>
            <a:ext cx="2159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发现异常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生成报警 -&gt; 发送通知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人工介入处理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☕ 休息 10 分钟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270000" y="1778000"/>
            <a:ext cx="96520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07BFF">
                <a:alpha val="2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778000" y="21590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2286000" y="2133600"/>
            <a:ext cx="8382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接下来的重头戏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286000" y="2603500"/>
            <a:ext cx="838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休息回来，我们将深入探讨 OpenClaw 团队在实战中总结出的</a:t>
            </a:r>
            <a:r>
              <a:rPr lang="en-US" b="true" i="false" strike="noStrike" u="none" sz="1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四大经验教训</a:t>
            </a:r>
            <a:r>
              <a:rPr lang="en-US" b="false" i="false" strike="noStrike" u="none" sz="16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-5055" flipH="false" flipV="false">
            <a:off x="1778005" y="3422650"/>
            <a:ext cx="863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8C8C8">
                <a:alpha val="5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778000" y="3683000"/>
            <a:ext cx="406400" cy="406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2286000" y="3657600"/>
            <a:ext cx="8382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温馨提示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2286000" y="4127500"/>
            <a:ext cx="838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这四条教训不仅适用于 AI 系统运维，其背后的思维模式同样适用于日常工作与生活决策。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📌 教训一：记忆是核心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5080000" cy="4318000"/>
          </a:xfrm>
          <a:prstGeom prst="roundRect">
            <a:avLst>
              <a:gd name="adj" fmla="val 2941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905000"/>
            <a:ext cx="355600" cy="3556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460500" y="1879600"/>
            <a:ext cx="4127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核心认知：从聊天机器人到智能系统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9549" flipH="false" flipV="false">
            <a:off x="1016009" y="23431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7" id="7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2603500"/>
            <a:ext cx="254000" cy="2540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397000" y="2565400"/>
            <a:ext cx="419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没有记忆的系统只是聊天机器人，缺乏持续进化能力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3175000"/>
            <a:ext cx="254000" cy="2540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397000" y="3136900"/>
            <a:ext cx="419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向量搜索比传统关键词搜索强大10倍，精准定位意图</a:t>
            </a:r>
            <a:endParaRPr lang="en-US" sz="1100"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3746500"/>
            <a:ext cx="254000" cy="2540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1397000" y="3708400"/>
            <a:ext cx="419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自动收敛比手动整理更可靠，适应动态变化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📌 教训二：分层是必要的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5080000" cy="4064000"/>
          </a:xfrm>
          <a:prstGeom prst="roundRect">
            <a:avLst>
              <a:gd name="adj" fmla="val 3125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7B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905000"/>
            <a:ext cx="355600" cy="3556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460500" y="1879600"/>
            <a:ext cx="4064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AI团队架构经验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9549" flipH="false" flipV="false">
            <a:off x="1016009" y="23431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7B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7" id="7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2603500"/>
            <a:ext cx="254000" cy="2540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333500" y="2565400"/>
            <a:ext cx="4191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专业Agent比通用Agent更有效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针对性的模型设计能显著提升任务完成质量。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3302000"/>
            <a:ext cx="254000" cy="2540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333500" y="3263900"/>
            <a:ext cx="4191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控制协调成本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分工过细会导致Agent间沟通成本过高，需平衡。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4000500"/>
            <a:ext cx="254000" cy="2540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1333500" y="3962400"/>
            <a:ext cx="4191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架构设计决定上限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良好的分层架构是系统扩展性和稳定性的基石。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350000" y="1651000"/>
            <a:ext cx="5080000" cy="4064000"/>
          </a:xfrm>
          <a:prstGeom prst="roundRect">
            <a:avLst>
              <a:gd name="adj" fmla="val 3125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FD7E14">
                <a:alpha val="3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FD7E14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6604000" y="1905000"/>
            <a:ext cx="355600" cy="3556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7048500" y="1879600"/>
            <a:ext cx="4064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企业管理迁移价值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9549" flipH="false" flipV="false">
            <a:off x="6604009" y="23431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D7E14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17" id="17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604000" y="2603500"/>
            <a:ext cx="254000" cy="2540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6921500" y="2565400"/>
            <a:ext cx="4191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发展阶段论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创业初期一人多职能行，公司做大后必须分部门。</a:t>
            </a:r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6604000" y="3302000"/>
            <a:ext cx="254000" cy="2540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6921500" y="3263900"/>
            <a:ext cx="4191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关键控制点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核心在于找到“分工的合适粒度”，避免过粗或过细。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6604000" y="4000500"/>
            <a:ext cx="254000" cy="2540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6921500" y="3962400"/>
            <a:ext cx="4191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管理启示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像设计AI架构一样设计组织架构，确保高效协同。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📌 教训三：约束出质量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5080000" cy="4318000"/>
          </a:xfrm>
          <a:prstGeom prst="roundRect">
            <a:avLst>
              <a:gd name="adj" fmla="val 2941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63500" blurRad="127000" algn="tl" rotWithShape="false">
              <a:srgbClr val="007B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905000"/>
            <a:ext cx="355600" cy="3556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460500" y="1879600"/>
            <a:ext cx="4064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核心洞察：结构决定稳定性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9549" flipH="false" flipV="false">
            <a:off x="1016009" y="23431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7" id="7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2603500"/>
            <a:ext cx="254000" cy="2540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397000" y="2565400"/>
            <a:ext cx="419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Skill系统提供必要结构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无约束的输出容易失控，必须建立框架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3238500"/>
            <a:ext cx="254000" cy="2540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397000" y="3200400"/>
            <a:ext cx="419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标准化流程是关键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麦当劳的成功在于SOP，而非依赖个别厨师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3873500"/>
            <a:ext cx="254000" cy="2540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1397000" y="3835400"/>
            <a:ext cx="419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测试驱动开发 (TDD)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通过测试前置来确保代码质量和可维护性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096000" y="1651000"/>
            <a:ext cx="5080000" cy="4318000"/>
          </a:xfrm>
          <a:prstGeom prst="roundRect">
            <a:avLst>
              <a:gd name="adj" fmla="val 2941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63500" blurRad="127000" algn="tl" rotWithShape="false">
              <a:srgbClr val="FD7E14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6350000" y="1905000"/>
            <a:ext cx="355600" cy="3556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6794500" y="1879600"/>
            <a:ext cx="4064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🏢 迁移价值：团队效能提升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9549" flipH="false" flipV="false">
            <a:off x="6350009" y="23431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6350000" y="2603500"/>
            <a:ext cx="4572000" cy="2984500"/>
          </a:xfrm>
          <a:prstGeom prst="roundRect">
            <a:avLst>
              <a:gd name="adj" fmla="val 4255"/>
            </a:avLst>
          </a:prstGeom>
          <a:solidFill>
            <a:srgbClr val="FD7E14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604000" y="2857500"/>
            <a:ext cx="406400" cy="4064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7112000" y="2857500"/>
            <a:ext cx="3556000" cy="241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标准化带来长期优势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有标准化流程的团队，其长期表现一定好于“全凭感觉”的团队。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这意味着：建立规范、文档化流程、自动化测试，是团队规模化和可持续发展的基石。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📌 教训四：必须有熔断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5080000" cy="4318000"/>
          </a:xfrm>
          <a:prstGeom prst="roundRect">
            <a:avLst>
              <a:gd name="adj" fmla="val 2941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66800" y="1955800"/>
            <a:ext cx="406400" cy="4064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574800" y="1930400"/>
            <a:ext cx="40132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核心原则：系统安全的底线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9766" flipH="false" flipV="false">
            <a:off x="1066809" y="2457450"/>
            <a:ext cx="4470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7" id="7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66800" y="2717800"/>
            <a:ext cx="254000" cy="2540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397000" y="26924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任何自动化系统都需要熔断机制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66800" y="3175000"/>
            <a:ext cx="254000" cy="2540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397000" y="31496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监控比策略更重要，防止黑天鹅</a:t>
            </a:r>
            <a:endParaRPr lang="en-US" sz="1100"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66800" y="3632200"/>
            <a:ext cx="254000" cy="2540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1397000" y="36068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过去不等于未来，不能依赖历史数据</a:t>
            </a:r>
            <a:endParaRPr lang="en-US" sz="1100"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66800" y="4089400"/>
            <a:ext cx="254000" cy="2540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397000" y="40640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不是“最好有”，而是“必须有”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350000" y="1651000"/>
            <a:ext cx="5080000" cy="4318000"/>
          </a:xfrm>
          <a:prstGeom prst="roundRect">
            <a:avLst>
              <a:gd name="adj" fmla="val 2941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6654800" y="1955800"/>
            <a:ext cx="406400" cy="4064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7162800" y="1930400"/>
            <a:ext cx="40132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迁移价值：业务的应急预案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-9766" flipH="false" flipV="false">
            <a:off x="6654809" y="2457450"/>
            <a:ext cx="4470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9" id="19"/>
          <p:cNvSpPr/>
          <p:nvPr/>
        </p:nvSpPr>
        <p:spPr>
          <a:xfrm rot="0" flipH="false" flipV="false">
            <a:off x="6654800" y="2717800"/>
            <a:ext cx="4470400" cy="254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任何业务都应该建立完善的“应急预案”。核心思维在于：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203200" marL="203200">
              <a:lnSpc>
                <a:spcPct val="125000"/>
              </a:lnSpc>
              <a:buClr>
                <a:srgbClr val="333333"/>
              </a:buClr>
              <a:buChar char="•"/>
            </a:pP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事前思考：“如果出了问题怎么办？”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333333"/>
              </a:buClr>
              <a:buChar char="•"/>
            </a:pP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避免事后抓瞎，将风险控制在事前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6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总结：凡事预则立，不预则废。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四条教训的逻辑关系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778000"/>
            <a:ext cx="2476500" cy="3048000"/>
          </a:xfrm>
          <a:prstGeom prst="roundRect">
            <a:avLst>
              <a:gd name="adj" fmla="val 5128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739900" y="2032000"/>
            <a:ext cx="508000" cy="5080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889000" y="2667000"/>
            <a:ext cx="2222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记忆是核心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23708" flipH="false" flipV="false">
            <a:off x="1079522" y="3105150"/>
            <a:ext cx="184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CDCD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889000" y="3238500"/>
            <a:ext cx="2222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让AI有“智慧”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999999"/>
                </a:solidFill>
                <a:latin typeface="Noto Sans SC"/>
                <a:ea typeface="Noto Sans SC"/>
                <a:cs typeface="Noto Sans SC"/>
                <a:sym typeface="Noto Sans SC"/>
              </a:rPr>
              <a:t>底层基础能力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3327400" y="3048000"/>
            <a:ext cx="304800" cy="3048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3746500" y="1778000"/>
            <a:ext cx="2476500" cy="3048000"/>
          </a:xfrm>
          <a:prstGeom prst="roundRect">
            <a:avLst>
              <a:gd name="adj" fmla="val 5128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28A745">
                <a:alpha val="3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4724400" y="2032000"/>
            <a:ext cx="508000" cy="5080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3873500" y="2667000"/>
            <a:ext cx="2222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分层是必要的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23708" flipH="false" flipV="false">
            <a:off x="4064022" y="3105150"/>
            <a:ext cx="184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CDCD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3873500" y="3238500"/>
            <a:ext cx="2222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让团队有“效率”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999999"/>
                </a:solidFill>
                <a:latin typeface="Noto Sans SC"/>
                <a:ea typeface="Noto Sans SC"/>
                <a:cs typeface="Noto Sans SC"/>
                <a:sym typeface="Noto Sans SC"/>
              </a:rPr>
              <a:t>组织结构优化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311900" y="3048000"/>
            <a:ext cx="304800" cy="3048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6731000" y="1778000"/>
            <a:ext cx="2476500" cy="3048000"/>
          </a:xfrm>
          <a:prstGeom prst="roundRect">
            <a:avLst>
              <a:gd name="adj" fmla="val 5128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FD7E14">
                <a:alpha val="3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7708900" y="2032000"/>
            <a:ext cx="508000" cy="5080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6858000" y="2667000"/>
            <a:ext cx="2222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约束出质量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-23708" flipH="false" flipV="false">
            <a:off x="7048522" y="3105150"/>
            <a:ext cx="184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CDCD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9" id="19"/>
          <p:cNvSpPr/>
          <p:nvPr/>
        </p:nvSpPr>
        <p:spPr>
          <a:xfrm rot="0" flipH="false" flipV="false">
            <a:off x="6858000" y="3238500"/>
            <a:ext cx="2222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让输出有“标准”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999999"/>
                </a:solidFill>
                <a:latin typeface="Noto Sans SC"/>
                <a:ea typeface="Noto Sans SC"/>
                <a:cs typeface="Noto Sans SC"/>
                <a:sym typeface="Noto Sans SC"/>
              </a:rPr>
              <a:t>质量控制体系</a:t>
            </a:r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9296400" y="3048000"/>
            <a:ext cx="304800" cy="3048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9715500" y="1778000"/>
            <a:ext cx="2476500" cy="3048000"/>
          </a:xfrm>
          <a:prstGeom prst="roundRect">
            <a:avLst>
              <a:gd name="adj" fmla="val 5128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10693400" y="2032000"/>
            <a:ext cx="508000" cy="508000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 flipH="false" flipV="false">
            <a:off x="9842500" y="2667000"/>
            <a:ext cx="2222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必须有熔断</a:t>
            </a:r>
            <a:endParaRPr lang="en-US" sz="1100"/>
          </a:p>
        </p:txBody>
      </p:sp>
      <p:cxnSp>
        <p:nvCxnSpPr>
          <p:cNvPr name="Connector 24" id="24"/>
          <p:cNvCxnSpPr/>
          <p:nvPr/>
        </p:nvCxnSpPr>
        <p:spPr>
          <a:xfrm rot="-23708" flipH="false" flipV="false">
            <a:off x="10033022" y="3105150"/>
            <a:ext cx="184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CDCD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5" id="25"/>
          <p:cNvSpPr/>
          <p:nvPr/>
        </p:nvSpPr>
        <p:spPr>
          <a:xfrm rot="0" flipH="false" flipV="false">
            <a:off x="9842500" y="3238500"/>
            <a:ext cx="2222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让运行有“安全”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999999"/>
                </a:solidFill>
                <a:latin typeface="Noto Sans SC"/>
                <a:ea typeface="Noto Sans SC"/>
                <a:cs typeface="Noto Sans SC"/>
                <a:sym typeface="Noto Sans SC"/>
              </a:rPr>
              <a:t>系统安全兜底</a:t>
            </a:r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762000" y="5080000"/>
            <a:ext cx="10668000" cy="1143000"/>
          </a:xfrm>
          <a:prstGeom prst="roundRect">
            <a:avLst>
              <a:gd name="adj" fmla="val 11111"/>
            </a:avLst>
          </a:prstGeom>
          <a:solidFill>
            <a:srgbClr val="F0F8FF">
              <a:alpha val="80000"/>
            </a:srgbClr>
          </a:solidFill>
          <a:ln w="12700" cmpd="sng" cap="flat">
            <a:solidFill>
              <a:srgbClr val="007B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7" id="27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1016000" y="5397500"/>
            <a:ext cx="304800" cy="304800"/>
          </a:xfrm>
          <a:prstGeom prst="rect">
            <a:avLst/>
          </a:prstGeom>
        </p:spPr>
      </p:pic>
      <p:sp>
        <p:nvSpPr>
          <p:cNvPr name="AutoShape 28" id="28"/>
          <p:cNvSpPr/>
          <p:nvPr/>
        </p:nvSpPr>
        <p:spPr>
          <a:xfrm rot="0" flipH="false" flipV="false">
            <a:off x="1460500" y="5270500"/>
            <a:ext cx="9715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逻辑总结：</a:t>
            </a: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从底层到顶层，先有记忆（基础），才能分工（结构），分工后要有标准（质量），最后保障安全（兜底）。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💬 讨论：四大教训研讨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5207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841500"/>
            <a:ext cx="406400" cy="4064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524000" y="18415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A组：记忆是核心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9291" flipH="false" flipV="false">
            <a:off x="1016009" y="2279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7B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1016000" y="2413000"/>
            <a:ext cx="4699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讨论点：你的公司有“积累知识”的机制吗？如何避免重复造轮子？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223000" y="1651000"/>
            <a:ext cx="5207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28A745">
                <a:alpha val="3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477000" y="18415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6985000" y="18415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B组：分层是必要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9291" flipH="false" flipV="false">
            <a:off x="6477009" y="2279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8A745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6477000" y="2413000"/>
            <a:ext cx="4699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讨论点：分工多细算合适？分太细会带来什么问题？如何平衡效率与协作？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3810000"/>
            <a:ext cx="5207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FD7E14">
                <a:alpha val="3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40005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1524000" y="40005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C组：约束出质量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9291" flipH="false" flipV="false">
            <a:off x="1016009" y="4438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D7E14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1016000" y="4572000"/>
            <a:ext cx="4699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讨论点：分享一个“加了规则反而更好”的经历，如何通过规范提升质量？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223000" y="3810000"/>
            <a:ext cx="5207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477000" y="4000500"/>
            <a:ext cx="406400" cy="4064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6985000" y="40005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D组：必须有熔断</a:t>
            </a:r>
            <a:endParaRPr lang="en-US" sz="1100"/>
          </a:p>
        </p:txBody>
      </p:sp>
      <p:cxnSp>
        <p:nvCxnSpPr>
          <p:cNvPr name="Connector 21" id="21"/>
          <p:cNvCxnSpPr/>
          <p:nvPr/>
        </p:nvCxnSpPr>
        <p:spPr>
          <a:xfrm rot="-9291" flipH="false" flipV="false">
            <a:off x="6477009" y="4438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7B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2" id="22"/>
          <p:cNvSpPr/>
          <p:nvPr/>
        </p:nvSpPr>
        <p:spPr>
          <a:xfrm rot="0" flipH="false" flipV="false">
            <a:off x="6477000" y="4572000"/>
            <a:ext cx="4699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讨论点：你的业务有“应急预案”吗？面对突发故障，如何快速止损？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62000" y="5905500"/>
            <a:ext cx="10668000" cy="508000"/>
          </a:xfrm>
          <a:prstGeom prst="roundRect">
            <a:avLst>
              <a:gd name="adj" fmla="val 25000"/>
            </a:avLst>
          </a:prstGeom>
          <a:solidFill>
            <a:srgbClr val="F0F8FF">
              <a:alpha val="80000"/>
            </a:srgbClr>
          </a:solidFill>
          <a:ln w="12700" cmpd="sng" cap="flat">
            <a:solidFill>
              <a:srgbClr val="007B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1016000" y="6007100"/>
            <a:ext cx="304800" cy="3048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1397000" y="6007100"/>
            <a:ext cx="9779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⏰ 互动环节：讨论15分钟 → 每组展示3分钟，请各组组长组织好时间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四大教训 = 所有复杂系统的通用法则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778000"/>
            <a:ext cx="5207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79500" y="2159000"/>
            <a:ext cx="609600" cy="6096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841500" y="2095500"/>
            <a:ext cx="381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有记忆才能成长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841500" y="2603500"/>
            <a:ext cx="381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积累经验，复盘反思，持续优化迭代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223000" y="1778000"/>
            <a:ext cx="5207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540500" y="2159000"/>
            <a:ext cx="609600" cy="6096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7302500" y="2095500"/>
            <a:ext cx="381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有分工才有效率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302500" y="2603500"/>
            <a:ext cx="381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各司其职，协同合作，最大化团队效能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4064000"/>
            <a:ext cx="5207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79500" y="4445000"/>
            <a:ext cx="609600" cy="6096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841500" y="4381500"/>
            <a:ext cx="381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有标准才有质量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841500" y="4889500"/>
            <a:ext cx="381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建立规范，严格执行，确保输出一致性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223000" y="4064000"/>
            <a:ext cx="5207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540500" y="4445000"/>
            <a:ext cx="609600" cy="6096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7302500" y="4381500"/>
            <a:ext cx="381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有兜底才能安全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302500" y="4889500"/>
            <a:ext cx="381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风险预判，制定预案，保障系统稳健运行</a:t>
            </a:r>
            <a:endParaRPr lang="en-US" sz="1100"/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📊 OpenClaw的量化成就</a:t>
            </a:r>
            <a:endParaRPr lang="en-US" sz="1100"/>
          </a:p>
        </p:txBody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762000" y="1651000"/>
          <a:ext cx="10668000" cy="37084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540000"/>
                <a:gridCol w="2032000"/>
                <a:gridCol w="6096000"/>
              </a:tblGrid>
              <a:tr h="508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007B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核心指标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BFF">
                        <a:alpha val="1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007B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量化数值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BFF">
                        <a:alpha val="1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007B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业务意义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BFF">
                        <a:alpha val="10000"/>
                      </a:srgbClr>
                    </a:solidFill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代码行数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FD7E1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~50,000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66666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中等规模软件项目，具备复杂业务承载能力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配置文件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FD7E1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~200个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66666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相当于200份"规章制度"，系统高度可配置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Agent数量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FD7E1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8个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66666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构建了完整的"AI公司"架构，分工明确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定时任务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FD7E1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20+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66666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每天自动执行20+任务，自动化程度高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记忆文档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FD7E1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500+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66666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沉淀500+份记忆文档，具备长期记忆能力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技能数量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FD7E1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70+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66666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掌握70种工作能力，功能覆盖全面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正常运行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28A7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99.5%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66666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系统稳定性极高，月停机时间小于4小时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name="AutoShape 4" id="4"/>
          <p:cNvSpPr/>
          <p:nvPr/>
        </p:nvSpPr>
        <p:spPr>
          <a:xfrm rot="0" flipH="false" flipV="false">
            <a:off x="762000" y="5461000"/>
            <a:ext cx="10668000" cy="889000"/>
          </a:xfrm>
          <a:prstGeom prst="roundRect">
            <a:avLst>
              <a:gd name="adj" fmla="val 22857"/>
            </a:avLst>
          </a:prstGeom>
          <a:solidFill>
            <a:srgbClr val="28A745">
              <a:alpha val="10000"/>
            </a:srgbClr>
          </a:solidFill>
          <a:ln w="12700" cmpd="sng" cap="flat">
            <a:solidFill>
              <a:srgbClr val="28A745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5651500"/>
            <a:ext cx="508000" cy="5080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651000" y="5524500"/>
            <a:ext cx="9525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总结：从几十行代码的ClawBot，到5万行代码的OpenClaw——</a:t>
            </a:r>
            <a:r>
              <a:rPr lang="en-US" b="true" i="false" strike="noStrike" u="none" sz="16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这个演进本身就是最好的教材。</a:t>
            </a:r>
            <a:endParaRPr lang="en-US" sz="1100"/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六课全景回顾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3429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9050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016000" y="2349500"/>
            <a:ext cx="292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第1课：AI Agent是什么？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14946" flipH="false" flipV="false">
            <a:off x="1016014" y="2724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1016000" y="2857500"/>
            <a:ext cx="292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基础概念：记忆是灵魂 · 四层记忆 · 语义搜索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381500" y="1651000"/>
            <a:ext cx="3429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35500" y="1905000"/>
            <a:ext cx="406400" cy="4064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4635500" y="2349500"/>
            <a:ext cx="292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第2课：AI的"工具箱"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-14946" flipH="false" flipV="false">
            <a:off x="4635514" y="2724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4635500" y="2857500"/>
            <a:ext cx="292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认识模型：多模型各有所长 · 智能路由 · 够用就好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001000" y="1651000"/>
            <a:ext cx="3429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255000" y="1905000"/>
            <a:ext cx="406400" cy="4064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8255000" y="2349500"/>
            <a:ext cx="292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第3课：AI团队协作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-14946" flipH="false" flipV="false">
            <a:off x="8255014" y="2724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9" id="19"/>
          <p:cNvSpPr/>
          <p:nvPr/>
        </p:nvSpPr>
        <p:spPr>
          <a:xfrm rot="0" flipH="false" flipV="false">
            <a:off x="8255000" y="2857500"/>
            <a:ext cx="292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组织架构：多Agent=公司 · 分工+沟通+任务分配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62000" y="4191000"/>
            <a:ext cx="3429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1016000" y="4445000"/>
            <a:ext cx="406400" cy="4064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1016000" y="4889500"/>
            <a:ext cx="292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第4课：AI能做什么</a:t>
            </a:r>
            <a:endParaRPr lang="en-US" sz="1100"/>
          </a:p>
        </p:txBody>
      </p:sp>
      <p:cxnSp>
        <p:nvCxnSpPr>
          <p:cNvPr name="Connector 23" id="23"/>
          <p:cNvCxnSpPr/>
          <p:nvPr/>
        </p:nvCxnSpPr>
        <p:spPr>
          <a:xfrm rot="-14946" flipH="false" flipV="false">
            <a:off x="1016014" y="5264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4" id="24"/>
          <p:cNvSpPr/>
          <p:nvPr/>
        </p:nvSpPr>
        <p:spPr>
          <a:xfrm rot="0" flipH="false" flipV="false">
            <a:off x="1016000" y="5397500"/>
            <a:ext cx="292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能力建设：Skill=SOP · 写代码+写文章 · 约束即自由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4381500" y="4191000"/>
            <a:ext cx="3429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4635500" y="4445000"/>
            <a:ext cx="406400" cy="406400"/>
          </a:xfrm>
          <a:prstGeom prst="rect">
            <a:avLst/>
          </a:prstGeom>
        </p:spPr>
      </p:pic>
      <p:sp>
        <p:nvSpPr>
          <p:cNvPr name="AutoShape 27" id="27"/>
          <p:cNvSpPr/>
          <p:nvPr/>
        </p:nvSpPr>
        <p:spPr>
          <a:xfrm rot="0" flipH="false" flipV="false">
            <a:off x="4635500" y="4889500"/>
            <a:ext cx="292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第5课：AI的安全边界</a:t>
            </a:r>
            <a:endParaRPr lang="en-US" sz="1100"/>
          </a:p>
        </p:txBody>
      </p:sp>
      <p:cxnSp>
        <p:nvCxnSpPr>
          <p:cNvPr name="Connector 28" id="28"/>
          <p:cNvCxnSpPr/>
          <p:nvPr/>
        </p:nvCxnSpPr>
        <p:spPr>
          <a:xfrm rot="-14946" flipH="false" flipV="false">
            <a:off x="4635514" y="5264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9" id="29"/>
          <p:cNvSpPr/>
          <p:nvPr/>
        </p:nvSpPr>
        <p:spPr>
          <a:xfrm rot="0" flipH="false" flipV="false">
            <a:off x="4635500" y="5397500"/>
            <a:ext cx="292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风险管理：四层安全 · 六重检查 · 信任公式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8001000" y="4191000"/>
            <a:ext cx="3429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1" id="31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8255000" y="4445000"/>
            <a:ext cx="406400" cy="406400"/>
          </a:xfrm>
          <a:prstGeom prst="rect">
            <a:avLst/>
          </a:prstGeom>
        </p:spPr>
      </p:pic>
      <p:sp>
        <p:nvSpPr>
          <p:cNvPr name="AutoShape 32" id="32"/>
          <p:cNvSpPr/>
          <p:nvPr/>
        </p:nvSpPr>
        <p:spPr>
          <a:xfrm rot="0" flipH="false" flipV="false">
            <a:off x="8255000" y="4889500"/>
            <a:ext cx="292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第6课：让AI持续运行</a:t>
            </a:r>
            <a:endParaRPr lang="en-US" sz="1100"/>
          </a:p>
        </p:txBody>
      </p:sp>
      <p:cxnSp>
        <p:nvCxnSpPr>
          <p:cNvPr name="Connector 33" id="33"/>
          <p:cNvCxnSpPr/>
          <p:nvPr/>
        </p:nvCxnSpPr>
        <p:spPr>
          <a:xfrm rot="-14946" flipH="false" flipV="false">
            <a:off x="8255014" y="5264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34" id="34"/>
          <p:cNvSpPr/>
          <p:nvPr/>
        </p:nvSpPr>
        <p:spPr>
          <a:xfrm rot="0" flipH="false" flipV="false">
            <a:off x="8255000" y="5397500"/>
            <a:ext cx="292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运维总结：配置+定时+监控 · 四大教训 · AI素养</a:t>
            </a:r>
            <a:endParaRPr lang="en-US" sz="1100"/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🎓 AI时代四条素养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5207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  <a:effectLst>
            <a:outerShdw dir="5400000" dist="50800" blurRad="101600" algn="tl" rotWithShape="false">
              <a:srgbClr val="007B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9050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524000" y="19050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素养一：能判断AI适不适合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9291" flipH="false" flipV="false">
            <a:off x="1016009" y="2406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1016000" y="2540000"/>
            <a:ext cx="4699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关键考量：任务是否有明确的输入输出？允不允许出错？试错的代价有多大？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223000" y="1651000"/>
            <a:ext cx="5207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28A745">
                <a:alpha val="30000"/>
              </a:srgbClr>
            </a:solidFill>
            <a:prstDash val="solid"/>
            <a:round/>
          </a:ln>
          <a:effectLst>
            <a:outerShdw dir="5400000" dist="50800" blurRad="101600" algn="tl" rotWithShape="false">
              <a:srgbClr val="28A745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477000" y="1905000"/>
            <a:ext cx="406400" cy="4064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6985000" y="19050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素养二：能提出靠谱的AI需求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-9291" flipH="false" flipV="false">
            <a:off x="6477009" y="2406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6477000" y="2540000"/>
            <a:ext cx="4699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需求要素：明确角色定位、输入输出标准、安全边界设定以及监控指标。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62000" y="4191000"/>
            <a:ext cx="5207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FD7E14">
                <a:alpha val="30000"/>
              </a:srgbClr>
            </a:solidFill>
            <a:prstDash val="solid"/>
            <a:round/>
          </a:ln>
          <a:effectLst>
            <a:outerShdw dir="5400000" dist="50800" blurRad="101600" algn="tl" rotWithShape="false">
              <a:srgbClr val="FD7E14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4445000"/>
            <a:ext cx="406400" cy="4064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1524000" y="44450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素养三：能识别AI产品的"虚"与"实"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-9291" flipH="false" flipV="false">
            <a:off x="1016009" y="4946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9" id="19"/>
          <p:cNvSpPr/>
          <p:nvPr/>
        </p:nvSpPr>
        <p:spPr>
          <a:xfrm rot="0" flipH="false" flipV="false">
            <a:off x="1016000" y="5080000"/>
            <a:ext cx="4699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理性认知："AI驱动"不等于全自动；"99%准确"不等于绝对不出错，需理性看待宣传。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223000" y="4191000"/>
            <a:ext cx="5207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  <a:effectLst>
            <a:outerShdw dir="5400000" dist="50800" blurRad="101600" algn="tl" rotWithShape="false">
              <a:srgbClr val="007B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477000" y="4445000"/>
            <a:ext cx="406400" cy="4064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6985000" y="44450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素养四：能参与AI相关决策</a:t>
            </a:r>
            <a:endParaRPr lang="en-US" sz="1100"/>
          </a:p>
        </p:txBody>
      </p:sp>
      <p:cxnSp>
        <p:nvCxnSpPr>
          <p:cNvPr name="Connector 23" id="23"/>
          <p:cNvCxnSpPr/>
          <p:nvPr/>
        </p:nvCxnSpPr>
        <p:spPr>
          <a:xfrm rot="-9291" flipH="false" flipV="false">
            <a:off x="6477009" y="4946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4" id="24"/>
          <p:cNvSpPr/>
          <p:nvPr/>
        </p:nvSpPr>
        <p:spPr>
          <a:xfrm rot="0" flipH="false" flipV="false">
            <a:off x="6477000" y="5080000"/>
            <a:ext cx="4699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思维升级：运用记忆、分层、约束、信任公式等思维模型，辅助科学决策。</a:t>
            </a:r>
            <a:endParaRPr lang="en-US" sz="1100"/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回到课程最开始的承诺</a:t>
            </a:r>
            <a:endParaRPr lang="en-US" sz="1100"/>
          </a:p>
        </p:txBody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762000" y="1651000"/>
          <a:ext cx="10160000" cy="3683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4318000"/>
                <a:gridCol w="5842000"/>
              </a:tblGrid>
              <a:tr h="635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007B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课程承诺目标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BFF">
                        <a:alpha val="1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007B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你做到了吗？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BFF">
                        <a:alpha val="10000"/>
                      </a:srgbClr>
                    </a:solidFill>
                  </a:tcPr>
                </a:tc>
              </a:tr>
              <a:tr h="762000">
                <a:tc>
                  <a:txBody>
                    <a:bodyPr anchor="t" rtlCol="false"/>
                    <a:lstStyle/>
                    <a:p>
                      <a:pPr algn="l" indent="0" marL="1270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在会议上听懂技术同事说什么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 marL="1270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28A7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✅ Agent、路由、多Agent、Skill、熔断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62000">
                <a:tc>
                  <a:txBody>
                    <a:bodyPr anchor="t" rtlCol="false"/>
                    <a:lstStyle/>
                    <a:p>
                      <a:pPr algn="l" indent="0" marL="1270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判断哪些场景适合AI Agent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 marL="1270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28A7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✅ 掌握选型框架与适用性判断方法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62000">
                <a:tc>
                  <a:txBody>
                    <a:bodyPr anchor="t" rtlCol="false"/>
                    <a:lstStyle/>
                    <a:p>
                      <a:pPr algn="l" indent="0" marL="1270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给技术团队提靠谱的AI需求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 marL="1270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28A7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✅ 明确角色、记忆、安全、监控要素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62000">
                <a:tc>
                  <a:txBody>
                    <a:bodyPr anchor="t" rtlCol="false"/>
                    <a:lstStyle/>
                    <a:p>
                      <a:pPr algn="l" indent="0" marL="1270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识别AI宣传的"虚"与"实"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 marL="1270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28A7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✅ 学会追问安全、熔断、监控与人工兜底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name="AutoShape 6" id="6"/>
          <p:cNvSpPr/>
          <p:nvPr/>
        </p:nvSpPr>
        <p:spPr>
          <a:xfrm rot="0" flipH="false" flipV="false">
            <a:off x="762000" y="5334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FD7E14">
              <a:alpha val="10000"/>
            </a:srgbClr>
          </a:solidFill>
          <a:ln w="12700" cmpd="sng" cap="flat">
            <a:solidFill>
              <a:srgbClr val="FD7E14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5638800"/>
            <a:ext cx="406400" cy="4064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524000" y="5588000"/>
            <a:ext cx="889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🎉 恭喜你——你是AI时代的“明白人”了！</a:t>
            </a:r>
            <a:endParaRPr lang="en-US" sz="1100"/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✏️ 综合练习：你的AI Agent需求方案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3429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07BFF">
                <a:alpha val="2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7BFF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841500"/>
            <a:ext cx="304800" cy="3048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397000" y="18034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核心问题定义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14946" flipH="false" flipV="false">
            <a:off x="1016014" y="2216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0F0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1016000" y="2349500"/>
            <a:ext cx="2921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思考：AI要解决什么具体问题？当前痛点是什么？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381500" y="1651000"/>
            <a:ext cx="3429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07BFF">
                <a:alpha val="2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7BFF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35500" y="1841500"/>
            <a:ext cx="304800" cy="3048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5016500" y="18034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Agent角色规划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-14946" flipH="false" flipV="false">
            <a:off x="4635514" y="2216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0F0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4635500" y="2349500"/>
            <a:ext cx="2921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设计：需要几个Agent协作？各自的职责边界是什么？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001000" y="1651000"/>
            <a:ext cx="3429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07BFF">
                <a:alpha val="2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7BFF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255000" y="1841500"/>
            <a:ext cx="304800" cy="3048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8636000" y="18034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记忆架构设计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-14946" flipH="false" flipV="false">
            <a:off x="8255014" y="2216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0F0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9" id="19"/>
          <p:cNvSpPr/>
          <p:nvPr/>
        </p:nvSpPr>
        <p:spPr>
          <a:xfrm rot="0" flipH="false" flipV="false">
            <a:off x="8255000" y="2349500"/>
            <a:ext cx="2921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规划：瞬时、短期、长期、永久记忆分别存储什么数据？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62000" y="3746500"/>
            <a:ext cx="3429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28A745">
                <a:alpha val="2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28A745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1016000" y="3937000"/>
            <a:ext cx="304800" cy="3048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1397000" y="38989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安全保障机制</a:t>
            </a:r>
            <a:endParaRPr lang="en-US" sz="1100"/>
          </a:p>
        </p:txBody>
      </p:sp>
      <p:cxnSp>
        <p:nvCxnSpPr>
          <p:cNvPr name="Connector 23" id="23"/>
          <p:cNvCxnSpPr/>
          <p:nvPr/>
        </p:nvCxnSpPr>
        <p:spPr>
          <a:xfrm rot="-14946" flipH="false" flipV="false">
            <a:off x="1016014" y="4311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0F0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4" id="24"/>
          <p:cNvSpPr/>
          <p:nvPr/>
        </p:nvSpPr>
        <p:spPr>
          <a:xfrm rot="0" flipH="false" flipV="false">
            <a:off x="1016000" y="4445000"/>
            <a:ext cx="2921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构建：权限控制、内容监控、自动熔断及人工兜底方案。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4381500" y="3746500"/>
            <a:ext cx="3429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28A745">
                <a:alpha val="2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28A745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4635500" y="3937000"/>
            <a:ext cx="304800" cy="304800"/>
          </a:xfrm>
          <a:prstGeom prst="rect">
            <a:avLst/>
          </a:prstGeom>
        </p:spPr>
      </p:pic>
      <p:sp>
        <p:nvSpPr>
          <p:cNvPr name="AutoShape 27" id="27"/>
          <p:cNvSpPr/>
          <p:nvPr/>
        </p:nvSpPr>
        <p:spPr>
          <a:xfrm rot="0" flipH="false" flipV="false">
            <a:off x="5016500" y="38989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监控与报警</a:t>
            </a:r>
            <a:endParaRPr lang="en-US" sz="1100"/>
          </a:p>
        </p:txBody>
      </p:sp>
      <p:cxnSp>
        <p:nvCxnSpPr>
          <p:cNvPr name="Connector 28" id="28"/>
          <p:cNvCxnSpPr/>
          <p:nvPr/>
        </p:nvCxnSpPr>
        <p:spPr>
          <a:xfrm rot="-14946" flipH="false" flipV="false">
            <a:off x="4635514" y="4311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0F0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9" id="29"/>
          <p:cNvSpPr/>
          <p:nvPr/>
        </p:nvSpPr>
        <p:spPr>
          <a:xfrm rot="0" flipH="false" flipV="false">
            <a:off x="4635500" y="4445000"/>
            <a:ext cx="2921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设定：关键性能指标(KPI)是什么？异常情况如何报警？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8001000" y="3746500"/>
            <a:ext cx="3429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FD7E14">
                <a:alpha val="2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FD7E14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1" id="31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8255000" y="3937000"/>
            <a:ext cx="304800" cy="304800"/>
          </a:xfrm>
          <a:prstGeom prst="rect">
            <a:avLst/>
          </a:prstGeom>
        </p:spPr>
      </p:pic>
      <p:sp>
        <p:nvSpPr>
          <p:cNvPr name="AutoShape 32" id="32"/>
          <p:cNvSpPr/>
          <p:nvPr/>
        </p:nvSpPr>
        <p:spPr>
          <a:xfrm rot="0" flipH="false" flipV="false">
            <a:off x="8636000" y="38989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成功衡量标准</a:t>
            </a:r>
            <a:endParaRPr lang="en-US" sz="1100"/>
          </a:p>
        </p:txBody>
      </p:sp>
      <p:cxnSp>
        <p:nvCxnSpPr>
          <p:cNvPr name="Connector 33" id="33"/>
          <p:cNvCxnSpPr/>
          <p:nvPr/>
        </p:nvCxnSpPr>
        <p:spPr>
          <a:xfrm rot="-14946" flipH="false" flipV="false">
            <a:off x="8255014" y="4311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0F0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34" id="34"/>
          <p:cNvSpPr/>
          <p:nvPr/>
        </p:nvSpPr>
        <p:spPr>
          <a:xfrm rot="0" flipH="false" flipV="false">
            <a:off x="8255000" y="4445000"/>
            <a:ext cx="2921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定义：如何量化项目的成功？预期的业务价值是什么？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762000" y="5842000"/>
            <a:ext cx="10668000" cy="508000"/>
          </a:xfrm>
          <a:prstGeom prst="roundRect">
            <a:avLst>
              <a:gd name="adj" fmla="val 25000"/>
            </a:avLst>
          </a:prstGeom>
          <a:solidFill>
            <a:srgbClr val="FD7E14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6" id="36"/>
          <p:cNvPicPr>
            <a:picLocks noChangeAspect="true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 flipH="false" flipV="false">
            <a:off x="1016000" y="5969000"/>
            <a:ext cx="254000" cy="254000"/>
          </a:xfrm>
          <a:prstGeom prst="rect">
            <a:avLst/>
          </a:prstGeom>
        </p:spPr>
      </p:pic>
      <p:sp>
        <p:nvSpPr>
          <p:cNvPr name="AutoShape 37" id="37"/>
          <p:cNvSpPr/>
          <p:nvPr/>
        </p:nvSpPr>
        <p:spPr>
          <a:xfrm rot="0" flipH="false" flipV="false">
            <a:off x="1397000" y="5943600"/>
            <a:ext cx="889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互动环节：请在20分钟内完成以上方案设计，稍后我们将邀请同学分享。</a:t>
            </a:r>
            <a:endParaRPr lang="en-US" sz="1100"/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762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✏️ 参考思路：AI Agent 客服需求方案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3429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007BFF">
                <a:alpha val="2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9050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524000" y="1905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核心目标设定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14946" flipH="false" flipV="false">
            <a:off x="1016014" y="2343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0000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1016000" y="2476500"/>
            <a:ext cx="2921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目标：减少</a:t>
            </a:r>
            <a:r>
              <a:rPr lang="en-US" b="true" i="false" strike="noStrike" u="none" sz="16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80%</a:t>
            </a: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的重复性客户咨询，释放人力处理复杂问题。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381500" y="1651000"/>
            <a:ext cx="3429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007BFF">
                <a:alpha val="2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35500" y="1905000"/>
            <a:ext cx="406400" cy="4064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5143500" y="1905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Agent 角色分工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-14946" flipH="false" flipV="false">
            <a:off x="4635514" y="2343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0000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4635500" y="2476500"/>
            <a:ext cx="2921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77800" marL="177800">
              <a:lnSpc>
                <a:spcPct val="125000"/>
              </a:lnSpc>
              <a:buClr>
                <a:srgbClr val="666666"/>
              </a:buClr>
              <a:buChar char="•"/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主 Agent：负责首屏接待与分发</a:t>
            </a: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177800" marL="177800">
              <a:lnSpc>
                <a:spcPct val="125000"/>
              </a:lnSpc>
              <a:buClr>
                <a:srgbClr val="666666"/>
              </a:buClr>
              <a:buChar char="•"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查询 Agent：处理订单物流查询</a:t>
            </a: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77800" marL="177800">
              <a:lnSpc>
                <a:spcPct val="125000"/>
              </a:lnSpc>
              <a:buClr>
                <a:srgbClr val="666666"/>
              </a:buClr>
              <a:buChar char="•"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退款 Agent：处理售后退款流程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001000" y="1651000"/>
            <a:ext cx="3429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007BFF">
                <a:alpha val="2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255000" y="1905000"/>
            <a:ext cx="406400" cy="4064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8763000" y="1905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记忆分层设计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-14946" flipH="false" flipV="false">
            <a:off x="8255014" y="2343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0000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9" id="19"/>
          <p:cNvSpPr/>
          <p:nvPr/>
        </p:nvSpPr>
        <p:spPr>
          <a:xfrm rot="0" flipH="false" flipV="false">
            <a:off x="8255000" y="2476500"/>
            <a:ext cx="2921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77800" marL="177800">
              <a:lnSpc>
                <a:spcPct val="125000"/>
              </a:lnSpc>
              <a:buClr>
                <a:srgbClr val="666666"/>
              </a:buClr>
              <a:buChar char="•"/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工作记忆：当前对话上下文</a:t>
            </a: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177800" marL="177800">
              <a:lnSpc>
                <a:spcPct val="125000"/>
              </a:lnSpc>
              <a:buClr>
                <a:srgbClr val="666666"/>
              </a:buClr>
              <a:buChar char="•"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短期记忆：当日工单处理记录</a:t>
            </a: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77800" marL="177800">
              <a:lnSpc>
                <a:spcPct val="125000"/>
              </a:lnSpc>
              <a:buClr>
                <a:srgbClr val="666666"/>
              </a:buClr>
              <a:buChar char="•"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长期记忆：客户历史投诉画像</a:t>
            </a: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77800" marL="177800">
              <a:lnSpc>
                <a:spcPct val="125000"/>
              </a:lnSpc>
              <a:buClr>
                <a:srgbClr val="666666"/>
              </a:buClr>
              <a:buChar char="•"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知识库：退货政策与FAQ</a:t>
            </a:r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62000" y="4191000"/>
            <a:ext cx="5334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007BFF">
                <a:alpha val="2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1016000" y="4445000"/>
            <a:ext cx="406400" cy="4064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1524000" y="44450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安全风控机制</a:t>
            </a:r>
            <a:endParaRPr lang="en-US" sz="1100"/>
          </a:p>
        </p:txBody>
      </p:sp>
      <p:cxnSp>
        <p:nvCxnSpPr>
          <p:cNvPr name="Connector 23" id="23"/>
          <p:cNvCxnSpPr/>
          <p:nvPr/>
        </p:nvCxnSpPr>
        <p:spPr>
          <a:xfrm rot="-9046" flipH="false" flipV="false">
            <a:off x="1016008" y="48831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0000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4" id="24"/>
          <p:cNvSpPr/>
          <p:nvPr/>
        </p:nvSpPr>
        <p:spPr>
          <a:xfrm rot="0" flipH="false" flipV="false">
            <a:off x="1016000" y="5016500"/>
            <a:ext cx="4826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77800" marL="177800">
              <a:lnSpc>
                <a:spcPct val="125000"/>
              </a:lnSpc>
              <a:buClr>
                <a:srgbClr val="666666"/>
              </a:buClr>
              <a:buChar char="•"/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权限控制：退款上限设定 ($50)，异常退款率实时监控</a:t>
            </a: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177800" marL="177800">
              <a:lnSpc>
                <a:spcPct val="125000"/>
              </a:lnSpc>
              <a:buClr>
                <a:srgbClr val="666666"/>
              </a:buClr>
              <a:buChar char="•"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兜底策略：设定转人工阈值，敏感词自动过滤与拦截</a:t>
            </a:r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286500" y="4191000"/>
            <a:ext cx="5334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007BFF">
                <a:alpha val="2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6540500" y="4445000"/>
            <a:ext cx="406400" cy="406400"/>
          </a:xfrm>
          <a:prstGeom prst="rect">
            <a:avLst/>
          </a:prstGeom>
        </p:spPr>
      </p:pic>
      <p:sp>
        <p:nvSpPr>
          <p:cNvPr name="AutoShape 27" id="27"/>
          <p:cNvSpPr/>
          <p:nvPr/>
        </p:nvSpPr>
        <p:spPr>
          <a:xfrm rot="0" flipH="false" flipV="false">
            <a:off x="7048500" y="44450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关键监控指标</a:t>
            </a:r>
            <a:endParaRPr lang="en-US" sz="1100"/>
          </a:p>
        </p:txBody>
      </p:sp>
      <p:cxnSp>
        <p:nvCxnSpPr>
          <p:cNvPr name="Connector 28" id="28"/>
          <p:cNvCxnSpPr/>
          <p:nvPr/>
        </p:nvCxnSpPr>
        <p:spPr>
          <a:xfrm rot="-9046" flipH="false" flipV="false">
            <a:off x="6540508" y="48831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0000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9" id="29"/>
          <p:cNvSpPr/>
          <p:nvPr/>
        </p:nvSpPr>
        <p:spPr>
          <a:xfrm rot="0" flipH="false" flipV="false">
            <a:off x="6540500" y="5016500"/>
            <a:ext cx="4826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77800" marL="177800">
              <a:lnSpc>
                <a:spcPct val="125000"/>
              </a:lnSpc>
              <a:buClr>
                <a:srgbClr val="666666"/>
              </a:buClr>
              <a:buChar char="•"/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效率指标：AI 解决率、平均响应时长</a:t>
            </a: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177800" marL="177800">
              <a:lnSpc>
                <a:spcPct val="125000"/>
              </a:lnSpc>
              <a:buClr>
                <a:srgbClr val="666666"/>
              </a:buClr>
              <a:buChar char="•"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质量指标：客户满意度 (CSAT)、转人工率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课程全景回顾：从 ClawBot 到 OpenClaw 的演进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3429000" cy="2159000"/>
          </a:xfrm>
          <a:prstGeom prst="roundRect">
            <a:avLst>
              <a:gd name="adj" fmla="val 5882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EE2E6">
                <a:alpha val="100000"/>
              </a:srgbClr>
            </a:solidFill>
            <a:prstDash val="solid"/>
            <a:round/>
          </a:ln>
          <a:effectLst>
            <a:outerShdw dir="5400000" dist="50800" blurRad="1016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9050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524000" y="19050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第1课：赋予记忆能力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14946" flipH="false" flipV="false">
            <a:off x="1016014" y="2343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9ECE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1016000" y="2476500"/>
            <a:ext cx="2921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从简单的便签本存储，升级为四层记忆宫殿，构建长短期记忆体系。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381500" y="1651000"/>
            <a:ext cx="3429000" cy="2159000"/>
          </a:xfrm>
          <a:prstGeom prst="roundRect">
            <a:avLst>
              <a:gd name="adj" fmla="val 5882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EE2E6">
                <a:alpha val="100000"/>
              </a:srgbClr>
            </a:solidFill>
            <a:prstDash val="solid"/>
            <a:round/>
          </a:ln>
          <a:effectLst>
            <a:outerShdw dir="5400000" dist="50800" blurRad="1016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35500" y="1905000"/>
            <a:ext cx="406400" cy="4064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5143500" y="19050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第2课：智能路由选择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-14946" flipH="false" flipV="false">
            <a:off x="4635514" y="2343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9ECE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4635500" y="2476500"/>
            <a:ext cx="2921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告别单一模型依赖，实现多模型智能路由，根据任务特性动态选择最优解。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001000" y="1651000"/>
            <a:ext cx="3429000" cy="2159000"/>
          </a:xfrm>
          <a:prstGeom prst="roundRect">
            <a:avLst>
              <a:gd name="adj" fmla="val 5882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EE2E6">
                <a:alpha val="100000"/>
              </a:srgbClr>
            </a:solidFill>
            <a:prstDash val="solid"/>
            <a:round/>
          </a:ln>
          <a:effectLst>
            <a:outerShdw dir="5400000" dist="50800" blurRad="1016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255000" y="1905000"/>
            <a:ext cx="406400" cy="4064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8763000" y="19050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第3课：组建AI团队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-14946" flipH="false" flipV="false">
            <a:off x="8255014" y="2343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9ECE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9" id="19"/>
          <p:cNvSpPr/>
          <p:nvPr/>
        </p:nvSpPr>
        <p:spPr>
          <a:xfrm rot="0" flipH="false" flipV="false">
            <a:off x="8255000" y="2476500"/>
            <a:ext cx="2921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从一人公司扩展为8人AI专家团队，分工协作处理复杂任务流。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62000" y="4064000"/>
            <a:ext cx="3429000" cy="2159000"/>
          </a:xfrm>
          <a:prstGeom prst="roundRect">
            <a:avLst>
              <a:gd name="adj" fmla="val 5882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EE2E6">
                <a:alpha val="100000"/>
              </a:srgbClr>
            </a:solidFill>
            <a:prstDash val="solid"/>
            <a:round/>
          </a:ln>
          <a:effectLst>
            <a:outerShdw dir="5400000" dist="50800" blurRad="1016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1016000" y="4318000"/>
            <a:ext cx="406400" cy="4064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1524000" y="43180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第4课：标准技能手册</a:t>
            </a:r>
            <a:endParaRPr lang="en-US" sz="1100"/>
          </a:p>
        </p:txBody>
      </p:sp>
      <p:cxnSp>
        <p:nvCxnSpPr>
          <p:cNvPr name="Connector 23" id="23"/>
          <p:cNvCxnSpPr/>
          <p:nvPr/>
        </p:nvCxnSpPr>
        <p:spPr>
          <a:xfrm rot="-14946" flipH="false" flipV="false">
            <a:off x="1016014" y="4756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9ECE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4" id="24"/>
          <p:cNvSpPr/>
          <p:nvPr/>
        </p:nvSpPr>
        <p:spPr>
          <a:xfrm rot="0" flipH="false" flipV="false">
            <a:off x="1016000" y="4889500"/>
            <a:ext cx="2921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建立70+标准技能库，告别随机发挥，实现标准化、高质量的输出。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4381500" y="4064000"/>
            <a:ext cx="3429000" cy="2159000"/>
          </a:xfrm>
          <a:prstGeom prst="roundRect">
            <a:avLst>
              <a:gd name="adj" fmla="val 5882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EE2E6">
                <a:alpha val="100000"/>
              </a:srgbClr>
            </a:solidFill>
            <a:prstDash val="solid"/>
            <a:round/>
          </a:ln>
          <a:effectLst>
            <a:outerShdw dir="5400000" dist="50800" blurRad="1016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4635500" y="4318000"/>
            <a:ext cx="406400" cy="406400"/>
          </a:xfrm>
          <a:prstGeom prst="rect">
            <a:avLst/>
          </a:prstGeom>
        </p:spPr>
      </p:pic>
      <p:sp>
        <p:nvSpPr>
          <p:cNvPr name="AutoShape 27" id="27"/>
          <p:cNvSpPr/>
          <p:nvPr/>
        </p:nvSpPr>
        <p:spPr>
          <a:xfrm rot="0" flipH="false" flipV="false">
            <a:off x="5143500" y="43180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第5课：六重安全系统</a:t>
            </a:r>
            <a:endParaRPr lang="en-US" sz="1100"/>
          </a:p>
        </p:txBody>
      </p:sp>
      <p:cxnSp>
        <p:nvCxnSpPr>
          <p:cNvPr name="Connector 28" id="28"/>
          <p:cNvCxnSpPr/>
          <p:nvPr/>
        </p:nvCxnSpPr>
        <p:spPr>
          <a:xfrm rot="-14946" flipH="false" flipV="false">
            <a:off x="4635514" y="4756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9ECE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9" id="29"/>
          <p:cNvSpPr/>
          <p:nvPr/>
        </p:nvSpPr>
        <p:spPr>
          <a:xfrm rot="0" flipH="false" flipV="false">
            <a:off x="4635500" y="4889500"/>
            <a:ext cx="2921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构建六重安全检查机制，确保AI行为合规、可控，避免无拘无束的风险。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8001000" y="4064000"/>
            <a:ext cx="3429000" cy="2159000"/>
          </a:xfrm>
          <a:prstGeom prst="roundRect">
            <a:avLst>
              <a:gd name="adj" fmla="val 5882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EE2E6">
                <a:alpha val="100000"/>
              </a:srgbClr>
            </a:solidFill>
            <a:prstDash val="solid"/>
            <a:round/>
          </a:ln>
          <a:effectLst>
            <a:outerShdw dir="5400000" dist="50800" blurRad="1016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1" id="31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8255000" y="4318000"/>
            <a:ext cx="406400" cy="406400"/>
          </a:xfrm>
          <a:prstGeom prst="rect">
            <a:avLst/>
          </a:prstGeom>
        </p:spPr>
      </p:pic>
      <p:sp>
        <p:nvSpPr>
          <p:cNvPr name="AutoShape 32" id="32"/>
          <p:cNvSpPr/>
          <p:nvPr/>
        </p:nvSpPr>
        <p:spPr>
          <a:xfrm rot="0" flipH="false" flipV="false">
            <a:off x="8763000" y="43180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第6课：专业物业运维</a:t>
            </a:r>
            <a:endParaRPr lang="en-US" sz="1100"/>
          </a:p>
        </p:txBody>
      </p:sp>
      <p:cxnSp>
        <p:nvCxnSpPr>
          <p:cNvPr name="Connector 33" id="33"/>
          <p:cNvCxnSpPr/>
          <p:nvPr/>
        </p:nvCxnSpPr>
        <p:spPr>
          <a:xfrm rot="-14946" flipH="false" flipV="false">
            <a:off x="8255014" y="4756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9ECE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34" id="34"/>
          <p:cNvSpPr/>
          <p:nvPr/>
        </p:nvSpPr>
        <p:spPr>
          <a:xfrm rot="0" flipH="false" flipV="false">
            <a:off x="8255000" y="4889500"/>
            <a:ext cx="2921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从上线即放养转变为7×24小时专业运维，保障系统长期稳定运行。</a:t>
            </a:r>
            <a:endParaRPr lang="en-US" sz="1100"/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📌 课程终极金句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10668000" cy="4318000"/>
          </a:xfrm>
          <a:prstGeom prst="roundRect">
            <a:avLst>
              <a:gd name="adj" fmla="val 2941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07BFF">
                <a:alpha val="20000"/>
              </a:srgbClr>
            </a:solidFill>
            <a:prstDash val="solid"/>
            <a:round/>
          </a:ln>
          <a:effectLst>
            <a:outerShdw dir="5400000" dist="127000" blurRad="2540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143000" y="20320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651000" y="1968500"/>
            <a:ext cx="9525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你不需要写一行代码，就理解了这一切背后的逻辑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4407" flipH="false" flipV="false">
            <a:off x="1143004" y="2914650"/>
            <a:ext cx="990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8C8C8">
                <a:alpha val="5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143000" y="31750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651000" y="3111500"/>
            <a:ext cx="9525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AI时代最重要的能力，不是编程，</a:t>
            </a:r>
            <a:r>
              <a:rPr lang="en-US" b="true" i="false" strike="noStrike" u="none" sz="24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而是理解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4407" flipH="false" flipV="false">
            <a:off x="1143004" y="4057650"/>
            <a:ext cx="990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8C8C8">
                <a:alpha val="5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name="Picture 12" id="1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143000" y="43180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651000" y="4254500"/>
            <a:ext cx="9525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你已经具备了这种理解 🎓</a:t>
            </a:r>
            <a:endParaRPr lang="en-US" sz="1100"/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📋 本课核心知识</a:t>
            </a:r>
            <a:endParaRPr lang="en-US" sz="1100"/>
          </a:p>
        </p:txBody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762000" y="1651000"/>
          <a:ext cx="10414000" cy="4445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762000"/>
                <a:gridCol w="3556000"/>
                <a:gridCol w="6096000"/>
              </a:tblGrid>
              <a:tr h="635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007B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序号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BFF">
                        <a:alpha val="1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007B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核心知识点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BFF">
                        <a:alpha val="1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007B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关键类比与要点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BFF">
                        <a:alpha val="10000"/>
                      </a:srgbClr>
                    </a:solidFill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28A7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01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运维概念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66666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物业管理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28A7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02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配置管理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66666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物业的规章制度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28A7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03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定时任务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66666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保洁排班表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28A7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04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监控报警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66666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安防系统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FD7E1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05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四大教训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66666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记忆 / 分层 / 约束 / 熔断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FD7E1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06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AI素养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66666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判断 / 提需求 / 识别 / 决策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课程知识全景卡片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524000"/>
            <a:ext cx="3429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07BFF">
                <a:alpha val="2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7BFF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52500" y="17145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460500" y="17145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第1课 记忆=灵魂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52500" y="2159000"/>
            <a:ext cx="304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核心知识点：四层记忆体系 + 语义搜索技术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381500" y="1524000"/>
            <a:ext cx="3429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07BFF">
                <a:alpha val="2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7BFF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572000" y="1714500"/>
            <a:ext cx="406400" cy="406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5080000" y="17145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第2课 没有万能AI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572000" y="2159000"/>
            <a:ext cx="304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核心知识点：智能路由机制 + 够用就好原则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001000" y="1524000"/>
            <a:ext cx="3429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07BFF">
                <a:alpha val="2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7BFF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191500" y="17145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8699500" y="17145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第3课 AI也要团队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191500" y="2159000"/>
            <a:ext cx="304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核心知识点：8角色分工 + OA系统 + 三要素分配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2000" y="3429000"/>
            <a:ext cx="3429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07BFF">
                <a:alpha val="2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7BFF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952500" y="3619500"/>
            <a:ext cx="406400" cy="4064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1460500" y="36195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第4课 给AI写SOP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952500" y="4064000"/>
            <a:ext cx="304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核心知识点：Skill六要素 + 约束即自由理念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4381500" y="3429000"/>
            <a:ext cx="3429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07BFF">
                <a:alpha val="2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7BFF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4572000" y="3619500"/>
            <a:ext cx="406400" cy="406400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 flipH="false" flipV="false">
            <a:off x="5080000" y="36195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第5课 安全边界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4572000" y="4064000"/>
            <a:ext cx="304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核心知识点：四层防护体系 + 信任公式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8001000" y="3429000"/>
            <a:ext cx="3429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07BFF">
                <a:alpha val="2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7BFF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8191500" y="3619500"/>
            <a:ext cx="406400" cy="406400"/>
          </a:xfrm>
          <a:prstGeom prst="rect">
            <a:avLst/>
          </a:prstGeom>
        </p:spPr>
      </p:pic>
      <p:sp>
        <p:nvSpPr>
          <p:cNvPr name="AutoShape 27" id="27"/>
          <p:cNvSpPr/>
          <p:nvPr/>
        </p:nvSpPr>
        <p:spPr>
          <a:xfrm rot="0" flipH="false" flipV="false">
            <a:off x="8699500" y="36195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第6课 运维=物业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8191500" y="4064000"/>
            <a:ext cx="304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核心知识点：系统配置 + 定时任务 + 监控管理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762000" y="5334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FD7E14">
              <a:alpha val="10000"/>
            </a:srgbClr>
          </a:solidFill>
          <a:ln w="12700" cmpd="sng" cap="flat">
            <a:solidFill>
              <a:srgbClr val="FD7E14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0" id="30"/>
          <p:cNvPicPr>
            <a:picLocks noChangeAspect="true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 flipH="false" flipV="false">
            <a:off x="1016000" y="5613400"/>
            <a:ext cx="457200" cy="457200"/>
          </a:xfrm>
          <a:prstGeom prst="rect">
            <a:avLst/>
          </a:prstGeom>
        </p:spPr>
      </p:pic>
      <p:sp>
        <p:nvSpPr>
          <p:cNvPr name="AutoShape 31" id="31"/>
          <p:cNvSpPr/>
          <p:nvPr/>
        </p:nvSpPr>
        <p:spPr>
          <a:xfrm rot="0" flipH="false" flipV="false">
            <a:off x="1651000" y="5588000"/>
            <a:ext cx="889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你是AI时代的明白人：能判断 · 能提需求 · 能识别 · 能决策</a:t>
            </a:r>
            <a:endParaRPr lang="en-US" sz="1100"/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016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🎓 恭喜结业！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778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读懂AI Agent —— 给每个人的智能助手通识课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34376" flipH="false" flipV="false">
            <a:off x="5461032" y="2406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7B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1270000" y="2794000"/>
            <a:ext cx="2794000" cy="1778000"/>
          </a:xfrm>
          <a:prstGeom prst="roundRect">
            <a:avLst>
              <a:gd name="adj" fmla="val 7142"/>
            </a:avLst>
          </a:prstGeom>
          <a:solidFill>
            <a:srgbClr val="007BFF">
              <a:alpha val="8000"/>
            </a:srgbClr>
          </a:solidFill>
          <a:ln cmpd="sng" cap="flat">
            <a:solidFill>
              <a:srgbClr val="006FE6">
                <a:alpha val="8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2413000" y="3048000"/>
            <a:ext cx="508000" cy="5080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397000" y="36195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6 门核心课程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699000" y="2794000"/>
            <a:ext cx="2794000" cy="1778000"/>
          </a:xfrm>
          <a:prstGeom prst="roundRect">
            <a:avLst>
              <a:gd name="adj" fmla="val 7142"/>
            </a:avLst>
          </a:prstGeom>
          <a:solidFill>
            <a:srgbClr val="28A745">
              <a:alpha val="8000"/>
            </a:srgbClr>
          </a:solidFill>
          <a:ln cmpd="sng" cap="flat">
            <a:solidFill>
              <a:srgbClr val="148D30">
                <a:alpha val="8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5842000" y="3048000"/>
            <a:ext cx="508000" cy="5080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4826000" y="36195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18 学时深度学习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128000" y="2794000"/>
            <a:ext cx="2794000" cy="1778000"/>
          </a:xfrm>
          <a:prstGeom prst="roundRect">
            <a:avLst>
              <a:gd name="adj" fmla="val 7142"/>
            </a:avLst>
          </a:prstGeom>
          <a:solidFill>
            <a:srgbClr val="FD7E14">
              <a:alpha val="8000"/>
            </a:srgbClr>
          </a:solidFill>
          <a:ln cmpd="sng" cap="flat">
            <a:solidFill>
              <a:srgbClr val="E46700">
                <a:alpha val="8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9271000" y="3048000"/>
            <a:ext cx="508000" cy="5080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8255000" y="36195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ClawBot → OpenClaw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016000" y="4953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✨ 你现在是AI时代的明白人 ✨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016000" y="5461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感谢你的学习！</a:t>
            </a:r>
            <a:endParaRPr lang="en-US" sz="1100"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