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notesSlides/notesSlide1.xml" Type="http://schemas.openxmlformats.org/officeDocument/2006/relationships/notesSlide"/><Relationship Id="rId42" Target="notesSlides/notesSlide2.xml" Type="http://schemas.openxmlformats.org/officeDocument/2006/relationships/notesSlide"/><Relationship Id="rId43" Target="notesSlides/notesSlide3.xml" Type="http://schemas.openxmlformats.org/officeDocument/2006/relationships/notesSlide"/><Relationship Id="rId44" Target="notesSlides/notesSlide4.xml" Type="http://schemas.openxmlformats.org/officeDocument/2006/relationships/notesSlide"/><Relationship Id="rId45" Target="notesSlides/notesSlide5.xml" Type="http://schemas.openxmlformats.org/officeDocument/2006/relationships/notesSlide"/><Relationship Id="rId46" Target="notesSlides/notesSlide6.xml" Type="http://schemas.openxmlformats.org/officeDocument/2006/relationships/notesSlide"/><Relationship Id="rId47" Target="notesSlides/notesSlide7.xml" Type="http://schemas.openxmlformats.org/officeDocument/2006/relationships/notesSlide"/><Relationship Id="rId48" Target="notesSlides/notesSlide8.xml" Type="http://schemas.openxmlformats.org/officeDocument/2006/relationships/notesSlide"/><Relationship Id="rId49" Target="notesSlides/notesSlide9.xml" Type="http://schemas.openxmlformats.org/officeDocument/2006/relationships/notesSlide"/><Relationship Id="rId50" Target="notesSlides/notesSlide10.xml" Type="http://schemas.openxmlformats.org/officeDocument/2006/relationships/notesSlide"/><Relationship Id="rId51" Target="notesSlides/notesSlide11.xml" Type="http://schemas.openxmlformats.org/officeDocument/2006/relationships/notesSlide"/><Relationship Id="rId52" Target="notesSlides/notesSlide12.xml" Type="http://schemas.openxmlformats.org/officeDocument/2006/relationships/notesSlide"/><Relationship Id="rId53" Target="notesSlides/notesSlide13.xml" Type="http://schemas.openxmlformats.org/officeDocument/2006/relationships/notesSlide"/><Relationship Id="rId54" Target="notesSlides/notesSlide14.xml" Type="http://schemas.openxmlformats.org/officeDocument/2006/relationships/notesSlide"/><Relationship Id="rId55" Target="notesSlides/notesSlide15.xml" Type="http://schemas.openxmlformats.org/officeDocument/2006/relationships/notesSlide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0.xml" Type="http://schemas.openxmlformats.org/officeDocument/2006/relationships/notesSlide"/><Relationship Id="rId61" Target="notesSlides/notesSlide21.xml" Type="http://schemas.openxmlformats.org/officeDocument/2006/relationships/notesSlide"/><Relationship Id="rId62" Target="notesSlides/notesSlide22.xml" Type="http://schemas.openxmlformats.org/officeDocument/2006/relationships/notesSlide"/><Relationship Id="rId63" Target="notesSlides/notesSlide23.xml" Type="http://schemas.openxmlformats.org/officeDocument/2006/relationships/notesSlide"/><Relationship Id="rId64" Target="notesSlides/notesSlide24.xml" Type="http://schemas.openxmlformats.org/officeDocument/2006/relationships/notesSlide"/><Relationship Id="rId65" Target="notesSlides/notesSlide25.xml" Type="http://schemas.openxmlformats.org/officeDocument/2006/relationships/notesSlide"/><Relationship Id="rId66" Target="notesSlides/notesSlide26.xml" Type="http://schemas.openxmlformats.org/officeDocument/2006/relationships/notesSlide"/><Relationship Id="rId67" Target="notesSlides/notesSlide27.xml" Type="http://schemas.openxmlformats.org/officeDocument/2006/relationships/notesSlide"/><Relationship Id="rId68" Target="notesSlides/notesSlide28.xml" Type="http://schemas.openxmlformats.org/officeDocument/2006/relationships/notesSlide"/><Relationship Id="rId69" Target="notesSlides/notesSlide29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30.xml" Type="http://schemas.openxmlformats.org/officeDocument/2006/relationships/notesSlide"/><Relationship Id="rId71" Target="notesSlides/notesSlide31.xml" Type="http://schemas.openxmlformats.org/officeDocument/2006/relationships/notesSlide"/><Relationship Id="rId72" Target="notesSlides/notesSlide32.xml" Type="http://schemas.openxmlformats.org/officeDocument/2006/relationships/notesSlid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大家好，欢迎来到“读懂AI Agent”通识课的第三课。在前两课中，我们了解了AI的记忆机制和多模型协作的“工具箱”策略。今天，我们将探讨一个更宏大的话题：当任务变得越来越复杂，单一的AI已经无法胜任时，我们该如何像构建一家真实的公司一样，组建一个高效协作的AI团队，实现从“独行侠”到“AI公司”的转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的课程大纲。我们会从“一人公司”的困境入手，然后详细解析OpenClaw这个AI公司的组织架构，并通过角色扮演来亲身体验。休息之后，我们将深入探讨AI团队的沟通方式和任务分配原则，最后通过一个设计练习来巩固所学，并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开始之前，我想先问大家一个问题：如果你一个人，同时担任CEO、程序员、客服和会计，你觉得你能撑多久？我想，创业初期可能勉强可以，但当公司规模扩大，业务变得复杂后，这种“一人公司”的模式必然会崩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像我们的“一人公司”小张，他的一天是这样度过的：早上写代码，上午做销售，中午处理投诉，下午做报表，晚上写文案，深夜还要修复Bug。结果可想而知，他的效率极低，而且任何一个环节出问题，整个公司都会停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样的道理，一个AI什么都做，也会面临四大困境：第一，脑容量不够用，它的“大脑”无法同时处理太多信息；第二，不同领域的任务会互相干扰，导致结果出错；第三，它无法像人一样同时处理多件事情；第四，一旦其中一个模块出错，整个系统都会瘫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所以，一个AI什么都做，就等于一个人同时干所有的活，效率必然低下。而解决方案，也和我们在现实世界中做的一样：那就是招人、分工、建立一个团队。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正式进入OpenClaw这家“AI公司”。这是它的组织架构图，我们可以看到，它有一位CEO叫“星期五”，负责接待用户和分配任务。下面有四位部门总监：交易总监“桑丘”、CTO“建筑师”、产品经理“PM”和研究总监“参孙”。而CTO下面又管理着前端、后端和测试三位工程师。总共8个AI“员工”，各司其职，共同协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这张表格详细列出了这8个“员工”的岗位说明书，包括他们的角色、在公司中的类比职位，以及他们所使用的AI模型。大家可以看到，不同的岗位，根据其职责的不同，配备了不同的“大脑”。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有两个有趣的细节值得我们注意。第一，不同的“员工”使用不同的AI模型。需要理解、判断和协调的岗位，比如CEO、产品经理，使用的是Kimi；而需要写代码的岗位，如CTO、工程师，则使用的是Claude。这正是我们上一课学到的“根据任务选择模型”策略的实际应用。第二，每个“员工”都有自己独立的“工位”，他们的数据是隔离的，这样就避免了不同领域之间的互相干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具体看一下CEO“星期五”的岗位说明书。这就像一份真实的工作配置文件，明确了它的名字、角色、使用的模型以及具体的工作职责，包括用户交互、任务分发、记忆同步和定时任务协调。这再次证明，配置一个AI团队，和搭建一家真实的公司，在逻辑上是完全一样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这里的核心观点是：搭建一个AI团队，和搭建一家真实公司的逻辑是完全一样的。你需要确定角色、分配职责、提供工具、划分“地盘”。如果你能理解一家公司的组织架构，那么你就能很容易地理解什么是多Agent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学习完了，我们来亲身体验一下。现在，假设用户提出了一个需求：“帮我做一个公司官网”。我需要8位同学分别扮演这8个AI角色，我来扮演用户。请各位“员工”根据自己的岗位职责，协作完成这个任务。给大家20分钟的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的，角色扮演就到这里。大家休息10分钟。在休息的时候，大家可以思考一下，在刚才的协作中，这8个AI“员工”之间是如何沟通的呢？这就像我们现实中的公司，会使用钉钉、飞书这样的OA系统来沟通一样，AI团队也有自己的沟通方式。休息回来，我们就来揭晓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休息结束。AI团队的沟通方式，我们称之为“消息总线”，它就相当于公司的OA系统。和OA系统一样，消息总线主要实现四种功能：第一，分配任务，由CEO向各个Agent派发任务；第二，汇报结果，Agent完成任务后向CEO回复；第三，全员广播，向所有Agent发布通知；第四，心跳签到，Agent定期向系统报告自己的在线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这张表格更清晰地展示了这四种消息类型在OA系统和AI系统中的对应关系和具体例子。通过这套消息机制，整个AI公司的8个“员工”就能像真实公司的员工一样，井然有序地进行协作。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再通过一个完整的工作流程示例，来回顾一下整个协作过程。当用户提出“做一个公司官网”的需求后，CEO“星期五”会先将任务分解，派发给产品经理和CTO。等他们完成需求分析和方案设计后，再将任务派发给前端和后端工程师。最后，等开发完成后，再由QA进行测试。整个过程中，用户只需要和CEO“星期五”对话，完全不需要知道背后有多少个Agent在协同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刚才的流程里，大家有没有发现一些规律？比如，PM和CTO的工作是可以同时进行的，这叫做并行任务。但是，前端工程师必须等PM完成需求分析后才能开始工作，QA也必须等前端开发完成后才能测试，这些是串行任务。这背后的逻辑，就是“依赖关系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AI的任务分配过程，就像我们现实中的项目经理排工期一样，需要考虑三个关键步骤。第一步，技能匹配，让合适的人做合适的事。第二步，负载均衡，不能让一个人累死，而另一个人闲着。第三步，依赖管理，明确任务的先后顺序，哪些可以并行，哪些必须串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总结了任务分配的三个核心要素：技能匹配、负载均衡和依赖管理。这三个要素，无论是在项目管理中，还是在AI系统中，逻辑都是完全一样的。简单来说，就是要考虑：谁最擅长做这件事？谁现在最空闲？以及，这件事应该在什么时候做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AI团队中，每一个任务都有其完整的生命周期，从最初的“待办”状态，到被“分配”给合适的Agent，再到“进行中”，最后要么“已完成”，要么“失败”需要重新处理。这就像我们使用的项目管理工具的看板一样，任务的每一个状态都清清楚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我们再来看一个完整的任务分配示例。当用户要求“分析ETH走势并写一份投资建议报告”时，CEO“星期五”会首先将任务分解为数据获取和报告撰写两部分，并且明确报告撰写依赖于数据分析的结果。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然后，在分配数据分析任务时，它会考虑到桑丘正在忙碌，所以将任务分配给了同样具备能力的参孙。最后，等参孙完成分析后，它再将撰写报告的任务分配给最擅长此道的PM，并将分析结果一并传递过去。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整个过程逻辑清晰，充分体现了任务分配的三要素。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任务分配，AI团队的另一个关键问题是记忆共享。这可以类比为公司的文件管理系统。每个部门，也就是每个Agent，都有自己的私有文件柜，存放自己的专属数据，互不干扰。同时，公司也有一个共享的知识库，存放用户偏好、项目进度等公共信息，任何需要的人都可以查阅。并且，团队还会定期进行信息同步，确保信息不会成为孤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信息同步如此重要？我们来看一个场景。如果用户告诉交易总监桑丘，他的风险偏好降低了，但桑丘没有将这个信息同步到共享记忆中，那么CEO星期五就不知道这个变化，明天依然会按照激进的策略来执行交易。反之，如果桑丘及时同步了信息，那么所有的Agent都会知道这个变化，并调整自己的行为。这就像在真实公司里，如果销售团队知道客户改了需求却没有告诉产品团队，产品最终做出的东西就会不符合客户需求。所以说，信息同步是团队协作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团队的信息同步是有节奏的。他们会每30分钟进行一次心跳签到，报告自己的在线状态；每6小时进行一次记忆同步，汇总重要更新；每天凌晨还会进行一次深度整理，优化和更新共享的记忆库。这就像我们公司里的早会、晚会和工作日志整理一样，确保了信息的及时和准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所以我们必须明白，多Agent系统并不仅仅是“分工”就完事了。信息的共享和同步，才是团队协作的灵魂。虽然专业的Agent比全能的Agent更有效率，但随之而来的协调成本也需要我们进行有效的控制。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现在，我们来做一个综合练习。假设我们要设计一个“AI在线旅行社”，来处理用户“日本7天行程+订票+翻译”这样的请求。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请大家分组讨论，设计出这个AI旅行社的团队结构：需要几个Agent？分别是什么角色？谁来担任CEO？任务如何分配？先后顺序是怎样的？以及，Agent之间如何共享信息？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给大家20分钟的讨论时间，之后每组派代表进行5分钟的展示。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为大家提供一个参考框架。一个AI旅行社可能需要旅行顾问、机票酒店Agent、行程规划Agent、翻译Agent和支付Agent等角色。在设计时，大家需要思考清楚任务之间的依赖关系，比如，能不能在行程没规划好之前就订机票？翻译应该在什么时候介入？支付环节又应该在哪个节点发生？这些问题都需要我们仔细考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的最后，我们来回顾一下今天的核心知识点。我们学习了单一Agent的局限性，了解了多Agent架构的组织方式，掌握了AI团队的沟通方式（消息总线）、任务分配原则（三要素）以及记忆共享机制。这些知识，都可以通过我们熟悉的公司管理进行类比，希望能帮助大家更好地理解和记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最后，请大家记住本课的核心金句：专业分工加上有效沟通，等于一个高效的AI团队。这和我们搭建一家真实的公司，在逻辑上是一模一样的，都需要我们确定角色、分配职责、提供工具、划分“地盘”。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后，给大家留一个思考题。我们提到，“专业Agent比全能Agent更有效，但协调成本需要控制”。这个观点在现实的公司管理中也成立吗？一家公司的部门是不是分得越多越好？在什么情况下，“分得太细”反而会降低效率呢？大家可以在课后结合自己的工作经验，好好思考一下这个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这张知识卡片再次总结了我们这一课的核心内容，从单一AI的问题，到多Agent团队的解决方案，再到团队的沟通和任务分配方式。希望这张卡片能帮助大家更好地回顾和梳理今天所学的知识。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已经成功组建了一个AI团队，但新的问题又来了：团队组建好了，每个“员工”怎么知道做事的标准呢？总不能让他们想怎么做就怎么做吧？下一课，我们将探讨如何给AI写“操作手册”，让它们的行为像麦当劳的服务一样，实现高度的标准化。感谢大家的参与，我们下次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17" Target="../media/image21.png" Type="http://schemas.openxmlformats.org/officeDocument/2006/relationships/image"/><Relationship Id="rId18" Target="../media/image22.svg" Type="http://schemas.openxmlformats.org/officeDocument/2006/relationships/image"/><Relationship Id="rId19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0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media/image41.png" Type="http://schemas.openxmlformats.org/officeDocument/2006/relationships/image"/><Relationship Id="rId14" Target="../media/image42.svg" Type="http://schemas.openxmlformats.org/officeDocument/2006/relationships/image"/><Relationship Id="rId15" Target="../media/image43.png" Type="http://schemas.openxmlformats.org/officeDocument/2006/relationships/image"/><Relationship Id="rId16" Target="../media/image44.svg" Type="http://schemas.openxmlformats.org/officeDocument/2006/relationships/image"/><Relationship Id="rId17" Target="../media/image45.png" Type="http://schemas.openxmlformats.org/officeDocument/2006/relationships/image"/><Relationship Id="rId18" Target="../media/image46.svg" Type="http://schemas.openxmlformats.org/officeDocument/2006/relationships/image"/><Relationship Id="rId19" Target="../media/image47.png" Type="http://schemas.openxmlformats.org/officeDocument/2006/relationships/image"/><Relationship Id="rId2" Target="../media/image2.jpeg" Type="http://schemas.openxmlformats.org/officeDocument/2006/relationships/image"/><Relationship Id="rId20" Target="../media/image48.svg" Type="http://schemas.openxmlformats.org/officeDocument/2006/relationships/image"/><Relationship Id="rId21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2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15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6.sv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.svg" Type="http://schemas.openxmlformats.org/officeDocument/2006/relationships/image"/><Relationship Id="rId11" Target="../media/image73.png" Type="http://schemas.openxmlformats.org/officeDocument/2006/relationships/image"/><Relationship Id="rId12" Target="../media/image7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17" Target="../media/image75.png" Type="http://schemas.openxmlformats.org/officeDocument/2006/relationships/image"/><Relationship Id="rId18" Target="../media/image76.svg" Type="http://schemas.openxmlformats.org/officeDocument/2006/relationships/image"/><Relationship Id="rId19" Target="../media/image43.png" Type="http://schemas.openxmlformats.org/officeDocument/2006/relationships/image"/><Relationship Id="rId2" Target="../media/image2.jpeg" Type="http://schemas.openxmlformats.org/officeDocument/2006/relationships/image"/><Relationship Id="rId20" Target="../media/image44.svg" Type="http://schemas.openxmlformats.org/officeDocument/2006/relationships/image"/><Relationship Id="rId21" Target="../media/image77.png" Type="http://schemas.openxmlformats.org/officeDocument/2006/relationships/image"/><Relationship Id="rId22" Target="../media/image78.svg" Type="http://schemas.openxmlformats.org/officeDocument/2006/relationships/image"/><Relationship Id="rId23" Target="../notesSlides/notesSlide12.xml" Type="http://schemas.openxmlformats.org/officeDocument/2006/relationships/notesSlide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71.png" Type="http://schemas.openxmlformats.org/officeDocument/2006/relationships/image"/><Relationship Id="rId8" Target="../media/image72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9.jpeg" Type="http://schemas.openxmlformats.org/officeDocument/2006/relationships/image"/><Relationship Id="rId3" Target="../media/image80.png" Type="http://schemas.openxmlformats.org/officeDocument/2006/relationships/image"/><Relationship Id="rId4" Target="../media/image81.svg" Type="http://schemas.openxmlformats.org/officeDocument/2006/relationships/image"/><Relationship Id="rId5" Target="../media/image82.png" Type="http://schemas.openxmlformats.org/officeDocument/2006/relationships/image"/><Relationship Id="rId6" Target="../media/image83.svg" Type="http://schemas.openxmlformats.org/officeDocument/2006/relationships/image"/><Relationship Id="rId7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1.sv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88.png" Type="http://schemas.openxmlformats.org/officeDocument/2006/relationships/image"/><Relationship Id="rId8" Target="../media/image89.sv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.svg" Type="http://schemas.openxmlformats.org/officeDocument/2006/relationships/image"/><Relationship Id="rId11" Target="../media/image96.png" Type="http://schemas.openxmlformats.org/officeDocument/2006/relationships/image"/><Relationship Id="rId12" Target="../media/image97.svg" Type="http://schemas.openxmlformats.org/officeDocument/2006/relationships/image"/><Relationship Id="rId13" Target="../media/image82.png" Type="http://schemas.openxmlformats.org/officeDocument/2006/relationships/image"/><Relationship Id="rId14" Target="../media/image83.svg" Type="http://schemas.openxmlformats.org/officeDocument/2006/relationships/image"/><Relationship Id="rId15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3.svg" Type="http://schemas.openxmlformats.org/officeDocument/2006/relationships/image"/><Relationship Id="rId11" Target="../notesSlides/notesSlide17.xml" Type="http://schemas.openxmlformats.org/officeDocument/2006/relationships/notesSlide"/><Relationship Id="rId2" Target="../media/image2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100.png" Type="http://schemas.openxmlformats.org/officeDocument/2006/relationships/image"/><Relationship Id="rId8" Target="../media/image101.sv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04.png" Type="http://schemas.openxmlformats.org/officeDocument/2006/relationships/image"/><Relationship Id="rId6" Target="../media/image105.svg" Type="http://schemas.openxmlformats.org/officeDocument/2006/relationships/image"/><Relationship Id="rId7" Target="../media/image106.png" Type="http://schemas.openxmlformats.org/officeDocument/2006/relationships/image"/><Relationship Id="rId8" Target="../media/image107.svg" Type="http://schemas.openxmlformats.org/officeDocument/2006/relationships/image"/><Relationship Id="rId9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2.png" Type="http://schemas.openxmlformats.org/officeDocument/2006/relationships/image"/><Relationship Id="rId4" Target="../media/image83.svg" Type="http://schemas.openxmlformats.org/officeDocument/2006/relationships/image"/><Relationship Id="rId5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3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13" Target="../media/image114.png" Type="http://schemas.openxmlformats.org/officeDocument/2006/relationships/image"/><Relationship Id="rId14" Target="../media/image115.svg" Type="http://schemas.openxmlformats.org/officeDocument/2006/relationships/image"/><Relationship Id="rId15" Target="../media/image116.png" Type="http://schemas.openxmlformats.org/officeDocument/2006/relationships/image"/><Relationship Id="rId16" Target="../media/image117.svg" Type="http://schemas.openxmlformats.org/officeDocument/2006/relationships/image"/><Relationship Id="rId17" Target="../notesSlides/notesSlide20.xml" Type="http://schemas.openxmlformats.org/officeDocument/2006/relationships/notesSlide"/><Relationship Id="rId2" Target="../media/image2.jpeg" Type="http://schemas.openxmlformats.org/officeDocument/2006/relationships/image"/><Relationship Id="rId3" Target="../media/image108.png" Type="http://schemas.openxmlformats.org/officeDocument/2006/relationships/image"/><Relationship Id="rId4" Target="../media/image109.svg" Type="http://schemas.openxmlformats.org/officeDocument/2006/relationships/image"/><Relationship Id="rId5" Target="../media/image110.png" Type="http://schemas.openxmlformats.org/officeDocument/2006/relationships/image"/><Relationship Id="rId6" Target="../media/image111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1.svg" Type="http://schemas.openxmlformats.org/officeDocument/2006/relationships/image"/><Relationship Id="rId11" Target="../notesSlides/notesSlide21.xml" Type="http://schemas.openxmlformats.org/officeDocument/2006/relationships/notesSlide"/><Relationship Id="rId2" Target="../media/image2.jpeg" Type="http://schemas.openxmlformats.org/officeDocument/2006/relationships/image"/><Relationship Id="rId3" Target="../media/image118.png" Type="http://schemas.openxmlformats.org/officeDocument/2006/relationships/image"/><Relationship Id="rId4" Target="../media/image119.svg" Type="http://schemas.openxmlformats.org/officeDocument/2006/relationships/image"/><Relationship Id="rId5" Target="../media/image110.png" Type="http://schemas.openxmlformats.org/officeDocument/2006/relationships/image"/><Relationship Id="rId6" Target="../media/image111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1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22.png" Type="http://schemas.openxmlformats.org/officeDocument/2006/relationships/image"/><Relationship Id="rId4" Target="../media/image123.svg" Type="http://schemas.openxmlformats.org/officeDocument/2006/relationships/image"/><Relationship Id="rId5" Target="../media/image124.png" Type="http://schemas.openxmlformats.org/officeDocument/2006/relationships/image"/><Relationship Id="rId6" Target="../media/image125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3.svg" Type="http://schemas.openxmlformats.org/officeDocument/2006/relationships/image"/><Relationship Id="rId11" Target="../notesSlides/notesSlide23.xml" Type="http://schemas.openxmlformats.org/officeDocument/2006/relationships/notesSlide"/><Relationship Id="rId2" Target="../media/image2.jpeg" Type="http://schemas.openxmlformats.org/officeDocument/2006/relationships/image"/><Relationship Id="rId3" Target="../media/image118.png" Type="http://schemas.openxmlformats.org/officeDocument/2006/relationships/image"/><Relationship Id="rId4" Target="../media/image119.svg" Type="http://schemas.openxmlformats.org/officeDocument/2006/relationships/image"/><Relationship Id="rId5" Target="../media/image114.png" Type="http://schemas.openxmlformats.org/officeDocument/2006/relationships/image"/><Relationship Id="rId6" Target="../media/image115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1.png" Type="http://schemas.openxmlformats.org/officeDocument/2006/relationships/image"/><Relationship Id="rId4" Target="../media/image72.svg" Type="http://schemas.openxmlformats.org/officeDocument/2006/relationships/image"/><Relationship Id="rId5" Target="../media/image126.png" Type="http://schemas.openxmlformats.org/officeDocument/2006/relationships/image"/><Relationship Id="rId6" Target="../media/image127.svg" Type="http://schemas.openxmlformats.org/officeDocument/2006/relationships/image"/><Relationship Id="rId7" Target="../media/image128.png" Type="http://schemas.openxmlformats.org/officeDocument/2006/relationships/image"/><Relationship Id="rId8" Target="../media/image129.svg" Type="http://schemas.openxmlformats.org/officeDocument/2006/relationships/image"/><Relationship Id="rId9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02.png" Type="http://schemas.openxmlformats.org/officeDocument/2006/relationships/image"/><Relationship Id="rId4" Target="../media/image103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130.png" Type="http://schemas.openxmlformats.org/officeDocument/2006/relationships/image"/><Relationship Id="rId8" Target="../media/image131.svg" Type="http://schemas.openxmlformats.org/officeDocument/2006/relationships/image"/><Relationship Id="rId9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9.svg" Type="http://schemas.openxmlformats.org/officeDocument/2006/relationships/image"/><Relationship Id="rId11" Target="../media/image3.png" Type="http://schemas.openxmlformats.org/officeDocument/2006/relationships/image"/><Relationship Id="rId12" Target="../media/image4.svg" Type="http://schemas.openxmlformats.org/officeDocument/2006/relationships/image"/><Relationship Id="rId13" Target="../media/image140.png" Type="http://schemas.openxmlformats.org/officeDocument/2006/relationships/image"/><Relationship Id="rId14" Target="../media/image141.svg" Type="http://schemas.openxmlformats.org/officeDocument/2006/relationships/image"/><Relationship Id="rId15" Target="../media/image142.png" Type="http://schemas.openxmlformats.org/officeDocument/2006/relationships/image"/><Relationship Id="rId16" Target="../media/image143.svg" Type="http://schemas.openxmlformats.org/officeDocument/2006/relationships/image"/><Relationship Id="rId17" Target="../notesSlides/notesSlide26.xml" Type="http://schemas.openxmlformats.org/officeDocument/2006/relationships/notesSlide"/><Relationship Id="rId2" Target="../media/image2.jpeg" Type="http://schemas.openxmlformats.org/officeDocument/2006/relationships/image"/><Relationship Id="rId3" Target="../media/image132.png" Type="http://schemas.openxmlformats.org/officeDocument/2006/relationships/image"/><Relationship Id="rId4" Target="../media/image133.svg" Type="http://schemas.openxmlformats.org/officeDocument/2006/relationships/image"/><Relationship Id="rId5" Target="../media/image134.png" Type="http://schemas.openxmlformats.org/officeDocument/2006/relationships/image"/><Relationship Id="rId6" Target="../media/image135.svg" Type="http://schemas.openxmlformats.org/officeDocument/2006/relationships/image"/><Relationship Id="rId7" Target="../media/image136.png" Type="http://schemas.openxmlformats.org/officeDocument/2006/relationships/image"/><Relationship Id="rId8" Target="../media/image137.svg" Type="http://schemas.openxmlformats.org/officeDocument/2006/relationships/image"/><Relationship Id="rId9" Target="../media/image13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9.svg" Type="http://schemas.openxmlformats.org/officeDocument/2006/relationships/image"/><Relationship Id="rId11" Target="../media/image150.png" Type="http://schemas.openxmlformats.org/officeDocument/2006/relationships/image"/><Relationship Id="rId12" Target="../media/image151.svg" Type="http://schemas.openxmlformats.org/officeDocument/2006/relationships/image"/><Relationship Id="rId13" Target="../media/image152.png" Type="http://schemas.openxmlformats.org/officeDocument/2006/relationships/image"/><Relationship Id="rId14" Target="../media/image153.svg" Type="http://schemas.openxmlformats.org/officeDocument/2006/relationships/image"/><Relationship Id="rId15" Target="../media/image154.png" Type="http://schemas.openxmlformats.org/officeDocument/2006/relationships/image"/><Relationship Id="rId16" Target="../media/image155.svg" Type="http://schemas.openxmlformats.org/officeDocument/2006/relationships/image"/><Relationship Id="rId17" Target="../media/image156.png" Type="http://schemas.openxmlformats.org/officeDocument/2006/relationships/image"/><Relationship Id="rId18" Target="../media/image157.svg" Type="http://schemas.openxmlformats.org/officeDocument/2006/relationships/image"/><Relationship Id="rId19" Target="../notesSlides/notesSlide27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4.png" Type="http://schemas.openxmlformats.org/officeDocument/2006/relationships/image"/><Relationship Id="rId6" Target="../media/image145.svg" Type="http://schemas.openxmlformats.org/officeDocument/2006/relationships/image"/><Relationship Id="rId7" Target="../media/image146.png" Type="http://schemas.openxmlformats.org/officeDocument/2006/relationships/image"/><Relationship Id="rId8" Target="../media/image147.svg" Type="http://schemas.openxmlformats.org/officeDocument/2006/relationships/image"/><Relationship Id="rId9" Target="../media/image14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3.svg" Type="http://schemas.openxmlformats.org/officeDocument/2006/relationships/image"/><Relationship Id="rId11" Target="../notesSlides/notesSlide29.xml" Type="http://schemas.openxmlformats.org/officeDocument/2006/relationships/notesSlide"/><Relationship Id="rId2" Target="../media/image1.jpeg" Type="http://schemas.openxmlformats.org/officeDocument/2006/relationships/image"/><Relationship Id="rId3" Target="../media/image94.png" Type="http://schemas.openxmlformats.org/officeDocument/2006/relationships/image"/><Relationship Id="rId4" Target="../media/image95.svg" Type="http://schemas.openxmlformats.org/officeDocument/2006/relationships/image"/><Relationship Id="rId5" Target="../media/image158.png" Type="http://schemas.openxmlformats.org/officeDocument/2006/relationships/image"/><Relationship Id="rId6" Target="../media/image159.svg" Type="http://schemas.openxmlformats.org/officeDocument/2006/relationships/image"/><Relationship Id="rId7" Target="../media/image160.png" Type="http://schemas.openxmlformats.org/officeDocument/2006/relationships/image"/><Relationship Id="rId8" Target="../media/image161.svg" Type="http://schemas.openxmlformats.org/officeDocument/2006/relationships/image"/><Relationship Id="rId9" Target="../media/image16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media/image164.png" Type="http://schemas.openxmlformats.org/officeDocument/2006/relationships/image"/><Relationship Id="rId6" Target="../media/image165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5.svg" Type="http://schemas.openxmlformats.org/officeDocument/2006/relationships/image"/><Relationship Id="rId11" Target="../notesSlides/notesSlide31.xml" Type="http://schemas.openxmlformats.org/officeDocument/2006/relationships/notesSlide"/><Relationship Id="rId2" Target="../media/image1.jpeg" Type="http://schemas.openxmlformats.org/officeDocument/2006/relationships/image"/><Relationship Id="rId3" Target="../media/image166.png" Type="http://schemas.openxmlformats.org/officeDocument/2006/relationships/image"/><Relationship Id="rId4" Target="../media/image167.svg" Type="http://schemas.openxmlformats.org/officeDocument/2006/relationships/image"/><Relationship Id="rId5" Target="../media/image168.png" Type="http://schemas.openxmlformats.org/officeDocument/2006/relationships/image"/><Relationship Id="rId6" Target="../media/image169.svg" Type="http://schemas.openxmlformats.org/officeDocument/2006/relationships/image"/><Relationship Id="rId7" Target="../media/image170.png" Type="http://schemas.openxmlformats.org/officeDocument/2006/relationships/image"/><Relationship Id="rId8" Target="../media/image171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72.png" Type="http://schemas.openxmlformats.org/officeDocument/2006/relationships/image"/><Relationship Id="rId4" Target="../media/image173.svg" Type="http://schemas.openxmlformats.org/officeDocument/2006/relationships/image"/><Relationship Id="rId5" Target="../media/image174.png" Type="http://schemas.openxmlformats.org/officeDocument/2006/relationships/image"/><Relationship Id="rId6" Target="../media/image175.svg" Type="http://schemas.openxmlformats.org/officeDocument/2006/relationships/image"/><Relationship Id="rId7" Target="../notesSlides/notesSlide32.xml" Type="http://schemas.openxmlformats.org/officeDocument/2006/relationships/notesSlide"/><Relationship Id="rId8" Target="../media/image17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🏢 AI团队协作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79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从独行侠到“AI公司”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619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读懂AI Agent —— 给每个人的智能助手通识课 | 第3课 / 共6课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今天的旅程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160000" cy="416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6096000"/>
                <a:gridCol w="2032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环节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💥 导入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"一人公司"的崩溃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🏢 模块3.2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OpenClaw的AI公司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🎭 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模拟AI公司角色扮演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☕ 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中场休息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📨 模块3.3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AI团队的沟通方式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📋 模块3.4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任务分配三要素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✏️ 练习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设计AI旅行社团队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📌 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核心回顾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一个问题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159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905000" y="2095500"/>
            <a:ext cx="914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如果你一个人，又当CEO、又当程序员，又当客服、又当会计，你能撑多久？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064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43942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905000" y="4381500"/>
            <a:ext cx="914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创业初期可能还行……公司一大起来呢？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💥 "一人公司"小张的一天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034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08:00 产品开发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专注写代码，构建核心功能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381500" y="1651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1841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080000" y="18034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10:00 客户销售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电话沟通，寻找潜在商机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01000" y="16510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1841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8699500" y="18034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12:00 处理投诉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安抚客户情绪，解决售后问题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1115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3302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32639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14:00 财务报表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整理账目，核对收支情况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81500" y="31115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572000" y="3302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080000" y="32639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16:00 市场推广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撰写文案，策划推广活动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3111500"/>
            <a:ext cx="3429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191500" y="3302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699500" y="32639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20:00 修复Bug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紧急处理线上故障，加班调试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699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8F9FA">
              <a:alpha val="95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397000" y="4851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多重角色切换的后果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203200" cy="203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333500" y="5308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写代码时脑子里全是投诉，无法专注，效率极低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203200" cy="203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333500" y="56261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无法同时接待两个客户，错失潜在销售机会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350000" y="5334000"/>
            <a:ext cx="203200" cy="203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6667500" y="53086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身兼数职导致专业度不足，服务质量下降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350000" y="5651500"/>
            <a:ext cx="203200" cy="203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667500" y="56261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个人成为公司单点故障，一旦生病公司停摆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AI的“一人公司”困境——四大问题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问题1：脑容量不够用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同时装载交易数据、代码、文章和偏好，导致信息过载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上下文窗口是AI的“大脑容量”，存在物理极限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879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问题2：不同领域互相干扰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291" flipH="false" flipV="false">
            <a:off x="6477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477000" y="2476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跨领域任务切换时，前序任务的特征会残留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例如：写完诗再写代码，代码风格可能变得“诗意”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292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问题3：不能同时做多件事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1016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889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本质上是单线程处理模式，无法并行响应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例如：写文章时来了交易信号，无法及时处理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064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18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4292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问题4：一个出错全部遭殃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291" flipH="false" flipV="false">
            <a:off x="6477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35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77000" y="4889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缺乏模块化隔离，存在单点故障风险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例如：交易模块崩溃可能导致整个系统功能停摆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 团队建设理念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095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20574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现状：全能型 AI 的困境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0110" flipH="false" flipV="false">
            <a:off x="1143009" y="2597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143000" y="27940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“一个 AI 什么都做”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这就好比一个人既当 CEO，又当程序员，同时还要兼任客服和会计。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结果往往是效率低下，无法专精。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731000" y="2095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239000" y="20574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破局：建立 AI 团队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0110" flipH="false" flipV="false">
            <a:off x="6731009" y="2597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731000" y="27940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“招人，分工，建团队”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解决方案和现实世界一样：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28600" marL="2286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8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明确角色分工，各司其职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28600" marL="2286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8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构建协作流程，提升整体效能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🏢 欢迎来到 OpenClaw 公司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826000" y="1524000"/>
            <a:ext cx="254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5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016500" y="1714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5588000" y="1651000"/>
            <a:ext cx="165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星期五 (CEO)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接待客户，分配任务</a:t>
            </a:r>
          </a:p>
        </p:txBody>
      </p:sp>
      <p:cxnSp>
        <p:nvCxnSpPr>
          <p:cNvPr name="Connector 6" id="6"/>
          <p:cNvCxnSpPr/>
          <p:nvPr/>
        </p:nvCxnSpPr>
        <p:spPr>
          <a:xfrm rot="5228255" flipH="false" flipV="false">
            <a:off x="5969000" y="2533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7" id="7"/>
          <p:cNvCxnSpPr/>
          <p:nvPr/>
        </p:nvCxnSpPr>
        <p:spPr>
          <a:xfrm rot="-5055" flipH="false" flipV="false">
            <a:off x="1778005" y="2660650"/>
            <a:ext cx="86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5171155" flipH="false" flipV="false">
            <a:off x="1682750" y="2756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9" id="9"/>
          <p:cNvCxnSpPr/>
          <p:nvPr/>
        </p:nvCxnSpPr>
        <p:spPr>
          <a:xfrm rot="5171155" flipH="false" flipV="false">
            <a:off x="4552950" y="2756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0" id="10"/>
          <p:cNvCxnSpPr/>
          <p:nvPr/>
        </p:nvCxnSpPr>
        <p:spPr>
          <a:xfrm rot="5171155" flipH="false" flipV="false">
            <a:off x="7435850" y="2756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1" id="11"/>
          <p:cNvCxnSpPr/>
          <p:nvPr/>
        </p:nvCxnSpPr>
        <p:spPr>
          <a:xfrm rot="5171155" flipH="false" flipV="false">
            <a:off x="10318750" y="2756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62000" y="2857500"/>
            <a:ext cx="203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89000" y="2984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33500" y="2984500"/>
            <a:ext cx="139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桑丘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交易总监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32200" y="2857500"/>
            <a:ext cx="203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759200" y="2984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203700" y="2984500"/>
            <a:ext cx="139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建筑师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CTO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15100" y="2857500"/>
            <a:ext cx="203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42100" y="2984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86600" y="2984500"/>
            <a:ext cx="139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产品经理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98000" y="2857500"/>
            <a:ext cx="203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525000" y="29845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969500" y="2984500"/>
            <a:ext cx="139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参孙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研究总监</a:t>
            </a:r>
          </a:p>
        </p:txBody>
      </p:sp>
      <p:cxnSp>
        <p:nvCxnSpPr>
          <p:cNvPr name="Connector 24" id="24"/>
          <p:cNvCxnSpPr/>
          <p:nvPr/>
        </p:nvCxnSpPr>
        <p:spPr>
          <a:xfrm rot="5228255" flipH="false" flipV="false">
            <a:off x="4521200" y="39943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5" id="25"/>
          <p:cNvCxnSpPr/>
          <p:nvPr/>
        </p:nvCxnSpPr>
        <p:spPr>
          <a:xfrm rot="-21485" flipH="false" flipV="false">
            <a:off x="3632220" y="41211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6" id="26"/>
          <p:cNvCxnSpPr/>
          <p:nvPr/>
        </p:nvCxnSpPr>
        <p:spPr>
          <a:xfrm rot="5171155" flipH="false" flipV="false">
            <a:off x="3536950" y="42166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7" id="27"/>
          <p:cNvCxnSpPr/>
          <p:nvPr/>
        </p:nvCxnSpPr>
        <p:spPr>
          <a:xfrm rot="5171155" flipH="false" flipV="false">
            <a:off x="4552950" y="42166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8" id="28"/>
          <p:cNvCxnSpPr/>
          <p:nvPr/>
        </p:nvCxnSpPr>
        <p:spPr>
          <a:xfrm rot="5171155" flipH="false" flipV="false">
            <a:off x="5568950" y="42166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3124200" y="4318000"/>
            <a:ext cx="101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3378200" y="4445000"/>
            <a:ext cx="508000" cy="508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3124200" y="49530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前端工程师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140200" y="4318000"/>
            <a:ext cx="101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4394200" y="4445000"/>
            <a:ext cx="508000" cy="5080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4140200" y="49530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后端工程师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156200" y="4318000"/>
            <a:ext cx="101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5410200" y="4445000"/>
            <a:ext cx="508000" cy="5080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5156200" y="49530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测试工程师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62000" y="5588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E8F5E9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1016000" y="5715000"/>
            <a:ext cx="381000" cy="381000"/>
          </a:xfrm>
          <a:prstGeom prst="rect">
            <a:avLst/>
          </a:prstGeom>
        </p:spPr>
      </p:pic>
      <p:sp>
        <p:nvSpPr>
          <p:cNvPr name="AutoShape 40" id="40"/>
          <p:cNvSpPr/>
          <p:nvPr/>
        </p:nvSpPr>
        <p:spPr>
          <a:xfrm rot="0" flipH="false" flipV="false">
            <a:off x="1524000" y="5689600"/>
            <a:ext cx="965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b="fals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8个AI“员工”，各司其职，共同构建高效的智能协作体系。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8个“员工”的岗位说明书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9906000" cy="469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1778000"/>
                <a:gridCol w="3810000"/>
                <a:gridCol w="2540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角色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公司类比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🧑‍💼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星期五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CEO/总经理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Kimi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桑丘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交易总监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Kimi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市场研究总监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Kimi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🏗️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建筑师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CTO技术总监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Claude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前端工程师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Claude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⚙️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后端工程师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Claude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产品经理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Kimi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🧪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测试工程师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Claude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有趣的细节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1435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79600"/>
            <a:ext cx="419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不同“员工”用不同AI模型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418" flipH="false" flipV="false">
            <a:off x="1016009" y="2343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578100"/>
            <a:ext cx="425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理解与协调岗 (Kimi)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2921000"/>
            <a:ext cx="4254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适用于CEO、交易员、研究员等需要深度理解、判断和协调的角色。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594100"/>
            <a:ext cx="425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代码开发岗 (Claude)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3937000"/>
            <a:ext cx="4254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适用于CTO、前后端工程师等需要编写高质量代码的技术角色。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699000"/>
            <a:ext cx="4635500" cy="1016000"/>
          </a:xfrm>
          <a:prstGeom prst="roundRect">
            <a:avLst>
              <a:gd name="adj" fmla="val 6250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这正是“根据任务选模型”策略的实际应用！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86500" y="1651000"/>
            <a:ext cx="51435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19050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1879600"/>
            <a:ext cx="419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每个“员工”有独立“工位”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418" flipH="false" flipV="false">
            <a:off x="6540509" y="2343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40500" y="2603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21500" y="2578100"/>
            <a:ext cx="425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数据严格隔离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21500" y="2921000"/>
            <a:ext cx="4254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桑丘的交易数据 ≠ 前端的代码，确保不同角色的数据互不干扰。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3619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21500" y="3594100"/>
            <a:ext cx="425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解决领域干扰问题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921500" y="3937000"/>
            <a:ext cx="4254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避免了不同业务领域的知识混淆，保证了专业回答的准确性。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540500" y="4699000"/>
            <a:ext cx="4635500" cy="1016000"/>
          </a:xfrm>
          <a:prstGeom prst="roundRect">
            <a:avLst>
              <a:gd name="adj" fmla="val 6250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🔒 构建了安全、独立的工作环境！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CEO“星期五”的岗位说明书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4635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810000"/>
                <a:gridCol w="6858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配置项 (Configuration)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白话翻译 (Description)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name: "星期五"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名字叫“星期五”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role: "主助手"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岗位是 CEO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model: "kimi-k2.5"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核心大脑采用 Kimi 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 用户交互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负责跟用户进行自然语言对话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 任务分发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把复杂任务拆解并分配给同事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 记忆同步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确保团队信息实时同步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 定时任务协调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安排和协调日常工作流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842000"/>
            <a:ext cx="10668000" cy="635000"/>
          </a:xfrm>
          <a:prstGeom prst="roundRect">
            <a:avLst>
              <a:gd name="adj" fmla="val 32000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9817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5943600"/>
            <a:ext cx="990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结论：配置 AI 团队 ≈ 搭建真实公司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搭建AI团队的核心逻辑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1778000"/>
            <a:ext cx="889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905000" y="1968500"/>
            <a:ext cx="838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 AI 团队，就像搭建一家真实的公司，逻辑</a:t>
            </a:r>
            <a:r>
              <a:rPr lang="en-US" b="true" i="false" strike="noStrike" u="none" sz="2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完全一样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3683000"/>
            <a:ext cx="1968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311400" y="3937000"/>
            <a:ext cx="635000" cy="635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4635500"/>
            <a:ext cx="196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定角色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73500" y="3683000"/>
            <a:ext cx="1968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33900" y="39370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873500" y="4635500"/>
            <a:ext cx="196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分职责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3683000"/>
            <a:ext cx="1968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756400" y="3937000"/>
            <a:ext cx="635000" cy="635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096000" y="4635500"/>
            <a:ext cx="196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给工具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3683000"/>
            <a:ext cx="19685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978900" y="3937000"/>
            <a:ext cx="635000" cy="635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18500" y="4635500"/>
            <a:ext cx="196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划地盘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651000" y="5715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💡 如果你能理解公司组织架构，你就能理解多Agent系统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🎭 角色扮演：模拟AI公司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87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模拟场景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用户提出需求：“帮我做一个公司官网”，需要团队协作完成。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3105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276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任务分配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683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8位同学：分别扮演8个Agent角色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讲师：扮演提出需求的用户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4546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互动时间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953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⏰ 角色扮演限时：20分钟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1905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31000" y="187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岗位职责清单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24130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31000" y="2387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星期五 (CEO)：</a:t>
            </a: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分析需求，分配任务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28575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31000" y="2832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PM (产品经理)：</a:t>
            </a: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撰写需求文档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350000" y="3302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31000" y="3276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建筑师 (CTO)：</a:t>
            </a: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设计整体技术方案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350000" y="37465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731000" y="3721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前端开发：</a:t>
            </a: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负责网页界面开发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6350000" y="41910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731000" y="4165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后端开发：</a:t>
            </a: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负责后台逻辑开发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 flipH="false" flipV="false">
            <a:off x="6350000" y="46355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731000" y="4610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QA (测试)：</a:t>
            </a:r>
            <a:r>
              <a:rPr lang="en-US" b="false" i="false" strike="noStrike" u="none" sz="16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测试网站功能与性能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☕ 休息 10 分钟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905000"/>
            <a:ext cx="9652000" cy="1524000"/>
          </a:xfrm>
          <a:prstGeom prst="roundRect">
            <a:avLst>
              <a:gd name="adj" fmla="val 8333"/>
            </a:avLst>
          </a:prstGeom>
          <a:solidFill>
            <a:srgbClr val="E8F5E9">
              <a:alpha val="10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524000" y="2095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2095500"/>
            <a:ext cx="863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休息回来，我们看看——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这8个AI“员工”之间是</a:t>
            </a: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怎么沟通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的？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3683000"/>
            <a:ext cx="9652000" cy="1524000"/>
          </a:xfrm>
          <a:prstGeom prst="roundRect">
            <a:avLst>
              <a:gd name="adj" fmla="val 8333"/>
            </a:avLst>
          </a:prstGeom>
          <a:solidFill>
            <a:srgbClr val="FFF3E0">
              <a:alpha val="10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524000" y="3873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032000" y="3873500"/>
            <a:ext cx="863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思考一下：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想想你的公司用什么沟通工具？钉钉？飞书？企业微信？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📨 AI的OA系统 = 消息总线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571500" cy="5715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1778000"/>
            <a:ext cx="393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分配任务 (Task)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公司：老板给员工派活 | AI：CEO给Agent分任务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857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571500" cy="5715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2984500"/>
            <a:ext cx="393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汇报结果 (Response)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公司：员工完成后回复 | AI：Agent向CEO汇报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064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571500" cy="5715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4191000"/>
            <a:ext cx="393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全员通知 (Broadcast)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公司：行政发全员邮件 | AI：向所有Agent广播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270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524500"/>
            <a:ext cx="571500" cy="5715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5397500"/>
            <a:ext cx="393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每日签到 (Heartbeat)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公司：员工上班打卡 | AI：Agent定期报告在线状态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651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0F8FF">
              <a:alpha val="60000"/>
            </a:srgbClr>
          </a:solidFill>
          <a:ln cmpd="sng" cap="flat">
            <a:solidFill>
              <a:srgbClr val="C1D4E6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905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核心类比逻辑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291" flipH="false" flipV="false">
            <a:off x="6477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477000" y="2667000"/>
            <a:ext cx="4699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通过将AI的“消息总线”机制类比为熟悉的公司OA系统，我们可以更直观地理解其运作模式：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46A73"/>
              </a:buClr>
              <a:buChar char="•"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CEO（控制中心）扮演着“老板”的角色，负责决策与分发。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46A73"/>
              </a:buClr>
              <a:buChar char="•"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Agent（执行单元）则是“员工”，负责具体任务的执行与反馈。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46A73"/>
              </a:buClr>
              <a:buChar char="•"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消息总线确保了指令下达、结果回收、信息同步和状态监控的高效流转。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四种消息类型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9906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02000"/>
                <a:gridCol w="3302000"/>
                <a:gridCol w="3302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OA系统里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AI系统里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举例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老板派任务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Task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"检查ETH价格"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9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员工交报告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Response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"ETH $3,200 日涨+2.3%"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全员通知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Broadcast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"凌晨3点系统维护"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9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每日打卡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Heartbeat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"我在线，负载30%"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5270500"/>
            <a:ext cx="952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结论：消息总线 = AI公司的OA系统，让8个"员工"井然有序地协作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完整工作流程示例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2286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41500"/>
            <a:ext cx="146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用户需求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86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“帮我做个公司官网”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14549" flipH="false" flipV="false">
            <a:off x="3175106" y="2343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683000" y="1651000"/>
            <a:ext cx="2286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873500" y="1841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381500" y="1841500"/>
            <a:ext cx="146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星期五CEO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73500" y="2286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接收需求，分解任务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14549" flipH="false" flipV="false">
            <a:off x="6096106" y="2343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604000" y="1651000"/>
            <a:ext cx="2286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794500" y="1841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302500" y="1841500"/>
            <a:ext cx="146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PM &amp; 架构师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94500" y="2286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需求分析与方案设计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14549" flipH="false" flipV="false">
            <a:off x="9017106" y="2343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9525000" y="1651000"/>
            <a:ext cx="1905000" cy="1397000"/>
          </a:xfrm>
          <a:prstGeom prst="roundRect">
            <a:avLst>
              <a:gd name="adj" fmla="val 1454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715500" y="1841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0223500" y="1841500"/>
            <a:ext cx="107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开发与测试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715500" y="2286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前后端开发及验收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4092" flipH="false" flipV="false">
            <a:off x="762004" y="3422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62000" y="3683000"/>
            <a:ext cx="10668000" cy="1270000"/>
          </a:xfrm>
          <a:prstGeom prst="roundRect">
            <a:avLst>
              <a:gd name="adj" fmla="val 16000"/>
            </a:avLst>
          </a:prstGeom>
          <a:solidFill>
            <a:srgbClr val="EBF8FF">
              <a:alpha val="90000"/>
            </a:srgbClr>
          </a:solidFill>
          <a:ln w="12700" cmpd="sng" cap="flat">
            <a:solidFill>
              <a:srgbClr val="B4D2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524000" y="4000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任务交付：CEO回复用户 “官网已完成！”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524000" y="4381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所有开发与测试工作在后台透明完成，用户仅需与CEO单线沟通。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207000"/>
            <a:ext cx="10668000" cy="1016000"/>
          </a:xfrm>
          <a:prstGeom prst="roundRect">
            <a:avLst>
              <a:gd name="adj" fmla="val 20000"/>
            </a:avLst>
          </a:prstGeom>
          <a:solidFill>
            <a:srgbClr val="FFF8F0">
              <a:alpha val="9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355600" cy="3556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524000" y="5397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用户只跟CEO对话，完全感知不到背后有多个Agent在协同工作。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想一想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476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任务并行思考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921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PM和建筑师可以</a:t>
            </a:r>
            <a:r>
              <a:rPr lang="en-US" b="tru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同时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开始工作吗？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思考：他们的工作是否互不干扰？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699000" y="2476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任务串行思考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921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前端能在PM完成</a:t>
            </a:r>
            <a:r>
              <a:rPr lang="en-US" b="tru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之前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就开始吗？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思考：没有需求文档，开发如何进行？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382000" y="2476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测试时机思考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921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QA能在前端完成</a:t>
            </a:r>
            <a:r>
              <a:rPr lang="en-US" b="tru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之前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就测试吗？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思考：没有产品，测试对象是什么？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95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7BFF">
              <a:alpha val="8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5143500"/>
            <a:ext cx="952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结论：任务依赖关系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有些任务能并行处理，有些任务必须串行等待，这种先后顺序的逻辑就是“依赖关系”。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任务分配 = 项目经理排工期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2032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技能匹配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660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374151"/>
              </a:buClr>
              <a:buChar char="•"/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设计任务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→ 小美 (设计师)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开发任务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→ 小王 (程序员)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测试任务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→ 小李 (测试员)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334000" y="2032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02 负载均衡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660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794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374151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对比：小美(3个项目) vs 小红(1个)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决策：虽然小美更资深，但为了平衡工作量，优先分配给空闲的小红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017000" y="2032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03 依赖管理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660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794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374151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并行处理：设计与开发可以同步进行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374151"/>
              </a:buClr>
              <a:buChar char="•"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串行依赖：测试任务必须等待设计和开发全部完成后才能开始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任务分配三要素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330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318000"/>
                <a:gridCol w="4318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核心要素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传统项目管理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智能系统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889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🎯 技能匹配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让合适的人做合适的事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写代码任务 → 不分给交易Agent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⚖️ 负载均衡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合理分配工作量，避免劳逸不均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忙碌的Agent不再接收新任务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🔗 依赖管理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明确任务优先级，先做什么后做什么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555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测试任务需等待开发完成后才分配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207000"/>
            <a:ext cx="10668000" cy="1016000"/>
          </a:xfrm>
          <a:prstGeom prst="roundRect">
            <a:avLst>
              <a:gd name="adj" fmla="val 20000"/>
            </a:avLst>
          </a:prstGeom>
          <a:solidFill>
            <a:srgbClr val="F8F9FA">
              <a:alpha val="10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4356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5397500"/>
            <a:ext cx="977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无论是人工还是AI，任务分配的底层逻辑都是一致的——即“谁最擅长 + 谁最空闲 + 先做什么”。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任务的生命周期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2286000" cy="2794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524000" y="2032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667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待办 (Pending)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111500"/>
            <a:ext cx="203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任务已创建，尚未分配给具体Agent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111500" y="2921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3492500" y="1778000"/>
            <a:ext cx="2286000" cy="2794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254500" y="2032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619500" y="2667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已分配 (Assigned)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19500" y="3111500"/>
            <a:ext cx="203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已找到合适的Agent并完成任务指派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42000" y="2921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223000" y="1778000"/>
            <a:ext cx="2286000" cy="2794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985000" y="2032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350000" y="2667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进行中 (Running)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111500"/>
            <a:ext cx="203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Agent正在执行任务，处理具体逻辑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572500" y="2921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953500" y="1778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207500" y="2032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652000" y="20320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 (Completed)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07500" y="2476500"/>
            <a:ext cx="196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任务执行完毕，结果已提交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22178" flipH="false" flipV="false">
            <a:off x="9207520" y="3041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3" id="2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207500" y="32385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652000" y="32385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失败 (Failed)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207500" y="3683000"/>
            <a:ext cx="196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执行出错，需要重新处理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5207000"/>
            <a:ext cx="406400" cy="4064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524000" y="5143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这就像项目管理工具的看板，从“待办”流转到“已完成”，任务状态清晰可控。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一个完整的任务分配示例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用户需求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任务描述：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分析ETH走势，撰写一份专业的投资建议报告。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输入对象：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用户请求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191000" y="3429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6228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876800" y="190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3848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分解与分配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8768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876800" y="2540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任务拆解：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A: 获取数据+趋势分析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B: 撰写报告 (依赖A)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人员指派：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 → 参孙 (桑丘忙)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B → PM (最擅长)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051800" y="3429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4836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737600" y="190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2456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整合交付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5626" flipH="false" flipV="false">
            <a:off x="87376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737600" y="2540000"/>
            <a:ext cx="279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执行流转：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参孙完成分析 → 结果传给PM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PM基于分析撰写报告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最终输出：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完整的投资建议报告，回复用户。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📂 记忆共享 = 公司的文件管理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部门私有文件柜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302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存放专属数据：桑丘交易数据、前端代码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机制：互不干扰，各管各的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公司共享知识库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3302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存放公共信息：用户偏好、项目进度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机制：谁需要都能查，信息透明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定期同步周会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3302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频率：每6小时同步重要更新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机制：确保信息不是孤岛，保持一致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为什么需要同步？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EBF8FF">
              <a:alpha val="90000"/>
            </a:srgbClr>
          </a:solidFill>
          <a:ln w="12700" cmpd="sng" cap="flat">
            <a:solidFill>
              <a:srgbClr val="BAE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676400"/>
            <a:ext cx="9525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场景：用户对桑丘说：“从今天开始，我的风险偏好降低”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F5F5">
              <a:alpha val="9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857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819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未同步：信息孤岛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418" flipH="false" flipV="false">
            <a:off x="1016009" y="3232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365500"/>
            <a:ext cx="463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55555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CEO星期五不知道风险偏好变更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结果：明天仍按激进方式执行交易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2667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0FFF4">
              <a:alpha val="9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40500" y="2857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21500" y="2819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已同步：共享记忆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18" flipH="false" flipV="false">
            <a:off x="6540509" y="3232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40500" y="3365500"/>
            <a:ext cx="463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55555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桑丘将信息同步到团队共享记忆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结果：所有 Agent 感知变化并调整策略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0F8FF">
              <a:alpha val="95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435600"/>
            <a:ext cx="558800" cy="558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714500" y="5359400"/>
            <a:ext cx="9525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结论：信息同步 = 团队协作的基础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类比：销售知客户改需求却未告知产品 → 产出不符合需求的产品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同步的节奏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每30分钟：心跳签到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302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Agent报告“我在线，状态正常”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机制类比：像员工在工位上没失联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每6小时：记忆同步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3302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各Agent重要更新汇总到共享区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机制类比：像每天两次简短站会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730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每天凌晨3点：深度整理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3168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33020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记忆收敛+更新搜索索引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机制类比：像下班前整理工作日志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多Agent协作核心洞察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828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2032000"/>
            <a:ext cx="4013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协作的灵魂：信息同步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66800" y="2489200"/>
            <a:ext cx="44704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多Agent不是“分工就完事了”，信息共享和实时同步才是团队高效协作的基石。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778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20828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62800" y="2032000"/>
            <a:ext cx="4013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效能关键：专业分工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54800" y="2489200"/>
            <a:ext cx="44704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专注于特定领域的专业Agent，相比全能型Agent，在处理复杂任务时表现出更高的效率。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64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368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74800" y="4318000"/>
            <a:ext cx="9601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风险控制：协调成本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66800" y="4775200"/>
            <a:ext cx="10058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虽然专业化带来了效率提升，但随之而来的Agent间协调成本不容忽视，需要建立有效的机制进行控制。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✏️ 练习：设计“AI在线旅行社”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556000" cy="4572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752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业务场景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用户需求：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“日本7天行程规划 + 机票酒店预订 + 实时翻译”</a:t>
            </a:r>
          </a:p>
        </p:txBody>
      </p:sp>
      <p:cxnSp>
        <p:nvCxnSpPr>
          <p:cNvPr name="Connector 7" id="7"/>
          <p:cNvCxnSpPr/>
          <p:nvPr/>
        </p:nvCxnSpPr>
        <p:spPr>
          <a:xfrm rot="-14323" flipH="false" flipV="false">
            <a:off x="1016013" y="3232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4671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互动任务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873500"/>
            <a:ext cx="304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小组讨论：20分钟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各组展示：5分钟/组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目标：输出团队架构图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1524000"/>
            <a:ext cx="6858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826000" y="1778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07000" y="17526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请设计你的 Agent 团队结构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26000" y="2286000"/>
            <a:ext cx="6350000" cy="571500"/>
          </a:xfrm>
          <a:prstGeom prst="roundRect">
            <a:avLst>
              <a:gd name="adj" fmla="val 35555"/>
            </a:avLst>
          </a:prstGeom>
          <a:solidFill>
            <a:srgbClr val="F0F8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953000" y="2413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334000" y="2387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需要几个 Agent？分别是什么角色？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2921000"/>
            <a:ext cx="6350000" cy="571500"/>
          </a:xfrm>
          <a:prstGeom prst="roundRect">
            <a:avLst>
              <a:gd name="adj" fmla="val 35555"/>
            </a:avLst>
          </a:prstGeom>
          <a:solidFill>
            <a:srgbClr val="F0F8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953000" y="3048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334000" y="3022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谁是 CEO（主 Agent）？负责什么？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826000" y="3556000"/>
            <a:ext cx="6350000" cy="571500"/>
          </a:xfrm>
          <a:prstGeom prst="roundRect">
            <a:avLst>
              <a:gd name="adj" fmla="val 35555"/>
            </a:avLst>
          </a:prstGeom>
          <a:solidFill>
            <a:srgbClr val="F0F8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4953000" y="3683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334000" y="3657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任务怎么分配？执行顺序是怎样的？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826000" y="4191000"/>
            <a:ext cx="6350000" cy="571500"/>
          </a:xfrm>
          <a:prstGeom prst="roundRect">
            <a:avLst>
              <a:gd name="adj" fmla="val 35555"/>
            </a:avLst>
          </a:prstGeom>
          <a:solidFill>
            <a:srgbClr val="F0F8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4953000" y="43180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5334000" y="4292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Agent 之间如何共享信息与协作？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826000" y="48895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提示：思考如何利用 Agent 的特长（如规划、搜索、翻译）来提升效率。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✏️ 参考框架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AI旅行社 Agent 角色体系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565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旅行顾问 (CEO)：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负责接待客户，理解需求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073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机票酒店 Agent：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负责搜索、比价与预订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581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行程规划 Agent：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设计路线，安排景点与活动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4089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翻译 Agent：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提供多语言支持（如日语翻译）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635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4597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支付 Agent：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处理订单结算与支付流程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0" y="1651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关键任务依赖关系思考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549" flipH="false" flipV="false">
            <a:off x="6350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2603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31000" y="25654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预订时机：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能否在行程未完全规划好之前就预订机票？这涉及到灵活性与价格的权衡。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350000" y="3365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31000" y="33274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翻译介入：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翻译 Agent 是在预订阶段介入，还是在出行前准备阶段介入？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350000" y="4127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731000" y="40894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支付节点：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支付流程应发生在确认所有细节之后，还是可以分阶段进行？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本课核心知识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651000"/>
          <a:ext cx="10668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/>
                <a:gridCol w="4572000"/>
                <a:gridCol w="5334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#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核心知识点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单一Agent的局限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一人公司必然崩溃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多Agent架构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CEO + 部门经理 + 专员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消息总线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公司OA系统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任务分配三要素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项目经理排工期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记忆共享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部门文件柜 + 共享知识库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📌 本课金句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651000"/>
            <a:ext cx="9652000" cy="2286000"/>
          </a:xfrm>
          <a:prstGeom prst="roundRect">
            <a:avLst>
              <a:gd name="adj" fmla="val 5555"/>
            </a:avLst>
          </a:prstGeom>
          <a:solidFill>
            <a:srgbClr val="EBF8FF">
              <a:alpha val="60000"/>
            </a:srgbClr>
          </a:solidFill>
          <a:ln w="254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1905000"/>
            <a:ext cx="914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专业分工 + 有效沟通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28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高效AI团队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4064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💡 和搭建真实公司一模一样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4699000"/>
            <a:ext cx="228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209800" y="4889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533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定角色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21100" y="4699000"/>
            <a:ext cx="228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4889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721100" y="533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分职责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172200" y="4699000"/>
            <a:ext cx="228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12000" y="4889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172200" y="533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给工具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636000" y="4699000"/>
            <a:ext cx="228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75800" y="4889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636000" y="533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划地盘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思考题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007BFF">
              <a:alpha val="8000"/>
            </a:srgbClr>
          </a:solidFill>
          <a:ln cmpd="sng" cap="flat">
            <a:solidFill>
              <a:srgbClr val="006FE6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415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核心观点引用：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“专业Agent比全能Agent更有效，但协调成本需要控制”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2385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D7E14">
              <a:alpha val="8000"/>
            </a:srgbClr>
          </a:solidFill>
          <a:ln cmpd="sng" cap="flat">
            <a:solidFill>
              <a:srgbClr val="E467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34290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这在现实公司管理中也成立吗？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826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8A745">
              <a:alpha val="8000"/>
            </a:srgbClr>
          </a:solidFill>
          <a:ln cmpd="sng" cap="flat">
            <a:solidFill>
              <a:srgbClr val="148D3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50165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延伸思考：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一家公司的部门是不是越多越好？什么时候“分得太细”反而不好？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本课知识卡片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核心痛点：单点崩溃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47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单一AI模型试图处理所有任务会导致效率低下。原因包括：脑容量不足、任务间相互干扰、无法并行处理以及存在单点故障风险。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190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解决方案：组建AI团队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291" flipH="false" flipV="false">
            <a:off x="6477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247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像公司一样构建Agent网络：CEO负责全局协调，下设交易总监、CTO、PM等角色，各司其职，协同工作。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沟通机制：OA系统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291" flipH="false" flipV="false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16000" y="501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建立高效的信息流转机制，涵盖任务下发、回复确认、广播通知及心跳检测，确保团队信息同步。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任务分配：项目经理排期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291" flipH="false" flipV="false">
            <a:off x="6477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477000" y="501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通过项目经理角色进行智能排期，实现技能匹配、负载均衡和依赖管理，确保任务高效执行。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📢 下一课预告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E8F5E9">
              <a:alpha val="10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41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当前挑战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286000"/>
            <a:ext cx="990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AI团队组建好了，但每个“员工”怎么知道做事的标准？总不能让他们想怎么做就怎么做吧？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683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3E0">
              <a:alpha val="10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873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8735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第4课主题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318000"/>
            <a:ext cx="990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AI能做什么？给AI写“操作手册”，让它像麦当劳一样标准化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