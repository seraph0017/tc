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notesSlides/notesSlide1.xml" Type="http://schemas.openxmlformats.org/officeDocument/2006/relationships/notesSlide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69" Target="notesSlides/notesSlide29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30.xml" Type="http://schemas.openxmlformats.org/officeDocument/2006/relationships/notesSlide"/><Relationship Id="rId71" Target="notesSlides/notesSlide31.xml" Type="http://schemas.openxmlformats.org/officeDocument/2006/relationships/notesSlide"/><Relationship Id="rId72" Target="notesSlides/notesSlide32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第四课。在前几课中，我们学习了AI的记忆机制、多模型协作策略以及如何构建一个AI团队。今天，我们将深入探讨一个非常实用的话题：AI具体能做什么？我们将以写代码、写文章和做决策为例，揭示让AI高效、稳定工作的核心秘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会从一个有趣的对比实验开始，然后引入AI的“标准操作手册”——Skill的概念，并详细解析AI写代码和写文章的具体流程。接着，我们会深入探讨“约束即自由”这一核心原则，并通过体验和练习来巩固所学，最后进行课程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在正式开始之前，请大家和我一起做一个小实验。请打开你常用的AI工具，分别输入这两个指令，然后对比一下两次的结果。我相信，你会立刻感受到其中的差异。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第二次的结果通常会更好？我们来分析一下第二次的指令，它包含了角色、受众、风格、字数和结构等多个维度的约束。这些约束看似限制了AI，但实际上是在帮助AI做出更精准的决策，减少了它“自由发挥”的空间，从而让输出结果更符合我们的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道理，就像餐厅的经营模式。一种是“大厨发挥制”，菜品质量完全依赖大厨的状态，非常不稳定。另一种是“麦当劳标准制”，通过严格的标准操作流程（SOP），确保了全球数万家门店口味的高度一致和稳定。对于需要每天、稳定、大量产出的场景，SOP是唯一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的道理也适用于AI。没有SOP的AI，其输出往往不可控，写文章可能长短不一，写代码可能时好时坏，回答客户问题甚至可能“胡说八道”。而有了SOP的AI，其行为就变得可预测、可控制，能够按照我们设定的标准来完成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所以，麦当劳成功的秘密，不在于它的厨师有多牛，而在于它的SOP写得好。AI也是一样，约束对它来说不是限制，而是帮助。这就是我们今天要学习的核心原则——“约束即自由”。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领域，我们把这种标准化的操作手册称为“Skill”。以OpenClaw为例，它拥有超过70个Skill，覆盖了写代码、做交易、写文章等各种能力。每一个Skill，就是一本针对特定任务的标准操作手册，确保AI能够稳定、高效地完成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一个完整的Skill包含六个核心要素：何时使用、需要什么、交付什么、具体步骤、参考案例和注意事项。这和我们给新员工写的培训手册，在逻辑上是完全一样的，都是为了确保任务能够被准确、无误地完成。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这张表格更直观地展示了Skill六要素在不同场景下的应用。无论是麦当劳制作汉堡，还是AI进行编程，这六个要素都是通用的，它们共同构成了一个完整的、可执行的标准操作流程。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了解了Skill的概念后，我们来看看AI具体是怎么工作的。很多人以为AI写代码是“一口气”完成的，但实际上完全不是这样。AI写代码的过程，更像是建一栋房子，有着一整套严谨、规范的流程。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写代码的完整流程分为六步：首先是分析需求，就像了解业主的想法；然后是设计架构，好比建筑师画图纸；接着是选择合适的技能和工具；之后才是按部就班地生成代码；生成后还要进行自动验证，检查是否有问题；最后，如果发现问题，就进行迭代优化，直到最终成果合格为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个真实的案例。当用户要求做一个“用户管理系统”时，AI会严格按照六步流程来执行：先分析需求，然后设计出清晰的系统架构，接着加载对应的编程技能，再从底层到上层逐步生成代码，之后进行全面的检查，最后修复问题并再次验证，确保最终交付一个高质量的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通过这个案例，我们可以再次确认，AI写代码不是靠“灵感”一口气写出来的，而是严格遵循一个完整的、有章可循的流程。Skill系统赋予了AI工程师般的严谨和条理，确保了工作的质量和效率。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好的，关于AI写代码的流程我们就讲到这里。大家休息10分钟，放松一下。休息回来，我们将探讨另一个有趣的话题：AI写文章的流程。剧透一下，它和写代码有相似之处，而且过程更有趣。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休息结束。我们来看看AI写文章的流程。它同样遵循一套标准化的步骤，分为五个阶段：首先是需求分析，明确写作的目标和方向；然后是生成大纲，搭建文章的骨架；接着是逐章填充内容，为骨架增添血肉；之后是进行验证核查，确保内容的准确性和逻辑性；最后是进行格式优化，让文章的呈现更加美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有趣的事实想和大家分享：我们整个课程的基础，那篇长达3万字的《从ClawBot到OpenClaw》的文章，正是利用我们今天所学的这套AI写作流程辅助完成的。这就像是写作系统用自己的流程来写关于写作系统的文章，有一种“套娃”的趣味。这也印证了我们的核心思想：先确保方向正确，再保证内容质量，最后优化呈现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约束即自由”这个原则，在我们的生活中其实无处不在。比如交通规则，它看似限制了我们的驾驶自由，但正是这些规则保障了道路的通畅和安全。论文的格式要求，看似限制了学术表达的自由，但它能帮助读者快速抓住核心信息。麦当劳的SOP，看似限制了厨师的创造力，但它保证了全球数万家门店口味的稳定。这些例子都说明，规则不是束缚，而是质量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具体到我们日常使用AI时，如何运用“约束即自由”的原则呢？这里有三个核心原则可以帮助你让AI更好用：第一，明确角色，告诉AI它是谁；第二，定义标准，告诉AI要做到什么程度；第三，提供示例，告诉AI具体要怎么做。通过这三个原则，我们可以给AI更清晰的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会发现，这三个约束原则，其实就是Skill系统一直在做的事情。明确角色对应了Skill的“何时使用”，定义标准对应了“交付什么”和“注意事项”，提供示例则对应了“参考案例”。所以，Skill系统的本质，就是一套为特定任务预写好的、超级详细的指令，也就是我们常说的Promp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再次强调，“约束即自由”是我们在AI时代必须具备的重要思维之一。给AI的规则越明确，它的输出就越稳定、越可控。我们所看到的那些顶级的AI产品，其背后都有着一套复杂而完善的Skill体系在支撑。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学习如何给AI下达清晰的指令，也就是Prompt Engineering，本质上就是学习一种与AI的高效沟通技巧。这就像在工作中，同样的任务，不同的人交代下去，结果可能截然不同。区别不在于执行者的能力，而在于下达指令的方式。掌握Prompt Engineering，你不需要会编程，只需要具备清晰的思考能力和准确的表达能力。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为大家提供一个万能的Prompt框架，它包含了角色、任务、受众、格式、字数、风格、示例和限制八个要素。在实际使用中，你不需要每次都使用全部八项，根据具体情况选择其中3到5个要素，就足以让AI给出高质量的回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个实战对比。同样是写会议纪要，普通的指令“帮我写会议纪要”，得到的结果格式往往是随机的。而使用我们的万能框架进行优化后的指令，明确了角色、任务、格式、风格和限制，得到的结果就会非常专业和规范。这就是Prompt Engineering的威力。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我们再来进行一次亲身体验。请大家打开AI工具，分别输入这两个指令，为一款记账APP写产品介绍。一个是无约束的普通指令，另一个是我们按照SOP原则优化后的指令。请大家对比两次结果的差异，并思考背后的原因。给大家15分钟的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我们的综合练习。请大家扮演电商公司的产品经理，按照我们所学的Skill六要素，设计一个“AI客服退款处理”的Skill。请大家分组讨论，详细填写这六个要素，特别是“注意事项”部分，要仔细思考AI在处理退款时绝对不能做什么。给大家20分钟的讨论时间，之后每组派代表进行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为大家提供一些关于“注意事项”的参考思路。在设计AI客服的Skill时，我们必须明确它的权限边界和红线，比如不能承诺超出权限的退款，不能透露内部信息，不能与用户发生争执等。同时，也要设定转人工的条件，确保在AI无法处理复杂问题时，能够及时转接给人工客服，保证服务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回顾一下今天的核心知识点。我们学习了AI需要SOP才能稳定工作，了解了Skill的六要素，掌握了AI写代码和写文章的标准化流程，深刻理解了“约束即自由”的原则，并学会了使用万能Prompt框架来与AI高效沟通。这些知识，都通过生动的类比帮助我们理解和记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本课的核心金句：约束即自由，规则越明确，AI越好用。你不需要成为一名程序员，只要学会如何写好Prompt，学会如何与AI清晰地沟通，你就能够有效地“指挥”AI，让它成为你工作和生活中的得力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后，给大家留一个思考题。请大家结合自己的工作和生活经验，思考一下“约束即自由”这个原则在哪些地方有所体现？你有没有遇到过“给了太多自由反而做不好”的情况？希望通过这个问题，能让大家对今天所学的知识有更深入的理解和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这张知识卡片再次总结了我们这一课的核心内容，包括Skill的概念、AI写代码和写文章的流程、约束三原则以及“约束即自由”的核心思想。希望这张卡片能帮助大家更好地回顾和梳理今天所学的知识。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了解了如何让AI高效地完成各种任务，但随之而来的一个重要问题是：如果AI犯了错怎么办？特别是在涉及金钱的场景，比如量化交易中，风险该如何管理？下一课，我们将探讨AI的安全边界，从量化交易的角度来学习AI的风险管理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7.png" Type="http://schemas.openxmlformats.org/officeDocument/2006/relationships/image"/><Relationship Id="rId2" Target="../media/image2.jpeg" Type="http://schemas.openxmlformats.org/officeDocument/2006/relationships/image"/><Relationship Id="rId20" Target="../media/image8.svg" Type="http://schemas.openxmlformats.org/officeDocument/2006/relationships/image"/><Relationship Id="rId21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media/image53.png" Type="http://schemas.openxmlformats.org/officeDocument/2006/relationships/image"/><Relationship Id="rId14" Target="../media/image54.svg" Type="http://schemas.openxmlformats.org/officeDocument/2006/relationships/image"/><Relationship Id="rId15" Target="../media/image55.png" Type="http://schemas.openxmlformats.org/officeDocument/2006/relationships/image"/><Relationship Id="rId16" Target="../media/image56.svg" Type="http://schemas.openxmlformats.org/officeDocument/2006/relationships/image"/><Relationship Id="rId17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4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83.png" Type="http://schemas.openxmlformats.org/officeDocument/2006/relationships/image"/><Relationship Id="rId12" Target="../media/image84.svg" Type="http://schemas.openxmlformats.org/officeDocument/2006/relationships/image"/><Relationship Id="rId13" Target="../media/image85.png" Type="http://schemas.openxmlformats.org/officeDocument/2006/relationships/image"/><Relationship Id="rId14" Target="../media/image86.svg" Type="http://schemas.openxmlformats.org/officeDocument/2006/relationships/image"/><Relationship Id="rId15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77.png" Type="http://schemas.openxmlformats.org/officeDocument/2006/relationships/image"/><Relationship Id="rId4" Target="../media/image78.svg" Type="http://schemas.openxmlformats.org/officeDocument/2006/relationships/image"/><Relationship Id="rId5" Target="../media/image79.png" Type="http://schemas.openxmlformats.org/officeDocument/2006/relationships/image"/><Relationship Id="rId6" Target="../media/image80.sv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87.png" Type="http://schemas.openxmlformats.org/officeDocument/2006/relationships/image"/><Relationship Id="rId6" Target="../media/image88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9.jpeg" Type="http://schemas.openxmlformats.org/officeDocument/2006/relationships/image"/><Relationship Id="rId3" Target="../media/image90.png" Type="http://schemas.openxmlformats.org/officeDocument/2006/relationships/image"/><Relationship Id="rId4" Target="../media/image91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7.svg" Type="http://schemas.openxmlformats.org/officeDocument/2006/relationships/image"/><Relationship Id="rId11" Target="../media/image98.png" Type="http://schemas.openxmlformats.org/officeDocument/2006/relationships/image"/><Relationship Id="rId12" Target="../media/image99.svg" Type="http://schemas.openxmlformats.org/officeDocument/2006/relationships/image"/><Relationship Id="rId13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100.png" Type="http://schemas.openxmlformats.org/officeDocument/2006/relationships/image"/><Relationship Id="rId6" Target="../media/image101.svg" Type="http://schemas.openxmlformats.org/officeDocument/2006/relationships/image"/><Relationship Id="rId7" Target="../media/image102.png" Type="http://schemas.openxmlformats.org/officeDocument/2006/relationships/image"/><Relationship Id="rId8" Target="../media/image103.sv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7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104.png" Type="http://schemas.openxmlformats.org/officeDocument/2006/relationships/image"/><Relationship Id="rId4" Target="../media/image105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1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108.png" Type="http://schemas.openxmlformats.org/officeDocument/2006/relationships/image"/><Relationship Id="rId4" Target="../media/image109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5.svg" Type="http://schemas.openxmlformats.org/officeDocument/2006/relationships/image"/><Relationship Id="rId11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108.png" Type="http://schemas.openxmlformats.org/officeDocument/2006/relationships/image"/><Relationship Id="rId4" Target="../media/image109.sv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6.png" Type="http://schemas.openxmlformats.org/officeDocument/2006/relationships/image"/><Relationship Id="rId4" Target="../media/image117.svg" Type="http://schemas.openxmlformats.org/officeDocument/2006/relationships/image"/><Relationship Id="rId5" Target="../media/image79.png" Type="http://schemas.openxmlformats.org/officeDocument/2006/relationships/image"/><Relationship Id="rId6" Target="../media/image80.svg" Type="http://schemas.openxmlformats.org/officeDocument/2006/relationships/image"/><Relationship Id="rId7" Target="../media/image118.png" Type="http://schemas.openxmlformats.org/officeDocument/2006/relationships/image"/><Relationship Id="rId8" Target="../media/image119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0.png" Type="http://schemas.openxmlformats.org/officeDocument/2006/relationships/image"/><Relationship Id="rId4" Target="../media/image121.svg" Type="http://schemas.openxmlformats.org/officeDocument/2006/relationships/image"/><Relationship Id="rId5" Target="../media/image122.png" Type="http://schemas.openxmlformats.org/officeDocument/2006/relationships/image"/><Relationship Id="rId6" Target="../media/image123.svg" Type="http://schemas.openxmlformats.org/officeDocument/2006/relationships/image"/><Relationship Id="rId7" Target="../media/image124.png" Type="http://schemas.openxmlformats.org/officeDocument/2006/relationships/image"/><Relationship Id="rId8" Target="../media/image125.svg" Type="http://schemas.openxmlformats.org/officeDocument/2006/relationships/image"/><Relationship Id="rId9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1.svg" Type="http://schemas.openxmlformats.org/officeDocument/2006/relationships/image"/><Relationship Id="rId11" Target="../media/image132.png" Type="http://schemas.openxmlformats.org/officeDocument/2006/relationships/image"/><Relationship Id="rId12" Target="../media/image133.svg" Type="http://schemas.openxmlformats.org/officeDocument/2006/relationships/image"/><Relationship Id="rId13" Target="../media/image134.png" Type="http://schemas.openxmlformats.org/officeDocument/2006/relationships/image"/><Relationship Id="rId14" Target="../media/image135.svg" Type="http://schemas.openxmlformats.org/officeDocument/2006/relationships/image"/><Relationship Id="rId15" Target="../media/image136.png" Type="http://schemas.openxmlformats.org/officeDocument/2006/relationships/image"/><Relationship Id="rId16" Target="../media/image137.svg" Type="http://schemas.openxmlformats.org/officeDocument/2006/relationships/image"/><Relationship Id="rId17" Target="../media/image138.png" Type="http://schemas.openxmlformats.org/officeDocument/2006/relationships/image"/><Relationship Id="rId18" Target="../media/image139.svg" Type="http://schemas.openxmlformats.org/officeDocument/2006/relationships/image"/><Relationship Id="rId19" Target="../media/image114.png" Type="http://schemas.openxmlformats.org/officeDocument/2006/relationships/image"/><Relationship Id="rId2" Target="../media/image2.jpeg" Type="http://schemas.openxmlformats.org/officeDocument/2006/relationships/image"/><Relationship Id="rId20" Target="../media/image115.svg" Type="http://schemas.openxmlformats.org/officeDocument/2006/relationships/image"/><Relationship Id="rId21" Target="../notesSlides/notesSlide23.xml" Type="http://schemas.openxmlformats.org/officeDocument/2006/relationships/notesSlide"/><Relationship Id="rId3" Target="../media/image108.png" Type="http://schemas.openxmlformats.org/officeDocument/2006/relationships/image"/><Relationship Id="rId4" Target="../media/image109.svg" Type="http://schemas.openxmlformats.org/officeDocument/2006/relationships/image"/><Relationship Id="rId5" Target="../media/image126.png" Type="http://schemas.openxmlformats.org/officeDocument/2006/relationships/image"/><Relationship Id="rId6" Target="../media/image127.sv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0.png" Type="http://schemas.openxmlformats.org/officeDocument/2006/relationships/image"/><Relationship Id="rId4" Target="../media/image141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42.png" Type="http://schemas.openxmlformats.org/officeDocument/2006/relationships/image"/><Relationship Id="rId8" Target="../media/image143.svg" Type="http://schemas.openxmlformats.org/officeDocument/2006/relationships/image"/><Relationship Id="rId9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144.png" Type="http://schemas.openxmlformats.org/officeDocument/2006/relationships/image"/><Relationship Id="rId6" Target="../media/image145.svg" Type="http://schemas.openxmlformats.org/officeDocument/2006/relationships/image"/><Relationship Id="rId7" Target="../media/image146.png" Type="http://schemas.openxmlformats.org/officeDocument/2006/relationships/image"/><Relationship Id="rId8" Target="../media/image147.svg" Type="http://schemas.openxmlformats.org/officeDocument/2006/relationships/image"/><Relationship Id="rId9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7.svg" Type="http://schemas.openxmlformats.org/officeDocument/2006/relationships/image"/><Relationship Id="rId11" Target="../media/image152.png" Type="http://schemas.openxmlformats.org/officeDocument/2006/relationships/image"/><Relationship Id="rId12" Target="../media/image153.svg" Type="http://schemas.openxmlformats.org/officeDocument/2006/relationships/image"/><Relationship Id="rId13" Target="../media/image154.png" Type="http://schemas.openxmlformats.org/officeDocument/2006/relationships/image"/><Relationship Id="rId14" Target="../media/image155.svg" Type="http://schemas.openxmlformats.org/officeDocument/2006/relationships/image"/><Relationship Id="rId15" Target="../media/image156.png" Type="http://schemas.openxmlformats.org/officeDocument/2006/relationships/image"/><Relationship Id="rId16" Target="../media/image157.svg" Type="http://schemas.openxmlformats.org/officeDocument/2006/relationships/image"/><Relationship Id="rId17" Target="../notesSlides/notesSlide26.xml" Type="http://schemas.openxmlformats.org/officeDocument/2006/relationships/notesSlide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148.png" Type="http://schemas.openxmlformats.org/officeDocument/2006/relationships/image"/><Relationship Id="rId6" Target="../media/image149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3.svg" Type="http://schemas.openxmlformats.org/officeDocument/2006/relationships/image"/><Relationship Id="rId11" Target="../notesSlides/notesSlide27.xml" Type="http://schemas.openxmlformats.org/officeDocument/2006/relationships/notesSlide"/><Relationship Id="rId2" Target="../media/image2.jpeg" Type="http://schemas.openxmlformats.org/officeDocument/2006/relationships/image"/><Relationship Id="rId3" Target="../media/image158.png" Type="http://schemas.openxmlformats.org/officeDocument/2006/relationships/image"/><Relationship Id="rId4" Target="../media/image159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160.png" Type="http://schemas.openxmlformats.org/officeDocument/2006/relationships/image"/><Relationship Id="rId8" Target="../media/image161.svg" Type="http://schemas.openxmlformats.org/officeDocument/2006/relationships/image"/><Relationship Id="rId9" Target="../media/image16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64.png" Type="http://schemas.openxmlformats.org/officeDocument/2006/relationships/image"/><Relationship Id="rId4" Target="../media/image165.svg" Type="http://schemas.openxmlformats.org/officeDocument/2006/relationships/image"/><Relationship Id="rId5" Target="../media/image166.png" Type="http://schemas.openxmlformats.org/officeDocument/2006/relationships/image"/><Relationship Id="rId6" Target="../media/image167.svg" Type="http://schemas.openxmlformats.org/officeDocument/2006/relationships/image"/><Relationship Id="rId7" Target="../media/image168.png" Type="http://schemas.openxmlformats.org/officeDocument/2006/relationships/image"/><Relationship Id="rId8" Target="../media/image169.svg" Type="http://schemas.openxmlformats.org/officeDocument/2006/relationships/image"/><Relationship Id="rId9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70.png" Type="http://schemas.openxmlformats.org/officeDocument/2006/relationships/image"/><Relationship Id="rId4" Target="../media/image171.svg" Type="http://schemas.openxmlformats.org/officeDocument/2006/relationships/image"/><Relationship Id="rId5" Target="../media/image172.png" Type="http://schemas.openxmlformats.org/officeDocument/2006/relationships/image"/><Relationship Id="rId6" Target="../media/image173.svg" Type="http://schemas.openxmlformats.org/officeDocument/2006/relationships/image"/><Relationship Id="rId7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7.svg" Type="http://schemas.openxmlformats.org/officeDocument/2006/relationships/image"/><Relationship Id="rId11" Target="../media/image178.png" Type="http://schemas.openxmlformats.org/officeDocument/2006/relationships/image"/><Relationship Id="rId12" Target="../media/image179.svg" Type="http://schemas.openxmlformats.org/officeDocument/2006/relationships/image"/><Relationship Id="rId13" Target="../notesSlides/notesSlide31.xml" Type="http://schemas.openxmlformats.org/officeDocument/2006/relationships/notesSlide"/><Relationship Id="rId2" Target="../media/image1.jpeg" Type="http://schemas.openxmlformats.org/officeDocument/2006/relationships/image"/><Relationship Id="rId3" Target="../media/image174.png" Type="http://schemas.openxmlformats.org/officeDocument/2006/relationships/image"/><Relationship Id="rId4" Target="../media/image175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7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80.png" Type="http://schemas.openxmlformats.org/officeDocument/2006/relationships/image"/><Relationship Id="rId4" Target="../media/image181.svg" Type="http://schemas.openxmlformats.org/officeDocument/2006/relationships/image"/><Relationship Id="rId5" Target="../media/image182.png" Type="http://schemas.openxmlformats.org/officeDocument/2006/relationships/image"/><Relationship Id="rId6" Target="../media/image183.svg" Type="http://schemas.openxmlformats.org/officeDocument/2006/relationships/image"/><Relationship Id="rId7" Target="../notesSlides/notesSlide32.xml" Type="http://schemas.openxmlformats.org/officeDocument/2006/relationships/notesSlide"/><Relationship Id="rId8" Target="../media/image1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AI能做什么？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写代码、写文章、做决策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第4课 / 共6课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160000" cy="462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63500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🧪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对比实验：有/无约束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🍔 模块4.1-4.2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Skill = 麦当劳SOP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🏗️ 模块4.3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AI写代码 = 建房子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中场休息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模块4.4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AI写文章的流程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🔑 模块4.5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"约束即自由"原则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🧪 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为AI写SOP对比效果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练习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设计AI客服Skill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核心回顾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🧪 课前实验（现在就做！）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第1次尝试（无约束）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</a:t>
            </a: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"写一篇关于AI的文章"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特点：指令模糊，缺乏场景和受众定义，结果往往泛泛而谈。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第2次尝试（有约束）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4765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</a:t>
            </a: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"扮演资深科技记者，为白领写一篇1000字幽默文章，主题'AI能做什么不能做什么'，需含3个生活案例"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57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143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思考：对比两次生成的结果，哪一个更符合你的预期？差异在哪里？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❓ 为什么第二次更好？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838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约束维度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🎭 角色设定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资深科技记者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👥 目标受众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不懂技术的白领人群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🎨 写作风格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轻松幽默，易于理解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📏 字数限制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1000 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📋 内容结构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包含至少 3 个生活案例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431800" cy="431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5397500"/>
            <a:ext cx="9601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结论：每一条约束都在帮AI做决策，减少“自由发挥”，从而让结果更符合预期。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🍔 两种餐厅的故事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餐厅 A：大厨发挥制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41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菜单写“时令创意菜”，无固定标准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086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质量看心情：心情好惊艳，差则平庸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53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结果：产出不稳定，难以规模化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餐厅 B：麦当劳标准制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2667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641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严格SOP：牛肉煎制时长、酱料克重精确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604000" y="3111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3086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全球37,000家店，口味高度一致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604000" y="3556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353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结果：稳定、高效、可大规模复制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1016000" y="5715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5651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结论：对于需要每天、稳定、大量产出的场景，SOP 是唯一选择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有SOP vs 无SOP的AI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685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写文章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57030" flipH="false" flipV="false">
            <a:off x="2667000" y="2343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290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810000" y="1930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无SOP：长短风格不可控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2260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输出质量参差不齐，难以统一格式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1968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1930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有SOP：按规定结构来写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493000" y="2260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严格遵循既定框架，风格规范统一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238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556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写代码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57030" flipH="false" flipV="false">
            <a:off x="2667000" y="3930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29000" y="3556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3810000" y="35179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无SOP：有时规范有时乱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10000" y="38481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缺乏统一标准，维护成本高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3556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493000" y="35179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有SOP：有注释有测试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93000" y="38481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代码规范清晰，附带单元测试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51435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回答客户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357030" flipH="false" flipV="false">
            <a:off x="2667000" y="5518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29000" y="51435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3810000" y="5105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无SOP：有时胡说八道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810000" y="5435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容易产生幻觉，输出不可信内容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51435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493000" y="5105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有SOP：按话术不乱承诺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493000" y="5435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严格遵守话术规范，避免风险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核心洞察：约束即自由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2857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麦当劳的秘密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110" flipH="false" flipV="false">
            <a:off x="1143009" y="342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143000" y="36195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成功的关键不在于厨师的技艺有多高超，而在于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SOP (标准作业程序) 写得好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159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604000" y="2857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时代的启示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0110" flipH="false" flipV="false">
            <a:off x="6604009" y="342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04000" y="36195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约束不是限制，而是帮助。明确的指令能带来更精准的结果。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这就是“约束即自由”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= AI的标准操作手册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丰富的技能储备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拥有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70+</a:t>
            </a: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个 Skill，覆盖从写代码、做交易到写文章的全方位能力。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标准化操作手册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3175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Skill 本质上就是一本针对特定任务的</a:t>
            </a: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SOP（标准作业程序）</a:t>
            </a: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，确保执行的稳定性与高效性。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企业级知识库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175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就像一家成熟的公司拥有70多本不同场景的操作手册，Skill 赋予了 AI 解决复杂问题的专业能力。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Skill的六要素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何时使用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当顾客点巨无霸时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815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435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② 需要什么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牛肉饼、面包、酱料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7630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交付什么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一个完整的汉堡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374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④ 具体步骤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91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第1步取面包、第2步…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815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3746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43500" y="374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⑤ 参考案例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35500" y="4191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标准成品图片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010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55000" y="3746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763000" y="374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⑥ 注意事项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55000" y="4191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肉饼不能煎超过X分钟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6388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524000" y="56134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结论：这和你给新员工写的培训手册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一模一样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六要素：麦当劳 vs AI编程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524000"/>
          <a:ext cx="10668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572000"/>
                <a:gridCol w="457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🍔 麦当劳 SOP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💻 AI 编程 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A745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① 何时用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点了巨无霸时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用户要求写代码时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② 需要什么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肉饼 + 面包 + 酱料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 + 技术栈 + 参考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③ 交付什么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完整汉堡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 + 文档 + 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④ 步骤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取面包 → 放肉 → ...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 → 设计 → 编码 → ...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⑤ 案例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成品图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代码规范示例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⑥ 注意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不能煎过头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不要硬编码密码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🏗️ AI是怎么写代码的？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320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误区：以为是“一键生成”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79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768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用户说：“帮我写个网站”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27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AI回复：一大堆代码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784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完事，非常简单。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20320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真相：像“建房子”一样严谨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2794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7686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AI写代码并非一蹴而就，而是遵循一套严谨的工程化流程，从需求分析到架构设计，再到编码实现和测试。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93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👇 接下来让我们揭秘这个流程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AI写代码 = 建房子六步流程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分析需求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了解业主需求，明确用户到底要什么，确定核心功能。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② 设计架构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规划代码结构，确定文件划分与模块配合方式。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82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选择技能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选择合适的编程语言和工具，加载必要的技能插件。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016000" y="488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④ 生成代码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27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按标准作业程序(SOP)自动生成高质量代码。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419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699000" y="488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⑤ 自动验证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99000" y="527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自动运行测试，检查代码是否能正常运行及潜在Bug。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419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4445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382000" y="488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⑥ 迭代优化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527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根据反馈修补问题，持续迭代直到达到合格标准。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真实案例：AI做“用户管理系统”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分析需求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拆解核心功能：注册、登录、信息查看与修改，并强调安全性要求。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07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② 设计架构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规划文件结构：main入口、models数据模型、auth认证、crud操作及路由模块。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加载技能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自动加载 coding-agent 编程技能包，准备进入代码生成阶段。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937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127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④ 编写代码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57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从底层逻辑到上层接口逐步生成，如同从地基到装修的完整建造过程。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937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127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07000" y="4127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⑤ 检查验证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457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进行全面的语法检查、逻辑漏洞扫描及安全风险评估。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93700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4127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90000" y="4127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⑥ 修复交付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457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针对检查出的问题进行自动修复，并重新验证，确保高质量交付。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AI 代码生成：从灵感闪现到工程严谨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1778000"/>
            <a:ext cx="431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78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2286000" y="20066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流程化工作模式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476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AI写代码不是“一口气写出来”，而是经历完整的六步流程，每一步都有标准和检查。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778000"/>
            <a:ext cx="431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20066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Skill 系统赋能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476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Skill系统让AI像工程师一样，有章法地工作，拒绝依赖不可控的灵感发挥。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4191000"/>
            <a:ext cx="9144000" cy="1270000"/>
          </a:xfrm>
          <a:prstGeom prst="roundRect">
            <a:avLst>
              <a:gd name="adj" fmla="val 100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778000" y="4508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413000" y="4381500"/>
            <a:ext cx="800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核心总结：AI 写代码是严谨的工程行为，而非随机的灵感创作。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8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667000" y="19812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休息回来，我们看看——AI写文章是不是也有类似的流程？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286000" y="2667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667000" y="26162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剧透：是的！而且更有趣……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AI写文章 = 五个阶段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03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73200" y="2032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730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阶段1：需求分析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11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写什么？给谁看？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443" flipH="false" flipV="false">
            <a:off x="952524" y="3549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明确主题、长度、风格及受众群体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1778000"/>
            <a:ext cx="203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95700" y="203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11500" y="2730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阶段2：大纲生成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11500" y="311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先画骨架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26443" flipH="false" flipV="false">
            <a:off x="3175024" y="3549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1115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确定文章整体结构和章节划分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07000" y="1778000"/>
            <a:ext cx="203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918200" y="20320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334000" y="2730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阶段3：逐章填充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334000" y="311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填肉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26443" flipH="false" flipV="false">
            <a:off x="5397524" y="3549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53340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每章涵盖背景、设计、实现、效果与教训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29500" y="1778000"/>
            <a:ext cx="203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40700" y="2032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556500" y="2730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阶段4：验证核查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556500" y="311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查错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26443" flipH="false" flipV="false">
            <a:off x="7620024" y="3549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75565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检查代码语法、数字准确性及逻辑连贯性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652000" y="1778000"/>
            <a:ext cx="2032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363200" y="2032000"/>
            <a:ext cx="609600" cy="609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779000" y="2730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阶段5：格式优化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779000" y="3111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排版美化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26443" flipH="false" flipV="false">
            <a:off x="9842524" y="3549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97790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统一格式、代码高亮及表格对齐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有趣的事实 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课程基石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2794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那篇3万字的《从ClawBot到OpenClaw》，正是用这套AI写作流程辅助完成的。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有趣的“套娃”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3175000"/>
            <a:ext cx="2794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写作系统用自己的流程来写关于写作系统的文章，形成了一种有趣的自我指涉闭环。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175000"/>
            <a:ext cx="2794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创作的关键在于循序渐进：先确保方向正确，再打磨内容质量，最后优化呈现形式。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“约束即自由”——生活中的例子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交通规则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看似限制了驾驶自由，实际上让道路更通畅，事故更少。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论文格式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317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看似限制了表达自由，实际上让读者能快速找到关键信息。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麦当劳SOP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17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看似限制了创造力，实际上实现了全球口味的一致稳定。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270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结论：规则 → 不是束缚 → 是质量保障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让AI更好用的三个约束原则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原则1：明确角色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26416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"帮我写邮件"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2766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"你是HR经理，写面试邀请邮件"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原则2：定义标准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667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016500" y="26416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"帮我写个好的"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3302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016500" y="32766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"段落≤5行，通俗易懂，每个论点配例子"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90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原则3：提供示例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2667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699500" y="26416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"帮我写客服回复"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33020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699500" y="32766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"参考范例：'尊敬的XX，感谢反馈…'"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三原则 = Skill系统在做的事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32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原则1：明确角色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对应 Skill 要素：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① 何时使用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2032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原则2：定义标准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66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对应 Skill 要素：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③ 交付什么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⑥ 注意事项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2032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原则3：提供示例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66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对应 Skill 要素：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⑤ 参考案例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8F5E9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848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5270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Skill系统本质上就是一套</a:t>
            </a: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预写好的、超级详细的Prompt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核心思维：约束即自由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651000"/>
            <a:ext cx="762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dir="2700000" dist="101600" blurRad="127000" algn="tl" rotWithShape="false">
              <a:srgbClr val="007BFF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905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“约束即自由” —— AI时代的核心思维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3810000"/>
            <a:ext cx="635000" cy="635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4572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规则越明确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输出越稳定、越可控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3810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4572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顶级产品背后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都有复杂的Skill体系支撑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355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3810000"/>
            <a:ext cx="635000" cy="635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4572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思维转变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从“放任”转向“精准引导”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Engineering = 跟AI的沟通技巧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职场沟通的类比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同样的任务，不同的人交代，结果截然不同。区别不在于执行者的能力，而在于“怎么交代”。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F7E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858000" y="187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3495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Engineering 本质上就是“怎么交代”的技术。它是一种让AI高效完成任务的方法论。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1041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165600"/>
            <a:ext cx="939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必备能力：无需编程，只需思考与表达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635500"/>
            <a:ext cx="990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 Prompt Engineering，你不需要具备专业的编程技能，你真正需要的是：</a:t>
            </a: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清晰的思考逻辑 + 准确的表达能力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📝 万能Prompt框架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41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【角色】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2159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你是一位专业的____专家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43500" y="1841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【任务】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143500" y="2159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请帮我完成____工作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26500" y="1841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【受众】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26500" y="2159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内容是给____人群看的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175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3365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【格式】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3683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用____格式输出（如列表）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175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3365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43500" y="3365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【字数】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143500" y="3683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控制在约____字以内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175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18500" y="3365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26500" y="3365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【风格】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26500" y="3683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用____风格写作（如幽默）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4699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952500" y="48895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460500" y="4889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【示例】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460500" y="5207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参考示例：____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445000" y="4699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4635500" y="4889500"/>
            <a:ext cx="406400" cy="406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5143500" y="4889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【限制】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143500" y="5207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请注意不要涉及____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28000" y="4699000"/>
            <a:ext cx="330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90000"/>
            </a:srgbClr>
          </a:solidFill>
          <a:ln w="12700" cmpd="sng" cap="flat">
            <a:solidFill>
              <a:srgbClr val="28A74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8318500" y="4889500"/>
            <a:ext cx="406400" cy="4064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8826500" y="48895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💡 专家提示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826500" y="5207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不需要每次用全部八项，选3-5个要素组合即可！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实战对比：写会议纪要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普通指令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57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指令内容：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"帮我写会议纪要"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结果特点：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格式随机，信息遗漏风险高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优化后指令 (万能框架)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540000"/>
            <a:ext cx="457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007BFF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</a:t>
            </a: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经验丰富的项目助理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7BFF"/>
              </a:buClr>
              <a:buChar char="•"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整理会议记录为纪要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7BFF"/>
              </a:buClr>
              <a:buChar char="•"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格式：</a:t>
            </a: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基本信息+讨论要点+决议表格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7BFF"/>
              </a:buClr>
              <a:buChar char="•"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风格：</a:t>
            </a: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简洁正式，每个要点≤2行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6261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588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结果对比：普通指令结果格式随机，优化后指令结果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专业规范、信息完整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🧪 体验：为AI写SOP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实验1：无SOP（普通指令）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指令内容：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"帮我写一个产品介绍"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特点：指令模糊，缺乏角色设定、受众描述及具体要求，AI生成结果不可控。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实验2：有SOP（标准化指令）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540000"/>
            <a:ext cx="457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指令内容：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"你是资深产品经理。为一款面向大学生的记账APP写产品介绍。包含：一句话定位 + 3个核心功能 + 用户评价。300字以内。轻松活泼风格。"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461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397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互动任务：</a:t>
            </a:r>
            <a:r>
              <a:rPr lang="en-US" b="fals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请分别输入上述两个指令，对比生成结果的差异。体验时间：15分钟。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练习：设计“AI客服退款处理”Skill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角色设定：你是电商公司的产品经理，请按 Skill 六要素完成设计。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218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① 何时使用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603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当用户明确要求退款时触发，例如检测到“退款”、“退货”等关键词。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032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22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953000" y="218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② 需要什么信息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603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必须获取订单号、退款原因；可选获取商品图片、购买时间等信息。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032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22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72500" y="218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③ 交付什么结果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603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明确的退款决定（通过/拒绝），以及标准化的回复话术和后续指引。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735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064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025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④ 具体执行步骤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445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识别意图；2. 询问信息；3. 核对订单；4. 给出方案；5. 确认执行。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38735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4064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53000" y="4025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⑤ 参考话术案例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0" y="4445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“您好，已收到您的退款申请。请提供订单号，我将为您快速处理。”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38735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4064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572500" y="4025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⑥ 禁忌与注意事项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4445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严禁未经核实直接同意大额退款；严禁泄露用户隐私；情绪安抚优先。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715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952500" y="58166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333500" y="57785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⏰ 小组讨论：20分钟 → 每组派代表展示设计成果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注意事项参考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AI客服绝对不能做的事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2565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承诺超过 $50 的退款（权限上限）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073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透露公司内部未公开信息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581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向用户发送主观个人观点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4089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在用户辱骂时进行回骂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必须转接人工客服的情况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603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2565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退款金额 &gt; $50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111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073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用户要求投诉到上级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619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21500" y="3581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涉及复杂的法律问题咨询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1275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21500" y="4089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AI连续3次无法解决用户问题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9906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4572000"/>
                <a:gridCol w="457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序号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AI需要SOP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麦当劳标准化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Skill六要素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员工操作手册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AI写代码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建房子六步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AI写文章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作家写书五阶段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约束即自由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交通规则让路通畅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Prompt框架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给下属布置任务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本课金句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2286000"/>
          </a:xfrm>
          <a:prstGeom prst="roundRect">
            <a:avLst>
              <a:gd name="adj" fmla="val 5555"/>
            </a:avLst>
          </a:prstGeom>
          <a:solidFill>
            <a:srgbClr val="EBF8FF">
              <a:alpha val="60000"/>
            </a:srgbClr>
          </a:solidFill>
          <a:ln w="254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约束即自由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规则越明确，AI越好用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5371" flipH="false" flipV="false">
            <a:off x="2032005" y="41846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24000" y="457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457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无需编程技能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你不需要是程序员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457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334000" y="457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掌握Prompt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清晰沟通是关键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28000" y="457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36000" y="457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成为AI指挥官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让AI成为得力助手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思考题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95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095500"/>
            <a:ext cx="825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476500"/>
            <a:ext cx="825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“约束即自由”这个原则在你的工作中有哪些体现？请结合具体案例进行分析。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381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4381500"/>
            <a:ext cx="825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场景回顾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4762500"/>
            <a:ext cx="825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💬 你有没有遇到过：“给了太多自由反而做不好”的情况？当时的约束条件是什么？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本课知识卡片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Skill = AI操作手册(SOP)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六要素：何时/需要/交付/步骤/案例/注意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AI写代码 = 建房子六步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流程：需求→架构→选技能→施工→验收→修补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349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AI写文章 = 作家五步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流程：需求→大纲→填充→验证→优化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5270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016000" y="4889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约束三原则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2705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原则：明确角色 / 定义标准 / 提供示例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159500" y="4191000"/>
            <a:ext cx="5270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13500" y="44450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413500" y="4889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核心思想：约束即自由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13500" y="52705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理念：规则越明确，AI越好用，产出质量越高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📢 下一课预告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905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思考时刻：AI的风险与责任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349500"/>
            <a:ext cx="914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AI能做的事越来越多了，写代码、写文章、甚至做交易，但如果AI犯了错怎么办？特别是在</a:t>
            </a: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涉及钱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的场景里？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4064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课程预告：AI的安全边界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4508500"/>
            <a:ext cx="914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第5课：AI的安全边界：从量化交易看风险管理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深入探讨AI在金融领域的应用边界与风险控制策略。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