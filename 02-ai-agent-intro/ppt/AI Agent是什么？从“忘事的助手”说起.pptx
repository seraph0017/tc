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notesSlides/notesSlide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2.xml" Type="http://schemas.openxmlformats.org/officeDocument/2006/relationships/notesSlide"/><Relationship Id="rId41" Target="notesSlides/notesSlide3.xml" Type="http://schemas.openxmlformats.org/officeDocument/2006/relationships/notesSlide"/><Relationship Id="rId42" Target="notesSlides/notesSlide4.xml" Type="http://schemas.openxmlformats.org/officeDocument/2006/relationships/notesSlide"/><Relationship Id="rId43" Target="notesSlides/notesSlide5.xml" Type="http://schemas.openxmlformats.org/officeDocument/2006/relationships/notesSlide"/><Relationship Id="rId44" Target="notesSlides/notesSlide6.xml" Type="http://schemas.openxmlformats.org/officeDocument/2006/relationships/notesSlide"/><Relationship Id="rId45" Target="notesSlides/notesSlide7.xml" Type="http://schemas.openxmlformats.org/officeDocument/2006/relationships/notesSlide"/><Relationship Id="rId46" Target="notesSlides/notesSlide8.xml" Type="http://schemas.openxmlformats.org/officeDocument/2006/relationships/notesSlide"/><Relationship Id="rId47" Target="notesSlides/notesSlide9.xml" Type="http://schemas.openxmlformats.org/officeDocument/2006/relationships/notesSlide"/><Relationship Id="rId48" Target="notesSlides/notesSlide10.xml" Type="http://schemas.openxmlformats.org/officeDocument/2006/relationships/notesSlide"/><Relationship Id="rId49" Target="notesSlides/notesSlide11.xml" Type="http://schemas.openxmlformats.org/officeDocument/2006/relationships/notesSlide"/><Relationship Id="rId50" Target="notesSlides/notesSlide12.xml" Type="http://schemas.openxmlformats.org/officeDocument/2006/relationships/notesSlide"/><Relationship Id="rId51" Target="notesSlides/notesSlide13.xml" Type="http://schemas.openxmlformats.org/officeDocument/2006/relationships/notesSlide"/><Relationship Id="rId52" Target="notesSlides/notesSlide14.xml" Type="http://schemas.openxmlformats.org/officeDocument/2006/relationships/notesSlide"/><Relationship Id="rId53" Target="notesSlides/notesSlide15.xml" Type="http://schemas.openxmlformats.org/officeDocument/2006/relationships/notesSlide"/><Relationship Id="rId54" Target="notesSlides/notesSlide16.xml" Type="http://schemas.openxmlformats.org/officeDocument/2006/relationships/notesSlide"/><Relationship Id="rId55" Target="notesSlides/notesSlide17.xml" Type="http://schemas.openxmlformats.org/officeDocument/2006/relationships/notesSlide"/><Relationship Id="rId56" Target="notesSlides/notesSlide18.xml" Type="http://schemas.openxmlformats.org/officeDocument/2006/relationships/notesSlide"/><Relationship Id="rId57" Target="notesSlides/notesSlide19.xml" Type="http://schemas.openxmlformats.org/officeDocument/2006/relationships/notesSlide"/><Relationship Id="rId58" Target="notesSlides/notesSlide20.xml" Type="http://schemas.openxmlformats.org/officeDocument/2006/relationships/notesSlide"/><Relationship Id="rId59" Target="notesSlides/notesSlide21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22.xml" Type="http://schemas.openxmlformats.org/officeDocument/2006/relationships/notesSlide"/><Relationship Id="rId61" Target="notesSlides/notesSlide23.xml" Type="http://schemas.openxmlformats.org/officeDocument/2006/relationships/notesSlide"/><Relationship Id="rId62" Target="notesSlides/notesSlide24.xml" Type="http://schemas.openxmlformats.org/officeDocument/2006/relationships/notesSlide"/><Relationship Id="rId63" Target="notesSlides/notesSlide25.xml" Type="http://schemas.openxmlformats.org/officeDocument/2006/relationships/notesSlide"/><Relationship Id="rId64" Target="notesSlides/notesSlide26.xml" Type="http://schemas.openxmlformats.org/officeDocument/2006/relationships/notesSlide"/><Relationship Id="rId65" Target="notesSlides/notesSlide27.xml" Type="http://schemas.openxmlformats.org/officeDocument/2006/relationships/notesSlide"/><Relationship Id="rId66" Target="notesSlides/notesSlide28.xml" Type="http://schemas.openxmlformats.org/officeDocument/2006/relationships/notesSlide"/><Relationship Id="rId67" Target="notesSlides/notesSlide29.xml" Type="http://schemas.openxmlformats.org/officeDocument/2006/relationships/notesSlide"/><Relationship Id="rId68" Target="notesSlides/notesSlide30.xml" Type="http://schemas.openxmlformats.org/officeDocument/2006/relationships/notesSlide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大家好，欢迎来到“读懂AI Agent”通识课的第一课。今天，我们将从一个大家可能都遇到过的问题——“AI忘事”——开始，一起探讨究竟什么是AI Agent，它和我们平时使用的聊天机器人又有什么本质区别。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这是我们今天的课程大纲。我们会从一个小实验开始，然后深入对比聊天机器人和AI Agent，接着通过一个实际的代码案例来理解记忆的重要性，在休息之后，我们会详细讲解AI的四层记忆架构和语义搜索技术，最后通过一个练习来巩固所学，并进行总结。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正式开始之前，我们先来做一个小实验。请大家拿出手机，对你的语音助手说“记住我明天3点开会”。然后，我们可以思考一下，明天当你再问它同样的问题时，它能准确回答吗？大家是否有过类似的，感觉AI“忘事”了的经历？可以在评论区分享一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不仅是语音助手，我们常用的ChatGPT也是如此。如果你昨天和它聊了很久，今天开启一个新的对话，它就像完全不认识你一样，不记得昨天的任何内容。这背后的原因是什么呢？这正是我们今天要探讨的核心问题之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要理解这个问题，我们可以把两种AI助手比作两种不同的人类角色。一种是电话客服，他只按照固定的脚本回答问题，不会记住你是谁；另一种则是私人秘书，他有自己的笔记本，会记住你的习惯和偏好，甚至能理解你口中“那个方案”具体指的是什么。这就是聊天机器人和AI Agent最本质的区别。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我们可以更清晰地看到，在记忆、理解、工具使用和自主判断这四个核心能力上，聊天机器人和AI Agent有着天壤之别。一个是被动执行脚本的工具，另一个则是能主动思考、记住你的智能助手。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所以，请记住这个核心的类比：聊天机器人就像电话客服，而AI Agent则更像我们的私人秘书。这个区别是理解AI Agent的关键。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那么，一个合格的AI Agent需要具备哪三个核心能力呢？就是记住、理解和行动。它需要记住你的偏好，能够真正理解你的意图，并且能够调用工具帮你完成任务。这三者结合，才构成了一个完整的AI Agent。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让大家更直观地理解，我们来看一个真实的例子——ClawBot。它的最初版本非常简单，只做三件事：接收消息、调用GPT-4、保存对话。但就是这样一个简单的起点，后来发展成了拥有8个AI“员工”、70多项技能的OpenClaw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那么问题来了，ClawBot最初是怎么“记东西”的？它的这种记忆方式，又存在着什么样的致命缺陷呢？接下来，我们将通过一段简单的代码来一探究竟。大家不用害怕代码，我会逐行给出“大白话”翻译。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这就是ClawBot v1的核心代码。它的工作流程很清晰：用一个文件存储对话，开机时加载，找到用户的历史记录，然后调用GPT-4生成回复。但是，请注意最后一行代码，这里有一个关键的操作：history[-20:]，它的意思是“只保留最近的20轮对话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行代码就是问题的关键。它意味着，无论你之前和AI聊了多少内容，它永远只记得最近的20轮对话，更早的内容会被无情地删除。这就好比你的秘书只有一个20页的笔记本，一旦写满，就必须撕掉前面的内容才能继续记录。这样的秘书，你能接受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“20页便签本”式的记忆方式，主要存在四个问题：第一，信息容量有限，超过20轮就会“失忆”；第二，它只存储文字，不理解语义，无法关联“key”和“密钥”这样的同义词；第三，所有信息都杂乱地混在一起，没有分类；第四，它无法区分信息的重要性，把闲聊和密码等重要信息同等对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我们必须明确一个核心观点：“有对话记录”并不等于“有记忆”。对话记录只是按时间排列的流水账，而真正的记忆，是经过筛选、理解和分类的知识。就像我们的大脑不会记住每一秒的经历一样，一个好的AI记忆系统也不应该如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好了，我们先休息10分钟。在休息的时候，大家可以思考一个问题：我们人类自己的记忆，是不是也可以分成不同的层次呢？休息回来，我们就来看看，一个真正好的AI记忆系统，应该是什么样子的。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休息结束，我们回到刚才的问题。我们的记忆确实是分层次的：有我们正在思考的即时信息，有今天发生的短期事件，有人生中的重要经历，还有我们通过学习获得的长期知识。一个好的AI记忆系统，正是借鉴了人类记忆的这种分层结构来设计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具体来说，AI的记忆系统分为四层：最上层是工作记忆，对应我们正在想的事，只保留当前对话；第二层是短期记忆，对应今天发生的事，保存当天的记录；第三层是长期记忆，对应人生重要经历，永久保存用户的偏好和关键决策；最底层是知识库，对应我们学到的知识，是所有AI共享的领域知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具体来说，不同的信息应该放在哪一层呢？比如，查天气这种临时需求，就放在工作记忆里；今天开会这种日常事件，放在短期记忆；而像过敏史这样的重要个人信息，就必须放在长期记忆里永久保存；像报销流程这样的通用规则，则属于知识库。通过分层，AI就能知道去哪里找信息，而不是在所有记录里大海捞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分层设计带来了三个主要好处：第一，能够做到该记的记住，该忘的忘掉，合理分配资源；第二，查找信息的速度更快，就像找菜谱去厨房，而不是去翻日记本；第三，不同类型的信息互不干扰，个人隐私和日常事务可以分开管理。其核心思想就是：不是所有信息都同等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所以，我们可以再次类比：一个好的AI记忆系统，就像一个有条理的秘书。他知道什么事情该随手记在便签纸上，什么事情该写进工作日志，而什么重要的信息，则需要郑重地写入永久档案。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有了分层的记忆，我们如何高效地从中找到信息呢？这里涉及到两种搜索方式。一种是关键词搜索，就像只看书名找书，非常死板，很容易漏掉相关的内容。另一种是语义搜索，就像向图书馆管理员描述你的需求，他能理解你的真实意图，从而找到更多相关的书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语义搜索的实现，依赖于一种叫做“向量数据库”的技术。我们可以把它想象成一张“含义地图”，在这张地图上，意思相近的词会被放在靠近的位置。比如“开心”、“高兴”、“快乐”会聚集在一起，而“悲伤”则会离它们很远。当AI进行搜索时，它会把你的问题也转换成地图上的一个点，然后找到离这个点最近的内容，这样就能找到意思相近的信息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几个实战例子。当你问“我的交易账户”时，记忆里存的是“币安账户”，关键词搜索会失败，但语义搜索能理解它们是同一个东西。同样，问“上次那个方案”或“密码多少”，语义搜索都能成功匹配到记忆中的相关内容，而关键词搜索则无能为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分层和语义搜索，AI记忆还有一个重要机制叫做“记忆收敛”。这就像我们写年终总结的过程：我们不会把全年的日记都交上去，而是会从中筛选出重要的事件，忽略掉琐碎的日常，最终整理成一份简洁的总结。AI也会在每天凌晨自动进行这个过程，从当天的海量对话中，提取出重要信息写入长期记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AI是如何判断哪些信息重要呢？它会根据信息的类型来打分：用户的关键偏好、重要决策、项目里程碑，这些是非常重要的，会被写入长期记忆；而一般的讨论或者“几点了”这样的琐碎问题，则会被忽略。这再次印证了我们的观点：好的记忆不是记住一切，而是记住对的东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学习完了，我们来做一个小练习。假设我们要设计一个“AI健身教练”，请大家思考一下，屏幕上这六条信息，分别应该被存放在哪一层记忆中呢？给大家15分钟的讨论时间，之后我们请小组代表来分享一下你们的设计思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再回到ClawBot的故事。从最初只有20行代码、只能记住20轮对话的简单程序，到引入了四层记忆和语义搜索，再到后来发展出多Agent架构，最终成长为拥有5万行代码的OpenClaw完整系统。这个演进过程，清晰地展示了记忆系统对于AI Agent的重要性。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程的最后，我们来回顾一下今天的核心知识点。我们学习了Agent和聊天机器人的区别，理解了早期记忆方式的缺陷，掌握了AI的四层记忆架构，了解了语义搜索的原理，以及记忆收敛的重要性。希望这些内容能帮助大家更好地理解AI Agent。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最后，请大家记住本课的核心金句：“记忆是AI Agent的灵魂”。没有记忆的AI只是一个被动的工具，而拥有了良好记忆系统的AI，才能真正成为我们的智能助手。再次强调，一个完整的AI Agent，等于记住、理解和行动这三者的结合。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AI拥有了记忆之后，是不是一个“超强大脑”就足够了呢？答案是否定的。就像医院里需要不同科室的医生来处理不同的病症一样，一个单一的AI模型也无法完成所有任务。在下一课中，我们将探讨AI的“工具箱”，看看一个完整的AI系统是如何通过分工协作来完成复杂任务的。感谢大家的参与，我们下次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13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25.jpe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jpe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9.jpeg" Type="http://schemas.openxmlformats.org/officeDocument/2006/relationships/image"/><Relationship Id="rId4" Target="../media/image40.jpeg" Type="http://schemas.openxmlformats.org/officeDocument/2006/relationships/image"/><Relationship Id="rId5" Target="../media/image41.jpeg" Type="http://schemas.openxmlformats.org/officeDocument/2006/relationships/image"/><Relationship Id="rId6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9.svg" Type="http://schemas.openxmlformats.org/officeDocument/2006/relationships/image"/><Relationship Id="rId11" Target="../media/image50.png" Type="http://schemas.openxmlformats.org/officeDocument/2006/relationships/image"/><Relationship Id="rId12" Target="../media/image51.svg" Type="http://schemas.openxmlformats.org/officeDocument/2006/relationships/image"/><Relationship Id="rId13" Target="../media/image52.png" Type="http://schemas.openxmlformats.org/officeDocument/2006/relationships/image"/><Relationship Id="rId14" Target="../media/image53.svg" Type="http://schemas.openxmlformats.org/officeDocument/2006/relationships/image"/><Relationship Id="rId15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58.png" Type="http://schemas.openxmlformats.org/officeDocument/2006/relationships/image"/><Relationship Id="rId8" Target="../media/image59.sv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1.svg" Type="http://schemas.openxmlformats.org/officeDocument/2006/relationships/image"/><Relationship Id="rId11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68.png" Type="http://schemas.openxmlformats.org/officeDocument/2006/relationships/image"/><Relationship Id="rId8" Target="../media/image6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2.png" Type="http://schemas.openxmlformats.org/officeDocument/2006/relationships/image"/><Relationship Id="rId4" Target="../media/image73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4.jpeg" Type="http://schemas.openxmlformats.org/officeDocument/2006/relationships/image"/><Relationship Id="rId3" Target="../media/image75.png" Type="http://schemas.openxmlformats.org/officeDocument/2006/relationships/image"/><Relationship Id="rId4" Target="../media/image76.sv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9.png" Type="http://schemas.openxmlformats.org/officeDocument/2006/relationships/image"/><Relationship Id="rId4" Target="../media/image80.svg" Type="http://schemas.openxmlformats.org/officeDocument/2006/relationships/image"/><Relationship Id="rId5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6.svg" Type="http://schemas.openxmlformats.org/officeDocument/2006/relationships/image"/><Relationship Id="rId11" Target="../media/image87.png" Type="http://schemas.openxmlformats.org/officeDocument/2006/relationships/image"/><Relationship Id="rId12" Target="../media/image88.svg" Type="http://schemas.openxmlformats.org/officeDocument/2006/relationships/image"/><Relationship Id="rId13" Target="../notesSlides/notesSlide17.xml" Type="http://schemas.openxmlformats.org/officeDocument/2006/relationships/notesSlide"/><Relationship Id="rId2" Target="../media/image2.jpe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Relationship Id="rId5" Target="../media/image81.png" Type="http://schemas.openxmlformats.org/officeDocument/2006/relationships/image"/><Relationship Id="rId6" Target="../media/image82.svg" Type="http://schemas.openxmlformats.org/officeDocument/2006/relationships/image"/><Relationship Id="rId7" Target="../media/image83.png" Type="http://schemas.openxmlformats.org/officeDocument/2006/relationships/image"/><Relationship Id="rId8" Target="../media/image84.sv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7.png" Type="http://schemas.openxmlformats.org/officeDocument/2006/relationships/image"/><Relationship Id="rId4" Target="../media/image78.svg" Type="http://schemas.openxmlformats.org/officeDocument/2006/relationships/image"/><Relationship Id="rId5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89.jpeg" Type="http://schemas.openxmlformats.org/officeDocument/2006/relationships/image"/><Relationship Id="rId4" Target="../media/image90.jpeg" Type="http://schemas.openxmlformats.org/officeDocument/2006/relationships/image"/><Relationship Id="rId5" Target="../media/image91.jpe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media/image94.png" Type="http://schemas.openxmlformats.org/officeDocument/2006/relationships/image"/><Relationship Id="rId6" Target="../media/image95.svg" Type="http://schemas.openxmlformats.org/officeDocument/2006/relationships/image"/><Relationship Id="rId7" Target="../media/image96.png" Type="http://schemas.openxmlformats.org/officeDocument/2006/relationships/image"/><Relationship Id="rId8" Target="../media/image97.svg" Type="http://schemas.openxmlformats.org/officeDocument/2006/relationships/image"/><Relationship Id="rId9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5.png" Type="http://schemas.openxmlformats.org/officeDocument/2006/relationships/image"/><Relationship Id="rId11" Target="../media/image106.svg" Type="http://schemas.openxmlformats.org/officeDocument/2006/relationships/image"/><Relationship Id="rId12" Target="../media/image107.jpeg" Type="http://schemas.openxmlformats.org/officeDocument/2006/relationships/image"/><Relationship Id="rId13" Target="../media/image108.png" Type="http://schemas.openxmlformats.org/officeDocument/2006/relationships/image"/><Relationship Id="rId14" Target="../media/image109.svg" Type="http://schemas.openxmlformats.org/officeDocument/2006/relationships/image"/><Relationship Id="rId15" Target="../media/image110.png" Type="http://schemas.openxmlformats.org/officeDocument/2006/relationships/image"/><Relationship Id="rId16" Target="../media/image111.svg" Type="http://schemas.openxmlformats.org/officeDocument/2006/relationships/image"/><Relationship Id="rId17" Target="../media/image112.png" Type="http://schemas.openxmlformats.org/officeDocument/2006/relationships/image"/><Relationship Id="rId18" Target="../media/image113.svg" Type="http://schemas.openxmlformats.org/officeDocument/2006/relationships/image"/><Relationship Id="rId19" Target="../notesSlides/notesSlide21.xml" Type="http://schemas.openxmlformats.org/officeDocument/2006/relationships/notesSlide"/><Relationship Id="rId2" Target="../media/image2.jpeg" Type="http://schemas.openxmlformats.org/officeDocument/2006/relationships/image"/><Relationship Id="rId3" Target="../media/image98.jpeg" Type="http://schemas.openxmlformats.org/officeDocument/2006/relationships/image"/><Relationship Id="rId4" Target="../media/image99.png" Type="http://schemas.openxmlformats.org/officeDocument/2006/relationships/image"/><Relationship Id="rId5" Target="../media/image100.svg" Type="http://schemas.openxmlformats.org/officeDocument/2006/relationships/image"/><Relationship Id="rId6" Target="../media/image101.png" Type="http://schemas.openxmlformats.org/officeDocument/2006/relationships/image"/><Relationship Id="rId7" Target="../media/image102.svg" Type="http://schemas.openxmlformats.org/officeDocument/2006/relationships/image"/><Relationship Id="rId8" Target="../media/image103.png" Type="http://schemas.openxmlformats.org/officeDocument/2006/relationships/image"/><Relationship Id="rId9" Target="../media/image10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8.svg" Type="http://schemas.openxmlformats.org/officeDocument/2006/relationships/image"/><Relationship Id="rId11" Target="../notesSlides/notesSlide22.xml" Type="http://schemas.openxmlformats.org/officeDocument/2006/relationships/notesSlide"/><Relationship Id="rId2" Target="../media/image2.jpeg" Type="http://schemas.openxmlformats.org/officeDocument/2006/relationships/image"/><Relationship Id="rId3" Target="../media/image114.png" Type="http://schemas.openxmlformats.org/officeDocument/2006/relationships/image"/><Relationship Id="rId4" Target="../media/image115.svg" Type="http://schemas.openxmlformats.org/officeDocument/2006/relationships/image"/><Relationship Id="rId5" Target="../media/image116.png" Type="http://schemas.openxmlformats.org/officeDocument/2006/relationships/image"/><Relationship Id="rId6" Target="../media/image117.svg" Type="http://schemas.openxmlformats.org/officeDocument/2006/relationships/image"/><Relationship Id="rId7" Target="../media/image118.png" Type="http://schemas.openxmlformats.org/officeDocument/2006/relationships/image"/><Relationship Id="rId8" Target="../media/image119.sv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20.png" Type="http://schemas.openxmlformats.org/officeDocument/2006/relationships/image"/><Relationship Id="rId4" Target="../media/image121.svg" Type="http://schemas.openxmlformats.org/officeDocument/2006/relationships/image"/><Relationship Id="rId5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9.svg" Type="http://schemas.openxmlformats.org/officeDocument/2006/relationships/image"/><Relationship Id="rId11" Target="../media/image130.png" Type="http://schemas.openxmlformats.org/officeDocument/2006/relationships/image"/><Relationship Id="rId12" Target="../media/image131.svg" Type="http://schemas.openxmlformats.org/officeDocument/2006/relationships/image"/><Relationship Id="rId13" Target="../media/image132.png" Type="http://schemas.openxmlformats.org/officeDocument/2006/relationships/image"/><Relationship Id="rId14" Target="../media/image133.svg" Type="http://schemas.openxmlformats.org/officeDocument/2006/relationships/image"/><Relationship Id="rId15" Target="../media/image134.png" Type="http://schemas.openxmlformats.org/officeDocument/2006/relationships/image"/><Relationship Id="rId16" Target="../media/image135.svg" Type="http://schemas.openxmlformats.org/officeDocument/2006/relationships/image"/><Relationship Id="rId17" Target="../notesSlides/notesSlide24.xml" Type="http://schemas.openxmlformats.org/officeDocument/2006/relationships/notesSlide"/><Relationship Id="rId2" Target="../media/image2.jpeg" Type="http://schemas.openxmlformats.org/officeDocument/2006/relationships/image"/><Relationship Id="rId3" Target="../media/image122.png" Type="http://schemas.openxmlformats.org/officeDocument/2006/relationships/image"/><Relationship Id="rId4" Target="../media/image123.svg" Type="http://schemas.openxmlformats.org/officeDocument/2006/relationships/image"/><Relationship Id="rId5" Target="../media/image124.png" Type="http://schemas.openxmlformats.org/officeDocument/2006/relationships/image"/><Relationship Id="rId6" Target="../media/image125.svg" Type="http://schemas.openxmlformats.org/officeDocument/2006/relationships/image"/><Relationship Id="rId7" Target="../media/image126.png" Type="http://schemas.openxmlformats.org/officeDocument/2006/relationships/image"/><Relationship Id="rId8" Target="../media/image127.svg" Type="http://schemas.openxmlformats.org/officeDocument/2006/relationships/image"/><Relationship Id="rId9" Target="../media/image12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7.png" Type="http://schemas.openxmlformats.org/officeDocument/2006/relationships/image"/><Relationship Id="rId4" Target="../media/image78.svg" Type="http://schemas.openxmlformats.org/officeDocument/2006/relationships/image"/><Relationship Id="rId5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36.png" Type="http://schemas.openxmlformats.org/officeDocument/2006/relationships/image"/><Relationship Id="rId4" Target="../media/image137.svg" Type="http://schemas.openxmlformats.org/officeDocument/2006/relationships/image"/><Relationship Id="rId5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3.svg" Type="http://schemas.openxmlformats.org/officeDocument/2006/relationships/image"/><Relationship Id="rId11" Target="../notesSlides/notesSlide27.xml" Type="http://schemas.openxmlformats.org/officeDocument/2006/relationships/notesSlide"/><Relationship Id="rId2" Target="../media/image2.jpe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138.png" Type="http://schemas.openxmlformats.org/officeDocument/2006/relationships/image"/><Relationship Id="rId6" Target="../media/image139.svg" Type="http://schemas.openxmlformats.org/officeDocument/2006/relationships/image"/><Relationship Id="rId7" Target="../media/image140.png" Type="http://schemas.openxmlformats.org/officeDocument/2006/relationships/image"/><Relationship Id="rId8" Target="../media/image141.svg" Type="http://schemas.openxmlformats.org/officeDocument/2006/relationships/image"/><Relationship Id="rId9" Target="../media/image14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8.png" Type="http://schemas.openxmlformats.org/officeDocument/2006/relationships/image"/><Relationship Id="rId2" Target="../media/image1.jpeg" Type="http://schemas.openxmlformats.org/officeDocument/2006/relationships/image"/><Relationship Id="rId3" Target="../media/image144.png" Type="http://schemas.openxmlformats.org/officeDocument/2006/relationships/image"/><Relationship Id="rId4" Target="../media/image145.svg" Type="http://schemas.openxmlformats.org/officeDocument/2006/relationships/image"/><Relationship Id="rId5" Target="../media/image103.png" Type="http://schemas.openxmlformats.org/officeDocument/2006/relationships/image"/><Relationship Id="rId6" Target="../media/image104.svg" Type="http://schemas.openxmlformats.org/officeDocument/2006/relationships/image"/><Relationship Id="rId7" Target="../media/image146.png" Type="http://schemas.openxmlformats.org/officeDocument/2006/relationships/image"/><Relationship Id="rId8" Target="../media/image147.svg" Type="http://schemas.openxmlformats.org/officeDocument/2006/relationships/image"/><Relationship Id="rId9" Target="../notesSlides/notesSlide3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🤖 AI Agent是什么？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921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从“忘事的助手”说起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613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D7E1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810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读懂AI Agent —— 给每个人的智能助手通识课 | 第1课 / 共6课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今天的旅程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1651000"/>
          <a:ext cx="9906000" cy="4165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6350000"/>
                <a:gridCol w="1778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环节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🔍 导入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测试你的AI助手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📖 模块1.1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聊天机器人 vs AI Agent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👀 体验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看代码猜功能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☕ 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课间休息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🧠 模块1.3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AI的四层记忆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🔎 模块1.4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语义搜索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✏️ 练习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设计记忆系统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📌 总结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核心回顾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🤔 课前小实验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9558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304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请拿出手机，尝试以下操作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766" flipH="false" flipV="false">
            <a:off x="1066809" y="2406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2667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73200" y="26416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Step 1: 设置提醒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对语音助手说：“记住我明天3点开会”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3492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73200" y="34671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Step 2: 验证记忆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明天再问它：“我几点开会？”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00800" y="19558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858000" y="19304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思考与互动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766" flipH="false" flipV="false">
            <a:off x="6400809" y="2406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00800" y="2667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807200" y="26416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经过实验，你觉得它能准确记住吗？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00800" y="3492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807200" y="34671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互动分享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你遇到过AI“忘事”的经历吗？举个例子。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🧪 ChatGPT也一样？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2032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场景再现：记忆的缺失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47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4572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昨天你和ChatGPT聊了一个长话题，今天开启新对话时：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55555"/>
              </a:buClr>
              <a:buChar char="•"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它完全不记得昨天的事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555555"/>
              </a:buClr>
              <a:buChar char="•"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无法关联上下文，像初识一样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778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2032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794500" y="2032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对话实录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549" flipH="false" flipV="false">
            <a:off x="6350009" y="247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350000" y="2730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731000" y="2692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你：我们昨天讨论的那个方案呢？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350000" y="3302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731000" y="32639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AI：抱歉，我没有之前对话的记录，请问你想讨论什么？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588000"/>
            <a:ext cx="10414000" cy="762000"/>
          </a:xfrm>
          <a:prstGeom prst="roundRect">
            <a:avLst>
              <a:gd name="adj" fmla="val 50000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7658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524000" y="5715000"/>
            <a:ext cx="939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核心问题：为什么 AI 会“失忆”？这背后的机制是什么？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两种“助手”的本质区别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286000" y="1905000"/>
            <a:ext cx="2032000" cy="2032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4064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电话客服小王 (聊天机器人)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4572000"/>
            <a:ext cx="254000" cy="254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33500" y="4546600"/>
            <a:ext cx="425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面前放着话术手册，照脚本念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9530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4927600"/>
            <a:ext cx="425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每通电话=全新陌生人，不记住你是谁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7874000" y="1905000"/>
            <a:ext cx="2032000" cy="2032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6604000" y="4064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私人秘书小李 (AI Agent)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45720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921500" y="4546600"/>
            <a:ext cx="425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有专属笔记本，记录你的习惯偏好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04000" y="49530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921500" y="4927600"/>
            <a:ext cx="425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能理解语境，知道“那个方案”具体指什么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聊天机器人 vs AI Agent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2000" y="1651000"/>
          <a:ext cx="10668000" cy="381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318000"/>
                <a:gridCol w="4318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传统聊天机器人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新一代 AI Agent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🧠 记忆能力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❌ 会话无记忆，每次都是新开始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拥有长期记忆，记住用户偏好与历史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💡 语义理解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仅识别关键词，难以理解复杂意图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深度理解上下文语义，精准把握需求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🔧 工具调用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功能预设，无法扩展外部能力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自主调用多种工具(API)，解决实际问题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🎯 自主判断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严格遵循预设脚本，缺乏灵活性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具备推理能力，能根据情况自主决策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💬 角色类比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电话客服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私人智能秘书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核心概念类比：聊天机器人 vs AI Agent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08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159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905000" y="2159000"/>
            <a:ext cx="355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聊天机器人 = 电话客服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0110" flipH="false" flipV="false">
            <a:off x="1143009" y="2914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143000" y="3175000"/>
            <a:ext cx="431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特点：照脚本念，缺乏记忆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它只能根据预设的脚本进行回答，无法记住你的身份信息或历史对话，每次交互都是独立的。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778000"/>
            <a:ext cx="508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731000" y="2159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493000" y="2159000"/>
            <a:ext cx="355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 = 私人秘书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0110" flipH="false" flipV="false">
            <a:off x="6731009" y="2914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731000" y="3175000"/>
            <a:ext cx="431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特点：具备记忆、工具与自主判断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它能记住你的习惯偏好，熟练使用各种工具，并能基于上下文进行自主判断和决策。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 的三个核心能力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207000" y="2286000"/>
            <a:ext cx="1778000" cy="1778000"/>
          </a:xfrm>
          <a:prstGeom prst="ellipse">
            <a:avLst/>
          </a:prstGeom>
          <a:solidFill>
            <a:srgbClr val="007BFF">
              <a:alpha val="10000"/>
            </a:srgbClr>
          </a:solidFill>
          <a:ln w="254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905000" y="22225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3302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记住 (Memory)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3683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记住你的偏好与历史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419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5588000" y="43815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4572000" y="546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理解 (Understanding)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5842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深度理解你的意图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9271000" y="22225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8255000" y="3302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行动 (Action)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3683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调用工具帮你完成任务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ClawBot的故事：一切的起点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2024年初，一个简单的AI助手诞生了，它的最初版本 v1 只专注于做好三件事：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95500" y="2286000"/>
            <a:ext cx="635000" cy="635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304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接收用户消息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3429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作为交互的入口，捕捉用户意图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032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78500" y="2286000"/>
            <a:ext cx="635000" cy="635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572000" y="304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调用 GPT-4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3429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核心引擎，处理逻辑并生成回复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2032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61500" y="2286000"/>
            <a:ext cx="635000" cy="635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255000" y="304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 保存对话记录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3429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数据沉淀，建立上下文记忆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092" flipH="false" flipV="false">
            <a:off x="762004" y="431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62000" y="4508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成长与蜕变：从简单的脚本到 OpenClaw 系统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62000" y="5016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270000" y="49784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8个 AI“员工”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分工协作，高效处理复杂任务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445000" y="5016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4953000" y="49784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70+ 项技能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不断扩展，覆盖多领域业务场景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128000" y="50165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636000" y="49784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5万行代码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架构演进，构建稳健的技术底座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🔍 那么问题来了……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095500"/>
            <a:ext cx="635000" cy="635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905000" y="1968500"/>
            <a:ext cx="927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ClawBot最初是怎么“记东西”的？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30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79500" y="3619500"/>
            <a:ext cx="635000" cy="635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905000" y="3492500"/>
            <a:ext cx="927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它的记忆方式，有什么致命缺陷？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826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5143500"/>
            <a:ext cx="635000" cy="635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905000" y="5016500"/>
            <a:ext cx="927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接下来我们来</a:t>
            </a: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看一段代码</a:t>
            </a: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，不用怕——每一行都有大白话翻译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看代码猜功能：ClawBot v1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1651000"/>
          <a:ext cx="10668000" cy="393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334000"/>
                <a:gridCol w="5334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核心代码片段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白话翻译与解释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self.memory_file = "memory.json"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用一个文件存对话记录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self.conversations = self._load_memory()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开机时把老对话读出来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history = self.conversations.get(user_id, [])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找到这个用户的聊天记录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response = openai.ChatCompletion.create(...)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把消息发给GPT-4，让它回复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self.conversations[user_id] = history[-20:]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5400">
                      <a:solidFill>
                        <a:srgbClr val="FD7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7E14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⚠️ 只保留最近20轮！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5400">
                      <a:solidFill>
                        <a:srgbClr val="FD7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7E14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❓ 关键一行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1841500"/>
            <a:ext cx="952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核心代码逻辑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51000" y="2222500"/>
            <a:ext cx="952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history[-20:]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302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FF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6195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3492500"/>
            <a:ext cx="952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执行结果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51000" y="3873500"/>
            <a:ext cx="952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只保留最近20轮对话，更早的内容将被</a:t>
            </a: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直接删除</a:t>
            </a: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953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5143500"/>
            <a:ext cx="952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场景类比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651000" y="5524500"/>
            <a:ext cx="952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如果你的秘书只有一个20页的笔记本，写满了就把前面的</a:t>
            </a: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撕掉</a:t>
            </a: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，你能接受吗？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"20页便签本"的四大问题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1435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412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问题1：超过20轮就"失忆"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418" flipH="false" flipV="false">
            <a:off x="1016009" y="2343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76500"/>
            <a:ext cx="463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信息容量有限，一旦超出范围，旧的重要信息就会被“撕掉”，导致遗忘。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86500" y="1651000"/>
            <a:ext cx="51435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048500" y="1879600"/>
            <a:ext cx="412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问题2：不理解"意思"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418" flipH="false" flipV="false">
            <a:off x="6540509" y="2343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540500" y="2476500"/>
            <a:ext cx="463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仅存储文字符号，无法理解语义关联。例如无法识别“key”和“密钥”是同一个意思。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64000"/>
            <a:ext cx="51435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292600"/>
            <a:ext cx="412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问题3：所有信息混在一起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418" flipH="false" flipV="false">
            <a:off x="1016009" y="4756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4889500"/>
            <a:ext cx="463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缺乏分类机制，菜谱、日记、工作笔记等不同类型的信息杂乱地堆积在同一空间。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86500" y="4064000"/>
            <a:ext cx="51435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4318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048500" y="4292600"/>
            <a:ext cx="412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问题4：不区分重要性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9418" flipH="false" flipV="false">
            <a:off x="6540509" y="4756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540500" y="4889500"/>
            <a:ext cx="463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没有优先级概念，将“今天天气不错”的闲聊与“我的密码”等关键信息同等对待。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核心观点：记忆的本质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78000" y="20955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对话记录 ≠ 记忆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921000"/>
            <a:ext cx="457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对话记录仅仅是按时间排列的流水账，缺乏筛选与提炼。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778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2032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366000" y="20955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真正的记忆：筛选与理解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549" flipH="false" flipV="false">
            <a:off x="6604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604000" y="2921000"/>
            <a:ext cx="457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记忆是经过筛选、理解和分类的知识。人脑不会原样存储每一秒的经历，AI也不应该。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7BFF">
              <a:alpha val="10000"/>
            </a:srgbClr>
          </a:solidFill>
          <a:ln cmpd="sng" cap="flat">
            <a:solidFill>
              <a:srgbClr val="006FE6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334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5270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结论：AI记忆系统应当模拟人脑机制，从数据流水账进化为结构化知识。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☕ 休息 10 分钟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1778000"/>
            <a:ext cx="965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524000" y="1968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032000" y="1968500"/>
            <a:ext cx="863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下节预告：</a:t>
            </a: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休息回来，我们看看——真正好的AI记忆系统长什么样？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3302000"/>
            <a:ext cx="965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524000" y="3492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032000" y="3492500"/>
            <a:ext cx="863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思考时刻：</a:t>
            </a: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你自己的记忆，是不是也分“层次”？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🤔 想一想：你的记忆分几层？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668000" cy="317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572000"/>
                <a:gridCol w="6096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🧠 你的记忆类型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举个例子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你正在想的事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"这页PPT在讲什么"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今天发生的事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"午饭吃了什么"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人生重要经历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"大学在哪上的"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学到的知识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"地球绕太阳转"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334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5270500"/>
            <a:ext cx="952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AI的记忆系统也是这样设计的！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AI的四层记忆 = 人的四种记忆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03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第1层：工作记忆 = 你“正在想的事”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2184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当前对话内容 · 用完就释放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857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048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0099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第2层：短期记忆 = 你“今天发生的事”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24000" y="33909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今天的对话记录 · 按天保存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064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254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216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第3层：长期记忆 = 你“人生重要经历”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24000" y="4597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用户偏好、关键决策 · 永久保存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270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461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54229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第4层：知识库 = 你“上学学到的知识”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524000" y="58039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领域知识、操作手册 · 全局共享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1651000"/>
            <a:ext cx="5080000" cy="4699000"/>
          </a:xfrm>
          <a:prstGeom prst="roundRect">
            <a:avLst>
              <a:gd name="adj" fmla="val 2702"/>
            </a:avLst>
          </a:prstGeom>
          <a:solidFill>
            <a:srgbClr val="F0F8FF">
              <a:alpha val="6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001000" y="2286000"/>
            <a:ext cx="1778000" cy="1778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604000" y="4318000"/>
            <a:ext cx="457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AI 记忆系统类比人类认知模型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从瞬时感知到永久沉淀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什么信息放哪层？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2000" y="1651000"/>
          <a:ext cx="10414000" cy="317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56000"/>
                <a:gridCol w="2540000"/>
                <a:gridCol w="4318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你说的话 (信息内容)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放哪层？ (存储位置)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为什么？ (设计逻辑)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“帮我查明天天气”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工作记忆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查完即弃，无需长期保存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“今天和A公司开了会”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短期记忆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时效性强，仅需保留近期记录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“我对花生过敏”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长期记忆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永久重要信息，需长期留存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“报销流程：填表→审批→打款”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知识库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通用规则与知识，可供随时查阅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5626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5461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核心价值：分层存储让 AI 知道去</a:t>
            </a: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哪里找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信息，避免大海捞针。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分层的三大好处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841500" y="2032000"/>
            <a:ext cx="1143000" cy="114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3302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该记记住，该忘忘掉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746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查天气=临时，过敏=永久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5524500" y="2032000"/>
            <a:ext cx="1143000" cy="114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4572000" y="3302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找得更快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3746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找菜谱去厨房，不会翻日记本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9207500" y="2032000"/>
            <a:ext cx="1143000" cy="114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8255000" y="3302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互不干扰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3746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个人偏好和今日待办分开存放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5118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5461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核心思想：不是所有信息都同等重要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核心类比：AI记忆与秘书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51000" y="1651000"/>
            <a:ext cx="889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905000" y="1841500"/>
            <a:ext cx="838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好的 AI 记忆 = 有条理的秘书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302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955800" y="3556000"/>
            <a:ext cx="914400" cy="914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4572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随手记录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便签纸式的临时记忆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3302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638800" y="3556000"/>
            <a:ext cx="914400" cy="914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572000" y="4572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过程记录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工作日志式的过程记忆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3302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321800" y="3556000"/>
            <a:ext cx="914400" cy="914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255000" y="4572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长期存储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永久档案式的深度记忆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🔍 两种搜索方式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20000" b="20000"/>
          <a:stretch>
            <a:fillRect/>
          </a:stretch>
        </p:blipFill>
        <p:spPr>
          <a:xfrm rot="0" flipH="false" flipV="false">
            <a:off x="2032000" y="1905000"/>
            <a:ext cx="25400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3556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关键词搜索：只看书名找书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4064000"/>
            <a:ext cx="254000" cy="254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33500" y="4038600"/>
            <a:ext cx="425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扫描书名：严格匹配“更快乐”三个字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4356100"/>
            <a:ext cx="425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结果：仅找到《如何更快乐地工作》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6990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33500" y="4673600"/>
            <a:ext cx="425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缺陷：漏掉《幸福的方法》、《心流》等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50165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33500" y="4991100"/>
            <a:ext cx="425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评价：死板匹配文字，缺乏灵活性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rcRect l="0" r="0" t="20000" b="20000"/>
          <a:stretch>
            <a:fillRect/>
          </a:stretch>
        </p:blipFill>
        <p:spPr>
          <a:xfrm rot="0" flipH="false" flipV="false">
            <a:off x="7620000" y="1905000"/>
            <a:ext cx="25400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6604000" y="3556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语义搜索：跟管理员描述需求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604000" y="40640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21500" y="4038600"/>
            <a:ext cx="425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理解意图：“你想变得更幸福？”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604000" y="43815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21500" y="4356100"/>
            <a:ext cx="425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结果：精准推荐《幸福的方法》、《心流》等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604000" y="46990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21500" y="4673600"/>
            <a:ext cx="425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优势：理解深层含义，联想相关内容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604000" y="50165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921500" y="4991100"/>
            <a:ext cx="425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评价：智能理解，体验更友好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向量数据库 = "含义地图"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841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核心概念：语义空间可视化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349500"/>
            <a:ext cx="4572000" cy="2540000"/>
          </a:xfrm>
          <a:prstGeom prst="roundRect">
            <a:avLst>
              <a:gd name="adj" fmla="val 0"/>
            </a:avLst>
          </a:prstGeom>
          <a:solidFill>
            <a:srgbClr val="F0F8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-10110" flipH="false" flipV="false">
            <a:off x="1143009" y="4756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6969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7" id="7"/>
          <p:cNvCxnSpPr/>
          <p:nvPr/>
        </p:nvCxnSpPr>
        <p:spPr>
          <a:xfrm rot="-5419098" flipH="false" flipV="false">
            <a:off x="0" y="3613132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6969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2032000" y="2794000"/>
            <a:ext cx="203200" cy="203200"/>
          </a:xfrm>
          <a:prstGeom prst="ellipse">
            <a:avLst/>
          </a:prstGeom>
          <a:solidFill>
            <a:srgbClr val="28A74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235200" y="2768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开心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159000" y="2921000"/>
            <a:ext cx="203200" cy="203200"/>
          </a:xfrm>
          <a:prstGeom prst="ellipse">
            <a:avLst/>
          </a:prstGeom>
          <a:solidFill>
            <a:srgbClr val="28A74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362200" y="2895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高兴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286000" y="3048000"/>
            <a:ext cx="203200" cy="203200"/>
          </a:xfrm>
          <a:prstGeom prst="ellipse">
            <a:avLst/>
          </a:prstGeom>
          <a:solidFill>
            <a:srgbClr val="28A74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489200" y="3022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快乐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5000" y="4191000"/>
            <a:ext cx="203200" cy="203200"/>
          </a:xfrm>
          <a:prstGeom prst="ellipse">
            <a:avLst/>
          </a:prstGeom>
          <a:solidFill>
            <a:srgbClr val="FD7E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48200" y="4165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悲伤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016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结论：意思相近的词在空间中坐标靠近，差异大的词距离远。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096000" y="1651000"/>
            <a:ext cx="5334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1841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 搜索工作原理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0" y="2413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858000" y="24130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1. 转换坐标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将用户的问题转化为地图上的一个坐标点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31115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858000" y="3111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2. 寻找近邻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在数据库中寻找距离该坐标点最近的内容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350000" y="38100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858000" y="38100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3. 结果匹配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意思相近就能找到，实现精准的语义搜索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350000" y="45720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47625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921500" y="47625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💡 不需要记“向量”这个词，只记住：意思相近的坐标靠在一起。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语义搜索 vs 关键词搜索：实战对比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1651000"/>
          <a:ext cx="10160000" cy="2895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3556000"/>
                <a:gridCol w="2032000"/>
                <a:gridCol w="2032000"/>
              </a:tblGrid>
              <a:tr h="609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用户提问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记忆库内容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关键词搜索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语义搜索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"我的交易账户"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"币安账户余额$500"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"上次那个方案"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"A项目合作方案v2"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"密码多少"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"API密钥: abc123"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5" id="5"/>
          <p:cNvSpPr/>
          <p:nvPr/>
        </p:nvSpPr>
        <p:spPr>
          <a:xfrm rot="0" flipH="false" flipV="false">
            <a:off x="762000" y="4826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0F8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1308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4953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语义搜索能够理解词汇间的关联，例如“交易账户”≈“币安账户”，“密码”≈“密钥”，从而实现更精准的匹配。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记忆收敛 = 日记 → 年终总结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470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0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你的年终总结过程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9549" flipH="false" flipV="false">
            <a:off x="1016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2565400"/>
            <a:ext cx="412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翻全年工作日志（几百页）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175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3136900"/>
            <a:ext cx="412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找出重要事件：升职、完成大项目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3708400"/>
            <a:ext cx="412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忽略琐事：午饭吃了什么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60500" y="4279900"/>
            <a:ext cx="412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整理成2-3页年终总结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651000"/>
            <a:ext cx="5080000" cy="4318000"/>
          </a:xfrm>
          <a:prstGeom prst="roundRect">
            <a:avLst>
              <a:gd name="adj" fmla="val 470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190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AI 记忆收敛机制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549" flipH="false" flipV="false">
            <a:off x="6604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04000" y="2603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48500" y="2565400"/>
            <a:ext cx="412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从当天海量对话中获取原始数据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604000" y="3175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048500" y="3136900"/>
            <a:ext cx="412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自动提取关键信息与核心语义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604000" y="3746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048500" y="3708400"/>
            <a:ext cx="412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写入长期记忆库，实现知识沉淀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AI判断"什么重要"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668000" cy="3365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810000"/>
                <a:gridCol w="3048000"/>
                <a:gridCol w="3810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信息类型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重要性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长期记忆？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🔴 用户关键偏好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非常重要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写入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🔴 重要决策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非常重要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写入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🟡 项目里程碑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比较重要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写入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🟢 一般讨论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不太重要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⚪ "几点了？"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不重要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334000"/>
            <a:ext cx="10668000" cy="889000"/>
          </a:xfrm>
          <a:prstGeom prst="roundRect">
            <a:avLst>
              <a:gd name="adj" fmla="val 22857"/>
            </a:avLst>
          </a:prstGeom>
          <a:solidFill>
            <a:srgbClr val="F0F8FF">
              <a:alpha val="9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524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5461000"/>
            <a:ext cx="952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结论：好的记忆不是“记住一切”，而是</a:t>
            </a: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“记住对的东西”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✏️ 练习：为"AI健身教练"设计记忆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任务：请将以下信息项分配到 AI 健身教练的四层记忆体系中（感觉记忆、短时记忆、工作记忆、长时记忆）。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10668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89000" y="2032000"/>
          <a:ext cx="10160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080000"/>
                <a:gridCol w="5080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信息描述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应归属的记忆层级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a. 用户正在做的这组动作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6969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________________________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b. 今天总共做了多少组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6969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________________________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c. 用户对乳制品过敏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6969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________________________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d. 标准深蹲的正确姿势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6969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________________________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e. 上月体重从75→72kg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6969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________________________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f. 用户说"膝盖有点疼"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96969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________________________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762000" y="5207000"/>
            <a:ext cx="10668000" cy="762000"/>
          </a:xfrm>
          <a:prstGeom prst="roundRect">
            <a:avLst>
              <a:gd name="adj" fmla="val 26666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3975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5359400"/>
            <a:ext cx="965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讨论环节：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请分组讨论 15 分钟，随后各组派代表展示你们的设计思路。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OpenClaw演进时间线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202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2024年初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55800"/>
            <a:ext cx="152400" cy="152400"/>
          </a:xfrm>
          <a:prstGeom prst="ellipse">
            <a:avLst/>
          </a:prstGeom>
          <a:solidFill>
            <a:srgbClr val="007BFF">
              <a:alpha val="100000"/>
            </a:srgbClr>
          </a:solidFill>
          <a:ln cmpd="sng" cap="flat">
            <a:solidFill>
              <a:srgbClr val="006F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86000"/>
            <a:ext cx="2413000" cy="3048000"/>
          </a:xfrm>
          <a:prstGeom prst="roundRect">
            <a:avLst>
              <a:gd name="adj" fmla="val 526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540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16000" y="3048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ClawBot v1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429000"/>
            <a:ext cx="1905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仅20行代码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只能记住20轮对话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05200" y="1524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2024年中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505200" y="1955800"/>
            <a:ext cx="152400" cy="152400"/>
          </a:xfrm>
          <a:prstGeom prst="ellipse">
            <a:avLst/>
          </a:prstGeom>
          <a:solidFill>
            <a:srgbClr val="28A745">
              <a:alpha val="100000"/>
            </a:srgbClr>
          </a:solidFill>
          <a:ln cmpd="sng" cap="flat">
            <a:solidFill>
              <a:srgbClr val="148D3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05200" y="2286000"/>
            <a:ext cx="2413000" cy="3048000"/>
          </a:xfrm>
          <a:prstGeom prst="roundRect">
            <a:avLst>
              <a:gd name="adj" fmla="val 526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759200" y="2540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3759200" y="3048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记忆分层系统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759200" y="3429000"/>
            <a:ext cx="1905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四层记忆架构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引入语义搜索能力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48400" y="1524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2024年底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48400" y="1955800"/>
            <a:ext cx="152400" cy="152400"/>
          </a:xfrm>
          <a:prstGeom prst="ellipse">
            <a:avLst/>
          </a:prstGeom>
          <a:solidFill>
            <a:srgbClr val="FD7E14">
              <a:alpha val="100000"/>
            </a:srgbClr>
          </a:solidFill>
          <a:ln cmpd="sng" cap="flat">
            <a:solidFill>
              <a:srgbClr val="E467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48400" y="2286000"/>
            <a:ext cx="2413000" cy="3048000"/>
          </a:xfrm>
          <a:prstGeom prst="roundRect">
            <a:avLst>
              <a:gd name="adj" fmla="val 526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502400" y="2540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502400" y="3048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多Agent架构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502400" y="3429000"/>
            <a:ext cx="1905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8个AI“员工”协作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掌握70+专业技能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991600" y="1524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最终形态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991600" y="1955800"/>
            <a:ext cx="152400" cy="152400"/>
          </a:xfrm>
          <a:prstGeom prst="ellipse">
            <a:avLst/>
          </a:prstGeom>
          <a:solidFill>
            <a:srgbClr val="007BFF">
              <a:alpha val="100000"/>
            </a:srgbClr>
          </a:solidFill>
          <a:ln cmpd="sng" cap="flat">
            <a:solidFill>
              <a:srgbClr val="006F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991600" y="2286000"/>
            <a:ext cx="2413000" cy="3048000"/>
          </a:xfrm>
          <a:prstGeom prst="roundRect">
            <a:avLst>
              <a:gd name="adj" fmla="val 526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245600" y="25400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9245600" y="3048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完整系统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245600" y="3429000"/>
            <a:ext cx="1905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5万行核心代码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99.5% 自主运行时间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本课核心知识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2000" y="1651000"/>
          <a:ext cx="10668000" cy="4127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62000"/>
                <a:gridCol w="4318000"/>
                <a:gridCol w="5588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#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知识点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关键类比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 vs 聊天机器人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私人秘书 vs 电话客服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ClawBot的记忆缺陷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只有20页便签本的容量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四层记忆架构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正在想 + 今天 + 一辈子 + 学到的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语义搜索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图书馆管理员 vs 只看书名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记忆收敛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从日记记录到年终总结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📌 本课金句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“记忆是 AI Agent 的灵魂”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794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0F8FF">
              <a:alpha val="9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3048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651000" y="30480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没有记忆的 AI 只是工具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被动响应，无法积累经验</a:t>
            </a:r>
          </a:p>
        </p:txBody>
      </p:sp>
      <p:cxnSp>
        <p:nvCxnSpPr>
          <p:cNvPr name="Connector 9" id="9"/>
          <p:cNvCxnSpPr/>
          <p:nvPr/>
        </p:nvCxnSpPr>
        <p:spPr>
          <a:xfrm rot="5357030" flipH="false" flipV="false">
            <a:off x="5588000" y="3549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3048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85000" y="30480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有了记忆的 AI 才是助手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主动思考，具备上下文理解能力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57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EBF8F1">
              <a:alpha val="9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43000" y="48768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651000" y="4826000"/>
            <a:ext cx="952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 = 记住 + 理解 + 行动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📢 下一课预告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8415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思考：AI有了记忆，是不是一个“超强大脑”就够了？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175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65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24000" y="33655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并不是！</a:t>
            </a: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就像医院里需要不同科室的医生一样，一个模型做不了所有事。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28A745">
              <a:alpha val="1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889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8895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第2课：AI的“工具箱”——一个模型做不了所有事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