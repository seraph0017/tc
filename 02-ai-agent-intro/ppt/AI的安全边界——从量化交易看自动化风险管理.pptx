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2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slides/slide11.xml" Type="http://schemas.openxmlformats.org/officeDocument/2006/relationships/slide"/><Relationship Id="rId2" Target="viewProps.xml" Type="http://schemas.openxmlformats.org/officeDocument/2006/relationships/viewProps"/><Relationship Id="rId20" Target="slides/slide12.xml" Type="http://schemas.openxmlformats.org/officeDocument/2006/relationships/slide"/><Relationship Id="rId21" Target="slides/slide13.xml" Type="http://schemas.openxmlformats.org/officeDocument/2006/relationships/slide"/><Relationship Id="rId22" Target="slides/slide14.xml" Type="http://schemas.openxmlformats.org/officeDocument/2006/relationships/slide"/><Relationship Id="rId23" Target="slides/slide15.xml" Type="http://schemas.openxmlformats.org/officeDocument/2006/relationships/slide"/><Relationship Id="rId24" Target="slides/slide16.xml" Type="http://schemas.openxmlformats.org/officeDocument/2006/relationships/slide"/><Relationship Id="rId25" Target="slides/slide17.xml" Type="http://schemas.openxmlformats.org/officeDocument/2006/relationships/slide"/><Relationship Id="rId26" Target="slides/slide18.xml" Type="http://schemas.openxmlformats.org/officeDocument/2006/relationships/slide"/><Relationship Id="rId27" Target="slides/slide19.xml" Type="http://schemas.openxmlformats.org/officeDocument/2006/relationships/slide"/><Relationship Id="rId28" Target="slides/slide20.xml" Type="http://schemas.openxmlformats.org/officeDocument/2006/relationships/slide"/><Relationship Id="rId29" Target="slides/slide21.xml" Type="http://schemas.openxmlformats.org/officeDocument/2006/relationships/slide"/><Relationship Id="rId3" Target="presProps.xml" Type="http://schemas.openxmlformats.org/officeDocument/2006/relationships/presProps"/><Relationship Id="rId30" Target="slides/slide22.xml" Type="http://schemas.openxmlformats.org/officeDocument/2006/relationships/slide"/><Relationship Id="rId31" Target="slides/slide23.xml" Type="http://schemas.openxmlformats.org/officeDocument/2006/relationships/slide"/><Relationship Id="rId32" Target="slides/slide24.xml" Type="http://schemas.openxmlformats.org/officeDocument/2006/relationships/slide"/><Relationship Id="rId33" Target="slides/slide25.xml" Type="http://schemas.openxmlformats.org/officeDocument/2006/relationships/slide"/><Relationship Id="rId34" Target="slides/slide26.xml" Type="http://schemas.openxmlformats.org/officeDocument/2006/relationships/slide"/><Relationship Id="rId35" Target="slides/slide27.xml" Type="http://schemas.openxmlformats.org/officeDocument/2006/relationships/slide"/><Relationship Id="rId36" Target="slides/slide28.xml" Type="http://schemas.openxmlformats.org/officeDocument/2006/relationships/slide"/><Relationship Id="rId37" Target="slides/slide29.xml" Type="http://schemas.openxmlformats.org/officeDocument/2006/relationships/slide"/><Relationship Id="rId38" Target="slides/slide30.xml" Type="http://schemas.openxmlformats.org/officeDocument/2006/relationships/slide"/><Relationship Id="rId39" Target="slides/slide31.xml" Type="http://schemas.openxmlformats.org/officeDocument/2006/relationships/slide"/><Relationship Id="rId4" Target="slideMasters/slideMaster1.xml" Type="http://schemas.openxmlformats.org/officeDocument/2006/relationships/slideMaster"/><Relationship Id="rId40" Target="slides/slide32.xml" Type="http://schemas.openxmlformats.org/officeDocument/2006/relationships/slide"/><Relationship Id="rId41" Target="notesSlides/notesSlide1.xml" Type="http://schemas.openxmlformats.org/officeDocument/2006/relationships/notesSlide"/><Relationship Id="rId42" Target="notesSlides/notesSlide2.xml" Type="http://schemas.openxmlformats.org/officeDocument/2006/relationships/notesSlide"/><Relationship Id="rId43" Target="notesSlides/notesSlide3.xml" Type="http://schemas.openxmlformats.org/officeDocument/2006/relationships/notesSlide"/><Relationship Id="rId44" Target="notesSlides/notesSlide4.xml" Type="http://schemas.openxmlformats.org/officeDocument/2006/relationships/notesSlide"/><Relationship Id="rId45" Target="notesSlides/notesSlide5.xml" Type="http://schemas.openxmlformats.org/officeDocument/2006/relationships/notesSlide"/><Relationship Id="rId46" Target="notesSlides/notesSlide6.xml" Type="http://schemas.openxmlformats.org/officeDocument/2006/relationships/notesSlide"/><Relationship Id="rId47" Target="notesSlides/notesSlide7.xml" Type="http://schemas.openxmlformats.org/officeDocument/2006/relationships/notesSlide"/><Relationship Id="rId48" Target="notesSlides/notesSlide8.xml" Type="http://schemas.openxmlformats.org/officeDocument/2006/relationships/notesSlide"/><Relationship Id="rId49" Target="notesSlides/notesSlide9.xml" Type="http://schemas.openxmlformats.org/officeDocument/2006/relationships/notesSlide"/><Relationship Id="rId50" Target="notesSlides/notesSlide10.xml" Type="http://schemas.openxmlformats.org/officeDocument/2006/relationships/notesSlide"/><Relationship Id="rId51" Target="notesSlides/notesSlide11.xml" Type="http://schemas.openxmlformats.org/officeDocument/2006/relationships/notesSlide"/><Relationship Id="rId52" Target="notesSlides/notesSlide12.xml" Type="http://schemas.openxmlformats.org/officeDocument/2006/relationships/notesSlide"/><Relationship Id="rId53" Target="notesSlides/notesSlide13.xml" Type="http://schemas.openxmlformats.org/officeDocument/2006/relationships/notesSlide"/><Relationship Id="rId54" Target="notesSlides/notesSlide14.xml" Type="http://schemas.openxmlformats.org/officeDocument/2006/relationships/notesSlide"/><Relationship Id="rId55" Target="notesSlides/notesSlide15.xml" Type="http://schemas.openxmlformats.org/officeDocument/2006/relationships/notesSlide"/><Relationship Id="rId56" Target="notesSlides/notesSlide16.xml" Type="http://schemas.openxmlformats.org/officeDocument/2006/relationships/notesSlide"/><Relationship Id="rId57" Target="notesSlides/notesSlide17.xml" Type="http://schemas.openxmlformats.org/officeDocument/2006/relationships/notesSlide"/><Relationship Id="rId58" Target="notesSlides/notesSlide18.xml" Type="http://schemas.openxmlformats.org/officeDocument/2006/relationships/notesSlide"/><Relationship Id="rId59" Target="notesSlides/notesSlide19.xml" Type="http://schemas.openxmlformats.org/officeDocument/2006/relationships/notesSlide"/><Relationship Id="rId6" Target="notesMasters/notesMaster1.xml" Type="http://schemas.openxmlformats.org/officeDocument/2006/relationships/notesMaster"/><Relationship Id="rId60" Target="notesSlides/notesSlide20.xml" Type="http://schemas.openxmlformats.org/officeDocument/2006/relationships/notesSlide"/><Relationship Id="rId61" Target="notesSlides/notesSlide21.xml" Type="http://schemas.openxmlformats.org/officeDocument/2006/relationships/notesSlide"/><Relationship Id="rId62" Target="notesSlides/notesSlide22.xml" Type="http://schemas.openxmlformats.org/officeDocument/2006/relationships/notesSlide"/><Relationship Id="rId63" Target="notesSlides/notesSlide23.xml" Type="http://schemas.openxmlformats.org/officeDocument/2006/relationships/notesSlide"/><Relationship Id="rId64" Target="notesSlides/notesSlide24.xml" Type="http://schemas.openxmlformats.org/officeDocument/2006/relationships/notesSlide"/><Relationship Id="rId65" Target="notesSlides/notesSlide25.xml" Type="http://schemas.openxmlformats.org/officeDocument/2006/relationships/notesSlide"/><Relationship Id="rId66" Target="notesSlides/notesSlide26.xml" Type="http://schemas.openxmlformats.org/officeDocument/2006/relationships/notesSlide"/><Relationship Id="rId67" Target="notesSlides/notesSlide27.xml" Type="http://schemas.openxmlformats.org/officeDocument/2006/relationships/notesSlide"/><Relationship Id="rId68" Target="notesSlides/notesSlide28.xml" Type="http://schemas.openxmlformats.org/officeDocument/2006/relationships/notesSlide"/><Relationship Id="rId69" Target="notesSlides/notesSlide29.xml" Type="http://schemas.openxmlformats.org/officeDocument/2006/relationships/notesSlide"/><Relationship Id="rId7" Target="theme/theme2.xml" Type="http://schemas.openxmlformats.org/officeDocument/2006/relationships/theme"/><Relationship Id="rId70" Target="notesSlides/notesSlide30.xml" Type="http://schemas.openxmlformats.org/officeDocument/2006/relationships/notesSlide"/><Relationship Id="rId71" Target="notesSlides/notesSlide31.xml" Type="http://schemas.openxmlformats.org/officeDocument/2006/relationships/notesSlide"/><Relationship Id="rId72" Target="notesSlides/notesSlide32.xml" Type="http://schemas.openxmlformats.org/officeDocument/2006/relationships/notesSlid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2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_rels/notesSlide2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1.xml" Type="http://schemas.openxmlformats.org/officeDocument/2006/relationships/slide"/></Relationships>
</file>

<file path=ppt/notesSlides/_rels/notesSlide2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2.xml" Type="http://schemas.openxmlformats.org/officeDocument/2006/relationships/slide"/></Relationships>
</file>

<file path=ppt/notesSlides/_rels/notesSlide2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3.xml" Type="http://schemas.openxmlformats.org/officeDocument/2006/relationships/slide"/></Relationships>
</file>

<file path=ppt/notesSlides/_rels/notesSlide2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4.xml" Type="http://schemas.openxmlformats.org/officeDocument/2006/relationships/slide"/></Relationships>
</file>

<file path=ppt/notesSlides/_rels/notesSlide2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5.xml" Type="http://schemas.openxmlformats.org/officeDocument/2006/relationships/slide"/></Relationships>
</file>

<file path=ppt/notesSlides/_rels/notesSlide2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6.xml" Type="http://schemas.openxmlformats.org/officeDocument/2006/relationships/slide"/></Relationships>
</file>

<file path=ppt/notesSlides/_rels/notesSlide2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7.xml" Type="http://schemas.openxmlformats.org/officeDocument/2006/relationships/slide"/></Relationships>
</file>

<file path=ppt/notesSlides/_rels/notesSlide2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8.xml" Type="http://schemas.openxmlformats.org/officeDocument/2006/relationships/slide"/></Relationships>
</file>

<file path=ppt/notesSlides/_rels/notesSlide2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9.xml" Type="http://schemas.openxmlformats.org/officeDocument/2006/relationships/slide"/></Relationships>
</file>

<file path=ppt/notesSlides/_rels/notesSlide3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0.xml" Type="http://schemas.openxmlformats.org/officeDocument/2006/relationships/slide"/></Relationships>
</file>

<file path=ppt/notesSlides/_rels/notesSlide3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1.xml" Type="http://schemas.openxmlformats.org/officeDocument/2006/relationships/slide"/></Relationships>
</file>

<file path=ppt/notesSlides/_rels/notesSlide3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2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大家好，欢迎来到“读懂AI Agent”通识课的第五课。在前几课中，我们学习了如何让AI拥有记忆、如何让AI团队协作以及如何让AI高效地完成各种任务。今天，我们将探讨一个至关重要但又常常被忽视的话题：AI的安全边界。我们将从量化交易这个具体场景出发，深入了解自动化系统中的风险管理原则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是我们今天的课程大纲。我们将从一个AI交易员的案例开始，引入自动化风险的话题，然后通过汽车安全系统的类比，学习AI的四层安全防护和六重安全检查。休息之后，我们会探讨如何用风险评分来监控AI系统，并进行一次风控原则迁移的讨论。最后，我们将总结出三条关于AI安全的黄金法则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在正式开始之前，请大家思考一个问题：你会让一个刚拿到驾照的新手，在没有任何安全措施的情况下，去开一辆F1赛车吗？答案显然是否定的，因为这太危险了。那么，引申到我们的主题，如果AI能够全自动地为你做出投资决策，你会放心地把全部积蓄都交给它管理吗？这个问题的答案，将引导我们今天探讨AI自动化的安全边界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让我们来看一个真实的案例：AI交易员“桑丘”的一天。它可以24小时不间断地工作，自动分析市场、做出交易决策。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在这个案例中，它成功地完成了一次盈利交易，但在市场出现异常波动导致亏损时，其内置的安全系统立即介入，暂停了所有交易并发出警报。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整个过程完全自动化，不需要人工干预。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从“桑丘”的案例中，我们可以看到AI自动化的巨大诱惑：它可以24小时不间断工作，没有人类的情绪波动，决策速度极快，并且不会犯一些低级的人为错误。这些优势听起来非常完美，那么，AI自动化真的是万无一失的吗？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答案是否定的。如果没有任何安全措施，AI自动化就像一颗定时炸弹。它可能在市场暴跌时做出错误的判断，不断加仓；也可能因为高频交易而累积巨大亏损；甚至可能因为程序漏洞，在短时间内就清空你的账户。历史上，著名的Knight Capital公司就曾因为一个程序错误，在45分钟内亏损了4.4亿美元。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所以，我们必须清醒地认识到：AI自动化虽然很酷，但没有安全边界的自动化，就是一颗定时炸弹。AI的能力越强，我们就越需要为它建立完善的安全机制，确保它的行为在可控的范围内。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那么，如何为AI建立安全边界呢？我们可以从汽车的安全系统中获得灵感。一辆汽车上有安全带、ABS防抱死系统、安全气囊和限速器等多种安全装置，它们各自负责不同层面的安全防护，共同构成了一个完整的安全体系，而不是依赖某一个“万能开关”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同样地，AI的安全防护也可以分为四层：第一层是权限限制，就像安全带，始终生效，限定AI的操作范围；第二层是异常检测，就像ABS系统，实时监控并预警异常行为；第三层是熔断机制，就像安全气囊，在紧急情况下自动停止AI的操作；第四层是硬性上限，就像限速器，设定不可突破的最终安全底线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有人可能会问，为什么需要这么多层防护？有一个紧急停止按钮不就够了吗？答案是否定的。如果只有安全带，在严重碰撞时可能无法保全生命；如果只有安全气囊，它弹出时事故往往已经发生；如果只有ABS系统，它也无法阻止你疯狂超速。每一层防护都针对不同级别的风险，只有多层叠加，才能实现全面的安全防护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所以，我们必须明确：AI的安全防护不能依赖一个单一的“大开关”。它需要像汽车一样，由安全带、ABS、安全气囊和限速器等多个系统共同构成。只有通过多层防护的叠加，才能真正实现AI系统的全面安全。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在量化交易中，具体的安全检查是如何执行的呢？AI在执行每一次交易前，都必须通过六道安全检查，就像通过六道安全门一样，只有全部通过，交易才能被允许执行。这六道检查涵盖了从整体交易权限到单次交易细节的各个方面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张表格详细解释了六道安全检查的具体内容。从熔断开关（决定今天是否还能交易），到单次交易上限、日亏损上限、交易次数限制、操作间隔检查，再到总损失上限，每一道检查都有其明确的目的和类比。任何一道检查不通过，交易都会被立即拒绝，确保风险在可控范围内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六道检查的核心逻辑可以用简单的伪代码来表示。它的原则非常明确：如果熔断已经触发，或者交易金额超标，就直接拒绝交易。如果当日亏损或总亏损达到了上限，不仅要拒绝交易，还要拉响熔断，暂停所有后续操作。这种设计体现了“宁可错过，不可错做”的风控原则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关于AI的安全检查和防护机制，我们就先讲到这里。接下来大家休息10分钟，放松一下。休息回来，我们将学习如何通过一个“仪表盘”，像医生看体检报告一样，一眼就看出我们的AI系统是否健康。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休息结束。我们如何直观地了解一个复杂AI系统的健康状况呢？答案是使用风险评分。这就像我们去医院做体检，医生会通过各项指标的综合评估，给出一个健康报告。AI系统的风险评分也是如此，它将系统的多个关键指标，如回撤程度、日亏损、交易频率和持仓比例，按照不同的权重进行综合计算，得出一个0到100分的分数，分数越高，代表系统风险越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张表格详细列出了四项“体检指标”的具体权重和不同风险等级的阈值。例如，回撤程度权重最高，达到40分，如果回撤超过7%，就进入了危险状态。通过对这些指标的量化评估，我们可以将综合风险评分划分为健康、注意和危险三个等级，并据此采取不同的应对措施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终，这些信息会汇总成一个直观的风险仪表盘。通过这个仪表盘，我们可以一目了然地看到AI系统的综合风险评分、各项指标的具体状态、熔断开关是否正常，以及系统给出的操作建议。这使得即使是非技术人员，也能轻松掌握AI系统的运行状况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再次强调，风险评分就像是AI系统的体检报告。它将复杂的系统状态浓缩成一个简单的0到100的数字，并用颜色进行标识。这使得风险监控变得非常直观，即使你不懂复杂的技术细节，当看到一个红色的高分时，也能立刻意识到需要关注和干预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从量化交易中学到的这些风控原则，具有非常广泛的通用性。虽然量化交易可能离我们的日常工作很远，但“设置上限、实时监控、熔断机制”这三个核心原则，完全可以迁移到AI自动客服、AI自动发文、AI自动审批等任何其他AI自动化场景中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例如，在AI自动客服场景中，我们可以为退款设置单次上限和每日总额上限，限制退款的频率，并建立熔断机制。如果没有这些风控措施，AI可能会随意给用户全额退款，导致公司蒙受巨大损失。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再比如，在AI自动发文场景中，我们可以为每篇文章设置敏感词检查，限制每日发布数量，建立异常检测机制，并设置熔断条件。如果没有这些风控措施，一条由AI发出的不当推文，就可能瞬间毁掉一个品牌多年建立的声誉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总结一下，任何一个AI自动化系统，要想安全可靠地运行，都需要包含这五个核心组件：明确的权限上限、关键指标的实时监控、异常行为的检测机制、紧急情况下的熔断机制，以及最终的人工兜底方案。这五个组件共同构成了一个完整的通用AI安全框架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理论学习完了，现在是实践环节。请大家分组，为不同的AI自动化场景设计安全机制。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A组负责AI自动客服，B组负责AI自动发文，C组负责AI自动审批。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每组需要讨论并输出权限上限、监控指标、熔断条件和人工介入规则这四个方面的内容。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给大家25分钟的讨论时间，之后每组派代表进行展示。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讨论结束后，我们来总结关于AI安全的三条黄金法则。第一条法则是：监控比策略更重要。策略是AI“怎么做”的方法，它可能会随着环境变化而失效。而监控是用来评估AI“做得怎么样”的手段，它所关注的收益、亏损和风险等核心指标，其重要性是永恒的。就像开车，导航路线可能会变，但仪表盘上的速度、油量等信息永远是你安全驾驶的保障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二条法则是：必须有熔断机制。熔断机制就像家里的保险丝，平时可能用不到，但它必须存在，以防止在极端情况下发生更大的灾难。因为我们永远无法预测所有可能出现的问题，比如代码bug、市场异常、数据错误等。熔断机制是确保系统在出错时能够自我保护的最后一道防线，它不是“最好有”，而是“必须有”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三条法则是：过去不等于未来。AI是基于历史数据进行学习和预测的，但历史规律并不总是能在未来重现。这就像天气预报，它可以预测日常的天气变化，但很难预测从未发生过的极端灾害。因此，我们不能对AI系统“一劳永逸”，必须持续监控其表现，一旦发现策略失效，就要及时进行调整或停止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，我们用一个公式来总结如何建立对AI系统的信任：信任等于能力、安全边界和可观测性三者的乘积。这意味着，要完全信任一个AI系统，它不仅需要有强大的能力，还必须有清晰的安全边界和良好的可观测性。三者缺一不可。如果一个AI能力很强，但没有安全边界，那它就像一辆没有刹车的跑车，跑得越快，危险就越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所以，我们最终的结论是：在AI时代，与其盲目地追求“最强的AI”，不如将精力放在构建一个“最安全、最可控、最可观测的AI”上。只有这样，我们才能真正建立起对AI系统的信任，让它成为我们可靠的助手。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课程的最后，我们来回顾一下今天的核心知识点。我们学习了AI自动化的风险、AI的四层安全防护和六重安全检查、如何用风险评分来监控AI系统、风控原则的通用性，以及关于AI安全的三条黄金法则。这些知识共同构成了我们理解和构建安全AI系统的基础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这张知识卡片再次总结了我们这一课的核心内容，包括四层安全防护、六重安全检查、风险评分、三条黄金法则以及信任公式。希望这张卡片能帮助大家更好地回顾和梳理今天所学的知识。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已经学会了如何构建一个安全的AI系统，但AI上线只是开始，就像开了一家店，真正的挑战在于如何让它每天都能正常、稳定地运行。这就需要我们为AI系统进行“物业管理”，包括制定规则、安排任务、监控状态等。下一课，也是我们的最后一课，我们将探讨如何让AI持续运行，分享运维思维和AI时代的生存指南。感谢大家的参与，我们下次课再见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Relationship Id="rId9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16.svg" Type="http://schemas.openxmlformats.org/officeDocument/2006/relationships/image"/><Relationship Id="rId11" Target="../media/image17.png" Type="http://schemas.openxmlformats.org/officeDocument/2006/relationships/image"/><Relationship Id="rId12" Target="../media/image18.svg" Type="http://schemas.openxmlformats.org/officeDocument/2006/relationships/image"/><Relationship Id="rId13" Target="../media/image19.png" Type="http://schemas.openxmlformats.org/officeDocument/2006/relationships/image"/><Relationship Id="rId14" Target="../media/image20.svg" Type="http://schemas.openxmlformats.org/officeDocument/2006/relationships/image"/><Relationship Id="rId15" Target="../media/image21.png" Type="http://schemas.openxmlformats.org/officeDocument/2006/relationships/image"/><Relationship Id="rId16" Target="../media/image22.svg" Type="http://schemas.openxmlformats.org/officeDocument/2006/relationships/image"/><Relationship Id="rId17" Target="../notesSlides/notesSlide4.xml" Type="http://schemas.openxmlformats.org/officeDocument/2006/relationships/notesSlide"/><Relationship Id="rId2" Target="../media/image2.jpe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Relationship Id="rId5" Target="../media/image11.png" Type="http://schemas.openxmlformats.org/officeDocument/2006/relationships/image"/><Relationship Id="rId6" Target="../media/image12.svg" Type="http://schemas.openxmlformats.org/officeDocument/2006/relationships/image"/><Relationship Id="rId7" Target="../media/image13.png" Type="http://schemas.openxmlformats.org/officeDocument/2006/relationships/image"/><Relationship Id="rId8" Target="../media/image14.svg" Type="http://schemas.openxmlformats.org/officeDocument/2006/relationships/image"/><Relationship Id="rId9" Target="../media/image1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30.svg" Type="http://schemas.openxmlformats.org/officeDocument/2006/relationships/image"/><Relationship Id="rId11" Target="../media/image31.png" Type="http://schemas.openxmlformats.org/officeDocument/2006/relationships/image"/><Relationship Id="rId12" Target="../media/image32.svg" Type="http://schemas.openxmlformats.org/officeDocument/2006/relationships/image"/><Relationship Id="rId13" Target="../notesSlides/notesSlide6.xml" Type="http://schemas.openxmlformats.org/officeDocument/2006/relationships/notesSlide"/><Relationship Id="rId2" Target="../media/image2.jpeg" Type="http://schemas.openxmlformats.org/officeDocument/2006/relationships/image"/><Relationship Id="rId3" Target="../media/image23.png" Type="http://schemas.openxmlformats.org/officeDocument/2006/relationships/image"/><Relationship Id="rId4" Target="../media/image24.svg" Type="http://schemas.openxmlformats.org/officeDocument/2006/relationships/image"/><Relationship Id="rId5" Target="../media/image25.png" Type="http://schemas.openxmlformats.org/officeDocument/2006/relationships/image"/><Relationship Id="rId6" Target="../media/image26.svg" Type="http://schemas.openxmlformats.org/officeDocument/2006/relationships/image"/><Relationship Id="rId7" Target="../media/image27.png" Type="http://schemas.openxmlformats.org/officeDocument/2006/relationships/image"/><Relationship Id="rId8" Target="../media/image28.svg" Type="http://schemas.openxmlformats.org/officeDocument/2006/relationships/image"/><Relationship Id="rId9" Target="../media/image2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36.svg" Type="http://schemas.openxmlformats.org/officeDocument/2006/relationships/image"/><Relationship Id="rId11" Target="../notesSlides/notesSlide7.xml" Type="http://schemas.openxmlformats.org/officeDocument/2006/relationships/notesSlide"/><Relationship Id="rId2" Target="../media/image2.jpe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Relationship Id="rId5" Target="../media/image31.png" Type="http://schemas.openxmlformats.org/officeDocument/2006/relationships/image"/><Relationship Id="rId6" Target="../media/image32.svg" Type="http://schemas.openxmlformats.org/officeDocument/2006/relationships/image"/><Relationship Id="rId7" Target="../media/image33.png" Type="http://schemas.openxmlformats.org/officeDocument/2006/relationships/image"/><Relationship Id="rId8" Target="../media/image34.svg" Type="http://schemas.openxmlformats.org/officeDocument/2006/relationships/image"/><Relationship Id="rId9" Target="../media/image3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44.svg" Type="http://schemas.openxmlformats.org/officeDocument/2006/relationships/image"/><Relationship Id="rId11" Target="../media/image45.png" Type="http://schemas.openxmlformats.org/officeDocument/2006/relationships/image"/><Relationship Id="rId12" Target="../media/image46.svg" Type="http://schemas.openxmlformats.org/officeDocument/2006/relationships/image"/><Relationship Id="rId13" Target="../notesSlides/notesSlide8.xml" Type="http://schemas.openxmlformats.org/officeDocument/2006/relationships/notesSlide"/><Relationship Id="rId2" Target="../media/image2.jpeg" Type="http://schemas.openxmlformats.org/officeDocument/2006/relationships/image"/><Relationship Id="rId3" Target="../media/image37.png" Type="http://schemas.openxmlformats.org/officeDocument/2006/relationships/image"/><Relationship Id="rId4" Target="../media/image38.svg" Type="http://schemas.openxmlformats.org/officeDocument/2006/relationships/image"/><Relationship Id="rId5" Target="../media/image39.png" Type="http://schemas.openxmlformats.org/officeDocument/2006/relationships/image"/><Relationship Id="rId6" Target="../media/image40.svg" Type="http://schemas.openxmlformats.org/officeDocument/2006/relationships/image"/><Relationship Id="rId7" Target="../media/image41.png" Type="http://schemas.openxmlformats.org/officeDocument/2006/relationships/image"/><Relationship Id="rId8" Target="../media/image42.svg" Type="http://schemas.openxmlformats.org/officeDocument/2006/relationships/image"/><Relationship Id="rId9" Target="../media/image4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54.svg" Type="http://schemas.openxmlformats.org/officeDocument/2006/relationships/image"/><Relationship Id="rId11" Target="../notesSlides/notesSlide9.xml" Type="http://schemas.openxmlformats.org/officeDocument/2006/relationships/notesSlide"/><Relationship Id="rId2" Target="../media/image2.jpeg" Type="http://schemas.openxmlformats.org/officeDocument/2006/relationships/image"/><Relationship Id="rId3" Target="../media/image47.png" Type="http://schemas.openxmlformats.org/officeDocument/2006/relationships/image"/><Relationship Id="rId4" Target="../media/image48.svg" Type="http://schemas.openxmlformats.org/officeDocument/2006/relationships/image"/><Relationship Id="rId5" Target="../media/image49.png" Type="http://schemas.openxmlformats.org/officeDocument/2006/relationships/image"/><Relationship Id="rId6" Target="../media/image50.svg" Type="http://schemas.openxmlformats.org/officeDocument/2006/relationships/image"/><Relationship Id="rId7" Target="../media/image51.png" Type="http://schemas.openxmlformats.org/officeDocument/2006/relationships/image"/><Relationship Id="rId8" Target="../media/image52.svg" Type="http://schemas.openxmlformats.org/officeDocument/2006/relationships/image"/><Relationship Id="rId9" Target="../media/image5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60.svg" Type="http://schemas.openxmlformats.org/officeDocument/2006/relationships/image"/><Relationship Id="rId11" Target="../notesSlides/notesSlide10.xml" Type="http://schemas.openxmlformats.org/officeDocument/2006/relationships/notesSlide"/><Relationship Id="rId2" Target="../media/image2.jpeg" Type="http://schemas.openxmlformats.org/officeDocument/2006/relationships/image"/><Relationship Id="rId3" Target="../media/image17.png" Type="http://schemas.openxmlformats.org/officeDocument/2006/relationships/image"/><Relationship Id="rId4" Target="../media/image18.svg" Type="http://schemas.openxmlformats.org/officeDocument/2006/relationships/image"/><Relationship Id="rId5" Target="../media/image55.png" Type="http://schemas.openxmlformats.org/officeDocument/2006/relationships/image"/><Relationship Id="rId6" Target="../media/image56.svg" Type="http://schemas.openxmlformats.org/officeDocument/2006/relationships/image"/><Relationship Id="rId7" Target="../media/image57.png" Type="http://schemas.openxmlformats.org/officeDocument/2006/relationships/image"/><Relationship Id="rId8" Target="../media/image58.svg" Type="http://schemas.openxmlformats.org/officeDocument/2006/relationships/image"/><Relationship Id="rId9" Target="../media/image59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58.svg" Type="http://schemas.openxmlformats.org/officeDocument/2006/relationships/image"/><Relationship Id="rId11" Target="../notesSlides/notesSlide11.xml" Type="http://schemas.openxmlformats.org/officeDocument/2006/relationships/notesSlide"/><Relationship Id="rId2" Target="../media/image2.jpeg" Type="http://schemas.openxmlformats.org/officeDocument/2006/relationships/image"/><Relationship Id="rId3" Target="../media/image37.png" Type="http://schemas.openxmlformats.org/officeDocument/2006/relationships/image"/><Relationship Id="rId4" Target="../media/image38.svg" Type="http://schemas.openxmlformats.org/officeDocument/2006/relationships/image"/><Relationship Id="rId5" Target="../media/image61.png" Type="http://schemas.openxmlformats.org/officeDocument/2006/relationships/image"/><Relationship Id="rId6" Target="../media/image62.svg" Type="http://schemas.openxmlformats.org/officeDocument/2006/relationships/image"/><Relationship Id="rId7" Target="../media/image63.png" Type="http://schemas.openxmlformats.org/officeDocument/2006/relationships/image"/><Relationship Id="rId8" Target="../media/image64.svg" Type="http://schemas.openxmlformats.org/officeDocument/2006/relationships/image"/><Relationship Id="rId9" Target="../media/image57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72.svg" Type="http://schemas.openxmlformats.org/officeDocument/2006/relationships/image"/><Relationship Id="rId11" Target="../media/image73.png" Type="http://schemas.openxmlformats.org/officeDocument/2006/relationships/image"/><Relationship Id="rId12" Target="../media/image74.svg" Type="http://schemas.openxmlformats.org/officeDocument/2006/relationships/image"/><Relationship Id="rId13" Target="../media/image31.png" Type="http://schemas.openxmlformats.org/officeDocument/2006/relationships/image"/><Relationship Id="rId14" Target="../media/image32.svg" Type="http://schemas.openxmlformats.org/officeDocument/2006/relationships/image"/><Relationship Id="rId15" Target="../media/image59.png" Type="http://schemas.openxmlformats.org/officeDocument/2006/relationships/image"/><Relationship Id="rId16" Target="../media/image60.svg" Type="http://schemas.openxmlformats.org/officeDocument/2006/relationships/image"/><Relationship Id="rId17" Target="../notesSlides/notesSlide12.xml" Type="http://schemas.openxmlformats.org/officeDocument/2006/relationships/notesSlide"/><Relationship Id="rId2" Target="../media/image2.jpeg" Type="http://schemas.openxmlformats.org/officeDocument/2006/relationships/image"/><Relationship Id="rId3" Target="../media/image65.png" Type="http://schemas.openxmlformats.org/officeDocument/2006/relationships/image"/><Relationship Id="rId4" Target="../media/image66.svg" Type="http://schemas.openxmlformats.org/officeDocument/2006/relationships/image"/><Relationship Id="rId5" Target="../media/image67.png" Type="http://schemas.openxmlformats.org/officeDocument/2006/relationships/image"/><Relationship Id="rId6" Target="../media/image68.svg" Type="http://schemas.openxmlformats.org/officeDocument/2006/relationships/image"/><Relationship Id="rId7" Target="../media/image69.png" Type="http://schemas.openxmlformats.org/officeDocument/2006/relationships/image"/><Relationship Id="rId8" Target="../media/image70.svg" Type="http://schemas.openxmlformats.org/officeDocument/2006/relationships/image"/><Relationship Id="rId9" Target="../media/image71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31.png" Type="http://schemas.openxmlformats.org/officeDocument/2006/relationships/image"/><Relationship Id="rId4" Target="../media/image32.svg" Type="http://schemas.openxmlformats.org/officeDocument/2006/relationships/image"/><Relationship Id="rId5" Target="../notesSlides/notesSlide13.xml" Type="http://schemas.openxmlformats.org/officeDocument/2006/relationships/notesSlide"/></Relationships>
</file>

<file path=ppt/slides/_rels/slide1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6.svg" Type="http://schemas.openxmlformats.org/officeDocument/2006/relationships/image"/><Relationship Id="rId11" Target="../media/image37.png" Type="http://schemas.openxmlformats.org/officeDocument/2006/relationships/image"/><Relationship Id="rId12" Target="../media/image38.svg" Type="http://schemas.openxmlformats.org/officeDocument/2006/relationships/image"/><Relationship Id="rId13" Target="../notesSlides/notesSlide14.xml" Type="http://schemas.openxmlformats.org/officeDocument/2006/relationships/notesSlide"/><Relationship Id="rId2" Target="../media/image2.jpeg" Type="http://schemas.openxmlformats.org/officeDocument/2006/relationships/image"/><Relationship Id="rId3" Target="../media/image75.png" Type="http://schemas.openxmlformats.org/officeDocument/2006/relationships/image"/><Relationship Id="rId4" Target="../media/image76.svg" Type="http://schemas.openxmlformats.org/officeDocument/2006/relationships/image"/><Relationship Id="rId5" Target="../media/image77.png" Type="http://schemas.openxmlformats.org/officeDocument/2006/relationships/image"/><Relationship Id="rId6" Target="../media/image78.svg" Type="http://schemas.openxmlformats.org/officeDocument/2006/relationships/image"/><Relationship Id="rId7" Target="../media/image33.png" Type="http://schemas.openxmlformats.org/officeDocument/2006/relationships/image"/><Relationship Id="rId8" Target="../media/image34.svg" Type="http://schemas.openxmlformats.org/officeDocument/2006/relationships/image"/><Relationship Id="rId9" Target="../media/image5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79.jpeg" Type="http://schemas.openxmlformats.org/officeDocument/2006/relationships/image"/><Relationship Id="rId3" Target="../media/image80.png" Type="http://schemas.openxmlformats.org/officeDocument/2006/relationships/image"/><Relationship Id="rId4" Target="../media/image81.svg" Type="http://schemas.openxmlformats.org/officeDocument/2006/relationships/image"/><Relationship Id="rId5" Target="../notesSlides/notesSlide15.xml" Type="http://schemas.openxmlformats.org/officeDocument/2006/relationships/notesSlide"/></Relationships>
</file>

<file path=ppt/slides/_rels/slide1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10.svg" Type="http://schemas.openxmlformats.org/officeDocument/2006/relationships/image"/><Relationship Id="rId11" Target="../media/image86.png" Type="http://schemas.openxmlformats.org/officeDocument/2006/relationships/image"/><Relationship Id="rId12" Target="../media/image87.svg" Type="http://schemas.openxmlformats.org/officeDocument/2006/relationships/image"/><Relationship Id="rId13" Target="../media/image88.png" Type="http://schemas.openxmlformats.org/officeDocument/2006/relationships/image"/><Relationship Id="rId14" Target="../media/image89.svg" Type="http://schemas.openxmlformats.org/officeDocument/2006/relationships/image"/><Relationship Id="rId15" Target="../media/image90.png" Type="http://schemas.openxmlformats.org/officeDocument/2006/relationships/image"/><Relationship Id="rId16" Target="../media/image91.svg" Type="http://schemas.openxmlformats.org/officeDocument/2006/relationships/image"/><Relationship Id="rId17" Target="../media/image92.png" Type="http://schemas.openxmlformats.org/officeDocument/2006/relationships/image"/><Relationship Id="rId18" Target="../media/image93.svg" Type="http://schemas.openxmlformats.org/officeDocument/2006/relationships/image"/><Relationship Id="rId19" Target="../notesSlides/notesSlide16.xml" Type="http://schemas.openxmlformats.org/officeDocument/2006/relationships/notesSlide"/><Relationship Id="rId2" Target="../media/image2.jpeg" Type="http://schemas.openxmlformats.org/officeDocument/2006/relationships/image"/><Relationship Id="rId3" Target="../media/image82.png" Type="http://schemas.openxmlformats.org/officeDocument/2006/relationships/image"/><Relationship Id="rId4" Target="../media/image83.svg" Type="http://schemas.openxmlformats.org/officeDocument/2006/relationships/image"/><Relationship Id="rId5" Target="../media/image84.png" Type="http://schemas.openxmlformats.org/officeDocument/2006/relationships/image"/><Relationship Id="rId6" Target="../media/image85.svg" Type="http://schemas.openxmlformats.org/officeDocument/2006/relationships/image"/><Relationship Id="rId7" Target="../media/image33.png" Type="http://schemas.openxmlformats.org/officeDocument/2006/relationships/image"/><Relationship Id="rId8" Target="../media/image34.svg" Type="http://schemas.openxmlformats.org/officeDocument/2006/relationships/image"/><Relationship Id="rId9" Target="../media/image9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59.png" Type="http://schemas.openxmlformats.org/officeDocument/2006/relationships/image"/><Relationship Id="rId4" Target="../media/image60.svg" Type="http://schemas.openxmlformats.org/officeDocument/2006/relationships/image"/><Relationship Id="rId5" Target="../media/image94.png" Type="http://schemas.openxmlformats.org/officeDocument/2006/relationships/image"/><Relationship Id="rId6" Target="../media/image95.svg" Type="http://schemas.openxmlformats.org/officeDocument/2006/relationships/image"/><Relationship Id="rId7" Target="../media/image31.png" Type="http://schemas.openxmlformats.org/officeDocument/2006/relationships/image"/><Relationship Id="rId8" Target="../media/image32.svg" Type="http://schemas.openxmlformats.org/officeDocument/2006/relationships/image"/><Relationship Id="rId9" Target="../notesSlides/notesSlide17.xml" Type="http://schemas.openxmlformats.org/officeDocument/2006/relationships/notesSlide"/></Relationships>
</file>

<file path=ppt/slides/_rels/slide1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99.svg" Type="http://schemas.openxmlformats.org/officeDocument/2006/relationships/image"/><Relationship Id="rId11" Target="../media/image100.png" Type="http://schemas.openxmlformats.org/officeDocument/2006/relationships/image"/><Relationship Id="rId12" Target="../media/image101.svg" Type="http://schemas.openxmlformats.org/officeDocument/2006/relationships/image"/><Relationship Id="rId13" Target="../media/image102.png" Type="http://schemas.openxmlformats.org/officeDocument/2006/relationships/image"/><Relationship Id="rId14" Target="../media/image103.svg" Type="http://schemas.openxmlformats.org/officeDocument/2006/relationships/image"/><Relationship Id="rId15" Target="../media/image104.png" Type="http://schemas.openxmlformats.org/officeDocument/2006/relationships/image"/><Relationship Id="rId16" Target="../media/image105.svg" Type="http://schemas.openxmlformats.org/officeDocument/2006/relationships/image"/><Relationship Id="rId17" Target="../media/image73.png" Type="http://schemas.openxmlformats.org/officeDocument/2006/relationships/image"/><Relationship Id="rId18" Target="../media/image74.svg" Type="http://schemas.openxmlformats.org/officeDocument/2006/relationships/image"/><Relationship Id="rId19" Target="../notesSlides/notesSlide18.xml" Type="http://schemas.openxmlformats.org/officeDocument/2006/relationships/notesSlide"/><Relationship Id="rId2" Target="../media/image2.jpe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96.png" Type="http://schemas.openxmlformats.org/officeDocument/2006/relationships/image"/><Relationship Id="rId6" Target="../media/image97.svg" Type="http://schemas.openxmlformats.org/officeDocument/2006/relationships/image"/><Relationship Id="rId7" Target="../media/image15.png" Type="http://schemas.openxmlformats.org/officeDocument/2006/relationships/image"/><Relationship Id="rId8" Target="../media/image16.svg" Type="http://schemas.openxmlformats.org/officeDocument/2006/relationships/image"/><Relationship Id="rId9" Target="../media/image98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32.svg" Type="http://schemas.openxmlformats.org/officeDocument/2006/relationships/image"/><Relationship Id="rId11" Target="../notesSlides/notesSlide19.xml" Type="http://schemas.openxmlformats.org/officeDocument/2006/relationships/notesSlide"/><Relationship Id="rId2" Target="../media/image2.jpeg" Type="http://schemas.openxmlformats.org/officeDocument/2006/relationships/image"/><Relationship Id="rId3" Target="../media/image106.png" Type="http://schemas.openxmlformats.org/officeDocument/2006/relationships/image"/><Relationship Id="rId4" Target="../media/image107.svg" Type="http://schemas.openxmlformats.org/officeDocument/2006/relationships/image"/><Relationship Id="rId5" Target="../media/image108.png" Type="http://schemas.openxmlformats.org/officeDocument/2006/relationships/image"/><Relationship Id="rId6" Target="../media/image109.svg" Type="http://schemas.openxmlformats.org/officeDocument/2006/relationships/image"/><Relationship Id="rId7" Target="../media/image110.png" Type="http://schemas.openxmlformats.org/officeDocument/2006/relationships/image"/><Relationship Id="rId8" Target="../media/image111.svg" Type="http://schemas.openxmlformats.org/officeDocument/2006/relationships/image"/><Relationship Id="rId9" Target="../media/image31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10.svg" Type="http://schemas.openxmlformats.org/officeDocument/2006/relationships/image"/><Relationship Id="rId11" Target="../media/image118.png" Type="http://schemas.openxmlformats.org/officeDocument/2006/relationships/image"/><Relationship Id="rId12" Target="../media/image119.svg" Type="http://schemas.openxmlformats.org/officeDocument/2006/relationships/image"/><Relationship Id="rId13" Target="../media/image120.png" Type="http://schemas.openxmlformats.org/officeDocument/2006/relationships/image"/><Relationship Id="rId14" Target="../media/image121.svg" Type="http://schemas.openxmlformats.org/officeDocument/2006/relationships/image"/><Relationship Id="rId15" Target="../media/image122.png" Type="http://schemas.openxmlformats.org/officeDocument/2006/relationships/image"/><Relationship Id="rId16" Target="../media/image123.svg" Type="http://schemas.openxmlformats.org/officeDocument/2006/relationships/image"/><Relationship Id="rId17" Target="../media/image124.png" Type="http://schemas.openxmlformats.org/officeDocument/2006/relationships/image"/><Relationship Id="rId18" Target="../media/image125.svg" Type="http://schemas.openxmlformats.org/officeDocument/2006/relationships/image"/><Relationship Id="rId19" Target="../notesSlides/notesSlide20.xml" Type="http://schemas.openxmlformats.org/officeDocument/2006/relationships/notesSlide"/><Relationship Id="rId2" Target="../media/image2.jpeg" Type="http://schemas.openxmlformats.org/officeDocument/2006/relationships/image"/><Relationship Id="rId3" Target="../media/image112.png" Type="http://schemas.openxmlformats.org/officeDocument/2006/relationships/image"/><Relationship Id="rId4" Target="../media/image113.svg" Type="http://schemas.openxmlformats.org/officeDocument/2006/relationships/image"/><Relationship Id="rId5" Target="../media/image114.png" Type="http://schemas.openxmlformats.org/officeDocument/2006/relationships/image"/><Relationship Id="rId6" Target="../media/image115.svg" Type="http://schemas.openxmlformats.org/officeDocument/2006/relationships/image"/><Relationship Id="rId7" Target="../media/image116.png" Type="http://schemas.openxmlformats.org/officeDocument/2006/relationships/image"/><Relationship Id="rId8" Target="../media/image117.svg" Type="http://schemas.openxmlformats.org/officeDocument/2006/relationships/image"/><Relationship Id="rId9" Target="../media/image9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126.png" Type="http://schemas.openxmlformats.org/officeDocument/2006/relationships/image"/><Relationship Id="rId4" Target="../media/image127.svg" Type="http://schemas.openxmlformats.org/officeDocument/2006/relationships/image"/><Relationship Id="rId5" Target="../notesSlides/notesSlide21.xml" Type="http://schemas.openxmlformats.org/officeDocument/2006/relationships/notesSlide"/></Relationships>
</file>

<file path=ppt/slides/_rels/slide2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31.png" Type="http://schemas.openxmlformats.org/officeDocument/2006/relationships/image"/><Relationship Id="rId4" Target="../media/image32.svg" Type="http://schemas.openxmlformats.org/officeDocument/2006/relationships/image"/><Relationship Id="rId5" Target="../notesSlides/notesSlide22.xml" Type="http://schemas.openxmlformats.org/officeDocument/2006/relationships/notesSlide"/></Relationships>
</file>

<file path=ppt/slides/_rels/slide2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32.svg" Type="http://schemas.openxmlformats.org/officeDocument/2006/relationships/image"/><Relationship Id="rId11" Target="../media/image130.png" Type="http://schemas.openxmlformats.org/officeDocument/2006/relationships/image"/><Relationship Id="rId12" Target="../media/image131.svg" Type="http://schemas.openxmlformats.org/officeDocument/2006/relationships/image"/><Relationship Id="rId13" Target="../notesSlides/notesSlide23.xml" Type="http://schemas.openxmlformats.org/officeDocument/2006/relationships/notesSlide"/><Relationship Id="rId2" Target="../media/image2.jpeg" Type="http://schemas.openxmlformats.org/officeDocument/2006/relationships/image"/><Relationship Id="rId3" Target="../media/image47.png" Type="http://schemas.openxmlformats.org/officeDocument/2006/relationships/image"/><Relationship Id="rId4" Target="../media/image48.svg" Type="http://schemas.openxmlformats.org/officeDocument/2006/relationships/image"/><Relationship Id="rId5" Target="../media/image108.png" Type="http://schemas.openxmlformats.org/officeDocument/2006/relationships/image"/><Relationship Id="rId6" Target="../media/image109.svg" Type="http://schemas.openxmlformats.org/officeDocument/2006/relationships/image"/><Relationship Id="rId7" Target="../media/image128.png" Type="http://schemas.openxmlformats.org/officeDocument/2006/relationships/image"/><Relationship Id="rId8" Target="../media/image129.svg" Type="http://schemas.openxmlformats.org/officeDocument/2006/relationships/image"/><Relationship Id="rId9" Target="../media/image31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119.svg" Type="http://schemas.openxmlformats.org/officeDocument/2006/relationships/image"/><Relationship Id="rId11" Target="../media/image80.png" Type="http://schemas.openxmlformats.org/officeDocument/2006/relationships/image"/><Relationship Id="rId12" Target="../media/image81.svg" Type="http://schemas.openxmlformats.org/officeDocument/2006/relationships/image"/><Relationship Id="rId13" Target="../notesSlides/notesSlide24.xml" Type="http://schemas.openxmlformats.org/officeDocument/2006/relationships/notesSlide"/><Relationship Id="rId2" Target="../media/image2.jpeg" Type="http://schemas.openxmlformats.org/officeDocument/2006/relationships/image"/><Relationship Id="rId3" Target="../media/image132.png" Type="http://schemas.openxmlformats.org/officeDocument/2006/relationships/image"/><Relationship Id="rId4" Target="../media/image133.svg" Type="http://schemas.openxmlformats.org/officeDocument/2006/relationships/image"/><Relationship Id="rId5" Target="../media/image134.png" Type="http://schemas.openxmlformats.org/officeDocument/2006/relationships/image"/><Relationship Id="rId6" Target="../media/image135.svg" Type="http://schemas.openxmlformats.org/officeDocument/2006/relationships/image"/><Relationship Id="rId7" Target="../media/image136.png" Type="http://schemas.openxmlformats.org/officeDocument/2006/relationships/image"/><Relationship Id="rId8" Target="../media/image137.svg" Type="http://schemas.openxmlformats.org/officeDocument/2006/relationships/image"/><Relationship Id="rId9" Target="../media/image118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138.png" Type="http://schemas.openxmlformats.org/officeDocument/2006/relationships/image"/><Relationship Id="rId4" Target="../media/image139.svg" Type="http://schemas.openxmlformats.org/officeDocument/2006/relationships/image"/><Relationship Id="rId5" Target="../media/image140.png" Type="http://schemas.openxmlformats.org/officeDocument/2006/relationships/image"/><Relationship Id="rId6" Target="../media/image141.svg" Type="http://schemas.openxmlformats.org/officeDocument/2006/relationships/image"/><Relationship Id="rId7" Target="../media/image142.png" Type="http://schemas.openxmlformats.org/officeDocument/2006/relationships/image"/><Relationship Id="rId8" Target="../media/image143.svg" Type="http://schemas.openxmlformats.org/officeDocument/2006/relationships/image"/><Relationship Id="rId9" Target="../notesSlides/notesSlide25.xml" Type="http://schemas.openxmlformats.org/officeDocument/2006/relationships/notesSlide"/></Relationships>
</file>

<file path=ppt/slides/_rels/slide2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37.png" Type="http://schemas.openxmlformats.org/officeDocument/2006/relationships/image"/><Relationship Id="rId4" Target="../media/image38.svg" Type="http://schemas.openxmlformats.org/officeDocument/2006/relationships/image"/><Relationship Id="rId5" Target="../media/image31.png" Type="http://schemas.openxmlformats.org/officeDocument/2006/relationships/image"/><Relationship Id="rId6" Target="../media/image32.svg" Type="http://schemas.openxmlformats.org/officeDocument/2006/relationships/image"/><Relationship Id="rId7" Target="../media/image94.png" Type="http://schemas.openxmlformats.org/officeDocument/2006/relationships/image"/><Relationship Id="rId8" Target="../media/image95.svg" Type="http://schemas.openxmlformats.org/officeDocument/2006/relationships/image"/><Relationship Id="rId9" Target="../notesSlides/notesSlide26.xml" Type="http://schemas.openxmlformats.org/officeDocument/2006/relationships/notesSlide"/></Relationships>
</file>

<file path=ppt/slides/_rels/slide2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149.svg" Type="http://schemas.openxmlformats.org/officeDocument/2006/relationships/image"/><Relationship Id="rId11" Target="../media/image59.png" Type="http://schemas.openxmlformats.org/officeDocument/2006/relationships/image"/><Relationship Id="rId12" Target="../media/image60.svg" Type="http://schemas.openxmlformats.org/officeDocument/2006/relationships/image"/><Relationship Id="rId13" Target="../notesSlides/notesSlide27.xml" Type="http://schemas.openxmlformats.org/officeDocument/2006/relationships/notesSlide"/><Relationship Id="rId2" Target="../media/image2.jpeg" Type="http://schemas.openxmlformats.org/officeDocument/2006/relationships/image"/><Relationship Id="rId3" Target="../media/image144.png" Type="http://schemas.openxmlformats.org/officeDocument/2006/relationships/image"/><Relationship Id="rId4" Target="../media/image145.svg" Type="http://schemas.openxmlformats.org/officeDocument/2006/relationships/image"/><Relationship Id="rId5" Target="../media/image146.png" Type="http://schemas.openxmlformats.org/officeDocument/2006/relationships/image"/><Relationship Id="rId6" Target="../media/image147.svg" Type="http://schemas.openxmlformats.org/officeDocument/2006/relationships/image"/><Relationship Id="rId7" Target="../media/image104.png" Type="http://schemas.openxmlformats.org/officeDocument/2006/relationships/image"/><Relationship Id="rId8" Target="../media/image105.svg" Type="http://schemas.openxmlformats.org/officeDocument/2006/relationships/image"/><Relationship Id="rId9" Target="../media/image148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32.svg" Type="http://schemas.openxmlformats.org/officeDocument/2006/relationships/image"/><Relationship Id="rId11" Target="../notesSlides/notesSlide28.xml" Type="http://schemas.openxmlformats.org/officeDocument/2006/relationships/notesSlide"/><Relationship Id="rId2" Target="../media/image1.jpeg" Type="http://schemas.openxmlformats.org/officeDocument/2006/relationships/image"/><Relationship Id="rId3" Target="../media/image21.png" Type="http://schemas.openxmlformats.org/officeDocument/2006/relationships/image"/><Relationship Id="rId4" Target="../media/image22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150.png" Type="http://schemas.openxmlformats.org/officeDocument/2006/relationships/image"/><Relationship Id="rId8" Target="../media/image151.svg" Type="http://schemas.openxmlformats.org/officeDocument/2006/relationships/image"/><Relationship Id="rId9" Target="../media/image31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media/image152.png" Type="http://schemas.openxmlformats.org/officeDocument/2006/relationships/image"/><Relationship Id="rId4" Target="../media/image153.svg" Type="http://schemas.openxmlformats.org/officeDocument/2006/relationships/image"/><Relationship Id="rId5" Target="../media/image154.png" Type="http://schemas.openxmlformats.org/officeDocument/2006/relationships/image"/><Relationship Id="rId6" Target="../media/image155.svg" Type="http://schemas.openxmlformats.org/officeDocument/2006/relationships/image"/><Relationship Id="rId7" Target="../media/image35.png" Type="http://schemas.openxmlformats.org/officeDocument/2006/relationships/image"/><Relationship Id="rId8" Target="../media/image36.svg" Type="http://schemas.openxmlformats.org/officeDocument/2006/relationships/image"/><Relationship Id="rId9" Target="../notesSlides/notesSlide29.xml" Type="http://schemas.openxmlformats.org/officeDocument/2006/relationships/notesSlide"/></Relationships>
</file>

<file path=ppt/slides/_rels/slide3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notesSlides/notesSlide30.xml" Type="http://schemas.openxmlformats.org/officeDocument/2006/relationships/notesSlide"/></Relationships>
</file>

<file path=ppt/slides/_rels/slide3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161.svg" Type="http://schemas.openxmlformats.org/officeDocument/2006/relationships/image"/><Relationship Id="rId11" Target="../media/image162.png" Type="http://schemas.openxmlformats.org/officeDocument/2006/relationships/image"/><Relationship Id="rId12" Target="../media/image163.svg" Type="http://schemas.openxmlformats.org/officeDocument/2006/relationships/image"/><Relationship Id="rId13" Target="../notesSlides/notesSlide31.xml" Type="http://schemas.openxmlformats.org/officeDocument/2006/relationships/notesSlide"/><Relationship Id="rId2" Target="../media/image1.jpeg" Type="http://schemas.openxmlformats.org/officeDocument/2006/relationships/image"/><Relationship Id="rId3" Target="../media/image156.png" Type="http://schemas.openxmlformats.org/officeDocument/2006/relationships/image"/><Relationship Id="rId4" Target="../media/image157.svg" Type="http://schemas.openxmlformats.org/officeDocument/2006/relationships/image"/><Relationship Id="rId5" Target="../media/image104.png" Type="http://schemas.openxmlformats.org/officeDocument/2006/relationships/image"/><Relationship Id="rId6" Target="../media/image105.svg" Type="http://schemas.openxmlformats.org/officeDocument/2006/relationships/image"/><Relationship Id="rId7" Target="../media/image158.png" Type="http://schemas.openxmlformats.org/officeDocument/2006/relationships/image"/><Relationship Id="rId8" Target="../media/image159.svg" Type="http://schemas.openxmlformats.org/officeDocument/2006/relationships/image"/><Relationship Id="rId9" Target="../media/image160.pn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170.png" Type="http://schemas.openxmlformats.org/officeDocument/2006/relationships/image"/><Relationship Id="rId2" Target="../media/image1.jpeg" Type="http://schemas.openxmlformats.org/officeDocument/2006/relationships/image"/><Relationship Id="rId3" Target="../media/image164.png" Type="http://schemas.openxmlformats.org/officeDocument/2006/relationships/image"/><Relationship Id="rId4" Target="../media/image165.svg" Type="http://schemas.openxmlformats.org/officeDocument/2006/relationships/image"/><Relationship Id="rId5" Target="../media/image166.png" Type="http://schemas.openxmlformats.org/officeDocument/2006/relationships/image"/><Relationship Id="rId6" Target="../media/image167.svg" Type="http://schemas.openxmlformats.org/officeDocument/2006/relationships/image"/><Relationship Id="rId7" Target="../media/image168.png" Type="http://schemas.openxmlformats.org/officeDocument/2006/relationships/image"/><Relationship Id="rId8" Target="../media/image169.svg" Type="http://schemas.openxmlformats.org/officeDocument/2006/relationships/image"/><Relationship Id="rId9" Target="../notesSlides/notesSlide32.xml" Type="http://schemas.openxmlformats.org/officeDocument/2006/relationships/notesSlid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2032000"/>
            <a:ext cx="1016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🛡️ AI的安全边界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28575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从量化交易看自动化风险管理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34376" flipH="false" flipV="false">
            <a:off x="5461032" y="3549650"/>
            <a:ext cx="127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007BFF">
                <a:alpha val="5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1016000" y="3746500"/>
            <a:ext cx="1016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读懂AI Agent —— 给每个人的智能助手通识课 | 第5课 / 共6课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📋 今天的旅程</a:t>
            </a:r>
            <a:endParaRPr lang="en-US" sz="1100"/>
          </a:p>
        </p:txBody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762000" y="1651000"/>
          <a:ext cx="10160000" cy="41656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032000"/>
                <a:gridCol w="6096000"/>
                <a:gridCol w="2032000"/>
              </a:tblGrid>
              <a:tr h="5080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007B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环节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25400">
                      <a:solidFill>
                        <a:srgbClr val="00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BFF">
                        <a:alpha val="1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007B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内容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25400">
                      <a:solidFill>
                        <a:srgbClr val="00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BFF">
                        <a:alpha val="1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007B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时间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25400">
                      <a:solidFill>
                        <a:srgbClr val="00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BFF">
                        <a:alpha val="10000"/>
                      </a:srgbClr>
                    </a:solidFill>
                  </a:tcPr>
                </a:tc>
              </a:tr>
              <a:tr h="4572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📖 导入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25400">
                      <a:solidFill>
                        <a:srgbClr val="00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AI交易员的一天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25400">
                      <a:solidFill>
                        <a:srgbClr val="00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25min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25400">
                      <a:solidFill>
                        <a:srgbClr val="00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572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🚗 模块5.2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00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汽车安全系统类比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00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30min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00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572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🔒 模块5.3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00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六重安全检查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00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20min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00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572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☕ 休息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00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中场休息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00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10min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00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572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🏥 模块5.4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00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风险评分=体检报告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00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30min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00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572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💬 讨论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00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风控大迁移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00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30min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00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572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🏆 模块5.6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00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三条黄金法则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00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25min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00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572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📌 总结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00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核心回顾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00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10min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00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🤔 一个问题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651000"/>
            <a:ext cx="10668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007BFF">
                <a:alpha val="30000"/>
              </a:srgbClr>
            </a:solidFill>
            <a:prstDash val="solid"/>
            <a:round/>
          </a:ln>
          <a:effectLst>
            <a:outerShdw dir="2700000" dist="50800" blurRad="127000" algn="tl" rotWithShape="false">
              <a:srgbClr val="007BFF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1968500"/>
            <a:ext cx="609600" cy="6096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778000" y="1841500"/>
            <a:ext cx="9398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假设场景：</a:t>
            </a:r>
            <a:r>
              <a:rPr lang="en-US" b="false" i="false" strike="noStrike" u="none" sz="18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你会让一个刚拿到驾照的新手，在没有任何安全措施的情况下，开F1赛车吗？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3238500"/>
            <a:ext cx="10668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28A745">
                <a:alpha val="30000"/>
              </a:srgbClr>
            </a:solidFill>
            <a:prstDash val="solid"/>
            <a:round/>
          </a:ln>
          <a:effectLst>
            <a:outerShdw dir="2700000" dist="50800" blurRad="127000" algn="tl" rotWithShape="false">
              <a:srgbClr val="28A745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016000" y="3556000"/>
            <a:ext cx="609600" cy="6096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778000" y="3429000"/>
            <a:ext cx="9398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理性回答：</a:t>
            </a:r>
            <a:r>
              <a:rPr lang="en-US" b="false" i="false" strike="noStrike" u="none" sz="18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当然不会！即使是最好的赛车手，车上也有安全带、防滚架、灭火器等安全措施。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62000" y="4826000"/>
            <a:ext cx="10668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FD7E14">
                <a:alpha val="30000"/>
              </a:srgbClr>
            </a:solidFill>
            <a:prstDash val="solid"/>
            <a:round/>
          </a:ln>
          <a:effectLst>
            <a:outerShdw dir="2700000" dist="50800" blurRad="127000" algn="tl" rotWithShape="false">
              <a:srgbClr val="FD7E14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16000" y="5143500"/>
            <a:ext cx="609600" cy="6096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1778000" y="5016500"/>
            <a:ext cx="9398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核心思考：</a:t>
            </a:r>
            <a:r>
              <a:rPr lang="en-US" b="false" i="false" strike="noStrike" u="none" sz="18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如果AI能全自动做投资决策，你敢让它管你全部积蓄吗？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📖 AI交易员"桑丘"的一天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-4092" flipH="false" flipV="false">
            <a:off x="762004" y="1771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007B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4" id="4"/>
          <p:cNvSpPr/>
          <p:nvPr/>
        </p:nvSpPr>
        <p:spPr>
          <a:xfrm rot="0" flipH="false" flipV="false">
            <a:off x="762000" y="2032000"/>
            <a:ext cx="24130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007BFF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952500" y="2222500"/>
            <a:ext cx="304800" cy="3048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333500" y="2184400"/>
            <a:ext cx="1714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06:00 启动扫描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952500" y="2603500"/>
            <a:ext cx="2032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自动启动，全天候扫描加密货币市场数据，监控异动。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3429000" y="2032000"/>
            <a:ext cx="24130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007BFF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3619500" y="2222500"/>
            <a:ext cx="304800" cy="3048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4000500" y="2184400"/>
            <a:ext cx="1714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08:00 策略决策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3619500" y="2603500"/>
            <a:ext cx="2032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模型预测ETH上涨概率65%，自动执行买入少量ETH的指令。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096000" y="2032000"/>
            <a:ext cx="24130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28A745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6286500" y="2222500"/>
            <a:ext cx="304800" cy="3048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6667500" y="2184400"/>
            <a:ext cx="1714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8A745"/>
                </a:solidFill>
                <a:latin typeface="Noto Sans SC"/>
                <a:ea typeface="Noto Sans SC"/>
                <a:cs typeface="Noto Sans SC"/>
                <a:sym typeface="Noto Sans SC"/>
              </a:rPr>
              <a:t>12:00 获利了结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286500" y="2603500"/>
            <a:ext cx="2032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ETH上涨2%，触发止盈规则，自动卖出，成功盈利。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8763000" y="2032000"/>
            <a:ext cx="24130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FD7E14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8953500" y="2222500"/>
            <a:ext cx="304800" cy="3048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9334500" y="2184400"/>
            <a:ext cx="1714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D7E14"/>
                </a:solidFill>
                <a:latin typeface="Noto Sans SC"/>
                <a:ea typeface="Noto Sans SC"/>
                <a:cs typeface="Noto Sans SC"/>
                <a:sym typeface="Noto Sans SC"/>
              </a:rPr>
              <a:t>15:00 市场波动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8953500" y="2603500"/>
            <a:ext cx="2032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市场突然暴跌5%，另一笔订单出现亏损，风险值上升。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762000" y="3937000"/>
            <a:ext cx="24130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DC3545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952500" y="4127500"/>
            <a:ext cx="304800" cy="304800"/>
          </a:xfrm>
          <a:prstGeom prst="rect">
            <a:avLst/>
          </a:prstGeom>
        </p:spPr>
      </p:pic>
      <p:sp>
        <p:nvSpPr>
          <p:cNvPr name="AutoShape 22" id="22"/>
          <p:cNvSpPr/>
          <p:nvPr/>
        </p:nvSpPr>
        <p:spPr>
          <a:xfrm rot="0" flipH="false" flipV="false">
            <a:off x="1333500" y="4089400"/>
            <a:ext cx="1714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DC3545"/>
                </a:solidFill>
                <a:latin typeface="Noto Sans SC"/>
                <a:ea typeface="Noto Sans SC"/>
                <a:cs typeface="Noto Sans SC"/>
                <a:sym typeface="Noto Sans SC"/>
              </a:rPr>
              <a:t>15:05 安全介入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952500" y="4508500"/>
            <a:ext cx="2032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日亏损接近上限，系统自动暂停所有交易并发送报警短信。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3429000" y="3937000"/>
            <a:ext cx="24130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007BFF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5" id="25"/>
          <p:cNvPicPr>
            <a:picLocks noChangeAspect="true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 flipH="false" flipV="false">
            <a:off x="3619500" y="4127500"/>
            <a:ext cx="304800" cy="304800"/>
          </a:xfrm>
          <a:prstGeom prst="rect">
            <a:avLst/>
          </a:prstGeom>
        </p:spPr>
      </p:pic>
      <p:sp>
        <p:nvSpPr>
          <p:cNvPr name="AutoShape 26" id="26"/>
          <p:cNvSpPr/>
          <p:nvPr/>
        </p:nvSpPr>
        <p:spPr>
          <a:xfrm rot="0" flipH="false" flipV="false">
            <a:off x="4000500" y="4089400"/>
            <a:ext cx="1714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22:00 日报生成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3619500" y="4508500"/>
            <a:ext cx="2032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自动生成当日交易报告，复盘盈亏情况与策略执行效果。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6096000" y="3937000"/>
            <a:ext cx="5080000" cy="1651000"/>
          </a:xfrm>
          <a:prstGeom prst="roundRect">
            <a:avLst>
              <a:gd name="adj" fmla="val 7692"/>
            </a:avLst>
          </a:prstGeom>
          <a:solidFill>
            <a:srgbClr val="007BFF">
              <a:alpha val="10000"/>
            </a:srgbClr>
          </a:solidFill>
          <a:ln w="12700" cmpd="sng" cap="flat">
            <a:solidFill>
              <a:srgbClr val="007BFF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9" id="29"/>
          <p:cNvPicPr>
            <a:picLocks noChangeAspect="true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 rot="0" flipH="false" flipV="false">
            <a:off x="6350000" y="4127500"/>
            <a:ext cx="406400" cy="406400"/>
          </a:xfrm>
          <a:prstGeom prst="rect">
            <a:avLst/>
          </a:prstGeom>
        </p:spPr>
      </p:pic>
      <p:sp>
        <p:nvSpPr>
          <p:cNvPr name="AutoShape 30" id="30"/>
          <p:cNvSpPr/>
          <p:nvPr/>
        </p:nvSpPr>
        <p:spPr>
          <a:xfrm rot="0" flipH="false" flipV="false">
            <a:off x="6858000" y="41275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核心结论：全程自动化</a:t>
            </a:r>
            <a:endParaRPr lang="en-US" sz="1100"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6350000" y="4572000"/>
            <a:ext cx="457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从数据分析、决策执行到风险控制，AI交易员“桑丘”实现了全流程无人值守，效率远超人工盯盘。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自动化的诱惑</a:t>
            </a:r>
            <a:endParaRPr lang="en-US" sz="1100"/>
          </a:p>
        </p:txBody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762000" y="1651000"/>
          <a:ext cx="10668000" cy="3683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3302000"/>
                <a:gridCol w="7366000"/>
              </a:tblGrid>
              <a:tr h="6350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007B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核心优势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25400">
                      <a:solidFill>
                        <a:srgbClr val="00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BFF">
                        <a:alpha val="1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007B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具体说明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25400">
                      <a:solidFill>
                        <a:srgbClr val="00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BFF">
                        <a:alpha val="10000"/>
                      </a:srgbClr>
                    </a:solidFill>
                  </a:tcPr>
                </a:tc>
              </a:tr>
              <a:tr h="7620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28A74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⏰ 24小时不休息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25400">
                      <a:solidFill>
                        <a:srgbClr val="00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50505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人需要睡觉休息，AI可以全天候不间断工作，效率极高。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25400">
                      <a:solidFill>
                        <a:srgbClr val="00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620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007B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😌 没有情绪波动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50505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不受恐慌、贪婪等情绪影响，始终保持理性决策。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620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FD7E1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⚡ 速度极快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50505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毫秒级决策响应，对比人类可能需要半小时的犹豫和分析。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620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DC354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✅ 不犯低级错误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50505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精准执行指令，避免手滑（如把100写成10000）等人为失误。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name="AutoShape 4" id="4"/>
          <p:cNvSpPr/>
          <p:nvPr/>
        </p:nvSpPr>
        <p:spPr>
          <a:xfrm rot="0" flipH="false" flipV="false">
            <a:off x="762000" y="5588000"/>
            <a:ext cx="10668000" cy="762000"/>
          </a:xfrm>
          <a:prstGeom prst="roundRect">
            <a:avLst>
              <a:gd name="adj" fmla="val 26666"/>
            </a:avLst>
          </a:prstGeom>
          <a:solidFill>
            <a:srgbClr val="FD7E14">
              <a:alpha val="10000"/>
            </a:srgbClr>
          </a:solidFill>
          <a:ln w="12700" cmpd="sng" cap="flat">
            <a:solidFill>
              <a:srgbClr val="FD7E14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D7E14"/>
                </a:solidFill>
                <a:latin typeface="Noto Sans SC"/>
                <a:ea typeface="Noto Sans SC"/>
                <a:cs typeface="Noto Sans SC"/>
                <a:sym typeface="Noto Sans SC"/>
              </a:rPr>
              <a:t>思考：听起来很完美？AI自动化真的是万无一失的吗？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DC3545"/>
                </a:solidFill>
                <a:latin typeface="Noto Sans SC"/>
                <a:ea typeface="Noto Sans SC"/>
                <a:cs typeface="Noto Sans SC"/>
                <a:sym typeface="Noto Sans SC"/>
              </a:rPr>
              <a:t>⚠️ 但——如果没有安全措施？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651000"/>
            <a:ext cx="52070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DC3545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1905000"/>
            <a:ext cx="406400" cy="4064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524000" y="18796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逆势加仓的陷阱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2286000"/>
            <a:ext cx="4699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646A73"/>
                </a:solidFill>
                <a:latin typeface="Noto Sans SC"/>
                <a:ea typeface="Noto Sans SC"/>
                <a:cs typeface="Noto Sans SC"/>
                <a:sym typeface="Noto Sans SC"/>
              </a:rPr>
              <a:t>市场暴跌时，AI可能固执地认为会反弹，从而不断加仓，导致亏损迅速放大。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6223000" y="1651000"/>
            <a:ext cx="52070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FD7E14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477000" y="1905000"/>
            <a:ext cx="406400" cy="4064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6985000" y="18796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高频交易的累积亏损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477000" y="2286000"/>
            <a:ext cx="4699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646A73"/>
                </a:solidFill>
                <a:latin typeface="Noto Sans SC"/>
                <a:ea typeface="Noto Sans SC"/>
                <a:cs typeface="Noto Sans SC"/>
                <a:sym typeface="Noto Sans SC"/>
              </a:rPr>
              <a:t>若缺乏限制，AI可能一天交易上百次，单次小额亏损累积起来也会造成巨额损失。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62000" y="3556000"/>
            <a:ext cx="52070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FD7E14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16000" y="3810000"/>
            <a:ext cx="406400" cy="4064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1524000" y="37846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过度集中的高风险交易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016000" y="4191000"/>
            <a:ext cx="4699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646A73"/>
                </a:solidFill>
                <a:latin typeface="Noto Sans SC"/>
                <a:ea typeface="Noto Sans SC"/>
                <a:cs typeface="Noto Sans SC"/>
                <a:sym typeface="Noto Sans SC"/>
              </a:rPr>
              <a:t>缺乏风控机制时，AI可能将所有资金投入单一高风险标的，导致“一把梭哈”的灾难性后果。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223000" y="3556000"/>
            <a:ext cx="52070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DC3545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6477000" y="3810000"/>
            <a:ext cx="406400" cy="4064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6985000" y="37846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程序漏洞的瞬间毁灭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477000" y="4191000"/>
            <a:ext cx="4699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646A73"/>
                </a:solidFill>
                <a:latin typeface="Noto Sans SC"/>
                <a:ea typeface="Noto Sans SC"/>
                <a:cs typeface="Noto Sans SC"/>
                <a:sym typeface="Noto Sans SC"/>
              </a:rPr>
              <a:t>代码中的微小Bug可能在极端行情下被放大，导致账户在几分钟内被完全清空。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762000" y="5461000"/>
            <a:ext cx="10668000" cy="1016000"/>
          </a:xfrm>
          <a:prstGeom prst="roundRect">
            <a:avLst>
              <a:gd name="adj" fmla="val 12500"/>
            </a:avLst>
          </a:prstGeom>
          <a:solidFill>
            <a:srgbClr val="DC3545">
              <a:alpha val="10000"/>
            </a:srgbClr>
          </a:solidFill>
          <a:ln w="12700" cmpd="sng" cap="flat">
            <a:solidFill>
              <a:srgbClr val="DC3545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1016000" y="5651500"/>
            <a:ext cx="406400" cy="406400"/>
          </a:xfrm>
          <a:prstGeom prst="rect">
            <a:avLst/>
          </a:prstGeom>
        </p:spPr>
      </p:pic>
      <p:sp>
        <p:nvSpPr>
          <p:cNvPr name="AutoShape 21" id="21"/>
          <p:cNvSpPr/>
          <p:nvPr/>
        </p:nvSpPr>
        <p:spPr>
          <a:xfrm rot="0" flipH="false" flipV="false">
            <a:off x="1524000" y="5613400"/>
            <a:ext cx="9652000" cy="711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DC3545"/>
                </a:solidFill>
                <a:latin typeface="Noto Sans SC"/>
                <a:ea typeface="Noto Sans SC"/>
                <a:cs typeface="Noto Sans SC"/>
                <a:sym typeface="Noto Sans SC"/>
              </a:rPr>
              <a:t>真实案例警示：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2012年 Knight Capital 因程序错误，在短短45分钟内交易了超过400万笔订单，最终亏损高达4.4亿美元，几乎导致公司破产。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AI 自动化的安全边界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778000"/>
            <a:ext cx="10668000" cy="4064000"/>
          </a:xfrm>
          <a:prstGeom prst="roundRect">
            <a:avLst>
              <a:gd name="adj" fmla="val 3125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007BFF">
                <a:alpha val="30000"/>
              </a:srgbClr>
            </a:solidFill>
            <a:prstDash val="solid"/>
            <a:round/>
          </a:ln>
          <a:effectLst>
            <a:outerShdw dir="2700000" dist="50800" blurRad="127000" algn="tl" rotWithShape="false">
              <a:srgbClr val="000000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2286000" y="2159000"/>
            <a:ext cx="406400" cy="4064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2794000" y="2108200"/>
            <a:ext cx="635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24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AI 自动化很酷，但没有安全边界的自动化</a:t>
            </a:r>
            <a:endParaRPr lang="en-US" sz="1100"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2286000" y="2794000"/>
            <a:ext cx="457200" cy="4572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2794000" y="2743200"/>
            <a:ext cx="6350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DC3545"/>
                </a:solidFill>
                <a:latin typeface="Noto Sans SC"/>
                <a:ea typeface="Noto Sans SC"/>
                <a:cs typeface="Noto Sans SC"/>
                <a:sym typeface="Noto Sans SC"/>
              </a:rPr>
              <a:t>就是一颗定时炸弹</a:t>
            </a:r>
            <a:endParaRPr lang="en-US" sz="1100"/>
          </a:p>
        </p:txBody>
      </p:sp>
      <p:cxnSp>
        <p:nvCxnSpPr>
          <p:cNvPr name="Connector 9" id="9"/>
          <p:cNvCxnSpPr/>
          <p:nvPr/>
        </p:nvCxnSpPr>
        <p:spPr>
          <a:xfrm rot="-5729" flipH="false" flipV="false">
            <a:off x="2286005" y="3486150"/>
            <a:ext cx="762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8C8C8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name="Picture 10" id="10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2286000" y="3746500"/>
            <a:ext cx="406400" cy="4064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2794000" y="3695700"/>
            <a:ext cx="635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24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能力越大，责任越大</a:t>
            </a:r>
            <a:endParaRPr lang="en-US" sz="1100"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2286000" y="4381500"/>
            <a:ext cx="406400" cy="4064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2794000" y="4330700"/>
            <a:ext cx="635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28A745"/>
                </a:solidFill>
                <a:latin typeface="Noto Sans SC"/>
                <a:ea typeface="Noto Sans SC"/>
                <a:cs typeface="Noto Sans SC"/>
                <a:sym typeface="Noto Sans SC"/>
              </a:rPr>
              <a:t>安全机制越重要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🚗 你的车上有多少安全系统？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651000"/>
            <a:ext cx="52070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007B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1905000"/>
            <a:ext cx="609600" cy="6096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778000" y="1841500"/>
            <a:ext cx="393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安全带 (Seat Belt)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778000" y="2222500"/>
            <a:ext cx="3937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限制你的移动范围，始终生效，防止二次碰撞。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6223000" y="1651000"/>
            <a:ext cx="52070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28A745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477000" y="1905000"/>
            <a:ext cx="609600" cy="6096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7239000" y="1841500"/>
            <a:ext cx="393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ABS防抱死系统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239000" y="2222500"/>
            <a:ext cx="3937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检测到打滑时自动调整，异常时自动介入，保持操控性。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62000" y="3556000"/>
            <a:ext cx="52070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DC3545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16000" y="3810000"/>
            <a:ext cx="609600" cy="6096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1778000" y="3746500"/>
            <a:ext cx="393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安全气囊 (Airbag)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778000" y="4127500"/>
            <a:ext cx="3937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碰撞时弹出保护，作为重大事故发生时的最后一道防线。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223000" y="3556000"/>
            <a:ext cx="52070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FD7E14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6477000" y="3810000"/>
            <a:ext cx="609600" cy="6096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7239000" y="3746500"/>
            <a:ext cx="393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限速器 (Speed Limiter)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239000" y="4127500"/>
            <a:ext cx="3937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设定最高速度，始终生效，防止因超速导致的危险。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762000" y="5461000"/>
            <a:ext cx="10668000" cy="762000"/>
          </a:xfrm>
          <a:prstGeom prst="roundRect">
            <a:avLst>
              <a:gd name="adj" fmla="val 16666"/>
            </a:avLst>
          </a:prstGeom>
          <a:solidFill>
            <a:srgbClr val="007BFF">
              <a:alpha val="10000"/>
            </a:srgbClr>
          </a:solidFill>
          <a:ln w="12700" cmpd="sng" cap="flat">
            <a:solidFill>
              <a:srgbClr val="007BFF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1016000" y="5664200"/>
            <a:ext cx="355600" cy="355600"/>
          </a:xfrm>
          <a:prstGeom prst="rect">
            <a:avLst/>
          </a:prstGeom>
        </p:spPr>
      </p:pic>
      <p:sp>
        <p:nvSpPr>
          <p:cNvPr name="AutoShape 21" id="21"/>
          <p:cNvSpPr/>
          <p:nvPr/>
        </p:nvSpPr>
        <p:spPr>
          <a:xfrm rot="0" flipH="false" flipV="false">
            <a:off x="1460500" y="5626100"/>
            <a:ext cx="9779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结论：它们不是一个“万能开关”，而是多层防护，各管一段！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AI的四层安全 = 汽车四层安全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651000"/>
            <a:ext cx="5207000" cy="2159000"/>
          </a:xfrm>
          <a:prstGeom prst="roundRect">
            <a:avLst>
              <a:gd name="adj" fmla="val 5882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007BFF">
                <a:alpha val="30000"/>
              </a:srgbClr>
            </a:solidFill>
            <a:prstDash val="solid"/>
            <a:round/>
          </a:ln>
          <a:effectLst>
            <a:outerShdw dir="2700000" dist="50800" blurRad="127000" algn="tl" rotWithShape="false">
              <a:srgbClr val="000000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1905000"/>
            <a:ext cx="406400" cy="4064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524000" y="1879600"/>
            <a:ext cx="4191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第1层：权限限制 = 安全带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9291" flipH="false" flipV="false">
            <a:off x="1016009" y="23812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07B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1016000" y="2476500"/>
            <a:ext cx="4699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始终生效，限定AI能做/不能做什么。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787878"/>
                </a:solidFill>
                <a:latin typeface="Noto Sans SC"/>
                <a:ea typeface="Noto Sans SC"/>
                <a:cs typeface="Noto Sans SC"/>
                <a:sym typeface="Noto Sans SC"/>
              </a:rPr>
              <a:t>例：单次交易上限$200，防止单笔大额损失。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223000" y="1651000"/>
            <a:ext cx="5207000" cy="2159000"/>
          </a:xfrm>
          <a:prstGeom prst="roundRect">
            <a:avLst>
              <a:gd name="adj" fmla="val 5882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28A745">
                <a:alpha val="30000"/>
              </a:srgbClr>
            </a:solidFill>
            <a:prstDash val="solid"/>
            <a:round/>
          </a:ln>
          <a:effectLst>
            <a:outerShdw dir="2700000" dist="50800" blurRad="127000" algn="tl" rotWithShape="false">
              <a:srgbClr val="000000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477000" y="1905000"/>
            <a:ext cx="406400" cy="4064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6985000" y="1879600"/>
            <a:ext cx="4191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28A745"/>
                </a:solidFill>
                <a:latin typeface="Noto Sans SC"/>
                <a:ea typeface="Noto Sans SC"/>
                <a:cs typeface="Noto Sans SC"/>
                <a:sym typeface="Noto Sans SC"/>
              </a:rPr>
              <a:t>第2层：异常检测 = ABS防抱死</a:t>
            </a:r>
            <a:endParaRPr lang="en-US" sz="1100"/>
          </a:p>
        </p:txBody>
      </p:sp>
      <p:cxnSp>
        <p:nvCxnSpPr>
          <p:cNvPr name="Connector 11" id="11"/>
          <p:cNvCxnSpPr/>
          <p:nvPr/>
        </p:nvCxnSpPr>
        <p:spPr>
          <a:xfrm rot="-9291" flipH="false" flipV="false">
            <a:off x="6477009" y="23812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8A745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2" id="12"/>
          <p:cNvSpPr/>
          <p:nvPr/>
        </p:nvSpPr>
        <p:spPr>
          <a:xfrm rot="0" flipH="false" flipV="false">
            <a:off x="6477000" y="2476500"/>
            <a:ext cx="4699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实时监控，发现异常自动预警。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787878"/>
                </a:solidFill>
                <a:latin typeface="Noto Sans SC"/>
                <a:ea typeface="Noto Sans SC"/>
                <a:cs typeface="Noto Sans SC"/>
                <a:sym typeface="Noto Sans SC"/>
              </a:rPr>
              <a:t>例：交易频率突然变高时发出警告，防止高频刷单。</a:t>
            </a:r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62000" y="4064000"/>
            <a:ext cx="5207000" cy="2159000"/>
          </a:xfrm>
          <a:prstGeom prst="roundRect">
            <a:avLst>
              <a:gd name="adj" fmla="val 5882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FD7E14">
                <a:alpha val="30000"/>
              </a:srgbClr>
            </a:solidFill>
            <a:prstDash val="solid"/>
            <a:round/>
          </a:ln>
          <a:effectLst>
            <a:outerShdw dir="2700000" dist="50800" blurRad="127000" algn="tl" rotWithShape="false">
              <a:srgbClr val="000000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16000" y="4318000"/>
            <a:ext cx="406400" cy="4064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1524000" y="4292600"/>
            <a:ext cx="4191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D7E14"/>
                </a:solidFill>
                <a:latin typeface="Noto Sans SC"/>
                <a:ea typeface="Noto Sans SC"/>
                <a:cs typeface="Noto Sans SC"/>
                <a:sym typeface="Noto Sans SC"/>
              </a:rPr>
              <a:t>第3层：熔断机制 = 安全气囊</a:t>
            </a:r>
            <a:endParaRPr lang="en-US" sz="1100"/>
          </a:p>
        </p:txBody>
      </p:sp>
      <p:cxnSp>
        <p:nvCxnSpPr>
          <p:cNvPr name="Connector 16" id="16"/>
          <p:cNvCxnSpPr/>
          <p:nvPr/>
        </p:nvCxnSpPr>
        <p:spPr>
          <a:xfrm rot="-9291" flipH="false" flipV="false">
            <a:off x="1016009" y="47942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D7E14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7" id="17"/>
          <p:cNvSpPr/>
          <p:nvPr/>
        </p:nvSpPr>
        <p:spPr>
          <a:xfrm rot="0" flipH="false" flipV="false">
            <a:off x="1016000" y="4889500"/>
            <a:ext cx="4699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紧急保护，达到危险阈值自动停止。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787878"/>
                </a:solidFill>
                <a:latin typeface="Noto Sans SC"/>
                <a:ea typeface="Noto Sans SC"/>
                <a:cs typeface="Noto Sans SC"/>
                <a:sym typeface="Noto Sans SC"/>
              </a:rPr>
              <a:t>例：日亏损达上限时暂停所有交易，避免风险扩散。</a:t>
            </a:r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223000" y="4064000"/>
            <a:ext cx="5207000" cy="2159000"/>
          </a:xfrm>
          <a:prstGeom prst="roundRect">
            <a:avLst>
              <a:gd name="adj" fmla="val 5882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DC3545">
                <a:alpha val="30000"/>
              </a:srgbClr>
            </a:solidFill>
            <a:prstDash val="solid"/>
            <a:round/>
          </a:ln>
          <a:effectLst>
            <a:outerShdw dir="2700000" dist="50800" blurRad="127000" algn="tl" rotWithShape="false">
              <a:srgbClr val="000000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6477000" y="4318000"/>
            <a:ext cx="406400" cy="406400"/>
          </a:xfrm>
          <a:prstGeom prst="rect">
            <a:avLst/>
          </a:prstGeom>
        </p:spPr>
      </p:pic>
      <p:sp>
        <p:nvSpPr>
          <p:cNvPr name="AutoShape 20" id="20"/>
          <p:cNvSpPr/>
          <p:nvPr/>
        </p:nvSpPr>
        <p:spPr>
          <a:xfrm rot="0" flipH="false" flipV="false">
            <a:off x="6985000" y="4292600"/>
            <a:ext cx="4191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DC3545"/>
                </a:solidFill>
                <a:latin typeface="Noto Sans SC"/>
                <a:ea typeface="Noto Sans SC"/>
                <a:cs typeface="Noto Sans SC"/>
                <a:sym typeface="Noto Sans SC"/>
              </a:rPr>
              <a:t>第4层：硬性上限 = 限速器</a:t>
            </a:r>
            <a:endParaRPr lang="en-US" sz="1100"/>
          </a:p>
        </p:txBody>
      </p:sp>
      <p:cxnSp>
        <p:nvCxnSpPr>
          <p:cNvPr name="Connector 21" id="21"/>
          <p:cNvCxnSpPr/>
          <p:nvPr/>
        </p:nvCxnSpPr>
        <p:spPr>
          <a:xfrm rot="-9291" flipH="false" flipV="false">
            <a:off x="6477009" y="47942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C3545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2" id="22"/>
          <p:cNvSpPr/>
          <p:nvPr/>
        </p:nvSpPr>
        <p:spPr>
          <a:xfrm rot="0" flipH="false" flipV="false">
            <a:off x="6477000" y="4889500"/>
            <a:ext cx="4699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绝对限制，不可突破的最终底线。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787878"/>
                </a:solidFill>
                <a:latin typeface="Noto Sans SC"/>
                <a:ea typeface="Noto Sans SC"/>
                <a:cs typeface="Noto Sans SC"/>
                <a:sym typeface="Noto Sans SC"/>
              </a:rPr>
              <a:t>例：总损失不能超过账户的10%，确保生存底线。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❓ 为什么需要“多层”？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524000"/>
            <a:ext cx="10668000" cy="762000"/>
          </a:xfrm>
          <a:prstGeom prst="roundRect">
            <a:avLst>
              <a:gd name="adj" fmla="val 16666"/>
            </a:avLst>
          </a:prstGeom>
          <a:solidFill>
            <a:srgbClr val="E8F0FE">
              <a:alpha val="100000"/>
            </a:srgbClr>
          </a:solidFill>
          <a:ln w="12700" cmpd="sng" cap="flat">
            <a:solidFill>
              <a:srgbClr val="007BFF">
                <a:alpha val="3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🤔 核心疑问：有一个“紧急停止”按钮不就够了？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2540000"/>
            <a:ext cx="3302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9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01600" algn="tl" rotWithShape="false">
              <a:srgbClr val="000000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2794000"/>
            <a:ext cx="406400" cy="4064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524000" y="2794000"/>
            <a:ext cx="228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DC3545"/>
                </a:solidFill>
                <a:latin typeface="Noto Sans SC"/>
                <a:ea typeface="Noto Sans SC"/>
                <a:cs typeface="Noto Sans SC"/>
                <a:sym typeface="Noto Sans SC"/>
              </a:rPr>
              <a:t>仅靠安全带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15626" flipH="false" flipV="false">
            <a:off x="1016014" y="32321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C3545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1016000" y="3365500"/>
            <a:ext cx="2794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在严重碰撞时，单一的安全带可能无法提供足够的缓冲，无法保全生命。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445000" y="2540000"/>
            <a:ext cx="3302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9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01600" algn="tl" rotWithShape="false">
              <a:srgbClr val="000000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699000" y="2794000"/>
            <a:ext cx="406400" cy="4064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5207000" y="2794000"/>
            <a:ext cx="228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D7E14"/>
                </a:solidFill>
                <a:latin typeface="Noto Sans SC"/>
                <a:ea typeface="Noto Sans SC"/>
                <a:cs typeface="Noto Sans SC"/>
                <a:sym typeface="Noto Sans SC"/>
              </a:rPr>
              <a:t>仅靠安全气囊</a:t>
            </a:r>
            <a:endParaRPr lang="en-US" sz="1100"/>
          </a:p>
        </p:txBody>
      </p:sp>
      <p:cxnSp>
        <p:nvCxnSpPr>
          <p:cNvPr name="Connector 12" id="12"/>
          <p:cNvCxnSpPr/>
          <p:nvPr/>
        </p:nvCxnSpPr>
        <p:spPr>
          <a:xfrm rot="-15626" flipH="false" flipV="false">
            <a:off x="4699014" y="32321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D7E14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3" id="13"/>
          <p:cNvSpPr/>
          <p:nvPr/>
        </p:nvSpPr>
        <p:spPr>
          <a:xfrm rot="0" flipH="false" flipV="false">
            <a:off x="4699000" y="3365500"/>
            <a:ext cx="2794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气囊弹出是被动响应，当它启动时，事故往往已经发生，无法预防。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128000" y="2540000"/>
            <a:ext cx="3302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9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01600" algn="tl" rotWithShape="false">
              <a:srgbClr val="000000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8382000" y="2794000"/>
            <a:ext cx="406400" cy="4064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8890000" y="2794000"/>
            <a:ext cx="228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DC3545"/>
                </a:solidFill>
                <a:latin typeface="Noto Sans SC"/>
                <a:ea typeface="Noto Sans SC"/>
                <a:cs typeface="Noto Sans SC"/>
                <a:sym typeface="Noto Sans SC"/>
              </a:rPr>
              <a:t>仅靠ABS系统</a:t>
            </a:r>
            <a:endParaRPr lang="en-US" sz="1100"/>
          </a:p>
        </p:txBody>
      </p:sp>
      <p:cxnSp>
        <p:nvCxnSpPr>
          <p:cNvPr name="Connector 17" id="17"/>
          <p:cNvCxnSpPr/>
          <p:nvPr/>
        </p:nvCxnSpPr>
        <p:spPr>
          <a:xfrm rot="-15626" flipH="false" flipV="false">
            <a:off x="8382014" y="32321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C3545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8" id="18"/>
          <p:cNvSpPr/>
          <p:nvPr/>
        </p:nvSpPr>
        <p:spPr>
          <a:xfrm rot="0" flipH="false" flipV="false">
            <a:off x="8382000" y="3365500"/>
            <a:ext cx="2794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ABS能防止刹车抱死，但无法阻止驾驶员疯狂超速，无法应对根源风险。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762000" y="5080000"/>
            <a:ext cx="10668000" cy="1016000"/>
          </a:xfrm>
          <a:prstGeom prst="roundRect">
            <a:avLst>
              <a:gd name="adj" fmla="val 12500"/>
            </a:avLst>
          </a:prstGeom>
          <a:solidFill>
            <a:srgbClr val="EBF8F0">
              <a:alpha val="100000"/>
            </a:srgbClr>
          </a:solidFill>
          <a:ln w="12700" cmpd="sng" cap="flat">
            <a:solidFill>
              <a:srgbClr val="28A745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1016000" y="5384800"/>
            <a:ext cx="406400" cy="406400"/>
          </a:xfrm>
          <a:prstGeom prst="rect">
            <a:avLst/>
          </a:prstGeom>
        </p:spPr>
      </p:pic>
      <p:sp>
        <p:nvSpPr>
          <p:cNvPr name="AutoShape 21" id="21"/>
          <p:cNvSpPr/>
          <p:nvPr/>
        </p:nvSpPr>
        <p:spPr>
          <a:xfrm rot="0" flipH="false" flipV="false">
            <a:off x="1524000" y="5270500"/>
            <a:ext cx="9652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8A745"/>
                </a:solidFill>
                <a:latin typeface="Noto Sans SC"/>
                <a:ea typeface="Noto Sans SC"/>
                <a:cs typeface="Noto Sans SC"/>
                <a:sym typeface="Noto Sans SC"/>
              </a:rPr>
              <a:t>结论：每一层保护不同级别的风险，多层叠加 = 全面防护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AI的安全不能靠一个“大开关”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778000"/>
            <a:ext cx="2476500" cy="3048000"/>
          </a:xfrm>
          <a:prstGeom prst="roundRect">
            <a:avLst>
              <a:gd name="adj" fmla="val 5128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007BFF">
                <a:alpha val="30000"/>
              </a:srgbClr>
            </a:solidFill>
            <a:prstDash val="solid"/>
            <a:round/>
          </a:ln>
          <a:effectLst>
            <a:outerShdw dir="2700000" dist="50800" blurRad="101600" algn="tl" rotWithShape="false">
              <a:srgbClr val="000000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612900" y="2032000"/>
            <a:ext cx="762000" cy="7620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889000" y="2921000"/>
            <a:ext cx="2222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基础防护：安全带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889000" y="3365500"/>
            <a:ext cx="22225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最基础的用户保障机制，防止基础风险，确保合规底线。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3492500" y="1778000"/>
            <a:ext cx="2476500" cy="3048000"/>
          </a:xfrm>
          <a:prstGeom prst="roundRect">
            <a:avLst>
              <a:gd name="adj" fmla="val 5128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28A745">
                <a:alpha val="30000"/>
              </a:srgbClr>
            </a:solidFill>
            <a:prstDash val="solid"/>
            <a:round/>
          </a:ln>
          <a:effectLst>
            <a:outerShdw dir="2700000" dist="50800" blurRad="101600" algn="tl" rotWithShape="false">
              <a:srgbClr val="000000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343400" y="2032000"/>
            <a:ext cx="762000" cy="7620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3619500" y="2921000"/>
            <a:ext cx="2222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智能控制：ABS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3619500" y="3365500"/>
            <a:ext cx="22225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实时监测与动态调整，防止系统失控，保持运行稳定性。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223000" y="1778000"/>
            <a:ext cx="2476500" cy="3048000"/>
          </a:xfrm>
          <a:prstGeom prst="roundRect">
            <a:avLst>
              <a:gd name="adj" fmla="val 5128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FD7E14">
                <a:alpha val="30000"/>
              </a:srgbClr>
            </a:solidFill>
            <a:prstDash val="solid"/>
            <a:round/>
          </a:ln>
          <a:effectLst>
            <a:outerShdw dir="2700000" dist="50800" blurRad="101600" algn="tl" rotWithShape="false">
              <a:srgbClr val="000000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7073900" y="2032000"/>
            <a:ext cx="762000" cy="7620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6350000" y="2921000"/>
            <a:ext cx="2222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应急响应：安全气囊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350000" y="3365500"/>
            <a:ext cx="22225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针对突发风险的快速阻断与隔离，降低事故损失。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953500" y="1778000"/>
            <a:ext cx="2476500" cy="3048000"/>
          </a:xfrm>
          <a:prstGeom prst="roundRect">
            <a:avLst>
              <a:gd name="adj" fmla="val 5128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DC3545">
                <a:alpha val="30000"/>
              </a:srgbClr>
            </a:solidFill>
            <a:prstDash val="solid"/>
            <a:round/>
          </a:ln>
          <a:effectLst>
            <a:outerShdw dir="2700000" dist="50800" blurRad="101600" algn="tl" rotWithShape="false">
              <a:srgbClr val="000000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9804400" y="2032000"/>
            <a:ext cx="762000" cy="7620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9080500" y="2921000"/>
            <a:ext cx="2222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边界控制：限速器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9080500" y="3365500"/>
            <a:ext cx="22225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设定系统运行的边界与阈值，防止因过度加速导致的崩溃。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762000" y="5080000"/>
            <a:ext cx="10668000" cy="1016000"/>
          </a:xfrm>
          <a:prstGeom prst="roundRect">
            <a:avLst>
              <a:gd name="adj" fmla="val 12500"/>
            </a:avLst>
          </a:prstGeom>
          <a:solidFill>
            <a:srgbClr val="007BFF">
              <a:alpha val="10000"/>
            </a:srgbClr>
          </a:solidFill>
          <a:ln cmpd="sng" cap="flat">
            <a:solidFill>
              <a:srgbClr val="006FE6">
                <a:alpha val="1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762000" y="52705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核心观点：每一层保护不同级别的风险，多层叠加才能全面安全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🔒 六重安全检查 = 六道门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778000"/>
            <a:ext cx="33020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007BFF">
                <a:alpha val="30000"/>
              </a:srgbClr>
            </a:solidFill>
            <a:prstDash val="solid"/>
            <a:round/>
          </a:ln>
          <a:effectLst>
            <a:outerShdw dir="2700000" dist="50800" blurRad="101600" algn="tl" rotWithShape="false">
              <a:srgbClr val="007BFF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1968500"/>
            <a:ext cx="406400" cy="4064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524000" y="1968500"/>
            <a:ext cx="228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第1道：熔断开关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2413000"/>
            <a:ext cx="2794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检查当前是否处于可交易时段，判断“今天还能交易吗？”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4445000" y="1778000"/>
            <a:ext cx="33020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007BFF">
                <a:alpha val="30000"/>
              </a:srgbClr>
            </a:solidFill>
            <a:prstDash val="solid"/>
            <a:round/>
          </a:ln>
          <a:effectLst>
            <a:outerShdw dir="2700000" dist="50800" blurRad="101600" algn="tl" rotWithShape="false">
              <a:srgbClr val="007BFF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699000" y="1968500"/>
            <a:ext cx="406400" cy="4064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5207000" y="1968500"/>
            <a:ext cx="228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第2道：单次上限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699000" y="2413000"/>
            <a:ext cx="2794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校验单笔交易金额是否超限，确认“这笔是不是太多？”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8128000" y="1778000"/>
            <a:ext cx="33020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007BFF">
                <a:alpha val="30000"/>
              </a:srgbClr>
            </a:solidFill>
            <a:prstDash val="solid"/>
            <a:round/>
          </a:ln>
          <a:effectLst>
            <a:outerShdw dir="2700000" dist="50800" blurRad="101600" algn="tl" rotWithShape="false">
              <a:srgbClr val="007BFF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8382000" y="1968500"/>
            <a:ext cx="406400" cy="4064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8890000" y="1968500"/>
            <a:ext cx="228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第3道：日亏损上限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382000" y="2413000"/>
            <a:ext cx="2794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监控当日累计亏损，回答“今天已经亏多少？”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762000" y="3810000"/>
            <a:ext cx="33020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007BFF">
                <a:alpha val="30000"/>
              </a:srgbClr>
            </a:solidFill>
            <a:prstDash val="solid"/>
            <a:round/>
          </a:ln>
          <a:effectLst>
            <a:outerShdw dir="2700000" dist="50800" blurRad="101600" algn="tl" rotWithShape="false">
              <a:srgbClr val="007BFF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1016000" y="4000500"/>
            <a:ext cx="406400" cy="4064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1524000" y="4000500"/>
            <a:ext cx="228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第4道：交易次数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1016000" y="4445000"/>
            <a:ext cx="2794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统计当日交易频率，判断“今天做太多了吗？”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4445000" y="3810000"/>
            <a:ext cx="33020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007BFF">
                <a:alpha val="30000"/>
              </a:srgbClr>
            </a:solidFill>
            <a:prstDash val="solid"/>
            <a:round/>
          </a:ln>
          <a:effectLst>
            <a:outerShdw dir="2700000" dist="50800" blurRad="101600" algn="tl" rotWithShape="false">
              <a:srgbClr val="007BFF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4699000" y="4000500"/>
            <a:ext cx="406400" cy="406400"/>
          </a:xfrm>
          <a:prstGeom prst="rect">
            <a:avLst/>
          </a:prstGeom>
        </p:spPr>
      </p:pic>
      <p:sp>
        <p:nvSpPr>
          <p:cNvPr name="AutoShape 21" id="21"/>
          <p:cNvSpPr/>
          <p:nvPr/>
        </p:nvSpPr>
        <p:spPr>
          <a:xfrm rot="0" flipH="false" flipV="false">
            <a:off x="5207000" y="4000500"/>
            <a:ext cx="228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第5道：操作间隔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4699000" y="4445000"/>
            <a:ext cx="2794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防止高频频繁交易，检查“上次交易太近了？”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8128000" y="3810000"/>
            <a:ext cx="33020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007BFF">
                <a:alpha val="30000"/>
              </a:srgbClr>
            </a:solidFill>
            <a:prstDash val="solid"/>
            <a:round/>
          </a:ln>
          <a:effectLst>
            <a:outerShdw dir="2700000" dist="50800" blurRad="101600" algn="tl" rotWithShape="false">
              <a:srgbClr val="007BFF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4" id="24"/>
          <p:cNvPicPr>
            <a:picLocks noChangeAspect="true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 flipH="false" flipV="false">
            <a:off x="8382000" y="4000500"/>
            <a:ext cx="406400" cy="406400"/>
          </a:xfrm>
          <a:prstGeom prst="rect">
            <a:avLst/>
          </a:prstGeom>
        </p:spPr>
      </p:pic>
      <p:sp>
        <p:nvSpPr>
          <p:cNvPr name="AutoShape 25" id="25"/>
          <p:cNvSpPr/>
          <p:nvPr/>
        </p:nvSpPr>
        <p:spPr>
          <a:xfrm rot="0" flipH="false" flipV="false">
            <a:off x="8890000" y="4000500"/>
            <a:ext cx="228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第6道：总损失上限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8382000" y="4445000"/>
            <a:ext cx="2794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评估账户整体风险，确认“总亏损可承受？”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762000" y="5842000"/>
            <a:ext cx="10668000" cy="508000"/>
          </a:xfrm>
          <a:prstGeom prst="roundRect">
            <a:avLst>
              <a:gd name="adj" fmla="val 25000"/>
            </a:avLst>
          </a:prstGeom>
          <a:solidFill>
            <a:srgbClr val="28A745">
              <a:alpha val="10000"/>
            </a:srgbClr>
          </a:solidFill>
          <a:ln w="12700" cmpd="sng" cap="flat">
            <a:solidFill>
              <a:srgbClr val="28A745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8" id="28"/>
          <p:cNvPicPr>
            <a:picLocks noChangeAspect="true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 rot="0" flipH="false" flipV="false">
            <a:off x="1016000" y="5943600"/>
            <a:ext cx="304800" cy="304800"/>
          </a:xfrm>
          <a:prstGeom prst="rect">
            <a:avLst/>
          </a:prstGeom>
        </p:spPr>
      </p:pic>
      <p:sp>
        <p:nvSpPr>
          <p:cNvPr name="AutoShape 29" id="29"/>
          <p:cNvSpPr/>
          <p:nvPr/>
        </p:nvSpPr>
        <p:spPr>
          <a:xfrm rot="0" flipH="false" flipV="false">
            <a:off x="1397000" y="5918200"/>
            <a:ext cx="9779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8A745"/>
                </a:solidFill>
                <a:latin typeface="Noto Sans SC"/>
                <a:ea typeface="Noto Sans SC"/>
                <a:cs typeface="Noto Sans SC"/>
                <a:sym typeface="Noto Sans SC"/>
              </a:rPr>
              <a:t>结论：只有通过以上全部六道安全检查，AI 交易指令才会被最终执行。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六道安全门一览</a:t>
            </a:r>
            <a:endParaRPr lang="en-US" sz="1100"/>
          </a:p>
        </p:txBody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762000" y="1651000"/>
          <a:ext cx="10160000" cy="40005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762000"/>
                <a:gridCol w="2286000"/>
                <a:gridCol w="3556000"/>
                <a:gridCol w="3556000"/>
              </a:tblGrid>
              <a:tr h="5715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600">
                          <a:solidFill>
                            <a:srgbClr val="007B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序号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BFF">
                        <a:alpha val="1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600">
                          <a:solidFill>
                            <a:srgbClr val="007B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检查项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BFF">
                        <a:alpha val="1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600">
                          <a:solidFill>
                            <a:srgbClr val="007B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白话解读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BFF">
                        <a:alpha val="1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600">
                          <a:solidFill>
                            <a:srgbClr val="007B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通俗类比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BFF">
                        <a:alpha val="10000"/>
                      </a:srgbClr>
                    </a:solidFill>
                  </a:tcPr>
                </a:tc>
              </a:tr>
              <a:tr h="5715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熔断开关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今天还能不能交易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消防警报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715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单次上限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这笔是不是太多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ATM取款限额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715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3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日亏损上限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今天亏太多了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赌场止损线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715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4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交易次数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做太频繁了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一天限跑5趟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715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5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操作间隔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操作太快了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发邮件前冷静30分钟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715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6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总损失上限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总亏损超承受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保险赔付上限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name="AutoShape 4" id="4"/>
          <p:cNvSpPr/>
          <p:nvPr/>
        </p:nvSpPr>
        <p:spPr>
          <a:xfrm rot="0" flipH="false" flipV="false">
            <a:off x="762000" y="5461000"/>
            <a:ext cx="10668000" cy="762000"/>
          </a:xfrm>
          <a:prstGeom prst="roundRect">
            <a:avLst>
              <a:gd name="adj" fmla="val 26666"/>
            </a:avLst>
          </a:prstGeom>
          <a:solidFill>
            <a:srgbClr val="DC3545">
              <a:alpha val="10000"/>
            </a:srgbClr>
          </a:solidFill>
          <a:ln w="12700" cmpd="sng" cap="flat">
            <a:solidFill>
              <a:srgbClr val="DC3545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5613400"/>
            <a:ext cx="457200" cy="4572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587500" y="5562600"/>
            <a:ext cx="9525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DC3545"/>
                </a:solidFill>
                <a:latin typeface="Noto Sans SC"/>
                <a:ea typeface="Noto Sans SC"/>
                <a:cs typeface="Noto Sans SC"/>
                <a:sym typeface="Noto Sans SC"/>
              </a:rPr>
              <a:t>结论：任何一道不通过 → 拒绝！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六道检查的核心逻辑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651000"/>
            <a:ext cx="52070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007B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1841500"/>
            <a:ext cx="406400" cy="4064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524000" y="18415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熔断机制检查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9291" flipH="false" flipV="false">
            <a:off x="1016009" y="2279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07BFF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1016000" y="2349500"/>
            <a:ext cx="4699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代码：if circuit_breaker_triggered → return "拒绝"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212529"/>
                </a:solidFill>
                <a:latin typeface="Noto Sans SC"/>
                <a:ea typeface="Noto Sans SC"/>
                <a:cs typeface="Noto Sans SC"/>
                <a:sym typeface="Noto Sans SC"/>
              </a:rPr>
              <a:t>白话：如果熔断已拉响，别想了，直接拒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223000" y="1651000"/>
            <a:ext cx="52070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DC3545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477000" y="1841500"/>
            <a:ext cx="406400" cy="4064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6985000" y="18415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DC3545"/>
                </a:solidFill>
                <a:latin typeface="Noto Sans SC"/>
                <a:ea typeface="Noto Sans SC"/>
                <a:cs typeface="Noto Sans SC"/>
                <a:sym typeface="Noto Sans SC"/>
              </a:rPr>
              <a:t>交易金额检查</a:t>
            </a:r>
            <a:endParaRPr lang="en-US" sz="1100"/>
          </a:p>
        </p:txBody>
      </p:sp>
      <p:cxnSp>
        <p:nvCxnSpPr>
          <p:cNvPr name="Connector 11" id="11"/>
          <p:cNvCxnSpPr/>
          <p:nvPr/>
        </p:nvCxnSpPr>
        <p:spPr>
          <a:xfrm rot="-9291" flipH="false" flipV="false">
            <a:off x="6477009" y="2279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C3545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12" id="12"/>
          <p:cNvSpPr/>
          <p:nvPr/>
        </p:nvSpPr>
        <p:spPr>
          <a:xfrm rot="0" flipH="false" flipV="false">
            <a:off x="6477000" y="2349500"/>
            <a:ext cx="4699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代码：if position_value &gt;= max → return "拒绝"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212529"/>
                </a:solidFill>
                <a:latin typeface="Noto Sans SC"/>
                <a:ea typeface="Noto Sans SC"/>
                <a:cs typeface="Noto Sans SC"/>
                <a:sym typeface="Noto Sans SC"/>
              </a:rPr>
              <a:t>白话：如果金额超标，直接拒绝交易</a:t>
            </a:r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62000" y="3556000"/>
            <a:ext cx="52070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FD7E14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16000" y="3746500"/>
            <a:ext cx="406400" cy="4064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1524000" y="37465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D7E14"/>
                </a:solidFill>
                <a:latin typeface="Noto Sans SC"/>
                <a:ea typeface="Noto Sans SC"/>
                <a:cs typeface="Noto Sans SC"/>
                <a:sym typeface="Noto Sans SC"/>
              </a:rPr>
              <a:t>当日亏损检查</a:t>
            </a:r>
            <a:endParaRPr lang="en-US" sz="1100"/>
          </a:p>
        </p:txBody>
      </p:sp>
      <p:cxnSp>
        <p:nvCxnSpPr>
          <p:cNvPr name="Connector 16" id="16"/>
          <p:cNvCxnSpPr/>
          <p:nvPr/>
        </p:nvCxnSpPr>
        <p:spPr>
          <a:xfrm rot="-9291" flipH="false" flipV="false">
            <a:off x="1016009" y="4184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D7E14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17" id="17"/>
          <p:cNvSpPr/>
          <p:nvPr/>
        </p:nvSpPr>
        <p:spPr>
          <a:xfrm rot="0" flipH="false" flipV="false">
            <a:off x="1016000" y="4254500"/>
            <a:ext cx="4699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代码：if daily_pnl &lt;= -max_loss → trigger_circuit_breaker()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212529"/>
                </a:solidFill>
                <a:latin typeface="Noto Sans SC"/>
                <a:ea typeface="Noto Sans SC"/>
                <a:cs typeface="Noto Sans SC"/>
                <a:sym typeface="Noto Sans SC"/>
              </a:rPr>
              <a:t>白话：如果今天亏太多，立即拉响熔断</a:t>
            </a:r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223000" y="3556000"/>
            <a:ext cx="52070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28A745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6477000" y="3746500"/>
            <a:ext cx="406400" cy="406400"/>
          </a:xfrm>
          <a:prstGeom prst="rect">
            <a:avLst/>
          </a:prstGeom>
        </p:spPr>
      </p:pic>
      <p:sp>
        <p:nvSpPr>
          <p:cNvPr name="AutoShape 20" id="20"/>
          <p:cNvSpPr/>
          <p:nvPr/>
        </p:nvSpPr>
        <p:spPr>
          <a:xfrm rot="0" flipH="false" flipV="false">
            <a:off x="6985000" y="37465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8A745"/>
                </a:solidFill>
                <a:latin typeface="Noto Sans SC"/>
                <a:ea typeface="Noto Sans SC"/>
                <a:cs typeface="Noto Sans SC"/>
                <a:sym typeface="Noto Sans SC"/>
              </a:rPr>
              <a:t>总亏损检查</a:t>
            </a:r>
            <a:endParaRPr lang="en-US" sz="1100"/>
          </a:p>
        </p:txBody>
      </p:sp>
      <p:cxnSp>
        <p:nvCxnSpPr>
          <p:cNvPr name="Connector 21" id="21"/>
          <p:cNvCxnSpPr/>
          <p:nvPr/>
        </p:nvCxnSpPr>
        <p:spPr>
          <a:xfrm rot="-9291" flipH="false" flipV="false">
            <a:off x="6477009" y="4184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8A745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22" id="22"/>
          <p:cNvSpPr/>
          <p:nvPr/>
        </p:nvSpPr>
        <p:spPr>
          <a:xfrm rot="0" flipH="false" flipV="false">
            <a:off x="6477000" y="4254500"/>
            <a:ext cx="4699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代码：if total_drawdown &gt; max → trigger_circuit_breaker()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212529"/>
                </a:solidFill>
                <a:latin typeface="Noto Sans SC"/>
                <a:ea typeface="Noto Sans SC"/>
                <a:cs typeface="Noto Sans SC"/>
                <a:sym typeface="Noto Sans SC"/>
              </a:rPr>
              <a:t>白话：如果总亏损超限，启动全面熔断保护</a:t>
            </a:r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762000" y="5461000"/>
            <a:ext cx="10668000" cy="762000"/>
          </a:xfrm>
          <a:prstGeom prst="roundRect">
            <a:avLst>
              <a:gd name="adj" fmla="val 16666"/>
            </a:avLst>
          </a:prstGeom>
          <a:solidFill>
            <a:srgbClr val="007BFF">
              <a:alpha val="10000"/>
            </a:srgbClr>
          </a:solidFill>
          <a:ln w="12700" cmpd="sng" cap="flat">
            <a:solidFill>
              <a:srgbClr val="007BFF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4" id="24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1016000" y="5638800"/>
            <a:ext cx="406400" cy="406400"/>
          </a:xfrm>
          <a:prstGeom prst="rect">
            <a:avLst/>
          </a:prstGeom>
        </p:spPr>
      </p:pic>
      <p:sp>
        <p:nvSpPr>
          <p:cNvPr name="AutoShape 25" id="25"/>
          <p:cNvSpPr/>
          <p:nvPr/>
        </p:nvSpPr>
        <p:spPr>
          <a:xfrm rot="0" flipH="false" flipV="false">
            <a:off x="1524000" y="5613400"/>
            <a:ext cx="9652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核心原则：宁可错过，不可错做 —— 严格执行风控规则，确保资金安全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9F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2032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☕ 休息 10 分钟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34376" flipH="false" flipV="false">
            <a:off x="5461032" y="2914650"/>
            <a:ext cx="127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007B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762000" y="3175000"/>
            <a:ext cx="10668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休息回来，我们看看——怎么用一个"仪表盘"</a:t>
            </a:r>
            <a:r>
              <a:rPr lang="en-US" b="true" i="false" strike="noStrike" u="none" sz="1800">
                <a:solidFill>
                  <a:srgbClr val="FD7E14"/>
                </a:solidFill>
                <a:latin typeface="Noto Sans SC"/>
                <a:ea typeface="Noto Sans SC"/>
                <a:cs typeface="Noto Sans SC"/>
                <a:sym typeface="Noto Sans SC"/>
              </a:rPr>
              <a:t>一眼看出</a:t>
            </a:r>
            <a:r>
              <a:rPr lang="en-US" b="false" i="false" strike="noStrike" u="none" sz="180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AI系统健不健康？</a:t>
            </a:r>
            <a:endParaRPr lang="en-US" sz="1100"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5892800" y="4572000"/>
            <a:ext cx="406400" cy="4064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🏥 风险评分 = 体检报告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651000"/>
            <a:ext cx="5080000" cy="4318000"/>
          </a:xfrm>
          <a:prstGeom prst="roundRect">
            <a:avLst>
              <a:gd name="adj" fmla="val 2941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007B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1905000"/>
            <a:ext cx="406400" cy="4064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524000" y="1905000"/>
            <a:ext cx="4064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常规体检报告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9549" flipH="false" flipV="false">
            <a:off x="1016009" y="2406650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8C8C8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7" id="7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016000" y="2667000"/>
            <a:ext cx="304800" cy="3048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397000" y="2641600"/>
            <a:ext cx="4191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生理指标监测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关注血压、血糖、胆固醇等核心数据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16000" y="3429000"/>
            <a:ext cx="304800" cy="3048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1397000" y="3403600"/>
            <a:ext cx="4191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健康状态评估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通过颜色标识（红黄绿）直观判断健康等级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223000" y="1651000"/>
            <a:ext cx="5080000" cy="4318000"/>
          </a:xfrm>
          <a:prstGeom prst="roundRect">
            <a:avLst>
              <a:gd name="adj" fmla="val 2941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007B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6477000" y="1905000"/>
            <a:ext cx="406400" cy="4064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6985000" y="1905000"/>
            <a:ext cx="4064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AI 系统风险评分 (0-100)</a:t>
            </a:r>
            <a:endParaRPr lang="en-US" sz="1100"/>
          </a:p>
        </p:txBody>
      </p:sp>
      <p:cxnSp>
        <p:nvCxnSpPr>
          <p:cNvPr name="Connector 14" id="14"/>
          <p:cNvCxnSpPr/>
          <p:nvPr/>
        </p:nvCxnSpPr>
        <p:spPr>
          <a:xfrm rot="-9549" flipH="false" flipV="false">
            <a:off x="6477009" y="2406650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8C8C8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15" id="15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6477000" y="2667000"/>
            <a:ext cx="304800" cy="3048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6858000" y="2641600"/>
            <a:ext cx="4191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回撤程度 (40分)</a:t>
            </a: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- 衡量从最高点的下跌幅度</a:t>
            </a:r>
            <a:endParaRPr lang="en-US" sz="1100"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 flipH="false" flipV="false">
            <a:off x="6477000" y="3238500"/>
            <a:ext cx="304800" cy="3048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6858000" y="3213100"/>
            <a:ext cx="4191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日亏损 (30分)</a:t>
            </a: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- 监控当日资金的亏损情况</a:t>
            </a:r>
            <a:endParaRPr lang="en-US" sz="1100"/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 rot="0" flipH="false" flipV="false">
            <a:off x="6477000" y="3810000"/>
            <a:ext cx="304800" cy="304800"/>
          </a:xfrm>
          <a:prstGeom prst="rect">
            <a:avLst/>
          </a:prstGeom>
        </p:spPr>
      </p:pic>
      <p:sp>
        <p:nvSpPr>
          <p:cNvPr name="AutoShape 20" id="20"/>
          <p:cNvSpPr/>
          <p:nvPr/>
        </p:nvSpPr>
        <p:spPr>
          <a:xfrm rot="0" flipH="false" flipV="false">
            <a:off x="6858000" y="3784600"/>
            <a:ext cx="4191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交易频率 (20分)</a:t>
            </a: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- 评估当日交易的活跃程度</a:t>
            </a:r>
            <a:endParaRPr lang="en-US" sz="1100"/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 rot="0" flipH="false" flipV="false">
            <a:off x="6477000" y="4381500"/>
            <a:ext cx="304800" cy="304800"/>
          </a:xfrm>
          <a:prstGeom prst="rect">
            <a:avLst/>
          </a:prstGeom>
        </p:spPr>
      </p:pic>
      <p:sp>
        <p:nvSpPr>
          <p:cNvPr name="AutoShape 22" id="22"/>
          <p:cNvSpPr/>
          <p:nvPr/>
        </p:nvSpPr>
        <p:spPr>
          <a:xfrm rot="0" flipH="false" flipV="false">
            <a:off x="6858000" y="4356100"/>
            <a:ext cx="4191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持仓比例 (10分)</a:t>
            </a: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- 检查当前仓位的资金占用情况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四项“体检指标”</a:t>
            </a:r>
            <a:endParaRPr lang="en-US" sz="1100"/>
          </a:p>
        </p:txBody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762000" y="1651000"/>
          <a:ext cx="9906000" cy="3175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778000"/>
                <a:gridCol w="1270000"/>
                <a:gridCol w="2286000"/>
                <a:gridCol w="2286000"/>
                <a:gridCol w="2286000"/>
              </a:tblGrid>
              <a:tr h="6350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007B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指标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BFF">
                        <a:alpha val="1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007B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权重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BFF">
                        <a:alpha val="1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28A74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🟢 健康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8A745">
                        <a:alpha val="1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FD7E1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🟡 注意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7E14">
                        <a:alpha val="1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DC354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🔴 危险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3545">
                        <a:alpha val="10000"/>
                      </a:srgbClr>
                    </a:solidFill>
                  </a:tcPr>
                </a:tc>
              </a:tr>
              <a:tr h="6350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📉 回撤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40分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&lt; 3%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3-7%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&gt; 7%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350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💸 日亏损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30分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盈利/微亏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达50%限额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接近限额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350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🔄 频率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20分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&lt; 2次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3-4次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5次满额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350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📦 持仓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10分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&lt; 30%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30-70%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&gt; 70%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name="AutoShape 4" id="4"/>
          <p:cNvSpPr/>
          <p:nvPr/>
        </p:nvSpPr>
        <p:spPr>
          <a:xfrm rot="0" flipH="false" flipV="false">
            <a:off x="762000" y="4953000"/>
            <a:ext cx="1066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综合评分解读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5397500"/>
            <a:ext cx="3302000" cy="1016000"/>
          </a:xfrm>
          <a:prstGeom prst="roundRect">
            <a:avLst>
              <a:gd name="adj" fmla="val 20000"/>
            </a:avLst>
          </a:prstGeom>
          <a:solidFill>
            <a:srgbClr val="28A745">
              <a:alpha val="10000"/>
            </a:srgbClr>
          </a:solidFill>
          <a:ln w="12700" cmpd="sng" cap="flat">
            <a:solidFill>
              <a:srgbClr val="28A745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952500" y="5651500"/>
            <a:ext cx="406400" cy="4064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460500" y="5524500"/>
            <a:ext cx="24765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8A745"/>
                </a:solidFill>
                <a:latin typeface="Noto Sans SC"/>
                <a:ea typeface="Noto Sans SC"/>
                <a:cs typeface="Noto Sans SC"/>
                <a:sym typeface="Noto Sans SC"/>
              </a:rPr>
              <a:t>0-30分：一切正常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策略运行平稳，无需干预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445000" y="5397500"/>
            <a:ext cx="3302000" cy="1016000"/>
          </a:xfrm>
          <a:prstGeom prst="roundRect">
            <a:avLst>
              <a:gd name="adj" fmla="val 20000"/>
            </a:avLst>
          </a:prstGeom>
          <a:solidFill>
            <a:srgbClr val="FD7E14">
              <a:alpha val="10000"/>
            </a:srgbClr>
          </a:solidFill>
          <a:ln w="12700" cmpd="sng" cap="flat">
            <a:solidFill>
              <a:srgbClr val="FD7E14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635500" y="5651500"/>
            <a:ext cx="406400" cy="4064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5143500" y="5524500"/>
            <a:ext cx="24765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D7E14"/>
                </a:solidFill>
                <a:latin typeface="Noto Sans SC"/>
                <a:ea typeface="Noto Sans SC"/>
                <a:cs typeface="Noto Sans SC"/>
                <a:sym typeface="Noto Sans SC"/>
              </a:rPr>
              <a:t>30-70分：密切观察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风险可控，但需关注波动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8128000" y="5397500"/>
            <a:ext cx="3302000" cy="1016000"/>
          </a:xfrm>
          <a:prstGeom prst="roundRect">
            <a:avLst>
              <a:gd name="adj" fmla="val 20000"/>
            </a:avLst>
          </a:prstGeom>
          <a:solidFill>
            <a:srgbClr val="DC3545">
              <a:alpha val="10000"/>
            </a:srgbClr>
          </a:solidFill>
          <a:ln w="12700" cmpd="sng" cap="flat">
            <a:solidFill>
              <a:srgbClr val="DC3545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8318500" y="5651500"/>
            <a:ext cx="406400" cy="4064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8826500" y="5524500"/>
            <a:ext cx="24765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DC3545"/>
                </a:solidFill>
                <a:latin typeface="Noto Sans SC"/>
                <a:ea typeface="Noto Sans SC"/>
                <a:cs typeface="Noto Sans SC"/>
                <a:sym typeface="Noto Sans SC"/>
              </a:rPr>
              <a:t>70-100分：立即干预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风险较高，建议立即调整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AI系统风险仪表盘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651000"/>
            <a:ext cx="3302000" cy="4318000"/>
          </a:xfrm>
          <a:prstGeom prst="roundRect">
            <a:avLst>
              <a:gd name="adj" fmla="val 3846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007B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1905000"/>
            <a:ext cx="304800" cy="3048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397000" y="1879600"/>
            <a:ext cx="2413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综合风险评分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15626" flipH="false" flipV="false">
            <a:off x="1016014" y="22796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CDCD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1016000" y="2540000"/>
            <a:ext cx="2794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4800">
                <a:solidFill>
                  <a:srgbClr val="FD7E14"/>
                </a:solidFill>
                <a:latin typeface="Noto Sans SC"/>
                <a:ea typeface="Noto Sans SC"/>
                <a:cs typeface="Noto Sans SC"/>
                <a:sym typeface="Noto Sans SC"/>
              </a:rPr>
              <a:t>42</a:t>
            </a:r>
            <a:r>
              <a:rPr lang="en-US" b="false" i="false" strike="noStrike" u="none" sz="2400">
                <a:solidFill>
                  <a:srgbClr val="999999"/>
                </a:solidFill>
                <a:latin typeface="Noto Sans SC"/>
                <a:ea typeface="Noto Sans SC"/>
                <a:cs typeface="Noto Sans SC"/>
                <a:sym typeface="Noto Sans SC"/>
              </a:rPr>
              <a:t>/100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397000" y="3429000"/>
            <a:ext cx="2032000" cy="457200"/>
          </a:xfrm>
          <a:prstGeom prst="roundRect">
            <a:avLst>
              <a:gd name="adj" fmla="val 50000"/>
            </a:avLst>
          </a:prstGeom>
          <a:solidFill>
            <a:srgbClr val="FD7E14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D7E14"/>
                </a:solidFill>
                <a:latin typeface="Noto Sans SC"/>
                <a:ea typeface="Noto Sans SC"/>
                <a:cs typeface="Noto Sans SC"/>
                <a:sym typeface="Noto Sans SC"/>
              </a:rPr>
              <a:t>状态：密切观察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016000" y="4064000"/>
            <a:ext cx="2794000" cy="165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系统建议：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当前回撤指标稍高，建议减少高频交易频率，等待市场信号企稳。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318000" y="1651000"/>
            <a:ext cx="7112000" cy="4318000"/>
          </a:xfrm>
          <a:prstGeom prst="roundRect">
            <a:avLst>
              <a:gd name="adj" fmla="val 2941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007B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572000" y="1905000"/>
            <a:ext cx="304800" cy="3048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4953000" y="1879600"/>
            <a:ext cx="6223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实时监控指标</a:t>
            </a:r>
            <a:endParaRPr lang="en-US" sz="1100"/>
          </a:p>
        </p:txBody>
      </p:sp>
      <p:cxnSp>
        <p:nvCxnSpPr>
          <p:cNvPr name="Connector 13" id="13"/>
          <p:cNvCxnSpPr/>
          <p:nvPr/>
        </p:nvCxnSpPr>
        <p:spPr>
          <a:xfrm rot="-6611" flipH="false" flipV="false">
            <a:off x="4572006" y="2279650"/>
            <a:ext cx="660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CDCD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4" id="14"/>
          <p:cNvSpPr/>
          <p:nvPr/>
        </p:nvSpPr>
        <p:spPr>
          <a:xfrm rot="0" flipH="false" flipV="false">
            <a:off x="4572000" y="2540000"/>
            <a:ext cx="3302000" cy="1016000"/>
          </a:xfrm>
          <a:prstGeom prst="roundRect">
            <a:avLst>
              <a:gd name="adj" fmla="val 12500"/>
            </a:avLst>
          </a:prstGeom>
          <a:solidFill>
            <a:srgbClr val="F8F9FA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4762500" y="2730500"/>
            <a:ext cx="304800" cy="3048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5143500" y="2730500"/>
            <a:ext cx="254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最大回撤率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true" i="false" strike="noStrike" u="none" sz="20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4.2%</a:t>
            </a:r>
            <a:r>
              <a:rPr lang="en-US" b="false" i="false" strike="noStrike" u="none" sz="1400">
                <a:solidFill>
                  <a:srgbClr val="FD7E14"/>
                </a:solidFill>
                <a:latin typeface="Noto Sans SC"/>
                <a:ea typeface="Noto Sans SC"/>
                <a:cs typeface="Noto Sans SC"/>
                <a:sym typeface="Noto Sans SC"/>
              </a:rPr>
              <a:t>⚠️</a:t>
            </a:r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001000" y="2540000"/>
            <a:ext cx="3302000" cy="1016000"/>
          </a:xfrm>
          <a:prstGeom prst="roundRect">
            <a:avLst>
              <a:gd name="adj" fmla="val 12500"/>
            </a:avLst>
          </a:prstGeom>
          <a:solidFill>
            <a:srgbClr val="F8F9FA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8191500" y="2730500"/>
            <a:ext cx="304800" cy="304800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 flipH="false" flipV="false">
            <a:off x="8572500" y="2730500"/>
            <a:ext cx="254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当日亏损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true" i="false" strike="noStrike" u="none" sz="20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-$28</a:t>
            </a:r>
            <a:r>
              <a:rPr lang="en-US" b="false" i="false" strike="noStrike" u="none" sz="1400">
                <a:solidFill>
                  <a:srgbClr val="28A745"/>
                </a:solidFill>
                <a:latin typeface="Noto Sans SC"/>
                <a:ea typeface="Noto Sans SC"/>
                <a:cs typeface="Noto Sans SC"/>
                <a:sym typeface="Noto Sans SC"/>
              </a:rPr>
              <a:t>✅</a:t>
            </a:r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4572000" y="3683000"/>
            <a:ext cx="3302000" cy="1016000"/>
          </a:xfrm>
          <a:prstGeom prst="roundRect">
            <a:avLst>
              <a:gd name="adj" fmla="val 12500"/>
            </a:avLst>
          </a:prstGeom>
          <a:solidFill>
            <a:srgbClr val="F8F9FA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4762500" y="3873500"/>
            <a:ext cx="304800" cy="304800"/>
          </a:xfrm>
          <a:prstGeom prst="rect">
            <a:avLst/>
          </a:prstGeom>
        </p:spPr>
      </p:pic>
      <p:sp>
        <p:nvSpPr>
          <p:cNvPr name="AutoShape 22" id="22"/>
          <p:cNvSpPr/>
          <p:nvPr/>
        </p:nvSpPr>
        <p:spPr>
          <a:xfrm rot="0" flipH="false" flipV="false">
            <a:off x="5143500" y="3873500"/>
            <a:ext cx="254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交易次数/限额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true" i="false" strike="noStrike" u="none" sz="20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3 / 5</a:t>
            </a:r>
            <a:r>
              <a:rPr lang="en-US" b="false" i="false" strike="noStrike" u="none" sz="1400">
                <a:solidFill>
                  <a:srgbClr val="FD7E14"/>
                </a:solidFill>
                <a:latin typeface="Noto Sans SC"/>
                <a:ea typeface="Noto Sans SC"/>
                <a:cs typeface="Noto Sans SC"/>
                <a:sym typeface="Noto Sans SC"/>
              </a:rPr>
              <a:t>⚠️</a:t>
            </a:r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8001000" y="3683000"/>
            <a:ext cx="3302000" cy="1016000"/>
          </a:xfrm>
          <a:prstGeom prst="roundRect">
            <a:avLst>
              <a:gd name="adj" fmla="val 12500"/>
            </a:avLst>
          </a:prstGeom>
          <a:solidFill>
            <a:srgbClr val="F8F9FA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4" id="24"/>
          <p:cNvPicPr>
            <a:picLocks noChangeAspect="true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 flipH="false" flipV="false">
            <a:off x="8191500" y="3873500"/>
            <a:ext cx="304800" cy="304800"/>
          </a:xfrm>
          <a:prstGeom prst="rect">
            <a:avLst/>
          </a:prstGeom>
        </p:spPr>
      </p:pic>
      <p:sp>
        <p:nvSpPr>
          <p:cNvPr name="AutoShape 25" id="25"/>
          <p:cNvSpPr/>
          <p:nvPr/>
        </p:nvSpPr>
        <p:spPr>
          <a:xfrm rot="0" flipH="false" flipV="false">
            <a:off x="8572500" y="3873500"/>
            <a:ext cx="254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持仓比例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true" i="false" strike="noStrike" u="none" sz="20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25%</a:t>
            </a:r>
            <a:r>
              <a:rPr lang="en-US" b="false" i="false" strike="noStrike" u="none" sz="1400">
                <a:solidFill>
                  <a:srgbClr val="28A745"/>
                </a:solidFill>
                <a:latin typeface="Noto Sans SC"/>
                <a:ea typeface="Noto Sans SC"/>
                <a:cs typeface="Noto Sans SC"/>
                <a:sym typeface="Noto Sans SC"/>
              </a:rPr>
              <a:t>✅</a:t>
            </a:r>
          </a:p>
        </p:txBody>
      </p:sp>
      <p:cxnSp>
        <p:nvCxnSpPr>
          <p:cNvPr name="Connector 26" id="26"/>
          <p:cNvCxnSpPr/>
          <p:nvPr/>
        </p:nvCxnSpPr>
        <p:spPr>
          <a:xfrm rot="-6611" flipH="false" flipV="false">
            <a:off x="4572006" y="4883150"/>
            <a:ext cx="660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CDCDC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name="Picture 27" id="27"/>
          <p:cNvPicPr>
            <a:picLocks noChangeAspect="true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 rot="0" flipH="false" flipV="false">
            <a:off x="4572000" y="5080000"/>
            <a:ext cx="254000" cy="254000"/>
          </a:xfrm>
          <a:prstGeom prst="rect">
            <a:avLst/>
          </a:prstGeom>
        </p:spPr>
      </p:pic>
      <p:sp>
        <p:nvSpPr>
          <p:cNvPr name="AutoShape 28" id="28"/>
          <p:cNvSpPr/>
          <p:nvPr/>
        </p:nvSpPr>
        <p:spPr>
          <a:xfrm rot="0" flipH="false" flipV="false">
            <a:off x="4889500" y="50546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熔断状态：</a:t>
            </a:r>
            <a:r>
              <a:rPr lang="en-US" b="true" i="false" strike="noStrike" u="none" sz="1400">
                <a:solidFill>
                  <a:srgbClr val="28A745"/>
                </a:solidFill>
                <a:latin typeface="Noto Sans SC"/>
                <a:ea typeface="Noto Sans SC"/>
                <a:cs typeface="Noto Sans SC"/>
                <a:sym typeface="Noto Sans SC"/>
              </a:rPr>
              <a:t>正常运行</a:t>
            </a:r>
            <a:endParaRPr lang="en-US" sz="1100"/>
          </a:p>
        </p:txBody>
      </p:sp>
      <p:pic>
        <p:nvPicPr>
          <p:cNvPr name="Picture 29" id="29"/>
          <p:cNvPicPr>
            <a:picLocks noChangeAspect="true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 rot="0" flipH="false" flipV="false">
            <a:off x="8001000" y="5080000"/>
            <a:ext cx="254000" cy="254000"/>
          </a:xfrm>
          <a:prstGeom prst="rect">
            <a:avLst/>
          </a:prstGeom>
        </p:spPr>
      </p:pic>
      <p:sp>
        <p:nvSpPr>
          <p:cNvPr name="AutoShape 30" id="30"/>
          <p:cNvSpPr/>
          <p:nvPr/>
        </p:nvSpPr>
        <p:spPr>
          <a:xfrm rot="0" flipH="false" flipV="false">
            <a:off x="8318500" y="50546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上次交易：14分钟前</a:t>
            </a:r>
            <a:endParaRPr lang="en-US" sz="1100"/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💡 风险评分：AI系统的体检报告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2286000" y="1778000"/>
            <a:ext cx="7620000" cy="3556000"/>
          </a:xfrm>
          <a:prstGeom prst="roundRect">
            <a:avLst>
              <a:gd name="adj" fmla="val 3571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007BFF">
                <a:alpha val="30000"/>
              </a:srgbClr>
            </a:solidFill>
            <a:prstDash val="solid"/>
            <a:round/>
          </a:ln>
          <a:effectLst>
            <a:outerShdw dir="2700000" dist="50800" blurRad="127000" algn="tl" rotWithShape="false">
              <a:srgbClr val="000000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2794000" y="2159000"/>
            <a:ext cx="406400" cy="4064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3302000" y="2133600"/>
            <a:ext cx="609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核心逻辑：将复杂系统状态浓缩为单一数字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6611" flipH="false" flipV="false">
            <a:off x="2794006" y="2724150"/>
            <a:ext cx="660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8C8C8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7" id="7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2794000" y="2984500"/>
            <a:ext cx="355600" cy="3556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3302000" y="2946400"/>
            <a:ext cx="6096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量化指标：0-100 分制，直观反映健康度</a:t>
            </a:r>
            <a:endParaRPr lang="en-US" sz="1100"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2794000" y="3492500"/>
            <a:ext cx="355600" cy="3556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3302000" y="3454400"/>
            <a:ext cx="6096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低门槛：无需专业技术背景，即可快速识别</a:t>
            </a:r>
            <a:endParaRPr lang="en-US" sz="1100"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2794000" y="4000500"/>
            <a:ext cx="355600" cy="3556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3302000" y="3962400"/>
            <a:ext cx="6096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警示信号：看到</a:t>
            </a:r>
            <a:r>
              <a:rPr lang="en-US" b="true" i="false" strike="noStrike" u="none" sz="2000">
                <a:solidFill>
                  <a:srgbClr val="DC3545"/>
                </a:solidFill>
                <a:latin typeface="Noto Sans SC"/>
                <a:ea typeface="Noto Sans SC"/>
                <a:cs typeface="Noto Sans SC"/>
                <a:sym typeface="Noto Sans SC"/>
              </a:rPr>
              <a:t>72🔴</a:t>
            </a:r>
            <a:r>
              <a:rPr lang="en-US" b="false" i="false" strike="noStrike" u="none" sz="18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即表示需要立即关注</a:t>
            </a:r>
            <a:endParaRPr lang="en-US" sz="1100"/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核心发现：风控原则是通用的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651000"/>
            <a:ext cx="5080000" cy="4318000"/>
          </a:xfrm>
          <a:prstGeom prst="roundRect">
            <a:avLst>
              <a:gd name="adj" fmla="val 2941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007BFF">
                <a:alpha val="30000"/>
              </a:srgbClr>
            </a:solidFill>
            <a:prstDash val="solid"/>
            <a:round/>
          </a:ln>
          <a:effectLst>
            <a:outerShdw dir="2700000" dist="50800" blurRad="127000" algn="tl" rotWithShape="false">
              <a:srgbClr val="000000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1905000"/>
            <a:ext cx="457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量化交易的三大核心风控原则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9549" flipH="false" flipV="false">
            <a:off x="1016009" y="2343150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6E6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2603500"/>
            <a:ext cx="406400" cy="4064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524000" y="2603500"/>
            <a:ext cx="4064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设置上限 (Quota)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524000" y="2959100"/>
            <a:ext cx="4064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在系统启动前预设资源消耗与操作次数的最大阈值，防止资源耗尽。</a:t>
            </a:r>
            <a:endParaRPr lang="en-US" sz="1100"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016000" y="3556000"/>
            <a:ext cx="406400" cy="4064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1524000" y="3556000"/>
            <a:ext cx="4064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实时监控 (Monitor)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524000" y="3911600"/>
            <a:ext cx="4064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全链路实时追踪系统状态与关键指标，确保异常情况能被即时发现。</a:t>
            </a:r>
            <a:endParaRPr lang="en-US" sz="1100"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16000" y="4508500"/>
            <a:ext cx="406400" cy="4064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1524000" y="4508500"/>
            <a:ext cx="4064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熔断机制 (Circuit Breaker)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524000" y="4864100"/>
            <a:ext cx="4064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一旦触发异常阈值，立即暂停服务，防止错误扩散造成更大损失。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096000" y="1651000"/>
            <a:ext cx="5080000" cy="4318000"/>
          </a:xfrm>
          <a:prstGeom prst="roundRect">
            <a:avLst>
              <a:gd name="adj" fmla="val 2941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007BFF">
                <a:alpha val="30000"/>
              </a:srgbClr>
            </a:solidFill>
            <a:prstDash val="solid"/>
            <a:round/>
          </a:ln>
          <a:effectLst>
            <a:outerShdw dir="2700000" dist="50800" blurRad="127000" algn="tl" rotWithShape="false">
              <a:srgbClr val="000000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350000" y="1905000"/>
            <a:ext cx="457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可迁移的 AI 自动化场景</a:t>
            </a:r>
            <a:endParaRPr lang="en-US" sz="1100"/>
          </a:p>
        </p:txBody>
      </p:sp>
      <p:cxnSp>
        <p:nvCxnSpPr>
          <p:cNvPr name="Connector 17" id="17"/>
          <p:cNvCxnSpPr/>
          <p:nvPr/>
        </p:nvCxnSpPr>
        <p:spPr>
          <a:xfrm rot="-9549" flipH="false" flipV="false">
            <a:off x="6350009" y="2343150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6E6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18" id="18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6350000" y="2603500"/>
            <a:ext cx="355600" cy="355600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 flipH="false" flipV="false">
            <a:off x="6794500" y="2603500"/>
            <a:ext cx="4064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🤖 AI 自动客服：防止话术失控或过度打扰</a:t>
            </a:r>
            <a:endParaRPr lang="en-US" sz="1100"/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6350000" y="3111500"/>
            <a:ext cx="355600" cy="355600"/>
          </a:xfrm>
          <a:prstGeom prst="rect">
            <a:avLst/>
          </a:prstGeom>
        </p:spPr>
      </p:pic>
      <p:sp>
        <p:nvSpPr>
          <p:cNvPr name="AutoShape 21" id="21"/>
          <p:cNvSpPr/>
          <p:nvPr/>
        </p:nvSpPr>
        <p:spPr>
          <a:xfrm rot="0" flipH="false" flipV="false">
            <a:off x="6794500" y="3111500"/>
            <a:ext cx="4064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📝 AI 自动发文：控制发布频率与内容合规性</a:t>
            </a:r>
            <a:endParaRPr lang="en-US" sz="1100"/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 flipH="false" flipV="false">
            <a:off x="6350000" y="3619500"/>
            <a:ext cx="355600" cy="355600"/>
          </a:xfrm>
          <a:prstGeom prst="rect">
            <a:avLst/>
          </a:prstGeom>
        </p:spPr>
      </p:pic>
      <p:sp>
        <p:nvSpPr>
          <p:cNvPr name="AutoShape 23" id="23"/>
          <p:cNvSpPr/>
          <p:nvPr/>
        </p:nvSpPr>
        <p:spPr>
          <a:xfrm rot="0" flipH="false" flipV="false">
            <a:off x="6794500" y="3619500"/>
            <a:ext cx="4064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✅ AI 自动审批：设定审批权限边界与金额上限</a:t>
            </a:r>
            <a:endParaRPr lang="en-US" sz="1100"/>
          </a:p>
        </p:txBody>
      </p:sp>
      <p:pic>
        <p:nvPicPr>
          <p:cNvPr name="Picture 24" id="24"/>
          <p:cNvPicPr>
            <a:picLocks noChangeAspect="true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 rot="0" flipH="false" flipV="false">
            <a:off x="6350000" y="4127500"/>
            <a:ext cx="355600" cy="355600"/>
          </a:xfrm>
          <a:prstGeom prst="rect">
            <a:avLst/>
          </a:prstGeom>
        </p:spPr>
      </p:pic>
      <p:sp>
        <p:nvSpPr>
          <p:cNvPr name="AutoShape 25" id="25"/>
          <p:cNvSpPr/>
          <p:nvPr/>
        </p:nvSpPr>
        <p:spPr>
          <a:xfrm rot="0" flipH="false" flipV="false">
            <a:off x="6794500" y="4127500"/>
            <a:ext cx="4064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📧 AI 自动发邮件：限制发送对象范围与数量</a:t>
            </a:r>
            <a:endParaRPr lang="en-US" sz="1100"/>
          </a:p>
        </p:txBody>
      </p:sp>
      <p:pic>
        <p:nvPicPr>
          <p:cNvPr name="Picture 26" id="26"/>
          <p:cNvPicPr>
            <a:picLocks noChangeAspect="true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 rot="0" flipH="false" flipV="false">
            <a:off x="6350000" y="4635500"/>
            <a:ext cx="355600" cy="355600"/>
          </a:xfrm>
          <a:prstGeom prst="rect">
            <a:avLst/>
          </a:prstGeom>
        </p:spPr>
      </p:pic>
      <p:sp>
        <p:nvSpPr>
          <p:cNvPr name="AutoShape 27" id="27"/>
          <p:cNvSpPr/>
          <p:nvPr/>
        </p:nvSpPr>
        <p:spPr>
          <a:xfrm rot="0" flipH="false" flipV="false">
            <a:off x="6794500" y="4635500"/>
            <a:ext cx="4064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🛒 AI 自动下单：防止重复下单或超额采购</a:t>
            </a:r>
            <a:endParaRPr lang="en-US" sz="1100"/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场景A：AI自动客服防乱承诺</a:t>
            </a:r>
            <a:endParaRPr lang="en-US" sz="1100"/>
          </a:p>
        </p:txBody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762000" y="1651000"/>
          <a:ext cx="10414000" cy="34925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4826000"/>
                <a:gridCol w="5588000"/>
              </a:tblGrid>
              <a:tr h="6350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007B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传统交易风控原则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25400">
                      <a:solidFill>
                        <a:srgbClr val="00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BFF">
                        <a:alpha val="1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007B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AI自动客服风控迁移应用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25400">
                      <a:solidFill>
                        <a:srgbClr val="00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BFF">
                        <a:alpha val="10000"/>
                      </a:srgbClr>
                    </a:solidFill>
                  </a:tcPr>
                </a:tc>
              </a:tr>
              <a:tr h="5715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单次交易上限 $200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25400">
                      <a:solidFill>
                        <a:srgbClr val="00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单次退款上限</a:t>
                      </a:r>
                      <a:r>
                        <a:rPr lang="en-US" b="true" i="false" strike="noStrike" u="none" sz="1600">
                          <a:solidFill>
                            <a:srgbClr val="DC354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$50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25400">
                      <a:solidFill>
                        <a:srgbClr val="00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715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日亏损上限控制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日退款总额上限</a:t>
                      </a:r>
                      <a:r>
                        <a:rPr lang="en-US" b="true" i="false" strike="noStrike" u="none" sz="1600">
                          <a:solidFill>
                            <a:srgbClr val="DC354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$500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715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高频交易频率限制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每小时退款次数上限限制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715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异常交易熔断机制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退款率飙升 → 自动停AI转人工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715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用户风险评分分级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实时客服质量评分监控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name="AutoShape 4" id="4"/>
          <p:cNvSpPr/>
          <p:nvPr/>
        </p:nvSpPr>
        <p:spPr>
          <a:xfrm rot="0" flipH="false" flipV="false">
            <a:off x="762000" y="5461000"/>
            <a:ext cx="10668000" cy="762000"/>
          </a:xfrm>
          <a:prstGeom prst="roundRect">
            <a:avLst>
              <a:gd name="adj" fmla="val 26666"/>
            </a:avLst>
          </a:prstGeom>
          <a:solidFill>
            <a:srgbClr val="FD7E14">
              <a:alpha val="10000"/>
            </a:srgbClr>
          </a:solidFill>
          <a:ln w="12700" cmpd="sng" cap="flat">
            <a:solidFill>
              <a:srgbClr val="FD7E14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952500" y="5626100"/>
            <a:ext cx="431800" cy="4318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524000" y="5588000"/>
            <a:ext cx="965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D7E14"/>
                </a:solidFill>
                <a:latin typeface="Noto Sans SC"/>
                <a:ea typeface="Noto Sans SC"/>
                <a:cs typeface="Noto Sans SC"/>
                <a:sym typeface="Noto Sans SC"/>
              </a:rPr>
              <a:t>潜在风险：</a:t>
            </a:r>
            <a:r>
              <a:rPr lang="en-US" b="false" i="false" strike="noStrike" u="none" sz="16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若缺乏风控，AI可能随意承诺全额退款，导致公司每月额外损失数十万元。</a:t>
            </a:r>
            <a:endParaRPr lang="en-US" sz="1100"/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场景B：AI自动发文防不当内容</a:t>
            </a:r>
            <a:endParaRPr lang="en-US" sz="1100"/>
          </a:p>
        </p:txBody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762000" y="1651000"/>
          <a:ext cx="10668000" cy="34925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4572000"/>
                <a:gridCol w="6096000"/>
              </a:tblGrid>
              <a:tr h="6350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007B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交易风控原则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25400">
                      <a:solidFill>
                        <a:srgbClr val="00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BFF">
                        <a:alpha val="1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007B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AI发文风控应用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25400">
                      <a:solidFill>
                        <a:srgbClr val="00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BFF">
                        <a:alpha val="10000"/>
                      </a:srgbClr>
                    </a:solidFill>
                  </a:tcPr>
                </a:tc>
              </a:tr>
              <a:tr h="5715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50505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单次上限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25400">
                      <a:solidFill>
                        <a:srgbClr val="00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50505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每篇必过</a:t>
                      </a:r>
                      <a:r>
                        <a:rPr lang="en-US" b="true" i="false" strike="noStrike" u="none" sz="1600">
                          <a:solidFill>
                            <a:srgbClr val="DC354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敏感词检查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25400">
                      <a:solidFill>
                        <a:srgbClr val="00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715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50505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日亏损上限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50505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设置日发布数量上限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715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50505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异常检测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50505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负面评论突增 → 自动标记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715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50505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熔断机制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50505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24h内3篇被举报 →</a:t>
                      </a:r>
                      <a:r>
                        <a:rPr lang="en-US" b="true" i="false" strike="noStrike" u="none" sz="1600">
                          <a:solidFill>
                            <a:srgbClr val="DC354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强制停发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715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50505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硬性上限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50505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绝对禁止发布歧视性内容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name="AutoShape 4" id="4"/>
          <p:cNvSpPr/>
          <p:nvPr/>
        </p:nvSpPr>
        <p:spPr>
          <a:xfrm rot="0" flipH="false" flipV="false">
            <a:off x="762000" y="5334000"/>
            <a:ext cx="10668000" cy="1016000"/>
          </a:xfrm>
          <a:prstGeom prst="roundRect">
            <a:avLst>
              <a:gd name="adj" fmla="val 20000"/>
            </a:avLst>
          </a:prstGeom>
          <a:solidFill>
            <a:srgbClr val="FD7E14">
              <a:alpha val="10000"/>
            </a:srgbClr>
          </a:solidFill>
          <a:ln w="12700" cmpd="sng" cap="flat">
            <a:solidFill>
              <a:srgbClr val="FD7E14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5562600"/>
            <a:ext cx="406400" cy="4064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524000" y="5461000"/>
            <a:ext cx="965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DC3545"/>
                </a:solidFill>
                <a:latin typeface="Noto Sans SC"/>
                <a:ea typeface="Noto Sans SC"/>
                <a:cs typeface="Noto Sans SC"/>
                <a:sym typeface="Noto Sans SC"/>
              </a:rPr>
              <a:t>潜在风险警示：</a:t>
            </a:r>
            <a:r>
              <a:rPr lang="en-US" b="false" i="false" strike="noStrike" u="none" sz="16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如果缺乏有效的风控机制，一条由AI生成的不当推文，可能瞬间毁掉品牌多年建立的声誉。</a:t>
            </a:r>
            <a:endParaRPr lang="en-US" sz="1100"/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通用AI安全框架：五个组件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651000"/>
            <a:ext cx="5207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007BFF">
                <a:alpha val="30000"/>
              </a:srgbClr>
            </a:solidFill>
            <a:prstDash val="solid"/>
            <a:round/>
          </a:ln>
          <a:effectLst>
            <a:outerShdw dir="2700000" dist="50800" blurRad="101600" algn="tl" rotWithShape="false">
              <a:srgbClr val="007BFF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1905000"/>
            <a:ext cx="508000" cy="5080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651000" y="18415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01 权限上限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651000" y="2222500"/>
            <a:ext cx="4064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AI单次能做的最大动作，明确边界防止越权。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6223000" y="1651000"/>
            <a:ext cx="5207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28A745">
                <a:alpha val="30000"/>
              </a:srgbClr>
            </a:solidFill>
            <a:prstDash val="solid"/>
            <a:round/>
          </a:ln>
          <a:effectLst>
            <a:outerShdw dir="2700000" dist="50800" blurRad="101600" algn="tl" rotWithShape="false">
              <a:srgbClr val="28A745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477000" y="1905000"/>
            <a:ext cx="508000" cy="5080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7112000" y="18415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8A745"/>
                </a:solidFill>
                <a:latin typeface="Noto Sans SC"/>
                <a:ea typeface="Noto Sans SC"/>
                <a:cs typeface="Noto Sans SC"/>
                <a:sym typeface="Noto Sans SC"/>
              </a:rPr>
              <a:t>02 实时监控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112000" y="2222500"/>
            <a:ext cx="4064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设定关键指标，实时观察系统运行是否正常。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62000" y="3175000"/>
            <a:ext cx="5207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FD7E14">
                <a:alpha val="30000"/>
              </a:srgbClr>
            </a:solidFill>
            <a:prstDash val="solid"/>
            <a:round/>
          </a:ln>
          <a:effectLst>
            <a:outerShdw dir="2700000" dist="50800" blurRad="101600" algn="tl" rotWithShape="false">
              <a:srgbClr val="FD7E14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16000" y="3429000"/>
            <a:ext cx="508000" cy="5080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1651000" y="33655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D7E14"/>
                </a:solidFill>
                <a:latin typeface="Noto Sans SC"/>
                <a:ea typeface="Noto Sans SC"/>
                <a:cs typeface="Noto Sans SC"/>
                <a:sym typeface="Noto Sans SC"/>
              </a:rPr>
              <a:t>03 异常检测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651000" y="3746500"/>
            <a:ext cx="4064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定义异常行为标准，及时发现偏离预期的情况。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223000" y="3175000"/>
            <a:ext cx="5207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DC3545">
                <a:alpha val="30000"/>
              </a:srgbClr>
            </a:solidFill>
            <a:prstDash val="solid"/>
            <a:round/>
          </a:ln>
          <a:effectLst>
            <a:outerShdw dir="2700000" dist="50800" blurRad="101600" algn="tl" rotWithShape="false">
              <a:srgbClr val="DC3545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6477000" y="3429000"/>
            <a:ext cx="508000" cy="5080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7112000" y="33655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DC3545"/>
                </a:solidFill>
                <a:latin typeface="Noto Sans SC"/>
                <a:ea typeface="Noto Sans SC"/>
                <a:cs typeface="Noto Sans SC"/>
                <a:sym typeface="Noto Sans SC"/>
              </a:rPr>
              <a:t>04 熔断机制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112000" y="3746500"/>
            <a:ext cx="4064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当风险达到阈值时，自动停止运行以防止扩散。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762000" y="4699000"/>
            <a:ext cx="10668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007BFF">
                <a:alpha val="30000"/>
              </a:srgbClr>
            </a:solidFill>
            <a:prstDash val="solid"/>
            <a:round/>
          </a:ln>
          <a:effectLst>
            <a:outerShdw dir="2700000" dist="50800" blurRad="101600" algn="tl" rotWithShape="false">
              <a:srgbClr val="007BFF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1016000" y="4953000"/>
            <a:ext cx="508000" cy="508000"/>
          </a:xfrm>
          <a:prstGeom prst="rect">
            <a:avLst/>
          </a:prstGeom>
        </p:spPr>
      </p:pic>
      <p:sp>
        <p:nvSpPr>
          <p:cNvPr name="AutoShape 21" id="21"/>
          <p:cNvSpPr/>
          <p:nvPr/>
        </p:nvSpPr>
        <p:spPr>
          <a:xfrm rot="0" flipH="false" flipV="false">
            <a:off x="1651000" y="4889500"/>
            <a:ext cx="9525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05 人工兜底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1651000" y="5270500"/>
            <a:ext cx="9525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确定必须由人工介入处理的场景，确保最终决策的安全性。</a:t>
            </a:r>
            <a:endParaRPr lang="en-US" sz="1100"/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💬 讨论：风控大迁移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651000"/>
            <a:ext cx="3302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007BFF">
                <a:alpha val="30000"/>
              </a:srgbClr>
            </a:solidFill>
            <a:prstDash val="solid"/>
            <a:round/>
          </a:ln>
          <a:effectLst>
            <a:outerShdw dir="2700000" dist="50800" blurRad="101600" algn="tl" rotWithShape="false">
              <a:srgbClr val="007BFF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1905000"/>
            <a:ext cx="406400" cy="4064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524000" y="1905000"/>
            <a:ext cx="2286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A组：AI自动客服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15626" flipH="false" flipV="false">
            <a:off x="1016014" y="24066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07B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1016000" y="2540000"/>
            <a:ext cx="2794000" cy="190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核心任务：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防止AI乱承诺退款，保障客户权益与公司利益平衡。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445000" y="1651000"/>
            <a:ext cx="3302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FD7E14">
                <a:alpha val="30000"/>
              </a:srgbClr>
            </a:solidFill>
            <a:prstDash val="solid"/>
            <a:round/>
          </a:ln>
          <a:effectLst>
            <a:outerShdw dir="2700000" dist="50800" blurRad="101600" algn="tl" rotWithShape="false">
              <a:srgbClr val="FD7E14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699000" y="1905000"/>
            <a:ext cx="406400" cy="4064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5207000" y="1905000"/>
            <a:ext cx="2286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D7E14"/>
                </a:solidFill>
                <a:latin typeface="Noto Sans SC"/>
                <a:ea typeface="Noto Sans SC"/>
                <a:cs typeface="Noto Sans SC"/>
                <a:sym typeface="Noto Sans SC"/>
              </a:rPr>
              <a:t>B组：AI自动发文</a:t>
            </a:r>
            <a:endParaRPr lang="en-US" sz="1100"/>
          </a:p>
        </p:txBody>
      </p:sp>
      <p:cxnSp>
        <p:nvCxnSpPr>
          <p:cNvPr name="Connector 11" id="11"/>
          <p:cNvCxnSpPr/>
          <p:nvPr/>
        </p:nvCxnSpPr>
        <p:spPr>
          <a:xfrm rot="-15626" flipH="false" flipV="false">
            <a:off x="4699014" y="24066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D7E14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2" id="12"/>
          <p:cNvSpPr/>
          <p:nvPr/>
        </p:nvSpPr>
        <p:spPr>
          <a:xfrm rot="0" flipH="false" flipV="false">
            <a:off x="4699000" y="2540000"/>
            <a:ext cx="2794000" cy="190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核心任务：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防范生成不当内容，确保对外输出信息的合规性与安全性。</a:t>
            </a:r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8128000" y="1651000"/>
            <a:ext cx="3302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DC3545">
                <a:alpha val="30000"/>
              </a:srgbClr>
            </a:solidFill>
            <a:prstDash val="solid"/>
            <a:round/>
          </a:ln>
          <a:effectLst>
            <a:outerShdw dir="2700000" dist="50800" blurRad="101600" algn="tl" rotWithShape="false">
              <a:srgbClr val="DC3545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8382000" y="1905000"/>
            <a:ext cx="406400" cy="4064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8890000" y="1905000"/>
            <a:ext cx="2286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DC3545"/>
                </a:solidFill>
                <a:latin typeface="Noto Sans SC"/>
                <a:ea typeface="Noto Sans SC"/>
                <a:cs typeface="Noto Sans SC"/>
                <a:sym typeface="Noto Sans SC"/>
              </a:rPr>
              <a:t>C组：AI自动审批</a:t>
            </a:r>
            <a:endParaRPr lang="en-US" sz="1100"/>
          </a:p>
        </p:txBody>
      </p:sp>
      <p:cxnSp>
        <p:nvCxnSpPr>
          <p:cNvPr name="Connector 16" id="16"/>
          <p:cNvCxnSpPr/>
          <p:nvPr/>
        </p:nvCxnSpPr>
        <p:spPr>
          <a:xfrm rot="-15626" flipH="false" flipV="false">
            <a:off x="8382014" y="24066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C3545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7" id="17"/>
          <p:cNvSpPr/>
          <p:nvPr/>
        </p:nvSpPr>
        <p:spPr>
          <a:xfrm rot="0" flipH="false" flipV="false">
            <a:off x="8382000" y="2540000"/>
            <a:ext cx="2794000" cy="190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核心任务：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防止AI越权审批，严格控制业务流程中的权限边界。</a:t>
            </a:r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62000" y="4953000"/>
            <a:ext cx="6858000" cy="1270000"/>
          </a:xfrm>
          <a:prstGeom prst="roundRect">
            <a:avLst>
              <a:gd name="adj" fmla="val 10000"/>
            </a:avLst>
          </a:prstGeom>
          <a:solidFill>
            <a:srgbClr val="F0F8FF">
              <a:alpha val="90000"/>
            </a:srgbClr>
          </a:solidFill>
          <a:ln w="12700" cmpd="sng" cap="flat">
            <a:solidFill>
              <a:srgbClr val="007BFF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1016000" y="5143500"/>
            <a:ext cx="304800" cy="304800"/>
          </a:xfrm>
          <a:prstGeom prst="rect">
            <a:avLst/>
          </a:prstGeom>
        </p:spPr>
      </p:pic>
      <p:sp>
        <p:nvSpPr>
          <p:cNvPr name="AutoShape 20" id="20"/>
          <p:cNvSpPr/>
          <p:nvPr/>
        </p:nvSpPr>
        <p:spPr>
          <a:xfrm rot="0" flipH="false" flipV="false">
            <a:off x="1397000" y="5143500"/>
            <a:ext cx="5969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各组需输出的风控要素：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1016000" y="5524500"/>
            <a:ext cx="6223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177800" marL="177800">
              <a:lnSpc>
                <a:spcPct val="125000"/>
              </a:lnSpc>
              <a:buClr>
                <a:srgbClr val="666666"/>
              </a:buClr>
              <a:buChar char="•"/>
              <a:defRPr/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权限上限设定 · 关键监控指标 · 熔断触发条件 · 人工介入规则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7874000" y="4953000"/>
            <a:ext cx="3556000" cy="1270000"/>
          </a:xfrm>
          <a:prstGeom prst="roundRect">
            <a:avLst>
              <a:gd name="adj" fmla="val 10000"/>
            </a:avLst>
          </a:prstGeom>
          <a:solidFill>
            <a:srgbClr val="EBF8EB">
              <a:alpha val="90000"/>
            </a:srgbClr>
          </a:solidFill>
          <a:ln w="12700" cmpd="sng" cap="flat">
            <a:solidFill>
              <a:srgbClr val="28A745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8128000" y="5143500"/>
            <a:ext cx="304800" cy="304800"/>
          </a:xfrm>
          <a:prstGeom prst="rect">
            <a:avLst/>
          </a:prstGeom>
        </p:spPr>
      </p:pic>
      <p:sp>
        <p:nvSpPr>
          <p:cNvPr name="AutoShape 24" id="24"/>
          <p:cNvSpPr/>
          <p:nvPr/>
        </p:nvSpPr>
        <p:spPr>
          <a:xfrm rot="0" flipH="false" flipV="false">
            <a:off x="8509000" y="5143500"/>
            <a:ext cx="2667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互动环节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8128000" y="5524500"/>
            <a:ext cx="304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⏰ 讨论时间：25分钟</a:t>
            </a: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🎤 之后每组派代表展示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🏆 法则一：监控 &gt; 策略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651000"/>
            <a:ext cx="5080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DC3545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1905000"/>
            <a:ext cx="406400" cy="4064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524000" y="1879600"/>
            <a:ext cx="4064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DC3545"/>
                </a:solidFill>
                <a:latin typeface="Noto Sans SC"/>
                <a:ea typeface="Noto Sans SC"/>
                <a:cs typeface="Noto Sans SC"/>
                <a:sym typeface="Noto Sans SC"/>
              </a:rPr>
              <a:t>策略 (Strategy)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9549" flipH="false" flipV="false">
            <a:off x="1016009" y="2343150"/>
            <a:ext cx="4572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C3545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1016000" y="2476500"/>
            <a:ext cx="4572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203200" marL="203200">
              <a:lnSpc>
                <a:spcPct val="125000"/>
              </a:lnSpc>
              <a:buClr>
                <a:srgbClr val="505050"/>
              </a:buClr>
              <a:buChar char="•"/>
              <a:defRPr/>
            </a:pPr>
            <a:r>
              <a:rPr lang="en-US" b="false" i="false" strike="noStrike" u="none" sz="16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核心问题：“怎么做” (AI决策逻辑)</a:t>
            </a:r>
            <a:r>
              <a:rPr lang="en-US" b="false" i="false" strike="noStrike" u="none" sz="16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203200" marL="203200">
              <a:lnSpc>
                <a:spcPct val="125000"/>
              </a:lnSpc>
              <a:buClr>
                <a:srgbClr val="505050"/>
              </a:buClr>
              <a:buChar char="•"/>
            </a:pPr>
            <a:r>
              <a:rPr lang="en-US" b="false" i="false" strike="noStrike" u="none" sz="16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特点：容易随环境变化而失效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350000" y="1651000"/>
            <a:ext cx="5080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28A745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604000" y="1905000"/>
            <a:ext cx="406400" cy="4064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7112000" y="1879600"/>
            <a:ext cx="4064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28A745"/>
                </a:solidFill>
                <a:latin typeface="Noto Sans SC"/>
                <a:ea typeface="Noto Sans SC"/>
                <a:cs typeface="Noto Sans SC"/>
                <a:sym typeface="Noto Sans SC"/>
              </a:rPr>
              <a:t>监控 (Monitor)</a:t>
            </a:r>
            <a:endParaRPr lang="en-US" sz="1100"/>
          </a:p>
        </p:txBody>
      </p:sp>
      <p:cxnSp>
        <p:nvCxnSpPr>
          <p:cNvPr name="Connector 11" id="11"/>
          <p:cNvCxnSpPr/>
          <p:nvPr/>
        </p:nvCxnSpPr>
        <p:spPr>
          <a:xfrm rot="-9549" flipH="false" flipV="false">
            <a:off x="6604009" y="2343150"/>
            <a:ext cx="4572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8A745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2" id="12"/>
          <p:cNvSpPr/>
          <p:nvPr/>
        </p:nvSpPr>
        <p:spPr>
          <a:xfrm rot="0" flipH="false" flipV="false">
            <a:off x="6604000" y="2476500"/>
            <a:ext cx="4572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203200" marL="203200">
              <a:lnSpc>
                <a:spcPct val="125000"/>
              </a:lnSpc>
              <a:buClr>
                <a:srgbClr val="505050"/>
              </a:buClr>
              <a:buChar char="•"/>
              <a:defRPr/>
            </a:pPr>
            <a:r>
              <a:rPr lang="en-US" b="false" i="false" strike="noStrike" u="none" sz="16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核心问题：“做得怎么样” (收益/风险)</a:t>
            </a:r>
            <a:r>
              <a:rPr lang="en-US" b="false" i="false" strike="noStrike" u="none" sz="16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203200" marL="203200">
              <a:lnSpc>
                <a:spcPct val="125000"/>
              </a:lnSpc>
              <a:buClr>
                <a:srgbClr val="505050"/>
              </a:buClr>
              <a:buChar char="•"/>
            </a:pPr>
            <a:r>
              <a:rPr lang="en-US" b="false" i="false" strike="noStrike" u="none" sz="16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特点：关注核心指标，永远有用</a:t>
            </a:r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62000" y="4191000"/>
            <a:ext cx="10668000" cy="1524000"/>
          </a:xfrm>
          <a:prstGeom prst="roundRect">
            <a:avLst>
              <a:gd name="adj" fmla="val 8333"/>
            </a:avLst>
          </a:prstGeom>
          <a:solidFill>
            <a:srgbClr val="F0F8FF">
              <a:alpha val="90000"/>
            </a:srgbClr>
          </a:solidFill>
          <a:ln w="12700" cmpd="sng" cap="flat">
            <a:solidFill>
              <a:srgbClr val="007BFF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16000" y="4445000"/>
            <a:ext cx="406400" cy="4064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1524000" y="4419600"/>
            <a:ext cx="9652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形象类比：开车出行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1016000" y="4889500"/>
            <a:ext cx="1016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导航路线（策略）可能因堵车改变，但仪表盘（监控）上的速度、油量、发动机状态永远是安全驾驶的保障。</a:t>
            </a:r>
            <a:endParaRPr lang="en-US" sz="1100"/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🏆 法则二：必须有熔断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651000"/>
            <a:ext cx="51435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007B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1905000"/>
            <a:ext cx="406400" cy="4064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524000" y="1905000"/>
            <a:ext cx="41275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熔断机制：系统的“保险丝”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9418" flipH="false" flipV="false">
            <a:off x="1016009" y="2406650"/>
            <a:ext cx="463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07B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1016000" y="2540000"/>
            <a:ext cx="4635500" cy="190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203200" marL="203200">
              <a:lnSpc>
                <a:spcPct val="125000"/>
              </a:lnSpc>
              <a:buClr>
                <a:srgbClr val="333333"/>
              </a:buClr>
              <a:buChar char="•"/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原理：</a:t>
            </a:r>
            <a:r>
              <a:rPr lang="en-US" b="fals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类似家庭保险丝，当系统负载过大或出现异常时，自动切断服务，防止故障扩散。</a:t>
            </a:r>
            <a:r>
              <a:rPr lang="en-US" b="fals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203200" marL="203200">
              <a:lnSpc>
                <a:spcPct val="125000"/>
              </a:lnSpc>
              <a:buClr>
                <a:srgbClr val="333333"/>
              </a:buClr>
              <a:buChar char="•"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必要性：</a:t>
            </a:r>
            <a:r>
              <a:rPr lang="en-US" b="fals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你可能一辈子都用不到它，但它必须在那里，作为防止系统崩溃的最后一道防线。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286500" y="1651000"/>
            <a:ext cx="51435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DC3545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540500" y="1905000"/>
            <a:ext cx="406400" cy="4064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7048500" y="1905000"/>
            <a:ext cx="41275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DC3545"/>
                </a:solidFill>
                <a:latin typeface="Noto Sans SC"/>
                <a:ea typeface="Noto Sans SC"/>
                <a:cs typeface="Noto Sans SC"/>
                <a:sym typeface="Noto Sans SC"/>
              </a:rPr>
              <a:t>为什么必须要有？</a:t>
            </a:r>
            <a:endParaRPr lang="en-US" sz="1100"/>
          </a:p>
        </p:txBody>
      </p:sp>
      <p:cxnSp>
        <p:nvCxnSpPr>
          <p:cNvPr name="Connector 11" id="11"/>
          <p:cNvCxnSpPr/>
          <p:nvPr/>
        </p:nvCxnSpPr>
        <p:spPr>
          <a:xfrm rot="-9418" flipH="false" flipV="false">
            <a:off x="6540509" y="2406650"/>
            <a:ext cx="463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C3545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2" id="12"/>
          <p:cNvSpPr/>
          <p:nvPr/>
        </p:nvSpPr>
        <p:spPr>
          <a:xfrm rot="0" flipH="false" flipV="false">
            <a:off x="6540500" y="2540000"/>
            <a:ext cx="4635500" cy="190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203200" marL="203200">
              <a:lnSpc>
                <a:spcPct val="125000"/>
              </a:lnSpc>
              <a:buClr>
                <a:srgbClr val="333333"/>
              </a:buClr>
              <a:buChar char="•"/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不可预测性：</a:t>
            </a:r>
            <a:r>
              <a:rPr lang="en-US" b="fals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代码可能有Bug、市场可能出现极端情况、第三方服务可能宕机。</a:t>
            </a:r>
            <a:r>
              <a:rPr lang="en-US" b="fals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203200" marL="203200">
              <a:lnSpc>
                <a:spcPct val="125000"/>
              </a:lnSpc>
              <a:buClr>
                <a:srgbClr val="333333"/>
              </a:buClr>
              <a:buChar char="•"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系统保护：</a:t>
            </a:r>
            <a:r>
              <a:rPr lang="en-US" b="fals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你无法预测所有问题，但可以确保：出错时系统自动保护，避免雪崩效应。</a:t>
            </a:r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62000" y="4953000"/>
            <a:ext cx="10668000" cy="1270000"/>
          </a:xfrm>
          <a:prstGeom prst="roundRect">
            <a:avLst>
              <a:gd name="adj" fmla="val 10000"/>
            </a:avLst>
          </a:prstGeom>
          <a:solidFill>
            <a:srgbClr val="FD7E14">
              <a:alpha val="10000"/>
            </a:srgbClr>
          </a:solidFill>
          <a:ln w="25400" cmpd="sng" cap="flat">
            <a:solidFill>
              <a:srgbClr val="FD7E14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16000" y="5270500"/>
            <a:ext cx="609600" cy="6096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1778000" y="5207000"/>
            <a:ext cx="939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D7E14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核心结论：不是“最好有”，而是“必须有”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熔断机制是系统稳定性的基石，是不可妥协的设计原则。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🏆 法则三：过去 ≠ 未来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651000"/>
            <a:ext cx="3302000" cy="4064000"/>
          </a:xfrm>
          <a:prstGeom prst="roundRect">
            <a:avLst>
              <a:gd name="adj" fmla="val 3846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007B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1905000"/>
            <a:ext cx="508000" cy="5080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651000" y="1930400"/>
            <a:ext cx="2159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AI的局限性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15626" flipH="false" flipV="false">
            <a:off x="1016014" y="24701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07B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1016000" y="2603500"/>
            <a:ext cx="2794000" cy="279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AI依赖历史数据学习规律，但过去的规律未必在未来成立。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445000" y="1651000"/>
            <a:ext cx="3302000" cy="4064000"/>
          </a:xfrm>
          <a:prstGeom prst="roundRect">
            <a:avLst>
              <a:gd name="adj" fmla="val 3846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FD7E14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699000" y="1905000"/>
            <a:ext cx="508000" cy="5080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5334000" y="1930400"/>
            <a:ext cx="2159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D7E14"/>
                </a:solidFill>
                <a:latin typeface="Noto Sans SC"/>
                <a:ea typeface="Noto Sans SC"/>
                <a:cs typeface="Noto Sans SC"/>
                <a:sym typeface="Noto Sans SC"/>
              </a:rPr>
              <a:t>类比：天气预报</a:t>
            </a:r>
            <a:endParaRPr lang="en-US" sz="1100"/>
          </a:p>
        </p:txBody>
      </p:sp>
      <p:cxnSp>
        <p:nvCxnSpPr>
          <p:cNvPr name="Connector 11" id="11"/>
          <p:cNvCxnSpPr/>
          <p:nvPr/>
        </p:nvCxnSpPr>
        <p:spPr>
          <a:xfrm rot="-15626" flipH="false" flipV="false">
            <a:off x="4699014" y="24701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D7E14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2" id="12"/>
          <p:cNvSpPr/>
          <p:nvPr/>
        </p:nvSpPr>
        <p:spPr>
          <a:xfrm rot="0" flipH="false" flipV="false">
            <a:off x="4699000" y="2603500"/>
            <a:ext cx="2794000" cy="279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天气预报可以预测日常变化，但难以预测从未发生过的极端灾害。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8128000" y="1651000"/>
            <a:ext cx="3302000" cy="4064000"/>
          </a:xfrm>
          <a:prstGeom prst="roundRect">
            <a:avLst>
              <a:gd name="adj" fmla="val 3846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28A745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8382000" y="1905000"/>
            <a:ext cx="508000" cy="5080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9017000" y="1930400"/>
            <a:ext cx="2159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28A745"/>
                </a:solidFill>
                <a:latin typeface="Noto Sans SC"/>
                <a:ea typeface="Noto Sans SC"/>
                <a:cs typeface="Noto Sans SC"/>
                <a:sym typeface="Noto Sans SC"/>
              </a:rPr>
              <a:t>应对措施</a:t>
            </a:r>
            <a:endParaRPr lang="en-US" sz="1100"/>
          </a:p>
        </p:txBody>
      </p:sp>
      <p:cxnSp>
        <p:nvCxnSpPr>
          <p:cNvPr name="Connector 16" id="16"/>
          <p:cNvCxnSpPr/>
          <p:nvPr/>
        </p:nvCxnSpPr>
        <p:spPr>
          <a:xfrm rot="-15626" flipH="false" flipV="false">
            <a:off x="8382014" y="24701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8A745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17" id="17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8382000" y="2730500"/>
            <a:ext cx="254000" cy="2540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8699500" y="26924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不能“设好了就不管”</a:t>
            </a:r>
            <a:endParaRPr lang="en-US" sz="1100"/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8382000" y="3175000"/>
            <a:ext cx="254000" cy="254000"/>
          </a:xfrm>
          <a:prstGeom prst="rect">
            <a:avLst/>
          </a:prstGeom>
        </p:spPr>
      </p:pic>
      <p:sp>
        <p:nvSpPr>
          <p:cNvPr name="AutoShape 20" id="20"/>
          <p:cNvSpPr/>
          <p:nvPr/>
        </p:nvSpPr>
        <p:spPr>
          <a:xfrm rot="0" flipH="false" flipV="false">
            <a:off x="8699500" y="31369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持续监控AI表现</a:t>
            </a:r>
            <a:endParaRPr lang="en-US" sz="1100"/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8382000" y="3619500"/>
            <a:ext cx="254000" cy="254000"/>
          </a:xfrm>
          <a:prstGeom prst="rect">
            <a:avLst/>
          </a:prstGeom>
        </p:spPr>
      </p:pic>
      <p:sp>
        <p:nvSpPr>
          <p:cNvPr name="AutoShape 22" id="22"/>
          <p:cNvSpPr/>
          <p:nvPr/>
        </p:nvSpPr>
        <p:spPr>
          <a:xfrm rot="0" flipH="false" flipV="false">
            <a:off x="8699500" y="3581400"/>
            <a:ext cx="254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策略失效时及时调整或停止</a:t>
            </a:r>
            <a:endParaRPr lang="en-US" sz="1100"/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信任公式：构建 AI 信任的基石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524000"/>
            <a:ext cx="10668000" cy="1270000"/>
          </a:xfrm>
          <a:prstGeom prst="roundRect">
            <a:avLst>
              <a:gd name="adj" fmla="val 10000"/>
            </a:avLst>
          </a:prstGeom>
          <a:solidFill>
            <a:srgbClr val="007BFF">
              <a:alpha val="10000"/>
            </a:srgbClr>
          </a:solidFill>
          <a:ln w="25400" cmpd="sng" cap="flat">
            <a:solidFill>
              <a:srgbClr val="007BFF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1778000"/>
            <a:ext cx="1016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2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信任 =</a:t>
            </a:r>
            <a:r>
              <a:rPr lang="en-US" b="true" i="false" strike="noStrike" u="none" sz="28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能力</a:t>
            </a:r>
            <a:r>
              <a:rPr lang="en-US" b="false" i="false" strike="noStrike" u="none" sz="2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×</a:t>
            </a:r>
            <a:r>
              <a:rPr lang="en-US" b="true" i="false" strike="noStrike" u="none" sz="2800">
                <a:solidFill>
                  <a:srgbClr val="28A745"/>
                </a:solidFill>
                <a:latin typeface="Noto Sans SC"/>
                <a:ea typeface="Noto Sans SC"/>
                <a:cs typeface="Noto Sans SC"/>
                <a:sym typeface="Noto Sans SC"/>
              </a:rPr>
              <a:t>安全边界</a:t>
            </a:r>
            <a:r>
              <a:rPr lang="en-US" b="false" i="false" strike="noStrike" u="none" sz="2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×</a:t>
            </a:r>
            <a:r>
              <a:rPr lang="en-US" b="true" i="false" strike="noStrike" u="none" sz="2800">
                <a:solidFill>
                  <a:srgbClr val="FD7E14"/>
                </a:solidFill>
                <a:latin typeface="Noto Sans SC"/>
                <a:ea typeface="Noto Sans SC"/>
                <a:cs typeface="Noto Sans SC"/>
                <a:sym typeface="Noto Sans SC"/>
              </a:rPr>
              <a:t>可观测性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3048000"/>
            <a:ext cx="3302000" cy="2032000"/>
          </a:xfrm>
          <a:prstGeom prst="roundRect">
            <a:avLst>
              <a:gd name="adj" fmla="val 625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27000" algn="tl" rotWithShape="false">
              <a:srgbClr val="000000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3302000"/>
            <a:ext cx="406400" cy="4064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1524000" y="33020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能力 (Capability)</a:t>
            </a:r>
            <a:endParaRPr lang="en-US" sz="1100"/>
          </a:p>
        </p:txBody>
      </p:sp>
      <p:cxnSp>
        <p:nvCxnSpPr>
          <p:cNvPr name="Connector 10" id="10"/>
          <p:cNvCxnSpPr/>
          <p:nvPr/>
        </p:nvCxnSpPr>
        <p:spPr>
          <a:xfrm rot="-15626" flipH="false" flipV="false">
            <a:off x="1016014" y="37401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6E6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1" id="11"/>
          <p:cNvSpPr/>
          <p:nvPr/>
        </p:nvSpPr>
        <p:spPr>
          <a:xfrm rot="0" flipH="false" flipV="false">
            <a:off x="1016000" y="3873500"/>
            <a:ext cx="2794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AI 模型完成任务的准确性和效率，即“AI做得好不好”。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445000" y="3048000"/>
            <a:ext cx="3302000" cy="2032000"/>
          </a:xfrm>
          <a:prstGeom prst="roundRect">
            <a:avLst>
              <a:gd name="adj" fmla="val 625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27000" algn="tl" rotWithShape="false">
              <a:srgbClr val="000000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699000" y="3302000"/>
            <a:ext cx="406400" cy="4064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5207000" y="33020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8A745"/>
                </a:solidFill>
                <a:latin typeface="Noto Sans SC"/>
                <a:ea typeface="Noto Sans SC"/>
                <a:cs typeface="Noto Sans SC"/>
                <a:sym typeface="Noto Sans SC"/>
              </a:rPr>
              <a:t>安全边界 (Safety)</a:t>
            </a:r>
            <a:endParaRPr lang="en-US" sz="1100"/>
          </a:p>
        </p:txBody>
      </p:sp>
      <p:cxnSp>
        <p:nvCxnSpPr>
          <p:cNvPr name="Connector 15" id="15"/>
          <p:cNvCxnSpPr/>
          <p:nvPr/>
        </p:nvCxnSpPr>
        <p:spPr>
          <a:xfrm rot="-15626" flipH="false" flipV="false">
            <a:off x="4699014" y="37401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6E6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6" id="16"/>
          <p:cNvSpPr/>
          <p:nvPr/>
        </p:nvSpPr>
        <p:spPr>
          <a:xfrm rot="0" flipH="false" flipV="false">
            <a:off x="4699000" y="3873500"/>
            <a:ext cx="2794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系统的容错机制与风险控制，即“出错了损失可控吗”。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128000" y="3048000"/>
            <a:ext cx="3302000" cy="2032000"/>
          </a:xfrm>
          <a:prstGeom prst="roundRect">
            <a:avLst>
              <a:gd name="adj" fmla="val 625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27000" algn="tl" rotWithShape="false">
              <a:srgbClr val="000000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8382000" y="3302000"/>
            <a:ext cx="406400" cy="406400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 flipH="false" flipV="false">
            <a:off x="8890000" y="33020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D7E14"/>
                </a:solidFill>
                <a:latin typeface="Noto Sans SC"/>
                <a:ea typeface="Noto Sans SC"/>
                <a:cs typeface="Noto Sans SC"/>
                <a:sym typeface="Noto Sans SC"/>
              </a:rPr>
              <a:t>可观测性 (Observability)</a:t>
            </a:r>
            <a:endParaRPr lang="en-US" sz="1100"/>
          </a:p>
        </p:txBody>
      </p:sp>
      <p:cxnSp>
        <p:nvCxnSpPr>
          <p:cNvPr name="Connector 20" id="20"/>
          <p:cNvCxnSpPr/>
          <p:nvPr/>
        </p:nvCxnSpPr>
        <p:spPr>
          <a:xfrm rot="-15626" flipH="false" flipV="false">
            <a:off x="8382014" y="37401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6E6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1" id="21"/>
          <p:cNvSpPr/>
          <p:nvPr/>
        </p:nvSpPr>
        <p:spPr>
          <a:xfrm rot="0" flipH="false" flipV="false">
            <a:off x="8382000" y="3873500"/>
            <a:ext cx="2794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对 AI 决策过程的透明度，即“能看到它在做什么吗”。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762000" y="5334000"/>
            <a:ext cx="10668000" cy="762000"/>
          </a:xfrm>
          <a:prstGeom prst="roundRect">
            <a:avLst>
              <a:gd name="adj" fmla="val 16666"/>
            </a:avLst>
          </a:prstGeom>
          <a:solidFill>
            <a:srgbClr val="DC3545">
              <a:alpha val="10000"/>
            </a:srgbClr>
          </a:solidFill>
          <a:ln w="12700" cmpd="sng" cap="flat">
            <a:solidFill>
              <a:srgbClr val="DC3545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1016000" y="5562600"/>
            <a:ext cx="304800" cy="304800"/>
          </a:xfrm>
          <a:prstGeom prst="rect">
            <a:avLst/>
          </a:prstGeom>
        </p:spPr>
      </p:pic>
      <p:sp>
        <p:nvSpPr>
          <p:cNvPr name="AutoShape 24" id="24"/>
          <p:cNvSpPr/>
          <p:nvPr/>
        </p:nvSpPr>
        <p:spPr>
          <a:xfrm rot="0" flipH="false" flipV="false">
            <a:off x="1397000" y="5461000"/>
            <a:ext cx="965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DC3545"/>
                </a:solidFill>
                <a:latin typeface="Noto Sans SC"/>
                <a:ea typeface="Noto Sans SC"/>
                <a:cs typeface="Noto Sans SC"/>
                <a:sym typeface="Noto Sans SC"/>
              </a:rPr>
              <a:t>警示：</a:t>
            </a:r>
            <a:r>
              <a:rPr lang="en-US" b="false" i="false" strike="noStrike" u="none" sz="1400">
                <a:solidFill>
                  <a:srgbClr val="DC3545"/>
                </a:solidFill>
                <a:latin typeface="Noto Sans SC"/>
                <a:ea typeface="Noto Sans SC"/>
                <a:cs typeface="Noto Sans SC"/>
                <a:sym typeface="Noto Sans SC"/>
              </a:rPr>
              <a:t>能力强 + 没安全边界 = 没有刹车的跑车 → 越快越危险</a:t>
            </a:r>
            <a:endParaRPr lang="en-US" sz="1100"/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💡 AI 信任构建公式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651000"/>
            <a:ext cx="10668000" cy="1524000"/>
          </a:xfrm>
          <a:prstGeom prst="roundRect">
            <a:avLst>
              <a:gd name="adj" fmla="val 8333"/>
            </a:avLst>
          </a:prstGeom>
          <a:solidFill>
            <a:srgbClr val="007BFF">
              <a:alpha val="8000"/>
            </a:srgbClr>
          </a:solidFill>
          <a:ln w="12700" cmpd="sng" cap="flat">
            <a:solidFill>
              <a:srgbClr val="007B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1905000"/>
            <a:ext cx="10160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212529"/>
                </a:solidFill>
                <a:latin typeface="Noto Sans SC"/>
                <a:ea typeface="Noto Sans SC"/>
                <a:cs typeface="Noto Sans SC"/>
                <a:sym typeface="Noto Sans SC"/>
              </a:rPr>
              <a:t>信任 = 能力 × 安全边界 × 可观测性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5371" flipH="false" flipV="false">
            <a:off x="2032005" y="3422650"/>
            <a:ext cx="812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8C8C8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name="Picture 8" id="8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762000" y="3810000"/>
            <a:ext cx="304800" cy="3048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1143000" y="37592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与其盲目追求：“最强的 AI”</a:t>
            </a:r>
            <a:endParaRPr lang="en-US" sz="1100"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762000" y="4445000"/>
            <a:ext cx="304800" cy="3048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1143000" y="43942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212529"/>
                </a:solidFill>
                <a:latin typeface="Noto Sans SC"/>
                <a:ea typeface="Noto Sans SC"/>
                <a:cs typeface="Noto Sans SC"/>
                <a:sym typeface="Noto Sans SC"/>
              </a:rPr>
              <a:t>不如专注构建：</a:t>
            </a:r>
            <a:r>
              <a:rPr lang="en-US" b="true" i="false" strike="noStrike" u="none" sz="24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最安全、最可控、最可观测的 AI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762000" y="5080000"/>
            <a:ext cx="10668000" cy="762000"/>
          </a:xfrm>
          <a:prstGeom prst="roundRect">
            <a:avLst>
              <a:gd name="adj" fmla="val 16666"/>
            </a:avLst>
          </a:prstGeom>
          <a:solidFill>
            <a:srgbClr val="28A745">
              <a:alpha val="10000"/>
            </a:srgbClr>
          </a:solidFill>
          <a:ln w="12700" cmpd="sng" cap="flat">
            <a:solidFill>
              <a:srgbClr val="28A745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16000" y="5283200"/>
            <a:ext cx="355600" cy="3556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1524000" y="5232400"/>
            <a:ext cx="9525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28A745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核心原则：能力、安全边界与可观测性，三者缺一不可</a:t>
            </a:r>
            <a:endParaRPr lang="en-US" sz="1100"/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📋 本课核心知识</a:t>
            </a:r>
            <a:endParaRPr lang="en-US" sz="1100"/>
          </a:p>
        </p:txBody>
      </p: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762000" y="1651000"/>
          <a:ext cx="10414000" cy="4445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762000"/>
                <a:gridCol w="3556000"/>
                <a:gridCol w="6096000"/>
              </a:tblGrid>
              <a:tr h="6350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007B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序号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25400">
                      <a:solidFill>
                        <a:srgbClr val="00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BFF">
                        <a:alpha val="1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007B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核心知识点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25400">
                      <a:solidFill>
                        <a:srgbClr val="00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BFF">
                        <a:alpha val="1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007B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关键类比与说明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25400">
                      <a:solidFill>
                        <a:srgbClr val="00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BFF">
                        <a:alpha val="10000"/>
                      </a:srgbClr>
                    </a:solidFill>
                  </a:tcPr>
                </a:tc>
              </a:tr>
              <a:tr h="6350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6C757D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01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25400">
                      <a:solidFill>
                        <a:srgbClr val="00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600">
                          <a:solidFill>
                            <a:srgbClr val="343A4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AI自动化风险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25400">
                      <a:solidFill>
                        <a:srgbClr val="00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343A4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类比：无刹车的跑车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25400">
                      <a:solidFill>
                        <a:srgbClr val="007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350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6C757D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02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600">
                          <a:solidFill>
                            <a:srgbClr val="343A4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四层安全防护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343A4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类比：安全带 + ABS + 气囊 + 限速器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350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6C757D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03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600">
                          <a:solidFill>
                            <a:srgbClr val="343A4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六重安全检查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343A4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类比：六道安全门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350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6C757D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04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600">
                          <a:solidFill>
                            <a:srgbClr val="343A4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风险评分机制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343A4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类比：体检报告 (0-100分)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350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6C757D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05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600">
                          <a:solidFill>
                            <a:srgbClr val="343A4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风控可迁移性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343A4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适用场景：客服 / 发文 / 审批通用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350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6C757D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06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600">
                          <a:solidFill>
                            <a:srgbClr val="343A4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三条黄金法则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343A4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监控&gt;策略 / 必须熔断 / 过去≠未来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本课知识卡片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651000"/>
            <a:ext cx="3429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007BFF">
                <a:alpha val="20000"/>
              </a:srgbClr>
            </a:solidFill>
            <a:prstDash val="solid"/>
            <a:round/>
          </a:ln>
          <a:effectLst>
            <a:outerShdw dir="2700000" dist="50800" blurRad="127000" algn="tl" rotWithShape="false">
              <a:srgbClr val="000000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1905000"/>
            <a:ext cx="406400" cy="4064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524000" y="19050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四层安全系统</a:t>
            </a:r>
            <a:endParaRPr lang="en-US" sz="1100"/>
          </a:p>
        </p:txBody>
      </p:sp>
      <p:cxnSp>
        <p:nvCxnSpPr>
          <p:cNvPr name="Connector 8" id="8"/>
          <p:cNvCxnSpPr/>
          <p:nvPr/>
        </p:nvCxnSpPr>
        <p:spPr>
          <a:xfrm rot="-14946" flipH="false" flipV="false">
            <a:off x="1016014" y="23431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EEE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9" id="9"/>
          <p:cNvSpPr/>
          <p:nvPr/>
        </p:nvSpPr>
        <p:spPr>
          <a:xfrm rot="0" flipH="false" flipV="false">
            <a:off x="1016000" y="2476500"/>
            <a:ext cx="2921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177800" marL="177800">
              <a:lnSpc>
                <a:spcPct val="125000"/>
              </a:lnSpc>
              <a:buClr>
                <a:srgbClr val="666666"/>
              </a:buClr>
              <a:buChar char="•"/>
              <a:defRPr/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安全带：基础防护</a:t>
            </a: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177800" marL="177800">
              <a:lnSpc>
                <a:spcPct val="125000"/>
              </a:lnSpc>
              <a:buClr>
                <a:srgbClr val="666666"/>
              </a:buClr>
              <a:buChar char="•"/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ABS系统：防抱死控制</a:t>
            </a: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177800" marL="177800">
              <a:lnSpc>
                <a:spcPct val="125000"/>
              </a:lnSpc>
              <a:buClr>
                <a:srgbClr val="666666"/>
              </a:buClr>
              <a:buChar char="•"/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安全气囊：紧急缓冲</a:t>
            </a: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177800" marL="177800">
              <a:lnSpc>
                <a:spcPct val="125000"/>
              </a:lnSpc>
              <a:buClr>
                <a:srgbClr val="666666"/>
              </a:buClr>
              <a:buChar char="•"/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限速器：防止超速风险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381500" y="1651000"/>
            <a:ext cx="3429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007BFF">
                <a:alpha val="20000"/>
              </a:srgbClr>
            </a:solidFill>
            <a:prstDash val="solid"/>
            <a:round/>
          </a:ln>
          <a:effectLst>
            <a:outerShdw dir="2700000" dist="50800" blurRad="127000" algn="tl" rotWithShape="false">
              <a:srgbClr val="000000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635500" y="1905000"/>
            <a:ext cx="406400" cy="4064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5143500" y="19050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六重检查机制</a:t>
            </a:r>
            <a:endParaRPr lang="en-US" sz="1100"/>
          </a:p>
        </p:txBody>
      </p:sp>
      <p:cxnSp>
        <p:nvCxnSpPr>
          <p:cNvPr name="Connector 13" id="13"/>
          <p:cNvCxnSpPr/>
          <p:nvPr/>
        </p:nvCxnSpPr>
        <p:spPr>
          <a:xfrm rot="-14946" flipH="false" flipV="false">
            <a:off x="4635514" y="23431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EEE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4" id="14"/>
          <p:cNvSpPr/>
          <p:nvPr/>
        </p:nvSpPr>
        <p:spPr>
          <a:xfrm rot="0" flipH="false" flipV="false">
            <a:off x="4635500" y="2476500"/>
            <a:ext cx="2921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177800" marL="177800">
              <a:lnSpc>
                <a:spcPct val="125000"/>
              </a:lnSpc>
              <a:buClr>
                <a:srgbClr val="666666"/>
              </a:buClr>
              <a:buChar char="•"/>
              <a:defRPr/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熔断保护 / 单次限额</a:t>
            </a: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177800" marL="177800">
              <a:lnSpc>
                <a:spcPct val="125000"/>
              </a:lnSpc>
              <a:buClr>
                <a:srgbClr val="666666"/>
              </a:buClr>
              <a:buChar char="•"/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日亏损上限 / 调用次数</a:t>
            </a: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177800" marL="177800">
              <a:lnSpc>
                <a:spcPct val="125000"/>
              </a:lnSpc>
              <a:buClr>
                <a:srgbClr val="666666"/>
              </a:buClr>
              <a:buChar char="•"/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调用间隔控制 / 总损限制</a:t>
            </a:r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001000" y="1651000"/>
            <a:ext cx="3429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007BFF">
                <a:alpha val="20000"/>
              </a:srgbClr>
            </a:solidFill>
            <a:prstDash val="solid"/>
            <a:round/>
          </a:ln>
          <a:effectLst>
            <a:outerShdw dir="2700000" dist="50800" blurRad="127000" algn="tl" rotWithShape="false">
              <a:srgbClr val="000000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8255000" y="1905000"/>
            <a:ext cx="406400" cy="4064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8763000" y="19050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风险评分体系</a:t>
            </a:r>
            <a:endParaRPr lang="en-US" sz="1100"/>
          </a:p>
        </p:txBody>
      </p:sp>
      <p:cxnSp>
        <p:nvCxnSpPr>
          <p:cNvPr name="Connector 18" id="18"/>
          <p:cNvCxnSpPr/>
          <p:nvPr/>
        </p:nvCxnSpPr>
        <p:spPr>
          <a:xfrm rot="-14946" flipH="false" flipV="false">
            <a:off x="8255014" y="23431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EEE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9" id="19"/>
          <p:cNvSpPr/>
          <p:nvPr/>
        </p:nvSpPr>
        <p:spPr>
          <a:xfrm rot="0" flipH="false" flipV="false">
            <a:off x="8255000" y="2476500"/>
            <a:ext cx="2921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177800" marL="177800">
              <a:lnSpc>
                <a:spcPct val="125000"/>
              </a:lnSpc>
              <a:buClr>
                <a:srgbClr val="666666"/>
              </a:buClr>
              <a:buChar char="•"/>
              <a:defRPr/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0-100分量化评估</a:t>
            </a: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177800" marL="177800">
              <a:lnSpc>
                <a:spcPct val="125000"/>
              </a:lnSpc>
              <a:buClr>
                <a:srgbClr val="666666"/>
              </a:buClr>
              <a:buChar char="•"/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如同体检报告，一眼识别健康度</a:t>
            </a: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177800" marL="177800">
              <a:lnSpc>
                <a:spcPct val="125000"/>
              </a:lnSpc>
              <a:buClr>
                <a:srgbClr val="666666"/>
              </a:buClr>
              <a:buChar char="•"/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及时预警潜在风险</a:t>
            </a:r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762000" y="4191000"/>
            <a:ext cx="5334000" cy="2032000"/>
          </a:xfrm>
          <a:prstGeom prst="roundRect">
            <a:avLst>
              <a:gd name="adj" fmla="val 625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007BFF">
                <a:alpha val="20000"/>
              </a:srgbClr>
            </a:solidFill>
            <a:prstDash val="solid"/>
            <a:round/>
          </a:ln>
          <a:effectLst>
            <a:outerShdw dir="2700000" dist="50800" blurRad="127000" algn="tl" rotWithShape="false">
              <a:srgbClr val="000000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1016000" y="4445000"/>
            <a:ext cx="406400" cy="406400"/>
          </a:xfrm>
          <a:prstGeom prst="rect">
            <a:avLst/>
          </a:prstGeom>
        </p:spPr>
      </p:pic>
      <p:sp>
        <p:nvSpPr>
          <p:cNvPr name="AutoShape 22" id="22"/>
          <p:cNvSpPr/>
          <p:nvPr/>
        </p:nvSpPr>
        <p:spPr>
          <a:xfrm rot="0" flipH="false" flipV="false">
            <a:off x="1524000" y="44450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三条黄金法则</a:t>
            </a:r>
            <a:endParaRPr lang="en-US" sz="1100"/>
          </a:p>
        </p:txBody>
      </p:sp>
      <p:cxnSp>
        <p:nvCxnSpPr>
          <p:cNvPr name="Connector 23" id="23"/>
          <p:cNvCxnSpPr/>
          <p:nvPr/>
        </p:nvCxnSpPr>
        <p:spPr>
          <a:xfrm rot="-9046" flipH="false" flipV="false">
            <a:off x="1016008" y="48831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EEE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4" id="24"/>
          <p:cNvSpPr/>
          <p:nvPr/>
        </p:nvSpPr>
        <p:spPr>
          <a:xfrm rot="0" flipH="false" flipV="false">
            <a:off x="1016000" y="5016500"/>
            <a:ext cx="4826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177800" marL="177800">
              <a:lnSpc>
                <a:spcPct val="125000"/>
              </a:lnSpc>
              <a:buClr>
                <a:srgbClr val="666666"/>
              </a:buClr>
              <a:buChar char="•"/>
              <a:defRPr/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监控 &gt; 策略：没有监控的策略是盲目的</a:t>
            </a: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177800" marL="177800">
              <a:lnSpc>
                <a:spcPct val="125000"/>
              </a:lnSpc>
              <a:buClr>
                <a:srgbClr val="666666"/>
              </a:buClr>
              <a:buChar char="•"/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必须有熔断：宁可错杀，不可放过</a:t>
            </a: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177800" marL="177800">
              <a:lnSpc>
                <a:spcPct val="125000"/>
              </a:lnSpc>
              <a:buClr>
                <a:srgbClr val="666666"/>
              </a:buClr>
              <a:buChar char="•"/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过去 ≠ 未来：模型会退化，需持续评估</a:t>
            </a:r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6286500" y="4191000"/>
            <a:ext cx="5334000" cy="2032000"/>
          </a:xfrm>
          <a:prstGeom prst="roundRect">
            <a:avLst>
              <a:gd name="adj" fmla="val 625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007BFF">
                <a:alpha val="20000"/>
              </a:srgbClr>
            </a:solidFill>
            <a:prstDash val="solid"/>
            <a:round/>
          </a:ln>
          <a:effectLst>
            <a:outerShdw dir="2700000" dist="50800" blurRad="127000" algn="tl" rotWithShape="false">
              <a:srgbClr val="000000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6" id="26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6540500" y="4445000"/>
            <a:ext cx="406400" cy="406400"/>
          </a:xfrm>
          <a:prstGeom prst="rect">
            <a:avLst/>
          </a:prstGeom>
        </p:spPr>
      </p:pic>
      <p:sp>
        <p:nvSpPr>
          <p:cNvPr name="AutoShape 27" id="27"/>
          <p:cNvSpPr/>
          <p:nvPr/>
        </p:nvSpPr>
        <p:spPr>
          <a:xfrm rot="0" flipH="false" flipV="false">
            <a:off x="7048500" y="44450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信任公式</a:t>
            </a:r>
            <a:endParaRPr lang="en-US" sz="1100"/>
          </a:p>
        </p:txBody>
      </p:sp>
      <p:cxnSp>
        <p:nvCxnSpPr>
          <p:cNvPr name="Connector 28" id="28"/>
          <p:cNvCxnSpPr/>
          <p:nvPr/>
        </p:nvCxnSpPr>
        <p:spPr>
          <a:xfrm rot="-9046" flipH="false" flipV="false">
            <a:off x="6540508" y="48831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EEE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9" id="29"/>
          <p:cNvSpPr/>
          <p:nvPr/>
        </p:nvSpPr>
        <p:spPr>
          <a:xfrm rot="0" flipH="false" flipV="false">
            <a:off x="6540500" y="5016500"/>
            <a:ext cx="4826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信任 = 能力 × 安全边界 × 可观测性</a:t>
            </a: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177800" marL="177800">
              <a:lnSpc>
                <a:spcPct val="125000"/>
              </a:lnSpc>
              <a:buClr>
                <a:srgbClr val="666666"/>
              </a:buClr>
              <a:buChar char="•"/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能力：模型的准确性与效果</a:t>
            </a: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177800" marL="177800">
              <a:lnSpc>
                <a:spcPct val="125000"/>
              </a:lnSpc>
              <a:buClr>
                <a:srgbClr val="666666"/>
              </a:buClr>
              <a:buChar char="•"/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安全边界：可控的风险范围</a:t>
            </a: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177800" marL="177800">
              <a:lnSpc>
                <a:spcPct val="125000"/>
              </a:lnSpc>
              <a:buClr>
                <a:srgbClr val="666666"/>
              </a:buClr>
              <a:buChar char="•"/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可观测性：透明的运行状态</a:t>
            </a:r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📢 下一课预告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778000"/>
            <a:ext cx="3302000" cy="3556000"/>
          </a:xfrm>
          <a:prstGeom prst="roundRect">
            <a:avLst>
              <a:gd name="adj" fmla="val 3846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007BFF">
                <a:alpha val="30000"/>
              </a:srgbClr>
            </a:solidFill>
            <a:prstDash val="solid"/>
            <a:round/>
          </a:ln>
          <a:effectLst>
            <a:outerShdw dir="2700000" dist="50800" blurRad="127000" algn="tl" rotWithShape="false">
              <a:srgbClr val="007BFF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66800" y="2082800"/>
            <a:ext cx="609600" cy="6096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066800" y="2794000"/>
            <a:ext cx="26924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上线只是开始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66800" y="3238500"/>
            <a:ext cx="26924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AI上线就像开了一家店，真正的挑战在于如何让它每天都能正常、稳定地营业。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445000" y="1778000"/>
            <a:ext cx="3302000" cy="3556000"/>
          </a:xfrm>
          <a:prstGeom prst="roundRect">
            <a:avLst>
              <a:gd name="adj" fmla="val 3846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FD7E14">
                <a:alpha val="30000"/>
              </a:srgbClr>
            </a:solidFill>
            <a:prstDash val="solid"/>
            <a:round/>
          </a:ln>
          <a:effectLst>
            <a:outerShdw dir="2700000" dist="50800" blurRad="127000" algn="tl" rotWithShape="false">
              <a:srgbClr val="FD7E14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749800" y="2082800"/>
            <a:ext cx="609600" cy="6096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4749800" y="2794000"/>
            <a:ext cx="26924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AI系统的“物业管理”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749800" y="3238500"/>
            <a:ext cx="26924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系统上线后，我们需要定规矩、排排班、看监控，确保系统的安全与高效运行。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8128000" y="1778000"/>
            <a:ext cx="3302000" cy="3556000"/>
          </a:xfrm>
          <a:prstGeom prst="roundRect">
            <a:avLst>
              <a:gd name="adj" fmla="val 3846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28A745">
                <a:alpha val="30000"/>
              </a:srgbClr>
            </a:solidFill>
            <a:prstDash val="solid"/>
            <a:round/>
          </a:ln>
          <a:effectLst>
            <a:outerShdw dir="2700000" dist="50800" blurRad="127000" algn="tl" rotWithShape="false">
              <a:srgbClr val="28A745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8432800" y="2082800"/>
            <a:ext cx="609600" cy="6096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8432800" y="2794000"/>
            <a:ext cx="26924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第6课：AI时代生存指南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8432800" y="3238500"/>
            <a:ext cx="26924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最后一课！我们将探讨运维思维，分享如何让AI持续运行的实战指南。</a:t>
            </a:r>
            <a:endParaRPr lang="en-US" sz="1100"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