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slides/slide31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32.xml" Type="http://schemas.openxmlformats.org/officeDocument/2006/relationships/slide"/><Relationship Id="rId41" Target="slides/slide33.xml" Type="http://schemas.openxmlformats.org/officeDocument/2006/relationships/slide"/><Relationship Id="rId42" Target="slides/slide34.xml" Type="http://schemas.openxmlformats.org/officeDocument/2006/relationships/slide"/><Relationship Id="rId43" Target="slides/slide35.xml" Type="http://schemas.openxmlformats.org/officeDocument/2006/relationships/slide"/><Relationship Id="rId44" Target="slides/slide36.xml" Type="http://schemas.openxmlformats.org/officeDocument/2006/relationships/slide"/><Relationship Id="rId45" Target="slides/slide37.xml" Type="http://schemas.openxmlformats.org/officeDocument/2006/relationships/slide"/><Relationship Id="rId46" Target="notesSlides/notesSlide1.xml" Type="http://schemas.openxmlformats.org/officeDocument/2006/relationships/notesSlide"/><Relationship Id="rId47" Target="notesSlides/notesSlide2.xml" Type="http://schemas.openxmlformats.org/officeDocument/2006/relationships/notesSlide"/><Relationship Id="rId48" Target="notesSlides/notesSlide3.xml" Type="http://schemas.openxmlformats.org/officeDocument/2006/relationships/notesSlide"/><Relationship Id="rId49" Target="notesSlides/notesSlide4.xml" Type="http://schemas.openxmlformats.org/officeDocument/2006/relationships/notesSlide"/><Relationship Id="rId50" Target="notesSlides/notesSlide5.xml" Type="http://schemas.openxmlformats.org/officeDocument/2006/relationships/notesSlide"/><Relationship Id="rId51" Target="notesSlides/notesSlide6.xml" Type="http://schemas.openxmlformats.org/officeDocument/2006/relationships/notesSlide"/><Relationship Id="rId52" Target="notesSlides/notesSlide7.xml" Type="http://schemas.openxmlformats.org/officeDocument/2006/relationships/notesSlide"/><Relationship Id="rId53" Target="notesSlides/notesSlide8.xml" Type="http://schemas.openxmlformats.org/officeDocument/2006/relationships/notesSlide"/><Relationship Id="rId54" Target="notesSlides/notesSlide9.xml" Type="http://schemas.openxmlformats.org/officeDocument/2006/relationships/notesSlide"/><Relationship Id="rId55" Target="notesSlides/notesSlide10.xml" Type="http://schemas.openxmlformats.org/officeDocument/2006/relationships/notesSlide"/><Relationship Id="rId56" Target="notesSlides/notesSlide11.xml" Type="http://schemas.openxmlformats.org/officeDocument/2006/relationships/notesSlide"/><Relationship Id="rId57" Target="notesSlides/notesSlide12.xml" Type="http://schemas.openxmlformats.org/officeDocument/2006/relationships/notesSlide"/><Relationship Id="rId58" Target="notesSlides/notesSlide13.xml" Type="http://schemas.openxmlformats.org/officeDocument/2006/relationships/notesSlide"/><Relationship Id="rId59" Target="notesSlides/notesSlide14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15.xml" Type="http://schemas.openxmlformats.org/officeDocument/2006/relationships/notesSlide"/><Relationship Id="rId61" Target="notesSlides/notesSlide16.xml" Type="http://schemas.openxmlformats.org/officeDocument/2006/relationships/notesSlide"/><Relationship Id="rId62" Target="notesSlides/notesSlide17.xml" Type="http://schemas.openxmlformats.org/officeDocument/2006/relationships/notesSlide"/><Relationship Id="rId63" Target="notesSlides/notesSlide18.xml" Type="http://schemas.openxmlformats.org/officeDocument/2006/relationships/notesSlide"/><Relationship Id="rId64" Target="notesSlides/notesSlide19.xml" Type="http://schemas.openxmlformats.org/officeDocument/2006/relationships/notesSlide"/><Relationship Id="rId65" Target="notesSlides/notesSlide20.xml" Type="http://schemas.openxmlformats.org/officeDocument/2006/relationships/notesSlide"/><Relationship Id="rId66" Target="notesSlides/notesSlide21.xml" Type="http://schemas.openxmlformats.org/officeDocument/2006/relationships/notesSlide"/><Relationship Id="rId67" Target="notesSlides/notesSlide22.xml" Type="http://schemas.openxmlformats.org/officeDocument/2006/relationships/notesSlide"/><Relationship Id="rId68" Target="notesSlides/notesSlide23.xml" Type="http://schemas.openxmlformats.org/officeDocument/2006/relationships/notesSlide"/><Relationship Id="rId69" Target="notesSlides/notesSlide24.xml" Type="http://schemas.openxmlformats.org/officeDocument/2006/relationships/notesSlide"/><Relationship Id="rId7" Target="theme/theme2.xml" Type="http://schemas.openxmlformats.org/officeDocument/2006/relationships/theme"/><Relationship Id="rId70" Target="notesSlides/notesSlide25.xml" Type="http://schemas.openxmlformats.org/officeDocument/2006/relationships/notesSlide"/><Relationship Id="rId71" Target="notesSlides/notesSlide26.xml" Type="http://schemas.openxmlformats.org/officeDocument/2006/relationships/notesSlide"/><Relationship Id="rId72" Target="notesSlides/notesSlide27.xml" Type="http://schemas.openxmlformats.org/officeDocument/2006/relationships/notesSlide"/><Relationship Id="rId73" Target="notesSlides/notesSlide28.xml" Type="http://schemas.openxmlformats.org/officeDocument/2006/relationships/notesSlide"/><Relationship Id="rId74" Target="notesSlides/notesSlide29.xml" Type="http://schemas.openxmlformats.org/officeDocument/2006/relationships/notesSlide"/><Relationship Id="rId75" Target="notesSlides/notesSlide30.xml" Type="http://schemas.openxmlformats.org/officeDocument/2006/relationships/notesSlide"/><Relationship Id="rId76" Target="notesSlides/notesSlide31.xml" Type="http://schemas.openxmlformats.org/officeDocument/2006/relationships/notesSlide"/><Relationship Id="rId77" Target="notesSlides/notesSlide32.xml" Type="http://schemas.openxmlformats.org/officeDocument/2006/relationships/notesSlide"/><Relationship Id="rId78" Target="notesSlides/notesSlide33.xml" Type="http://schemas.openxmlformats.org/officeDocument/2006/relationships/notesSlide"/><Relationship Id="rId79" Target="notesSlides/notesSlide34.xml" Type="http://schemas.openxmlformats.org/officeDocument/2006/relationships/notesSlide"/><Relationship Id="rId8" Target="slideMasters/slideMaster2.xml" Type="http://schemas.openxmlformats.org/officeDocument/2006/relationships/slideMaster"/><Relationship Id="rId80" Target="notesSlides/notesSlide35.xml" Type="http://schemas.openxmlformats.org/officeDocument/2006/relationships/notesSlide"/><Relationship Id="rId81" Target="notesSlides/notesSlide36.xml" Type="http://schemas.openxmlformats.org/officeDocument/2006/relationships/notesSlide"/><Relationship Id="rId82" Target="notesSlides/notesSlide37.xml" Type="http://schemas.openxmlformats.org/officeDocument/2006/relationships/notesSlide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大家好，欢迎来到AI Agent系统工程实战课程的第六课，也是最后一课。前面五课，我们从记忆、路由、多Agent协作、代码生成到量化交易实战，构建了一个完整的AI Agent系统。但一个系统的成功不仅在于它的功能有多强大，更在于它能否长期稳定地运行。今天，我们将聚焦于“让系统活着”，探讨AI Agent的工程化运维与演进复盘，这是保证系统持续价值的关键。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今天课程的整体安排。我们将从一个引人深思的问题开始，然后依次讲解配置管理、定时任务、监控报警和部署更新这四个核心运维模块。课程的后半部分，我们将分享从实践中提炼出的四大经验教训，并对整个课程进行回顾和总结，最后布置一个综合项目。希望通过今天的学习，大家能掌握让AI Agent系统稳定运行的关键技能。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在开始今天的正式内容之前，我想问大家一个问题：如果你的AI Agent系统已经稳定运行了一个月，而你这一个月都没有登录服务器查看过，你最担心会发生什么？是磁盘满了，API欠费了，还是进程挂了？我想，大部分人的答案应该是D，全都担心。这正是我们今天要解决的问题：如何确保系统在我们不关注的时候也能健康、稳定地运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一个非常典型的案例。系统上线初期一切正常，但随着时间推移，各种问题开始显现：日志文件不断膨胀，API密钥过期导致服务停止，最终磁盘占满，数据库损坏，所有记忆丢失。而这一切，因为缺乏监控和报警，无人知晓。这就是运维的重要性，运维的本质就是让系统在你不看的时候也能好好活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首先来看配置管理。在系统开发初期，配置可能散落在代码的各个角落，比如模型名称可能在三个不同的地方被设置。当需要修改时，很容易遗漏，导致系统行为不一致，这就是灾难的开始。解决这个问题的根本方法就是集中配置管理，将所有配置项统一放在一个文件中，比如main.yml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集中配置文件main.yml包含五大配置域：记忆配置、模型配置、Agent配置、交易配置和通知配置。每个配置域下都包含了该模块的所有关键参数。这样一来，所有配置都集中在一个地方，修改配置无需改动代码，大大提高了系统的可维护性和灵活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main.yml文件的核心配置示例。我们可以看到，环境设置为生产环境，记忆后端使用qmd，更新间隔为4小时，数据保留90天。模型配置中指定了默认模型和故障切换的备选模型。通知配置则支持飞书和WhatsApp等多个通道，确保报警信息能及时送达。这些配置项都可以根据实际需求灵活调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配置系统采用三层优先级设计。最低优先级是代码中的默认值，它保证了系统在没有任何外部配置的情况下也能启动。中间优先级是配置文件main.yml，它针对特定的部署环境进行配置。最高优先级是环境变量，它可以在不修改配置文件、不重启服务的情况下，紧急覆盖配置，例如临时关闭交易功能。这个原则是：配置越具体，优先级越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配置加载器ConfigLoader的核心代码。它首先加载代码中的默认值作为第一层配置。然后，如果指定了配置文件路径，它会加载配置文件中的配置并与默认值进行深度合并，这是第二层。最后，它会应用环境变量的覆盖，这是第三层。通过这种方式，实现了配置的灵活管理和优先级控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配置管理中，有一个非常重要的安全原则：敏感信息，特别是API密钥，绝对不能写入配置文件。正确的做法是通过环境变量来设置。如果将密钥写入配置文件并提交到Git仓库，一旦仓库泄露，所有密钥都会暴露，后果不堪设想。所以，我们必须从一开始就养成良好的安全习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这里有一个非常关键的问题：如果不小心把API密钥提交到了Git仓库，然后立即删除了它，这样安全吗？答案是不安全。因为Git会保留所有的历史提交记录，即使你删除了文件，也可以通过git log和git show命令轻松地找到历史版本中的密钥。所以，最好的做法就是从一开始就不犯这个错误，严格遵守敏感信息的管理规范。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并非所有配置都需要重启服务才能生效。有些配置，比如报警阈值、日志级别、通知通道和模型选择，只影响下一次操作的行为，可以实现热加载，修改后立即生效。而有些配置，比如数据库连接参数、端口号和Agent数量，影响的是已经创建的资源，必须重启服务才能生效。热加载的原理是通过一个ConfigWatcher定期检查配置文件的修改时间，如果发现文件被修改，就触发回调函数重新加载配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配置管理好了，系统的基础设置就稳定了。但一个自动化系统还需要自动执行各种任务，比如定时进行系统维护、每天早上生成晨报等。这些任务由谁来执行呢？答案是定时任务系统。接下来，我们就来学习如何设计和实现一个可靠的定时任务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定时任务系统的核心是cron表达式，它就像是任务的闹钟，用于精确地定义任务的执行时间。cron表达式由五个字段组成，分别代表分钟、小时、日期、月份和星期。例如，`0 7 * * *`表示每天早上7点整执行任务。掌握cron表达式是设计定时任务的基础。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CronManager类的核心代码，它负责任务的注册和状态跟踪。通过add_task方法，我们可以注册一个新的定时任务，指定任务名称、执行时间（schedule）、执行脚本和所属Agent。同时，每个任务都会记录上次执行时间和上次执行状态，这对于监控任务的健康状况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系统中的10个核心定时任务。它们涵盖了日常业务、系统监控和数据维护等多个方面。例如，每日晨报和晚间总结用于日常工作的回顾和规划；系统状态监控和Cron失败监控用于保障系统的健康运行；记忆同步和记忆收敛用于维护系统的记忆系统；量化复盘和策略复盘用于优化交易策略。这些任务共同构成了系统自动化运行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设计定时任务时，我们遵循三个核心原则。第一，错开执行时间，避免多个任务在同一时间执行，造成资源争抢。例如，量化复盘和策略复盘间隔了55分钟。第二，监控任务要高频执行，以便及早发现问题，而业务任务可以低频执行，满足需求即可。第三，关键任务要有兜底机制，比如我们设置了一个“Cron失败监控”任务，专门监控其他任务是否正常执行，这是一种“监控的监控”，确保系统的可靠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有一个有趣的问题：为什么我们选择在凌晨3点执行记忆收敛任务？主要有三个原因。首先，凌晨3点是系统负载最低的时候，而记忆收敛需要大量的文件扫描和向量计算，不会影响其他业务的正常运行。其次，此时前一天的晚间总结已经完成，数据是完整的。最后，在凌晨3点执行，第二天早上7点的晨报就能体现出收敛后的结果，保证了数据的及时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定时任务系统已经设置好了，任务也在自动运行。但是，我们如何知道任务是否成功执行？如果任务失败了，磁盘满了，或者API不可达，我们能及时知道吗？答案是：我们需要一个强大的监控报警系统。接下来，我们就来学习如何设计和实现系统的监控报警机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监控报警系统包含五项核心健康检查，就像是系统的定期体检。这五项检查分别是磁盘使用率、内存使用率、API延迟、Agent心跳和任务连续失败次数。每项检查都设置了相应的阈值，当指标超过阈值时，系统就会触发报警，通知管理员及时处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SystemMonitor的检查流程。当check_health方法被调用时，它会依次执行磁盘、内存、API网关、Agent心跳和任务失败次数的检查。然后，它会收集所有不健康的检查项，并通过飞书、WhatsApp等多个通道发送报警信息，确保管理员能及时收到通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有一个值得思考的问题：为什么磁盘使用率的报警阈值是80%，而内存使用率的报警阈值是90%？这是因为磁盘满的后果比内存满更严重。磁盘满会导致数据库损坏、日志丢失，恢复起来非常困难。而内存满通常只需要重启服务就能释放，影响相对较小。所以，我们遵循的原则是：后果越严重的问题，报警应该越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格详细解释了五项健康检查的超标后果和处理方式。例如，磁盘使用率超过80%会导致日志无法写入和数据库损坏，需要及时清理旧日志或扩容；内存使用率超过90%可能导致服务被OOM杀死，需要重启服务或排查内存泄漏；API延迟超过5秒会导致超时失败，需要检查网络或切换备用API。了解这些后果和处理方式，有助于我们快速响应和解决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SystemMonitor类的核心代码。在初始化时，我们配置了报警通道和各项检查的阈值。在check_health方法中，我们执行各项检查，并收集所有不健康的检查项。如果存在不健康的检查项，就调用_send_alert方法发送报警信息。这段代码清晰地体现了监控报警的核心逻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一个成熟的系统需要一套完善的CLI命令体系，用于日常的部署和更新操作。我们的系统提供了丰富的命令，包括更新管理、配置管理和日志查看。例如，我们可以使用openclaw update命令检查和应用更新，使用openclaw config命令管理配置，使用openclaw logs命令查看不同Agent、不同级别、不同时间段的日志。这些命令大大提高了运维效率。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系统更新时，我们采用滚动更新策略，而不是传统的全部停止、全部更新、全部重启的方式。滚动更新会逐个更新Agent，并在每个Agent更新后进行健康检查。如果检查通过，再继续更新下一个；如果检查失败，则自动回滚到上一个版本。这种策略的优势是实现零停机更新，问题可以即时发现，并且能够自动回滚，大大降低了更新风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现在是动手实践的时间。这个练习要求大家为一个“个人知识管理AI Agent”设计完整的运维方案。你需要输出四项内容：main.yml配置文件、定时任务列表、监控指标和报警规则，以及系统的演进路线图。评分将从配置完整性、任务设计、监控方案和路线图四个维度进行。希望大家能运用今天所学的知识，设计出一个完善的运维方案。现在开始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已经稳定运行，运维方案也已经完善。接下来，我们将分享从这个项目的5万行代码中提炼出的四大经验教训。这些经验教训是我们在实践中付出了时间和成本换来的宝贵财富，希望能帮助大家在自己的项目中少走弯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条经验教训是：记忆是核心。一个没有记忆的系统只是一个聊天机器人，无法真正理解用户的意图和上下文。我们发现，向量搜索比关键词搜索强10倍，因为它能更好地理解语义；自动收敛比手动整理更可靠，体现了自动化的优势；分层存储能够有效提升检索效率，因为热数据和冷数据的访问模式不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条经验教训是：先跑通，再拆分。分层和分Agent是必要的，8个专业的Agent比1个全能的Agent效率更高。但我们也要认识到，协调成本是真实存在的，系统的复杂度是有代价的。我们的系统从一个简单的ClawBot逐步演进到复杂的OpenClaw，这个过程告诉我们，要避免过度设计，让系统在实践中逐步成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条经验教训是：约束即自由。在代码生成方面，我们为每个技能都编写了SKILL.md文件，明确了输入输出和约束条件，这反而给了模型更大的创作自由，让它能生成更符合预期的代码。同时，每个API都必须有测试用例，验证是不可省略的。统一的文件头、类型注解和文档字符串也非常重要，标准化比个性化更能保证代码的质量和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条经验教训是：先建防线，再建功能。任何自动化系统都需要熔断机制，比如我们设置了日亏损上限，一旦触发就停止交易。我们追求的不是不出问题，而是知道出了问题并能及时处理，这就是99.5%正常运行时间的意义。同时，策略需要持续验证，我们每周都会重新训练策略，而不是一次性验证后就不再关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系统的量化指标全景。我们的系统包含约5万行代码，8个专业Agent，70多个技能，20多个定时任务，500多个记忆文档和近200个配置文件。最重要的是，系统的正常运行时间达到了99.5%，意味着每年的停机时间大约只有1.8天。这些指标反映了系统的规模和稳定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现在，让我们回顾一下整个课程的知识地图。从第1课的记忆系统，到第2课的模型路由，第3课的多Agent架构，第4课的代码生成，第5课的量化交易实战，再到今天第6课的运维复盘，我们完整地构建了一个AI Agent系统从0到1的全部旅程。每一课都层层递进，构成了一个完整的知识体系。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最后，我们来总结一下全课程的核心知识点。记忆是AI Agent与ChatBot的本质区别；路由能够为每个任务匹配最优模型，有效降低成本；多Agent架构体现了分工协作的优势；代码生成需要约束，约束即自由；风险管理强调先建防线再建功能；运维的目标是让系统在你不看的时候也能好好活着。希望这些核心知识点能帮助大家更好地理解和构建AI Agent系统。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课程的最后，我为大家布置一个综合项目。请大家为一个自选场景，比如知识管理、客服、内容创作或数据分析，设计一个完整的AI Agent系统。你需要交付记忆系统设计、模型路由配置、Agent定义和运维方案这四个部分。项目的截止时间是两周后。希望大家能运用我们整个课程所学的知识，完成这个项目，真正掌握AI Agent系统的设计和实现能力。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课程到此结束。我们从一个简单的聊天机器人开始，逐步构建了一个完整的AI Agent系统，走完了从记忆、路由、协作、生成、实战到运维的全部旅程。最后，我给大家的建议是：先跑通，再拆分，持续迭代。希望大家都能构建出自己的AI Agent系统，并让它一直健康地“活着”。谢谢大家！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notesSlides/notesSlide4.xml" Type="http://schemas.openxmlformats.org/officeDocument/2006/relationships/notesSlid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notesSlides/notesSlide6.xml" Type="http://schemas.openxmlformats.org/officeDocument/2006/relationships/notesSlid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8.xml" Type="http://schemas.openxmlformats.org/officeDocument/2006/relationships/notesSlid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3.png" Type="http://schemas.openxmlformats.org/officeDocument/2006/relationships/image"/><Relationship Id="rId3" Target="../media/image6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12" Target="../notesSlides/notesSlide12.xml" Type="http://schemas.openxmlformats.org/officeDocument/2006/relationships/notesSlide"/><Relationship Id="rId2" Target="../media/image67.png" Type="http://schemas.openxmlformats.org/officeDocument/2006/relationships/image"/><Relationship Id="rId3" Target="../media/image68.sv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71.png" Type="http://schemas.openxmlformats.org/officeDocument/2006/relationships/image"/><Relationship Id="rId7" Target="../media/image72.svg" Type="http://schemas.openxmlformats.org/officeDocument/2006/relationships/image"/><Relationship Id="rId8" Target="../media/image73.png" Type="http://schemas.openxmlformats.org/officeDocument/2006/relationships/image"/><Relationship Id="rId9" Target="../media/image7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3.xml" Type="http://schemas.openxmlformats.org/officeDocument/2006/relationships/notesSlide"/><Relationship Id="rId2" Target="../media/image75.png" Type="http://schemas.openxmlformats.org/officeDocument/2006/relationships/image"/><Relationship Id="rId3" Target="../media/image76.svg" Type="http://schemas.openxmlformats.org/officeDocument/2006/relationships/image"/><Relationship Id="rId4" Target="../media/image77.png" Type="http://schemas.openxmlformats.org/officeDocument/2006/relationships/image"/><Relationship Id="rId5" Target="../media/image78.svg" Type="http://schemas.openxmlformats.org/officeDocument/2006/relationships/image"/><Relationship Id="rId6" Target="../media/image79.png" Type="http://schemas.openxmlformats.org/officeDocument/2006/relationships/image"/><Relationship Id="rId7" Target="../media/image8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7.png" Type="http://schemas.openxmlformats.org/officeDocument/2006/relationships/image"/><Relationship Id="rId11" Target="../media/image88.svg" Type="http://schemas.openxmlformats.org/officeDocument/2006/relationships/image"/><Relationship Id="rId12" Target="../media/image89.png" Type="http://schemas.openxmlformats.org/officeDocument/2006/relationships/image"/><Relationship Id="rId13" Target="../media/image90.svg" Type="http://schemas.openxmlformats.org/officeDocument/2006/relationships/image"/><Relationship Id="rId14" Target="../media/image91.png" Type="http://schemas.openxmlformats.org/officeDocument/2006/relationships/image"/><Relationship Id="rId15" Target="../media/image92.svg" Type="http://schemas.openxmlformats.org/officeDocument/2006/relationships/image"/><Relationship Id="rId16" Target="../notesSlides/notesSlide14.xml" Type="http://schemas.openxmlformats.org/officeDocument/2006/relationships/notesSlide"/><Relationship Id="rId2" Target="../media/image81.png" Type="http://schemas.openxmlformats.org/officeDocument/2006/relationships/image"/><Relationship Id="rId3" Target="../media/image8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3.png" Type="http://schemas.openxmlformats.org/officeDocument/2006/relationships/image"/><Relationship Id="rId7" Target="../media/image84.svg" Type="http://schemas.openxmlformats.org/officeDocument/2006/relationships/image"/><Relationship Id="rId8" Target="../media/image85.png" Type="http://schemas.openxmlformats.org/officeDocument/2006/relationships/image"/><Relationship Id="rId9" Target="../media/image8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3.png" Type="http://schemas.openxmlformats.org/officeDocument/2006/relationships/image"/><Relationship Id="rId5" Target="../media/image94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5.png" Type="http://schemas.openxmlformats.org/officeDocument/2006/relationships/image"/><Relationship Id="rId3" Target="../media/image96.svg" Type="http://schemas.openxmlformats.org/officeDocument/2006/relationships/image"/><Relationship Id="rId4" Target="../media/image97.png" Type="http://schemas.openxmlformats.org/officeDocument/2006/relationships/image"/><Relationship Id="rId5" Target="../media/image98.svg" Type="http://schemas.openxmlformats.org/officeDocument/2006/relationships/image"/><Relationship Id="rId6" Target="../media/image99.png" Type="http://schemas.openxmlformats.org/officeDocument/2006/relationships/image"/><Relationship Id="rId7" Target="../media/image100.svg" Type="http://schemas.openxmlformats.org/officeDocument/2006/relationships/image"/><Relationship Id="rId8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7.png" Type="http://schemas.openxmlformats.org/officeDocument/2006/relationships/image"/><Relationship Id="rId11" Target="../media/image108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14" Target="../notesSlides/notesSlide19.xml" Type="http://schemas.openxmlformats.org/officeDocument/2006/relationships/notesSlide"/><Relationship Id="rId2" Target="../media/image75.png" Type="http://schemas.openxmlformats.org/officeDocument/2006/relationships/image"/><Relationship Id="rId3" Target="../media/image76.svg" Type="http://schemas.openxmlformats.org/officeDocument/2006/relationships/image"/><Relationship Id="rId4" Target="../media/image101.png" Type="http://schemas.openxmlformats.org/officeDocument/2006/relationships/image"/><Relationship Id="rId5" Target="../media/image102.svg" Type="http://schemas.openxmlformats.org/officeDocument/2006/relationships/image"/><Relationship Id="rId6" Target="../media/image103.png" Type="http://schemas.openxmlformats.org/officeDocument/2006/relationships/image"/><Relationship Id="rId7" Target="../media/image104.svg" Type="http://schemas.openxmlformats.org/officeDocument/2006/relationships/image"/><Relationship Id="rId8" Target="../media/image105.png" Type="http://schemas.openxmlformats.org/officeDocument/2006/relationships/image"/><Relationship Id="rId9" Target="../media/image10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3.png" Type="http://schemas.openxmlformats.org/officeDocument/2006/relationships/image"/><Relationship Id="rId11" Target="../media/image114.svg" Type="http://schemas.openxmlformats.org/officeDocument/2006/relationships/image"/><Relationship Id="rId12" Target="../notesSlides/notesSlide20.xml" Type="http://schemas.openxmlformats.org/officeDocument/2006/relationships/notesSlid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109.png" Type="http://schemas.openxmlformats.org/officeDocument/2006/relationships/image"/><Relationship Id="rId7" Target="../media/image110.svg" Type="http://schemas.openxmlformats.org/officeDocument/2006/relationships/image"/><Relationship Id="rId8" Target="../media/image111.png" Type="http://schemas.openxmlformats.org/officeDocument/2006/relationships/image"/><Relationship Id="rId9" Target="../media/image11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svg" Type="http://schemas.openxmlformats.org/officeDocument/2006/relationships/image"/><Relationship Id="rId12" Target="../media/image113.png" Type="http://schemas.openxmlformats.org/officeDocument/2006/relationships/image"/><Relationship Id="rId13" Target="../media/image114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notesSlides/notesSlide21.xml" Type="http://schemas.openxmlformats.org/officeDocument/2006/relationships/notesSlide"/><Relationship Id="rId2" Target="../media/image115.png" Type="http://schemas.openxmlformats.org/officeDocument/2006/relationships/image"/><Relationship Id="rId3" Target="../media/image11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17.png" Type="http://schemas.openxmlformats.org/officeDocument/2006/relationships/image"/><Relationship Id="rId9" Target="../media/image118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22.xml" Type="http://schemas.openxmlformats.org/officeDocument/2006/relationships/notesSlide"/><Relationship Id="rId2" Target="../media/image63.png" Type="http://schemas.openxmlformats.org/officeDocument/2006/relationships/image"/><Relationship Id="rId3" Target="../media/image64.svg" Type="http://schemas.openxmlformats.org/officeDocument/2006/relationships/image"/><Relationship Id="rId4" Target="../media/image119.png" Type="http://schemas.openxmlformats.org/officeDocument/2006/relationships/image"/><Relationship Id="rId5" Target="../media/image120.svg" Type="http://schemas.openxmlformats.org/officeDocument/2006/relationships/image"/><Relationship Id="rId6" Target="../media/image121.png" Type="http://schemas.openxmlformats.org/officeDocument/2006/relationships/image"/><Relationship Id="rId7" Target="../media/image1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9.png" Type="http://schemas.openxmlformats.org/officeDocument/2006/relationships/image"/><Relationship Id="rId11" Target="../media/image130.svg" Type="http://schemas.openxmlformats.org/officeDocument/2006/relationships/image"/><Relationship Id="rId12" Target="../media/image131.png" Type="http://schemas.openxmlformats.org/officeDocument/2006/relationships/image"/><Relationship Id="rId13" Target="../media/image132.svg" Type="http://schemas.openxmlformats.org/officeDocument/2006/relationships/image"/><Relationship Id="rId14" Target="../media/image133.png" Type="http://schemas.openxmlformats.org/officeDocument/2006/relationships/image"/><Relationship Id="rId15" Target="../media/image134.svg" Type="http://schemas.openxmlformats.org/officeDocument/2006/relationships/image"/><Relationship Id="rId16" Target="../media/image135.png" Type="http://schemas.openxmlformats.org/officeDocument/2006/relationships/image"/><Relationship Id="rId17" Target="../media/image136.svg" Type="http://schemas.openxmlformats.org/officeDocument/2006/relationships/image"/><Relationship Id="rId18" Target="../notesSlides/notesSlide23.xml" Type="http://schemas.openxmlformats.org/officeDocument/2006/relationships/notesSlide"/><Relationship Id="rId2" Target="../media/image123.png" Type="http://schemas.openxmlformats.org/officeDocument/2006/relationships/image"/><Relationship Id="rId3" Target="../media/image124.svg" Type="http://schemas.openxmlformats.org/officeDocument/2006/relationships/image"/><Relationship Id="rId4" Target="../media/image113.png" Type="http://schemas.openxmlformats.org/officeDocument/2006/relationships/image"/><Relationship Id="rId5" Target="../media/image114.svg" Type="http://schemas.openxmlformats.org/officeDocument/2006/relationships/image"/><Relationship Id="rId6" Target="../media/image125.png" Type="http://schemas.openxmlformats.org/officeDocument/2006/relationships/image"/><Relationship Id="rId7" Target="../media/image126.svg" Type="http://schemas.openxmlformats.org/officeDocument/2006/relationships/image"/><Relationship Id="rId8" Target="../media/image127.png" Type="http://schemas.openxmlformats.org/officeDocument/2006/relationships/image"/><Relationship Id="rId9" Target="../media/image128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7.png" Type="http://schemas.openxmlformats.org/officeDocument/2006/relationships/image"/><Relationship Id="rId3" Target="../media/image138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139.png" Type="http://schemas.openxmlformats.org/officeDocument/2006/relationships/image"/><Relationship Id="rId7" Target="../media/image140.svg" Type="http://schemas.openxmlformats.org/officeDocument/2006/relationships/image"/><Relationship Id="rId8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5.png" Type="http://schemas.openxmlformats.org/officeDocument/2006/relationships/image"/><Relationship Id="rId11" Target="../media/image146.svg" Type="http://schemas.openxmlformats.org/officeDocument/2006/relationships/image"/><Relationship Id="rId12" Target="../media/image147.png" Type="http://schemas.openxmlformats.org/officeDocument/2006/relationships/image"/><Relationship Id="rId13" Target="../media/image148.svg" Type="http://schemas.openxmlformats.org/officeDocument/2006/relationships/image"/><Relationship Id="rId14" Target="../media/image149.png" Type="http://schemas.openxmlformats.org/officeDocument/2006/relationships/image"/><Relationship Id="rId15" Target="../media/image150.svg" Type="http://schemas.openxmlformats.org/officeDocument/2006/relationships/image"/><Relationship Id="rId16" Target="../media/image151.png" Type="http://schemas.openxmlformats.org/officeDocument/2006/relationships/image"/><Relationship Id="rId17" Target="../media/image152.svg" Type="http://schemas.openxmlformats.org/officeDocument/2006/relationships/image"/><Relationship Id="rId18" Target="../notesSlides/notesSlide26.xml" Type="http://schemas.openxmlformats.org/officeDocument/2006/relationships/notesSlide"/><Relationship Id="rId2" Target="../media/image141.png" Type="http://schemas.openxmlformats.org/officeDocument/2006/relationships/image"/><Relationship Id="rId3" Target="../media/image142.svg" Type="http://schemas.openxmlformats.org/officeDocument/2006/relationships/image"/><Relationship Id="rId4" Target="../media/image79.png" Type="http://schemas.openxmlformats.org/officeDocument/2006/relationships/image"/><Relationship Id="rId5" Target="../media/image80.svg" Type="http://schemas.openxmlformats.org/officeDocument/2006/relationships/image"/><Relationship Id="rId6" Target="../media/image143.png" Type="http://schemas.openxmlformats.org/officeDocument/2006/relationships/image"/><Relationship Id="rId7" Target="../media/image144.svg" Type="http://schemas.openxmlformats.org/officeDocument/2006/relationships/image"/><Relationship Id="rId8" Target="../media/image59.png" Type="http://schemas.openxmlformats.org/officeDocument/2006/relationships/image"/><Relationship Id="rId9" Target="../media/image60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53.png" Type="http://schemas.openxmlformats.org/officeDocument/2006/relationships/image"/><Relationship Id="rId5" Target="../media/image154.svg" Type="http://schemas.openxmlformats.org/officeDocument/2006/relationships/image"/><Relationship Id="rId6" Target="../media/image155.png" Type="http://schemas.openxmlformats.org/officeDocument/2006/relationships/image"/><Relationship Id="rId7" Target="../media/image156.svg" Type="http://schemas.openxmlformats.org/officeDocument/2006/relationships/image"/><Relationship Id="rId8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157.png" Type="http://schemas.openxmlformats.org/officeDocument/2006/relationships/image"/><Relationship Id="rId5" Target="../media/image158.svg" Type="http://schemas.openxmlformats.org/officeDocument/2006/relationships/image"/><Relationship Id="rId6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59.png" Type="http://schemas.openxmlformats.org/officeDocument/2006/relationships/image"/><Relationship Id="rId3" Target="../media/image160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95.png" Type="http://schemas.openxmlformats.org/officeDocument/2006/relationships/image"/><Relationship Id="rId7" Target="../media/image96.svg" Type="http://schemas.openxmlformats.org/officeDocument/2006/relationships/image"/><Relationship Id="rId8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61.png" Type="http://schemas.openxmlformats.org/officeDocument/2006/relationships/image"/><Relationship Id="rId3" Target="../media/image162.svg" Type="http://schemas.openxmlformats.org/officeDocument/2006/relationships/image"/><Relationship Id="rId4" Target="../media/image159.png" Type="http://schemas.openxmlformats.org/officeDocument/2006/relationships/image"/><Relationship Id="rId5" Target="../media/image160.svg" Type="http://schemas.openxmlformats.org/officeDocument/2006/relationships/image"/><Relationship Id="rId6" Target="../media/image163.png" Type="http://schemas.openxmlformats.org/officeDocument/2006/relationships/image"/><Relationship Id="rId7" Target="../media/image164.svg" Type="http://schemas.openxmlformats.org/officeDocument/2006/relationships/image"/><Relationship Id="rId8" Target="../notesSlides/notesSlide30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107.png" Type="http://schemas.openxmlformats.org/officeDocument/2006/relationships/image"/><Relationship Id="rId5" Target="../media/image108.svg" Type="http://schemas.openxmlformats.org/officeDocument/2006/relationships/image"/><Relationship Id="rId6" Target="../media/image165.png" Type="http://schemas.openxmlformats.org/officeDocument/2006/relationships/image"/><Relationship Id="rId7" Target="../media/image166.svg" Type="http://schemas.openxmlformats.org/officeDocument/2006/relationships/image"/><Relationship Id="rId8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93.png" Type="http://schemas.openxmlformats.org/officeDocument/2006/relationships/image"/><Relationship Id="rId5" Target="../media/image94.svg" Type="http://schemas.openxmlformats.org/officeDocument/2006/relationships/image"/><Relationship Id="rId6" Target="../media/image167.png" Type="http://schemas.openxmlformats.org/officeDocument/2006/relationships/image"/><Relationship Id="rId7" Target="../media/image168.svg" Type="http://schemas.openxmlformats.org/officeDocument/2006/relationships/image"/><Relationship Id="rId8" Target="../notesSlides/notesSlide32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9.png" Type="http://schemas.openxmlformats.org/officeDocument/2006/relationships/image"/><Relationship Id="rId11" Target="../media/image170.svg" Type="http://schemas.openxmlformats.org/officeDocument/2006/relationships/image"/><Relationship Id="rId12" Target="../media/image75.png" Type="http://schemas.openxmlformats.org/officeDocument/2006/relationships/image"/><Relationship Id="rId13" Target="../media/image76.svg" Type="http://schemas.openxmlformats.org/officeDocument/2006/relationships/image"/><Relationship Id="rId14" Target="../notesSlides/notesSlide33.xml" Type="http://schemas.openxmlformats.org/officeDocument/2006/relationships/notesSlide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125.png" Type="http://schemas.openxmlformats.org/officeDocument/2006/relationships/image"/><Relationship Id="rId7" Target="../media/image126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75.png" Type="http://schemas.openxmlformats.org/officeDocument/2006/relationships/image"/><Relationship Id="rId11" Target="../media/image176.svg" Type="http://schemas.openxmlformats.org/officeDocument/2006/relationships/image"/><Relationship Id="rId12" Target="../media/image57.png" Type="http://schemas.openxmlformats.org/officeDocument/2006/relationships/image"/><Relationship Id="rId13" Target="../media/image58.svg" Type="http://schemas.openxmlformats.org/officeDocument/2006/relationships/image"/><Relationship Id="rId14" Target="../notesSlides/notesSlide34.xml" Type="http://schemas.openxmlformats.org/officeDocument/2006/relationships/notesSlid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171.png" Type="http://schemas.openxmlformats.org/officeDocument/2006/relationships/image"/><Relationship Id="rId5" Target="../media/image172.svg" Type="http://schemas.openxmlformats.org/officeDocument/2006/relationships/image"/><Relationship Id="rId6" Target="../media/image173.png" Type="http://schemas.openxmlformats.org/officeDocument/2006/relationships/image"/><Relationship Id="rId7" Target="../media/image174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75.png" Type="http://schemas.openxmlformats.org/officeDocument/2006/relationships/image"/><Relationship Id="rId13" Target="../media/image76.svg" Type="http://schemas.openxmlformats.org/officeDocument/2006/relationships/image"/><Relationship Id="rId14" Target="../notesSlides/notesSlide35.xml" Type="http://schemas.openxmlformats.org/officeDocument/2006/relationships/notesSlid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171.png" Type="http://schemas.openxmlformats.org/officeDocument/2006/relationships/image"/><Relationship Id="rId5" Target="../media/image172.svg" Type="http://schemas.openxmlformats.org/officeDocument/2006/relationships/image"/><Relationship Id="rId6" Target="../media/image177.png" Type="http://schemas.openxmlformats.org/officeDocument/2006/relationships/image"/><Relationship Id="rId7" Target="../media/image178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5.png" Type="http://schemas.openxmlformats.org/officeDocument/2006/relationships/image"/><Relationship Id="rId11" Target="../media/image86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notesSlides/notesSlide36.xml" Type="http://schemas.openxmlformats.org/officeDocument/2006/relationships/notesSlide"/><Relationship Id="rId2" Target="../media/image179.png" Type="http://schemas.openxmlformats.org/officeDocument/2006/relationships/image"/><Relationship Id="rId3" Target="../media/image180.svg" Type="http://schemas.openxmlformats.org/officeDocument/2006/relationships/image"/><Relationship Id="rId4" Target="../media/image181.png" Type="http://schemas.openxmlformats.org/officeDocument/2006/relationships/image"/><Relationship Id="rId5" Target="../media/image182.svg" Type="http://schemas.openxmlformats.org/officeDocument/2006/relationships/image"/><Relationship Id="rId6" Target="../media/image153.png" Type="http://schemas.openxmlformats.org/officeDocument/2006/relationships/image"/><Relationship Id="rId7" Target="../media/image154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77.png" Type="http://schemas.openxmlformats.org/officeDocument/2006/relationships/image"/><Relationship Id="rId11" Target="../media/image178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85.png" Type="http://schemas.openxmlformats.org/officeDocument/2006/relationships/image"/><Relationship Id="rId15" Target="../media/image186.svg" Type="http://schemas.openxmlformats.org/officeDocument/2006/relationships/image"/><Relationship Id="rId16" Target="../media/image75.png" Type="http://schemas.openxmlformats.org/officeDocument/2006/relationships/image"/><Relationship Id="rId17" Target="../media/image76.svg" Type="http://schemas.openxmlformats.org/officeDocument/2006/relationships/image"/><Relationship Id="rId18" Target="../media/image77.png" Type="http://schemas.openxmlformats.org/officeDocument/2006/relationships/image"/><Relationship Id="rId19" Target="../media/image78.svg" Type="http://schemas.openxmlformats.org/officeDocument/2006/relationships/image"/><Relationship Id="rId2" Target="../media/image183.png" Type="http://schemas.openxmlformats.org/officeDocument/2006/relationships/image"/><Relationship Id="rId20" Target="../notesSlides/notesSlide37.xml" Type="http://schemas.openxmlformats.org/officeDocument/2006/relationships/notesSlide"/><Relationship Id="rId21" Target="../media/image187.png" Type="http://schemas.openxmlformats.org/officeDocument/2006/relationships/image"/><Relationship Id="rId3" Target="../media/image184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79.png" Type="http://schemas.openxmlformats.org/officeDocument/2006/relationships/image"/><Relationship Id="rId7" Target="../media/image80.svg" Type="http://schemas.openxmlformats.org/officeDocument/2006/relationships/image"/><Relationship Id="rId8" Target="../media/image171.png" Type="http://schemas.openxmlformats.org/officeDocument/2006/relationships/image"/><Relationship Id="rId9" Target="../media/image17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03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Agent系统工程实战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857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第6课：让系统活着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365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AI Agent的工程化运维与演进复盘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930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2286000" y="4318000"/>
            <a:ext cx="762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cmpd="sng" cap="flat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667000" y="45720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984500" y="45466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第8-9章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285450" flipH="false" flipV="false">
            <a:off x="4254500" y="4692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45720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016500" y="45466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难度：中高级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285450" flipH="false" flipV="false">
            <a:off x="6286500" y="4692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731000" y="4572000"/>
            <a:ext cx="254000" cy="254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048500" y="45466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时长：3小时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今天的旅程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1905000"/>
          <a:ext cx="9906000" cy="406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6604000"/>
                <a:gridCol w="1778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主题内容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导入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"你的AI Agent跑了一个月之后..."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0:00-0:15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配置管理：YAML集中配置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0:15-0:50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定时任务：CronManager设计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0:50-1:15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--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休息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1:15-1:25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监控报警：五项健康检查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1:25-1:55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部署更新与运维命令体系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1:55-2:15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四大经验教训 + 量化指标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2:15-2:40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全课程回顾 + 综合项目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2:40-3:00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你的AI Agent跑了一个月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8415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思考：系统稳定运行一个月后，你最担心发生什么？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540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921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794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A. 磁盘满了？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数据持续写入导致存储空间不足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2540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29210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112000" y="2794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B. API欠费了？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第三方服务调用超出预算导致停机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064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4318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C. 进程挂了？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程序异常退出或内存泄漏导致崩溃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4064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00">
              <a:alpha val="15000"/>
            </a:srgbClr>
          </a:solidFill>
          <a:ln w="25400" cmpd="sng" cap="flat">
            <a:solidFill>
              <a:srgbClr val="FFF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44450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112000" y="4318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D. 全都担心？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缺乏监控导致无法及时发现任何隐患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真实运维问题案例集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689100" y="2286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29845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第1周：岁月静好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34290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系统上线初期，各项指标正常，运行平稳无异常。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92500" y="2032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419600" y="2286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619500" y="29845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第2周：隐患潜伏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19500" y="34290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日志文件未做轮转，悄悄增长至5GB，磁盘空间被蚕食。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2032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150100" y="22860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350000" y="29845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第3周：服务静默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34290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API密钥过期未续期，Agent静默停止工作，数据上报中断。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953500" y="2032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0000">
              <a:alpha val="10000"/>
            </a:srgbClr>
          </a:solidFill>
          <a:ln w="12700" cmpd="sng" cap="flat">
            <a:solidFill>
              <a:srgbClr val="FF0000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880600" y="22860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9080500" y="29845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第4周：彻底崩溃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080500" y="34290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磁盘占用达95%，数据库写入失败，数据丢失，且无监控报警。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4092" flipH="false" flipV="false">
            <a:off x="762004" y="520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62000" y="5461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143000" y="54356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运维 = 让系统在你不看的时候也能好好活着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配置散落 = 灾难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模块 6.1 -- 配置管理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00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7178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828800" y="2794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常见痛点：配置分散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766" flipH="false" flipV="false">
            <a:off x="1066809" y="33972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66800" y="3556000"/>
            <a:ext cx="4470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在系统开发初期，配置项往往散落在代码的各个角落。例如，同一个模型名称可能在三个不同的地方被硬编码。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当需求变更时，极易遗漏修改，导致系统行为不一致，引发严重故障。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413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FF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54800" y="27178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416800" y="2794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FF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核心方案：集中管理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766" flipH="false" flipV="false">
            <a:off x="6654809" y="33972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654800" y="3556000"/>
            <a:ext cx="4470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将所有配置项统一集中到一个或少数几个配置文件中（如</a:t>
            </a: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main.yml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）。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实现一处修改，全局生效，彻底消除因配置不一致带来的隐患，提升系统的可维护性。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main.yml 五大配置域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03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 Memory 记忆配置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626" flipH="false" flipV="false">
            <a:off x="1016014" y="2470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603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管理后端存储、数据更新频率及历史数据保留天数。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778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207000" y="203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 Models 模型配置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626" flipH="false" flipV="false">
            <a:off x="4699014" y="2470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99000" y="2603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定义默认AI模型、权重参数及故障自动切换策略。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778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890000" y="203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 Agents Agent配置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626" flipH="false" flipV="false">
            <a:off x="8382014" y="2470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82000" y="2603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配置Agent同步频率、心跳间隔及工作模式。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3937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1910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524000" y="4191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 Trading 交易配置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5626" flipH="false" flipV="false">
            <a:off x="1016014" y="462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1016000" y="4762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控制交易总开关、仓位管理及风控参数设置。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445000" y="3937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99000" y="41910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5207000" y="4191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5. Notifications 通知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15626" flipH="false" flipV="false">
            <a:off x="4699014" y="462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4699000" y="4762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设置报警通道、默认通知渠道及消息模板。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128000" y="3937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00BFFF">
              <a:alpha val="15000"/>
            </a:srgbClr>
          </a:solidFill>
          <a:ln w="12700" cmpd="sng" cap="flat">
            <a:solidFill>
              <a:srgbClr val="00BF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382000" y="4191000"/>
            <a:ext cx="406400" cy="4064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8890000" y="4191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15626" flipH="false" flipV="false">
            <a:off x="8382014" y="462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8382000" y="4762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一个文件管控全局，改配置不改代码，提升系统灵活性。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main.yml 核心配置示例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588000" cy="4064000"/>
          </a:xfrm>
          <a:prstGeom prst="roundRect">
            <a:avLst>
              <a:gd name="adj" fmla="val 3125"/>
            </a:avLst>
          </a:prstGeom>
          <a:solidFill>
            <a:srgbClr val="1E1E1E">
              <a:alpha val="90000"/>
            </a:srgbClr>
          </a:solidFill>
          <a:ln w="12700" cmpd="sng" cap="flat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588000" cy="457200"/>
          </a:xfrm>
          <a:prstGeom prst="roundRect">
            <a:avLst>
              <a:gd name="adj" fmla="val 0"/>
            </a:avLst>
          </a:prstGeom>
          <a:solidFill>
            <a:srgbClr val="32323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184400"/>
            <a:ext cx="152400" cy="1524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06500" y="2184400"/>
            <a:ext cx="152400" cy="1524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460500" y="2184400"/>
            <a:ext cx="152400" cy="152400"/>
          </a:xfrm>
          <a:prstGeom prst="ellipse">
            <a:avLst/>
          </a:prstGeom>
          <a:solidFill>
            <a:srgbClr val="27C9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778000" y="21082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main.yml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2603500"/>
            <a:ext cx="5207000" cy="342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environment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: production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memory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1AFEF"/>
                </a:solidFill>
                <a:latin typeface="Noto Sans SC"/>
                <a:ea typeface="Noto Sans SC"/>
                <a:cs typeface="Noto Sans SC"/>
                <a:sym typeface="Noto Sans SC"/>
              </a:rPr>
              <a:t>backend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: qmd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1AFEF"/>
                </a:solidFill>
                <a:latin typeface="Noto Sans SC"/>
                <a:ea typeface="Noto Sans SC"/>
                <a:cs typeface="Noto Sans SC"/>
                <a:sym typeface="Noto Sans SC"/>
              </a:rPr>
              <a:t>update_interval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: 14400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1AFEF"/>
                </a:solidFill>
                <a:latin typeface="Noto Sans SC"/>
                <a:ea typeface="Noto Sans SC"/>
                <a:cs typeface="Noto Sans SC"/>
                <a:sym typeface="Noto Sans SC"/>
              </a:rPr>
              <a:t>retention_days</a:t>
            </a:r>
            <a:r>
              <a:rPr lang="en-US" b="fals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: 90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models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1AFEF"/>
                </a:solidFill>
                <a:latin typeface="Noto Sans SC"/>
                <a:ea typeface="Noto Sans SC"/>
                <a:cs typeface="Noto Sans SC"/>
                <a:sym typeface="Noto Sans SC"/>
              </a:rPr>
              <a:t>default</a:t>
            </a:r>
            <a:r>
              <a:rPr lang="en-US" b="fals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: moonshot/kimi-k2.5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1AFEF"/>
                </a:solidFill>
                <a:latin typeface="Noto Sans SC"/>
                <a:ea typeface="Noto Sans SC"/>
                <a:cs typeface="Noto Sans SC"/>
                <a:sym typeface="Noto Sans SC"/>
              </a:rPr>
              <a:t>fallback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: openai/gpt-4o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notifications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1AFEF"/>
                </a:solidFill>
                <a:latin typeface="Noto Sans SC"/>
                <a:ea typeface="Noto Sans SC"/>
                <a:cs typeface="Noto Sans SC"/>
                <a:sym typeface="Noto Sans SC"/>
              </a:rPr>
              <a:t>channels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: [feishu, whatsapp]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2032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794500" y="2222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302500" y="2184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数据保留策略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302500" y="2540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设置 retention_days 为 90 天，平衡数据存储成本与合规需求。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33655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94500" y="3556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302500" y="35179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模型路由配置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302500" y="3873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默认使用 Moonshot Kimi 模型，故障时自动切换至 OpenAI GPT-4o。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4699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794500" y="48895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302500" y="4851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多通道通知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302500" y="5207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配置飞书和 WhatsApp 双重通道，确保关键告警信息实时送达。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三层配置优先级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3622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78000" y="2159000"/>
            <a:ext cx="635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环境变量 (Environment Variables)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示例: OPENCLAW_TRADING_ENABLED=false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763000" y="24384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F000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5050"/>
                </a:solidFill>
                <a:latin typeface="Noto Sans SC"/>
                <a:ea typeface="Noto Sans SC"/>
                <a:cs typeface="Noto Sans SC"/>
                <a:sym typeface="Noto Sans SC"/>
              </a:rPr>
              <a:t>最高优先级：紧急覆盖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943600" y="3365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62000" y="3683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0132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778000" y="3810000"/>
            <a:ext cx="635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配置文件 (main.yml)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针对特定部署环境的持久化配置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763000" y="40894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0B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中间优先级：特定部署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943600" y="5016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62000" y="5334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56642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778000" y="5461000"/>
            <a:ext cx="635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代码默认值 (Default Values)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保证系统在无外部配置时能正常启动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763000" y="57404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969696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最低优先级：兜底保障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ConfigLoader -- 三层加载逻辑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842000" cy="4064000"/>
          </a:xfrm>
          <a:prstGeom prst="roundRect">
            <a:avLst>
              <a:gd name="adj" fmla="val 3125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842000" cy="457200"/>
          </a:xfrm>
          <a:prstGeom prst="roundRect">
            <a:avLst>
              <a:gd name="adj" fmla="val 0"/>
            </a:avLst>
          </a:prstGeom>
          <a:solidFill>
            <a:srgbClr val="33415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1844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06500" y="2184400"/>
            <a:ext cx="152400" cy="1524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460500" y="2184400"/>
            <a:ext cx="152400" cy="1524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2540000"/>
            <a:ext cx="5588000" cy="342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ConfigLoader:</a:t>
            </a:r>
            <a:r>
              <a:rPr lang="en-US" b="false" i="false" strike="noStrike" u="none" sz="14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DEFAULTS = {</a:t>
            </a:r>
            <a:r>
              <a:rPr lang="en-US" b="false" i="false" strike="noStrike" u="none" sz="14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98C379"/>
                </a:solidFill>
                <a:latin typeface="Roboto Mono"/>
                <a:ea typeface="Roboto Mono"/>
                <a:cs typeface="Roboto Mono"/>
                <a:sym typeface="Roboto Mono"/>
              </a:rPr>
              <a:t>'environment'</a:t>
            </a: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b="false" i="false" strike="noStrike" u="none" sz="1400">
                <a:solidFill>
                  <a:srgbClr val="98C379"/>
                </a:solidFill>
                <a:latin typeface="Roboto Mono"/>
                <a:ea typeface="Roboto Mono"/>
                <a:cs typeface="Roboto Mono"/>
                <a:sym typeface="Roboto Mono"/>
              </a:rPr>
              <a:t>'development'</a:t>
            </a: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US" b="false" i="false" strike="noStrike" u="none" sz="14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98C379"/>
                </a:solidFill>
                <a:latin typeface="Roboto Mono"/>
                <a:ea typeface="Roboto Mono"/>
                <a:cs typeface="Roboto Mono"/>
                <a:sym typeface="Roboto Mono"/>
              </a:rPr>
              <a:t>'memory'</a:t>
            </a: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r>
              <a:rPr lang="en-US" b="false" i="false" strike="noStrike" u="none" sz="1400">
                <a:solidFill>
                  <a:srgbClr val="98C379"/>
                </a:solidFill>
                <a:latin typeface="Roboto Mono"/>
                <a:ea typeface="Roboto Mono"/>
                <a:cs typeface="Roboto Mono"/>
                <a:sym typeface="Roboto Mono"/>
              </a:rPr>
              <a:t>'backend'</a:t>
            </a: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b="false" i="false" strike="noStrike" u="none" sz="1400">
                <a:solidFill>
                  <a:srgbClr val="98C379"/>
                </a:solidFill>
                <a:latin typeface="Roboto Mono"/>
                <a:ea typeface="Roboto Mono"/>
                <a:cs typeface="Roboto Mono"/>
                <a:sym typeface="Roboto Mono"/>
              </a:rPr>
              <a:t>'file'</a:t>
            </a: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},</a:t>
            </a:r>
            <a:r>
              <a:rPr lang="en-US" b="false" i="false" strike="noStrike" u="none" sz="14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n-US" b="false" i="false" strike="noStrike" u="none" sz="14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b="false" i="false" strike="noStrike" u="none" sz="1400">
                <a:solidFill>
                  <a:srgbClr val="61AFEF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(self, config_path:</a:t>
            </a:r>
            <a:r>
              <a:rPr lang="en-US" b="false" i="false" strike="noStrike" u="none" sz="1400">
                <a:solidFill>
                  <a:srgbClr val="E5C07B"/>
                </a:solidFill>
                <a:latin typeface="Roboto Mono"/>
                <a:ea typeface="Roboto Mono"/>
                <a:cs typeface="Roboto Mono"/>
                <a:sym typeface="Roboto Mono"/>
              </a:rPr>
              <a:t>str</a:t>
            </a: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b="false" i="false" strike="noStrike" u="none" sz="1400">
                <a:solidFill>
                  <a:srgbClr val="D19A66"/>
                </a:solidFill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r>
              <a:rPr lang="en-US" b="false" i="false" strike="noStrike" u="none" sz="14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self.config = self.DEFAULTS.copy()</a:t>
            </a:r>
            <a:r>
              <a:rPr lang="en-US" b="false" i="false" strike="noStrike" u="none" sz="1400">
                <a:solidFill>
                  <a:srgbClr val="5C6370"/>
                </a:solidFill>
                <a:latin typeface="Roboto Mono"/>
                <a:ea typeface="Roboto Mono"/>
                <a:cs typeface="Roboto Mono"/>
                <a:sym typeface="Roboto Mono"/>
              </a:rPr>
              <a:t># 第1层: 默认值</a:t>
            </a:r>
            <a:r>
              <a:rPr lang="en-US" b="false" i="false" strike="noStrike" u="none" sz="14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config_path</a:t>
            </a:r>
            <a:r>
              <a:rPr lang="en-US" b="false" i="false" strike="noStrike" u="none" sz="1400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os.path.exists(config_path):</a:t>
            </a:r>
            <a:r>
              <a:rPr lang="en-US" b="false" i="false" strike="noStrike" u="none" sz="14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open(config_path,</a:t>
            </a:r>
            <a:r>
              <a:rPr lang="en-US" b="false" i="false" strike="noStrike" u="none" sz="1400">
                <a:solidFill>
                  <a:srgbClr val="98C379"/>
                </a:solidFill>
                <a:latin typeface="Roboto Mono"/>
                <a:ea typeface="Roboto Mono"/>
                <a:cs typeface="Roboto Mono"/>
                <a:sym typeface="Roboto Mono"/>
              </a:rPr>
              <a:t>'r'</a:t>
            </a: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US" b="false" i="false" strike="noStrike" u="none" sz="1400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f:</a:t>
            </a:r>
            <a:r>
              <a:rPr lang="en-US" b="false" i="false" strike="noStrike" u="none" sz="14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file_config = yaml.safe_load(f)</a:t>
            </a:r>
            <a:r>
              <a:rPr lang="en-US" b="false" i="false" strike="noStrike" u="none" sz="14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self._deep_merge(self.config, file_config)</a:t>
            </a:r>
            <a:r>
              <a:rPr lang="en-US" b="false" i="false" strike="noStrike" u="none" sz="1400">
                <a:solidFill>
                  <a:srgbClr val="5C6370"/>
                </a:solidFill>
                <a:latin typeface="Roboto Mono"/>
                <a:ea typeface="Roboto Mono"/>
                <a:cs typeface="Roboto Mono"/>
                <a:sym typeface="Roboto Mono"/>
              </a:rPr>
              <a:t># 第2层: 文件合并</a:t>
            </a:r>
            <a:r>
              <a:rPr lang="en-US" b="false" i="false" strike="noStrike" u="none" sz="14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self._apply_env_overrides()</a:t>
            </a:r>
            <a:r>
              <a:rPr lang="en-US" b="false" i="false" strike="noStrike" u="none" sz="1400">
                <a:solidFill>
                  <a:srgbClr val="FFD700"/>
                </a:solidFill>
                <a:latin typeface="Roboto Mono"/>
                <a:ea typeface="Roboto Mono"/>
                <a:cs typeface="Roboto Mono"/>
                <a:sym typeface="Roboto Mono"/>
              </a:rPr>
              <a:t># 第3层: 环境变量覆盖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858000" y="2032000"/>
            <a:ext cx="457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048500" y="2222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493000" y="21844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第一层：默认配置 (Defaults)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B4BEC8"/>
                </a:solidFill>
                <a:latin typeface="Noto Sans SC"/>
                <a:ea typeface="Noto Sans SC"/>
                <a:cs typeface="Noto Sans SC"/>
                <a:sym typeface="Noto Sans SC"/>
              </a:rPr>
              <a:t>加载代码中定义的基础配置，作为系统的兜底保障。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858000" y="3365500"/>
            <a:ext cx="457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048500" y="3556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493000" y="35179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第二层：文件配置 (File)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B4BEC8"/>
                </a:solidFill>
                <a:latin typeface="Noto Sans SC"/>
                <a:ea typeface="Noto Sans SC"/>
                <a:cs typeface="Noto Sans SC"/>
                <a:sym typeface="Noto Sans SC"/>
              </a:rPr>
              <a:t>读取外部配置文件，与默认值进行深度合并，灵活定制环境。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858000" y="4699000"/>
            <a:ext cx="457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048500" y="48895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493000" y="48514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第三层：环境变量 (Env)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B4BEC8"/>
                </a:solidFill>
                <a:latin typeface="Noto Sans SC"/>
                <a:ea typeface="Noto Sans SC"/>
                <a:cs typeface="Noto Sans SC"/>
                <a:sym typeface="Noto Sans SC"/>
              </a:rPr>
              <a:t>应用环境变量覆盖，优先级最高，用于生产环境的动态调整。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敏感信息管理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098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159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核心原则：API密钥等敏感信息绝不写入配置文件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5143500" cy="2286000"/>
          </a:xfrm>
          <a:prstGeom prst="roundRect">
            <a:avLst>
              <a:gd name="adj" fmla="val 5555"/>
            </a:avLst>
          </a:prstGeom>
          <a:solidFill>
            <a:srgbClr val="00FF00">
              <a:alpha val="5000"/>
            </a:srgbClr>
          </a:solidFill>
          <a:ln w="12700" cmpd="sng" cap="flat">
            <a:solidFill>
              <a:srgbClr val="00FF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51000" y="3492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FF00"/>
                </a:solidFill>
                <a:latin typeface="Noto Sans SC"/>
                <a:ea typeface="Noto Sans SC"/>
                <a:cs typeface="Noto Sans SC"/>
                <a:sym typeface="Noto Sans SC"/>
              </a:rPr>
              <a:t>正确做法：使用环境变量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9418" flipH="false" flipV="false">
            <a:off x="1016009" y="3994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FF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016000" y="4127500"/>
            <a:ext cx="463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将敏感信息存储在系统环境变量中，代码通过读取环境变量获取。这种方式将配置与代码分离，避免意外提交。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86500" y="3175000"/>
            <a:ext cx="5143500" cy="2286000"/>
          </a:xfrm>
          <a:prstGeom prst="roundRect">
            <a:avLst>
              <a:gd name="adj" fmla="val 5555"/>
            </a:avLst>
          </a:prstGeom>
          <a:solidFill>
            <a:srgbClr val="FF0000">
              <a:alpha val="5000"/>
            </a:srgbClr>
          </a:solidFill>
          <a:ln w="12700" cmpd="sng" cap="flat">
            <a:solidFill>
              <a:srgbClr val="FF00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540500" y="34290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175500" y="3492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错误做法：写入配置文件并提交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9418" flipH="false" flipV="false">
            <a:off x="6540509" y="3994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00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540500" y="4127500"/>
            <a:ext cx="4635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若将密钥硬编码在配置文件并提交到Git仓库，一旦仓库泄露，所有密钥将直接暴露，导致严重的安全风险。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密钥提交到Git后立即删除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3368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66800" y="3048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关键问题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3492500"/>
            <a:ext cx="2692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如果不小心把API密钥提交到了Git仓库，即使立即删除，安全吗？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749800" y="23368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749800" y="3048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答案：不安全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749800" y="3492500"/>
            <a:ext cx="2692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Git保留所有历史提交。攻击者可通过</a:t>
            </a:r>
            <a:r>
              <a:rPr lang="en-US" b="fals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git log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b="fals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git show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命令查看历史中的密钥。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432800" y="23368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432800" y="3048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最佳实践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432800" y="3492500"/>
            <a:ext cx="2692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最好的做法是从一开始就不犯这个错误，严格遵守敏感信息管理规范。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配置热加载 vs 重启生效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2006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热加载 (立即生效)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291" flipH="false" flipV="false">
            <a:off x="1016009" y="247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730500"/>
            <a:ext cx="203200" cy="203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26924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报警阈值 / 日志级别 / 通知通道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111500"/>
            <a:ext cx="203200" cy="203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33500" y="30734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模型选择配置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064000"/>
            <a:ext cx="4699000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43000" y="41656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特点：仅影响“下一次操作”的行为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1778000"/>
            <a:ext cx="5207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8717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77000" y="20320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921500" y="2006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必须重启 (重启生效)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291" flipH="false" flipV="false">
            <a:off x="6477009" y="247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2730500"/>
            <a:ext cx="203200" cy="203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794500" y="26924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数据库连接参数 / 端口号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3111500"/>
            <a:ext cx="203200" cy="203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794500" y="30734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启动数量配置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4064000"/>
            <a:ext cx="4699000" cy="508000"/>
          </a:xfrm>
          <a:prstGeom prst="roundRect">
            <a:avLst>
              <a:gd name="adj" fmla="val 12500"/>
            </a:avLst>
          </a:prstGeom>
          <a:solidFill>
            <a:srgbClr val="F8717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604000" y="41656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特点：影响“已经创建”的系统资源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0165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52705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1397000" y="52705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热加载原理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" y="5651500"/>
            <a:ext cx="990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ConfigWatcher 每30秒检查文件修改时间，若 current_modified &gt; last_modified，则触发 reload_callback() 重新加载配置。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配置管好了，接下来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3368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73200" y="2311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现状与挑战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766" flipH="false" flipV="false">
            <a:off x="1066809" y="27368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66800" y="2921000"/>
            <a:ext cx="4470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配置管理已就绪，系统基础设置趋于稳定。但我们仍面临自动化执行的需求。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66800" y="37465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708400"/>
            <a:ext cx="419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谁来定时执行系统维护任务？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谁来每天早上自动生成晨报？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892800" y="36068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350000" y="2032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54800" y="23368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061200" y="2311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9766" flipH="false" flipV="false">
            <a:off x="6654809" y="27368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654800" y="2921000"/>
            <a:ext cx="44704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引入自动化执行机制，实现任务的定时调度与管理。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定时任务系统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cron表达式 = 任务的闹钟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模块 6.2 -- 定时任务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7432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26670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核心概念：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cron表达式就像是任务的闹钟，用于精确地定义任务的执行时间，是定时任务系统的核心。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937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格式说明：分 时 日 月 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445000"/>
            <a:ext cx="19812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4635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952500" y="4953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分钟 (Minute)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933700" y="4445000"/>
            <a:ext cx="19812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124200" y="4635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3124200" y="4953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小时 (Hour)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105400" y="4445000"/>
            <a:ext cx="19812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295900" y="4635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295900" y="4953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日期 (Day)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277100" y="4445000"/>
            <a:ext cx="19812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467600" y="4635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467600" y="4953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月份 (Month)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448800" y="4445000"/>
            <a:ext cx="19812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639300" y="46355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639300" y="4953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星期 (Week)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651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5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1016000" y="58801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1460500" y="5778500"/>
            <a:ext cx="952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</a:t>
            </a:r>
            <a:r>
              <a:rPr lang="en-US" b="fals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 7 * * *</a:t>
            </a: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= 每天早上7:00执行任务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CronManager -- 任务注册与状态跟踪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0668000" cy="4064000"/>
          </a:xfrm>
          <a:prstGeom prst="roundRect">
            <a:avLst>
              <a:gd name="adj" fmla="val 3125"/>
            </a:avLst>
          </a:prstGeom>
          <a:solidFill>
            <a:srgbClr val="1E232D">
              <a:alpha val="9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000000">
                <a:alpha val="5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184400"/>
            <a:ext cx="152400" cy="1524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06500" y="2184400"/>
            <a:ext cx="152400" cy="1524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460500" y="2184400"/>
            <a:ext cx="152400" cy="152400"/>
          </a:xfrm>
          <a:prstGeom prst="ellipse">
            <a:avLst/>
          </a:prstGeom>
          <a:solidFill>
            <a:srgbClr val="27C9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778000" y="21082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cron_manager.py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26035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792EA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CronManager: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2921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792EA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b="false" i="false" strike="noStrike" u="none" sz="1400">
                <a:solidFill>
                  <a:srgbClr val="82AAFF"/>
                </a:solidFill>
                <a:latin typeface="Roboto Mono"/>
                <a:ea typeface="Roboto Mono"/>
                <a:cs typeface="Roboto Mono"/>
                <a:sym typeface="Roboto Mono"/>
              </a:rPr>
              <a:t>add_task</a:t>
            </a: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(self, name: str, schedule: str, script: str):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2385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task = {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3556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'id': self._generate_id(),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38735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'name': name,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191000"/>
            <a:ext cx="10160000" cy="304800"/>
          </a:xfrm>
          <a:prstGeom prst="roundRect">
            <a:avLst>
              <a:gd name="adj" fmla="val 0"/>
            </a:avLst>
          </a:prstGeom>
          <a:solidFill>
            <a:srgbClr val="FFFF0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191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'schedule': schedule,</a:t>
            </a:r>
            <a:r>
              <a:rPr lang="en-US" b="false" i="false" strike="noStrike" u="none" sz="14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# 定时策略配置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5085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'script': script,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826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'enabled': True,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1435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'last_run': None,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461000"/>
            <a:ext cx="10160000" cy="304800"/>
          </a:xfrm>
          <a:prstGeom prst="roundRect">
            <a:avLst>
              <a:gd name="adj" fmla="val 0"/>
            </a:avLst>
          </a:prstGeom>
          <a:solidFill>
            <a:srgbClr val="FFFF0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5461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'last_status': None</a:t>
            </a:r>
            <a:r>
              <a:rPr lang="en-US" b="false" i="false" strike="noStrike" u="none" sz="140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# 状态跟踪字段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4092" flipH="false" flipV="false">
            <a:off x="762004" y="621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10个核心定时任务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2032000"/>
          <a:ext cx="10668000" cy="4470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2286000"/>
                <a:gridCol w="1905000"/>
                <a:gridCol w="4191000"/>
              </a:tblGrid>
              <a:tr h="609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任务名称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Cron表达式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执行时间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业务目的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每日晨报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 7 * * *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每天 7:00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汇总昨日工作成果及今日待办事项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晚间总结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 23 * * *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每天 23:00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记录当天工作进度与异常情况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系统状态监控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 * * * *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每小时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检查磁盘、内存使用率及API接口健康度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Cron失败监控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 * * * *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每小时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监控定时任务本身的执行状态，防止漏跑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Agent记忆同步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 */6 * * *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每6小时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同步最新的知识库与上下文信息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量化复盘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 22 * * *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每天 22:00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分析当日交易数据，生成量化报告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策略复盘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55 22 * * *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每天 22:55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基于复盘数据自动调整交易策略参数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记忆收敛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 3 * * *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凌晨 3:00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将短期记忆整理并迁移至长期记忆库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9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任务设计三原则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2857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错开执行时间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626" flipH="false" flipV="false">
            <a:off x="1016014" y="3295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429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C8C8C8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22:00 量化复盘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C8C8C8"/>
              </a:buClr>
              <a:buChar char="•"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22:55 策略复盘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间隔55分钟，避免资源争抢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286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2857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监控高频，业务低频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626" flipH="false" flipV="false">
            <a:off x="4699014" y="3295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99000" y="3429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C8C8C8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每小时：系统健康检查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C8C8C8"/>
              </a:buClr>
              <a:buChar char="•"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每天：业务复盘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高频发现问题，低频满足需求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032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2860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382000" y="2857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关键任务有兜底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626" flipH="false" flipV="false">
            <a:off x="8382014" y="3295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82000" y="3429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C8C8C8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“Cron失败监控”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C8C8C8"/>
              </a:buClr>
              <a:buChar char="•"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专门监控其他任务状态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建立“监控的监控”机制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为什么凌晨3:00做记忆收敛？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286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5908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66800" y="3302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系统负载最低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6215" flipH="false" flipV="false">
            <a:off x="1066815" y="37401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66800" y="3873500"/>
            <a:ext cx="2692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收敛过程需要大量的文件扫描和向量计算，凌晨3点系统空闲，不会影响核心业务运行。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286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749800" y="25908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749800" y="3302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数据快照完整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6215" flipH="false" flipV="false">
            <a:off x="4749815" y="37401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749800" y="3873500"/>
            <a:ext cx="2692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前一天23:00的晚间总结流程已完成，此时数据处于最完整的状态，适合进行收敛计算。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286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432800" y="25908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432800" y="3302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结果即时可用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6215" flipH="false" flipV="false">
            <a:off x="8432815" y="37401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432800" y="3873500"/>
            <a:ext cx="2692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计算完成后，第二天早上7:00的晨报就能直接体现出收敛后的结果，保证数据时效性。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任务跑着了，但是...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260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系统现状与隐患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549" flipH="false" flipV="false">
            <a:off x="1016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9845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29464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任务执行失败，却没有任何反馈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4925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34544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服务器磁盘已满，系统即将崩溃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254000" cy="254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97000" y="39624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外部API不可达，数据同步中断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2032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2286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985000" y="2260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解决方案：监控报警系统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549" flipH="false" flipV="false">
            <a:off x="6604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8" id="18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3048000"/>
            <a:ext cx="609600" cy="609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239000" y="3048000"/>
            <a:ext cx="393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建立全方位的监控体系，实时感知系统状态。一旦出现异常，立即触发报警机制，确保问题在第一时间被发现和解决。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五项健康检查 = 系统体检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模块 6.3 -- 监控报警：定期体检确保系统健康运行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2032000" cy="304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473200" y="27305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3429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磁盘使用率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38735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80%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43815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存储空间预警阈值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984500" y="2413000"/>
            <a:ext cx="2032000" cy="304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695700" y="27305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111500" y="3429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内存使用率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111500" y="38735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90%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111500" y="43815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内存资源过载阈值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207000" y="2413000"/>
            <a:ext cx="2032000" cy="304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918200" y="27305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334000" y="3429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API延迟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334000" y="38735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5000ms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334000" y="43815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接口响应超时阈值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429500" y="2413000"/>
            <a:ext cx="2032000" cy="304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140700" y="2730500"/>
            <a:ext cx="609600" cy="609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556500" y="3429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Agent心跳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556500" y="38735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2x间隔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556500" y="43815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失联判定阈值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652000" y="2413000"/>
            <a:ext cx="2032000" cy="304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363200" y="2730500"/>
            <a:ext cx="609600" cy="6096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9779000" y="3429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任务连续失败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779000" y="38735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3次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779000" y="4381500"/>
            <a:ext cx="177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任务执行异常阈值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SystemMonitor 检查流程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2540000" cy="1016000"/>
          </a:xfrm>
          <a:prstGeom prst="roundRect">
            <a:avLst>
              <a:gd name="adj" fmla="val 12500"/>
            </a:avLst>
          </a:prstGeom>
          <a:solidFill>
            <a:srgbClr val="1E293B">
              <a:alpha val="60000"/>
            </a:srgbClr>
          </a:solidFill>
          <a:ln w="127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3368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2860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启动检查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check_health()</a:t>
            </a:r>
          </a:p>
        </p:txBody>
      </p:sp>
      <p:cxnSp>
        <p:nvCxnSpPr>
          <p:cNvPr name="Connector 7" id="7"/>
          <p:cNvCxnSpPr/>
          <p:nvPr/>
        </p:nvCxnSpPr>
        <p:spPr>
          <a:xfrm rot="-85925" flipH="false" flipV="false">
            <a:off x="3302079" y="2533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3810000" y="2032000"/>
            <a:ext cx="3683000" cy="889000"/>
          </a:xfrm>
          <a:prstGeom prst="roundRect">
            <a:avLst>
              <a:gd name="adj" fmla="val 14285"/>
            </a:avLst>
          </a:prstGeom>
          <a:solidFill>
            <a:srgbClr val="1E293B">
              <a:alpha val="6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000500" y="23241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381500" y="2159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磁盘检查 _check_disk()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阈值：使用率 &lt; 80%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747000" y="2032000"/>
            <a:ext cx="3683000" cy="889000"/>
          </a:xfrm>
          <a:prstGeom prst="roundRect">
            <a:avLst>
              <a:gd name="adj" fmla="val 14285"/>
            </a:avLst>
          </a:prstGeom>
          <a:solidFill>
            <a:srgbClr val="1E293B">
              <a:alpha val="6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937500" y="23241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318500" y="2159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内存检查 _check_memory()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阈值：使用率 &lt; 90%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810000" y="3048000"/>
            <a:ext cx="3683000" cy="889000"/>
          </a:xfrm>
          <a:prstGeom prst="roundRect">
            <a:avLst>
              <a:gd name="adj" fmla="val 14285"/>
            </a:avLst>
          </a:prstGeom>
          <a:solidFill>
            <a:srgbClr val="1E293B">
              <a:alpha val="6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000500" y="33401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381500" y="3175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网关检查 _check_gateway()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阈值：API延迟 &lt; 5s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747000" y="3048000"/>
            <a:ext cx="3683000" cy="889000"/>
          </a:xfrm>
          <a:prstGeom prst="roundRect">
            <a:avLst>
              <a:gd name="adj" fmla="val 14285"/>
            </a:avLst>
          </a:prstGeom>
          <a:solidFill>
            <a:srgbClr val="1E293B">
              <a:alpha val="6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937500" y="33401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318500" y="3175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Agent检查 _check_agents()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阈值：8/8 在线状态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810000" y="4064000"/>
            <a:ext cx="7620000" cy="889000"/>
          </a:xfrm>
          <a:prstGeom prst="roundRect">
            <a:avLst>
              <a:gd name="adj" fmla="val 14285"/>
            </a:avLst>
          </a:prstGeom>
          <a:solidFill>
            <a:srgbClr val="1E293B">
              <a:alpha val="6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4000500" y="43561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4381500" y="4191000"/>
            <a:ext cx="685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任务失败检查 _check_failed_tasks()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阈值：连续失败次数 &lt; 3次</a:t>
            </a:r>
          </a:p>
        </p:txBody>
      </p:sp>
      <p:cxnSp>
        <p:nvCxnSpPr>
          <p:cNvPr name="Connector 23" id="23"/>
          <p:cNvCxnSpPr/>
          <p:nvPr/>
        </p:nvCxnSpPr>
        <p:spPr>
          <a:xfrm rot="5228255" flipH="false" flipV="false">
            <a:off x="7493000" y="5073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3810000" y="5207000"/>
            <a:ext cx="7620000" cy="1016000"/>
          </a:xfrm>
          <a:prstGeom prst="roundRect">
            <a:avLst>
              <a:gd name="adj" fmla="val 12500"/>
            </a:avLst>
          </a:prstGeom>
          <a:solidFill>
            <a:srgbClr val="1E293B">
              <a:alpha val="60000"/>
            </a:srgbClr>
          </a:solidFill>
          <a:ln w="127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4064000" y="55118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4572000" y="5334000"/>
            <a:ext cx="660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结果收集与报警 _send_alert()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收集所有不健康项，通过飞书 / WhatsApp 多通道发送通知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磁盘80% vs 内存90%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098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1590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为什么磁盘阈值（80%）低于内存阈值（90%）？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1E293B">
              <a:alpha val="60000"/>
            </a:srgbClr>
          </a:solidFill>
          <a:ln w="12700" cmpd="sng" cap="flat">
            <a:solidFill>
              <a:srgbClr val="EF4444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51000" y="3492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磁盘：阈值 80% (高风险)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9549" flipH="false" flipV="false">
            <a:off x="1016009" y="399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016000" y="41275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后果严重：可能导致数据库损坏、日志丢失，数据恢复极其困难且耗时。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3175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1E293B">
              <a:alpha val="60000"/>
            </a:srgbClr>
          </a:solidFill>
          <a:ln w="12700" cmpd="sng" cap="flat">
            <a:solidFill>
              <a:srgbClr val="10B981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604000" y="34290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239000" y="3492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内存：阈值 90% (相对可控)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9549" flipH="false" flipV="false">
            <a:off x="6604009" y="399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604000" y="41275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后果较轻：通常只需重启服务即可释放内存，对业务影响相对较小且恢复迅速。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715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00BFFF">
              <a:alpha val="15000"/>
            </a:srgbClr>
          </a:solidFill>
          <a:ln w="12700" cmpd="sng" cap="flat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58801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397000" y="58420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核心原则：故障后果越严重，报警阈值设置应越早。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五项检查详解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0668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10668000" cy="609600"/>
          </a:xfrm>
          <a:prstGeom prst="roundRect">
            <a:avLst>
              <a:gd name="adj" fmla="val 0"/>
            </a:avLst>
          </a:prstGeom>
          <a:solidFill>
            <a:srgbClr val="00B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09800"/>
            <a:ext cx="254000" cy="254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1844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检查项指标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937000" y="22098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318000" y="2184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超标潜在后果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112000" y="22098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493000" y="2184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建议处理方式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2844800"/>
            <a:ext cx="254000" cy="254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97000" y="28194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磁盘使用率 &gt; 80%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937000" y="2819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日志无法写入，数据库损坏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112000" y="2819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清理旧日志 / 磁盘扩容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4092" flipH="false" flipV="false">
            <a:off x="762004" y="3232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33528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97000" y="33274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内存使用率 &gt; 90%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937000" y="3327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服务进程被 OOM 杀死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112000" y="3327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重启服务 / 排查内存泄漏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4092" flipH="false" flipV="false">
            <a:off x="762004" y="374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2" id="22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1016000" y="3860800"/>
            <a:ext cx="254000" cy="2540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397000" y="38354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API 响应 &gt; 5000ms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937000" y="3835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请求超时失败，用户体验差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112000" y="3835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检查网络 / 切换备用 API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4092" flipH="false" flipV="false">
            <a:off x="762004" y="4248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7" id="27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1016000" y="43688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1397000" y="43434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心跳间隔 &gt; 2x 设定值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3937000" y="4343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Agent 进程可能崩溃或失联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112000" y="4343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检查 Agent 日志并重启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-4092" flipH="false" flipV="false">
            <a:off x="762004" y="4756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32" id="32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1016000" y="4876800"/>
            <a:ext cx="254000" cy="2540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1397000" y="48514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连续失败次数 ≥ 3次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3937000" y="4851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定时任务停工，业务中断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112000" y="4851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检查脚本逻辑 / 依赖服务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SystemMonitor -- 阈值配置与报警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0668000" cy="4064000"/>
          </a:xfrm>
          <a:prstGeom prst="roundRect">
            <a:avLst>
              <a:gd name="adj" fmla="val 3125"/>
            </a:avLst>
          </a:prstGeom>
          <a:solidFill>
            <a:srgbClr val="1E232D">
              <a:alpha val="9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00BFF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2133600"/>
            <a:ext cx="254000" cy="254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70000" y="21082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system_monitor.py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6035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class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SystemMonitor: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921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def</a:t>
            </a:r>
            <a:r>
              <a:rPr lang="en-US" b="false" i="false" strike="noStrike" u="none" sz="1400">
                <a:solidFill>
                  <a:srgbClr val="61AFEF"/>
                </a:solidFill>
                <a:latin typeface="Noto Sans SC"/>
                <a:ea typeface="Noto Sans SC"/>
                <a:cs typeface="Noto Sans SC"/>
                <a:sym typeface="Noto Sans SC"/>
              </a:rPr>
              <a:t>__init__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(self):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2385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self.alert_channels = [</a:t>
            </a:r>
            <a:r>
              <a:rPr lang="en-US" b="false" i="false" strike="noStrike" u="none" sz="1400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'feishu'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]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556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self.thresholds = {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848100"/>
            <a:ext cx="10160000" cy="355600"/>
          </a:xfrm>
          <a:prstGeom prst="roundRect">
            <a:avLst>
              <a:gd name="adj" fmla="val 17857"/>
            </a:avLst>
          </a:prstGeom>
          <a:solidFill>
            <a:srgbClr val="FFFF0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43000" y="3873500"/>
            <a:ext cx="990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'disk_usage'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: 80,</a:t>
            </a:r>
            <a:r>
              <a:rPr lang="en-US" b="false" i="false" strike="noStrike" u="none" sz="1400">
                <a:solidFill>
                  <a:srgbClr val="5C6370"/>
                </a:solidFill>
                <a:latin typeface="Noto Sans SC"/>
                <a:ea typeface="Noto Sans SC"/>
                <a:cs typeface="Noto Sans SC"/>
                <a:sym typeface="Noto Sans SC"/>
              </a:rPr>
              <a:t># 磁盘使用率阈值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2164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'memory_usage'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: 90,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508500"/>
            <a:ext cx="10160000" cy="355600"/>
          </a:xfrm>
          <a:prstGeom prst="roundRect">
            <a:avLst>
              <a:gd name="adj" fmla="val 17857"/>
            </a:avLst>
          </a:prstGeom>
          <a:solidFill>
            <a:srgbClr val="FFFF0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143000" y="4533900"/>
            <a:ext cx="990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'api_latency'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: 5000 # API延迟阈值 (ms)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8768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51943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def</a:t>
            </a:r>
            <a:r>
              <a:rPr lang="en-US" b="false" i="false" strike="noStrike" u="none" sz="1400">
                <a:solidFill>
                  <a:srgbClr val="61AFEF"/>
                </a:solidFill>
                <a:latin typeface="Noto Sans SC"/>
                <a:ea typeface="Noto Sans SC"/>
                <a:cs typeface="Noto Sans SC"/>
                <a:sym typeface="Noto Sans SC"/>
              </a:rPr>
              <a:t>check_health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(self):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5118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checks = {</a:t>
            </a:r>
            <a:r>
              <a:rPr lang="en-US" b="false" i="false" strike="noStrike" u="none" sz="1400">
                <a:solidFill>
                  <a:srgbClr val="5C6370"/>
                </a:solidFill>
                <a:latin typeface="Noto Sans SC"/>
                <a:ea typeface="Noto Sans SC"/>
                <a:cs typeface="Noto Sans SC"/>
                <a:sym typeface="Noto Sans SC"/>
              </a:rPr>
              <a:t>'disk': self._check_disk(), ...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CLI命令体系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60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模块 6.4 -- 部署与更新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413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413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更新管理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5626" flipH="false" flipV="false">
            <a:off x="1016014" y="2914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111500"/>
            <a:ext cx="2794000" cy="2286000"/>
          </a:xfrm>
          <a:prstGeom prst="roundRect">
            <a:avLst>
              <a:gd name="adj" fmla="val 2777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3238500"/>
            <a:ext cx="254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9B7C6"/>
                </a:solidFill>
                <a:latin typeface="Noto Sans SC"/>
                <a:ea typeface="Noto Sans SC"/>
                <a:cs typeface="Noto Sans SC"/>
                <a:sym typeface="Noto Sans SC"/>
              </a:rPr>
              <a:t># 检查并应用更新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update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--check / --apply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A9B7C6"/>
                </a:solidFill>
                <a:latin typeface="Noto Sans SC"/>
                <a:ea typeface="Noto Sans SC"/>
                <a:cs typeface="Noto Sans SC"/>
                <a:sym typeface="Noto Sans SC"/>
              </a:rPr>
              <a:t># 重启服务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restart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2159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413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207000" y="2413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配置管理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5626" flipH="false" flipV="false">
            <a:off x="4699014" y="2914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99000" y="3111500"/>
            <a:ext cx="2794000" cy="2286000"/>
          </a:xfrm>
          <a:prstGeom prst="roundRect">
            <a:avLst>
              <a:gd name="adj" fmla="val 2777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826000" y="3238500"/>
            <a:ext cx="254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9B7C6"/>
                </a:solidFill>
                <a:latin typeface="Noto Sans SC"/>
                <a:ea typeface="Noto Sans SC"/>
                <a:cs typeface="Noto Sans SC"/>
                <a:sym typeface="Noto Sans SC"/>
              </a:rPr>
              <a:t># 配置重载与校验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config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reload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config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show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config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validate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2159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413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890000" y="2413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日志查看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5626" flipH="false" flipV="false">
            <a:off x="8382014" y="2914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382000" y="3111500"/>
            <a:ext cx="2794000" cy="2286000"/>
          </a:xfrm>
          <a:prstGeom prst="roundRect">
            <a:avLst>
              <a:gd name="adj" fmla="val 2777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509000" y="3238500"/>
            <a:ext cx="254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9B7C6"/>
                </a:solidFill>
                <a:latin typeface="Noto Sans SC"/>
                <a:ea typeface="Noto Sans SC"/>
                <a:cs typeface="Noto Sans SC"/>
                <a:sym typeface="Noto Sans SC"/>
              </a:rPr>
              <a:t># 实时跟踪日志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logs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--follow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A9B7C6"/>
                </a:solidFill>
                <a:latin typeface="Noto Sans SC"/>
                <a:ea typeface="Noto Sans SC"/>
                <a:cs typeface="Noto Sans SC"/>
                <a:sym typeface="Noto Sans SC"/>
              </a:rPr>
              <a:t># 查看特定Agent日志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logs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--agent trading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滚动更新策略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006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传统更新方式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1270000" cy="508000"/>
          </a:xfrm>
          <a:prstGeom prst="roundRect">
            <a:avLst>
              <a:gd name="adj" fmla="val 12500"/>
            </a:avLst>
          </a:prstGeom>
          <a:solidFill>
            <a:srgbClr val="FF6347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全部停止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413000" y="26670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794000" y="2540000"/>
            <a:ext cx="1270000" cy="508000"/>
          </a:xfrm>
          <a:prstGeom prst="roundRect">
            <a:avLst>
              <a:gd name="adj" fmla="val 12500"/>
            </a:avLst>
          </a:prstGeom>
          <a:solidFill>
            <a:srgbClr val="FF6347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全部更新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191000" y="26670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572000" y="2540000"/>
            <a:ext cx="1016000" cy="508000"/>
          </a:xfrm>
          <a:prstGeom prst="roundRect">
            <a:avLst>
              <a:gd name="adj" fmla="val 12500"/>
            </a:avLst>
          </a:prstGeom>
          <a:solidFill>
            <a:srgbClr val="FF6347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重启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302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缺点：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服务中断时间长，影响用户体验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风险集中，一旦失败后果严重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1778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0" y="2032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731000" y="2006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滚动更新策略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2540000"/>
            <a:ext cx="1016000" cy="457200"/>
          </a:xfrm>
          <a:prstGeom prst="roundRect">
            <a:avLst>
              <a:gd name="adj" fmla="val 13888"/>
            </a:avLst>
          </a:prstGeom>
          <a:solidFill>
            <a:srgbClr val="00B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 1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493000" y="2667000"/>
            <a:ext cx="203200" cy="203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810500" y="2540000"/>
            <a:ext cx="1016000" cy="457200"/>
          </a:xfrm>
          <a:prstGeom prst="roundRect">
            <a:avLst>
              <a:gd name="adj" fmla="val 13888"/>
            </a:avLst>
          </a:prstGeom>
          <a:solidFill>
            <a:srgbClr val="00B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健康检查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953500" y="26416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350000" y="3111500"/>
            <a:ext cx="1016000" cy="457200"/>
          </a:xfrm>
          <a:prstGeom prst="roundRect">
            <a:avLst>
              <a:gd name="adj" fmla="val 13888"/>
            </a:avLst>
          </a:prstGeom>
          <a:solidFill>
            <a:srgbClr val="00B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 2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493000" y="3238500"/>
            <a:ext cx="203200" cy="203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810500" y="3111500"/>
            <a:ext cx="1016000" cy="457200"/>
          </a:xfrm>
          <a:prstGeom prst="roundRect">
            <a:avLst>
              <a:gd name="adj" fmla="val 13888"/>
            </a:avLst>
          </a:prstGeom>
          <a:solidFill>
            <a:srgbClr val="00B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健康检查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953500" y="32131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350000" y="3683000"/>
            <a:ext cx="1016000" cy="457200"/>
          </a:xfrm>
          <a:prstGeom prst="roundRect">
            <a:avLst>
              <a:gd name="adj" fmla="val 13888"/>
            </a:avLst>
          </a:prstGeom>
          <a:solidFill>
            <a:srgbClr val="FF6347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 3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493000" y="3810000"/>
            <a:ext cx="203200" cy="2032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7810500" y="3683000"/>
            <a:ext cx="1016000" cy="457200"/>
          </a:xfrm>
          <a:prstGeom prst="roundRect">
            <a:avLst>
              <a:gd name="adj" fmla="val 13888"/>
            </a:avLst>
          </a:prstGeom>
          <a:solidFill>
            <a:srgbClr val="FF6347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检查失败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953500" y="37846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9271000" y="37592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6347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自动回滚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334000"/>
            <a:ext cx="104140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1143000" y="5638800"/>
            <a:ext cx="406400" cy="4064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1651000" y="5588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零停机更新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服务持续可用，用户无感知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4445000" y="5638800"/>
            <a:ext cx="406400" cy="4064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4953000" y="5588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问题即时发现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单实例验证，风险可控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7747000" y="5638800"/>
            <a:ext cx="406400" cy="406400"/>
          </a:xfrm>
          <a:prstGeom prst="rect">
            <a:avLst/>
          </a:prstGeom>
        </p:spPr>
      </p:pic>
      <p:sp>
        <p:nvSpPr>
          <p:cNvPr name="AutoShape 35" id="35"/>
          <p:cNvSpPr/>
          <p:nvPr/>
        </p:nvSpPr>
        <p:spPr>
          <a:xfrm rot="0" flipH="false" flipV="false">
            <a:off x="8255000" y="5588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自动回滚机制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异常自动恢复，保障稳定性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练习08：为“个人知识管理AI Agent”设计运维方案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286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练习时间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626" flipH="false" flipV="false">
            <a:off x="1016014" y="2724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857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预计耗时：</a:t>
            </a: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25分钟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参考资料：讲义模块 6.1-6.4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286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207000" y="2286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输出成果 (4项)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626" flipH="false" flipV="false">
            <a:off x="4699014" y="2724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99000" y="28575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main.yml配置 (Memory/Models/Notifications)</a:t>
            </a: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定时任务列表 (至少5个，含Cron表达式)</a:t>
            </a: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监控指标与报警规则 (至少3个检查项)</a:t>
            </a: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演进路线图 (1/3/6个月规划)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286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890000" y="2286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评分维度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626" flipH="false" flipV="false">
            <a:off x="8382014" y="2724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82000" y="2857500"/>
            <a:ext cx="279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配置完整性：配置项是否齐全合理</a:t>
            </a: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任务设计：定时任务逻辑是否严谨</a:t>
            </a: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监控方案：指标选取是否关键有效</a:t>
            </a: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路线图：规划是否具有可行性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系统跑起来了，维护也做好了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762040" y="1835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mpd="sng" cap="flat">
            <a:solidFill>
              <a:srgbClr val="FFFF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10668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70000" y="2667000"/>
            <a:ext cx="812800" cy="812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286000" y="26670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系统已稳定运行，运维方案已完善。接下来，我们将分享从项目实践中沉淀的宝贵财富。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523" flipH="false" flipV="false">
            <a:off x="1270004" y="3549650"/>
            <a:ext cx="965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270000" y="3810000"/>
            <a:ext cx="812800" cy="812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286000" y="38100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</a:t>
            </a:r>
            <a:r>
              <a:rPr lang="en-US" b="true" i="false" strike="noStrike" u="none" sz="2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50,000</a:t>
            </a: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行代码中提炼出的</a:t>
            </a:r>
            <a:r>
              <a:rPr lang="en-US" b="true" i="false" strike="noStrike" u="none" sz="2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四大经验教训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经验教训 1：没有记忆的系统只是聊天机器人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语义理解 &gt; 精确匹配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7188" flipH="false" flipV="false">
            <a:off x="1016016" y="3422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556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向量搜索比传统关键词搜索强10倍，能够捕捉深层语义关联，实现精准的上下文理解。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2860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 &gt; 手动整理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7188" flipH="false" flipV="false">
            <a:off x="4699016" y="3422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99000" y="3556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自动收敛机制比人工手动整理更可靠、高效，能大幅减少维护成本，确保数据的实时性。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286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382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冷热数据分离存储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7188" flipH="false" flipV="false">
            <a:off x="8382016" y="3422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82000" y="3556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分层存储架构能显著提升检索效率，将高频访问的热数据与低频冷数据分离，优化资源分配。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经验教训 2：“先跑通，再拆分”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286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5908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66800" y="3302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分工优于全能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3746500"/>
            <a:ext cx="2692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8个专业 Agent 优于 1个通用 Agent。专业化分工能显著提升系统效率，避免单点过载。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2286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749800" y="25908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749800" y="3302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协调成本真实存在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749800" y="3746500"/>
            <a:ext cx="2692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系统复杂度带来协调代价。在追求架构完美的同时，必须权衡沟通成本与收益。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2286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432800" y="25908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432800" y="3302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避免过度设计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432800" y="3746500"/>
            <a:ext cx="2692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遵循从 ClawBot 到 OpenClaw 的渐进演进路径，让系统在实践中逐步成长，而非一步到位。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经验教训 3："约束即自由"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3368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66800" y="3048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明确技能边界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6215" flipH="false" flipV="false">
            <a:off x="1066815" y="34861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66800" y="3619500"/>
            <a:ext cx="2692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建立70+技能库，每个技能配备SKILL.md文档，明确输入输出与约束条件。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核心价值：约束即自由，让生成更可控。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749800" y="23368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749800" y="3048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测试用例全覆盖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6215" flipH="false" flipV="false">
            <a:off x="4749815" y="34861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749800" y="3619500"/>
            <a:ext cx="2692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坚持“每个API都有测试用例”的原则，确保代码生成的正确性和稳定性。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核心价值：验证不可省略，质量是底线。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432800" y="23368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432800" y="3048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统一代码规范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6215" flipH="false" flipV="false">
            <a:off x="8432815" y="34861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432800" y="3619500"/>
            <a:ext cx="2692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统一文件头、类型注解和文档字符串，减少个性化差异带来的维护成本。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核心价值：标准化 &gt; 个性化，提升协作效率。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经验教训 4：“先建防线，再建功能”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核心观点：任何自动化系统都需要熔断机制，安全是功能的前提。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7178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66800" y="3429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熔断机制：止损上限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3873500"/>
            <a:ext cx="2692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设置日亏损上限$100，一旦触发立即停止交易。这体现了“先建防线，再建功能”的核心原则。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413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749800" y="27178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749800" y="3429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运行时间：99.5%可用性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749800" y="3873500"/>
            <a:ext cx="2692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追求的不是绝对不出问题，而是具备感知问题的能力。知道出问题 &gt; 不出问题。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413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432800" y="27178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432800" y="3429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持续验证：每周重训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432800" y="3873500"/>
            <a:ext cx="2692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策略并非一劳永逸，需每周重新训练。持续验证优于一次性验证，确保策略适应性。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量化指标全景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286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30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~50,000 行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302000"/>
            <a:ext cx="2794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02000"/>
            <a:ext cx="2286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032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286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207000" y="2286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专业Agent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2730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8 个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3302000"/>
            <a:ext cx="2794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2032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286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890000" y="2286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技能组件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82000" y="2730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70+ 项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82000" y="3302000"/>
            <a:ext cx="2794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382000" y="3302000"/>
            <a:ext cx="1905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19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524000" y="444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定时任务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16000" y="4889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20+ 个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16000" y="5461000"/>
            <a:ext cx="2794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" y="546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445000" y="419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99000" y="4445000"/>
            <a:ext cx="406400" cy="4064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5207000" y="444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记忆文档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699000" y="4889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500+ 份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4699000" y="5461000"/>
            <a:ext cx="2794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4699000" y="5461000"/>
            <a:ext cx="2413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128000" y="419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382000" y="4445000"/>
            <a:ext cx="406400" cy="406400"/>
          </a:xfrm>
          <a:prstGeom prst="rect">
            <a:avLst/>
          </a:prstGeom>
        </p:spPr>
      </p:pic>
      <p:sp>
        <p:nvSpPr>
          <p:cNvPr name="AutoShape 36" id="36"/>
          <p:cNvSpPr/>
          <p:nvPr/>
        </p:nvSpPr>
        <p:spPr>
          <a:xfrm rot="0" flipH="false" flipV="false">
            <a:off x="8890000" y="444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配置文件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382000" y="4889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~200 个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382000" y="5461000"/>
            <a:ext cx="2794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382000" y="5461000"/>
            <a:ext cx="1778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全课程知识地图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1968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19304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第1课：记忆系统 (大脑)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323" flipH="false" flipV="false">
            <a:off x="952513" y="234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952500" y="24765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四层记忆结构体系</a:t>
            </a: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向量检索与语义理解</a:t>
            </a: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记忆的自动收敛机制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1778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1968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953000" y="19304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第2课：模型路由 (决策中枢)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323" flipH="false" flipV="false">
            <a:off x="4572013" y="234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572000" y="24765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多模型矩阵构建</a:t>
            </a: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智能规则路由分发</a:t>
            </a: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模型性能实时监控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1778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191500" y="1968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572500" y="19304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第3课：多Agent架构 (组织)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4323" flipH="false" flipV="false">
            <a:off x="8191513" y="234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191500" y="24765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Agent角色定义与分工</a:t>
            </a: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消息总线与任务编排</a:t>
            </a: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多Agent记忆同步机制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19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52500" y="43815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333500" y="43434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第4课：代码生成 (生产力)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4323" flipH="false" flipV="false">
            <a:off x="952513" y="475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952500" y="48895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Skill系统与工具调用</a:t>
            </a: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六步工作流自动化</a:t>
            </a: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测试驱动开发实践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381500" y="419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572000" y="43815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4953000" y="43434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第5课：量化交易 (实战)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14323" flipH="false" flipV="false">
            <a:off x="4572013" y="475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4572000" y="48895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量化交易四层架构</a:t>
            </a: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ML策略与网格策略</a:t>
            </a: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实盘风险管理机制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001000" y="419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00BFFF">
              <a:alpha val="15000"/>
            </a:srgbClr>
          </a:solidFill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191500" y="4381500"/>
            <a:ext cx="304800" cy="3048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8572500" y="43434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第6课：运维复盘 (保障)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14323" flipH="false" flipV="false">
            <a:off x="8191513" y="475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8191500" y="48895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配置管理与定时任务</a:t>
            </a: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系统监控与自动报警</a:t>
            </a: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实战经验教训总结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全课程核心总结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2286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核心概念：记忆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94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记忆是 AI Agent 与传统 ChatBot 的本质区别，赋予系统连续性。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2032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2286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080000" y="2286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成本优化：路由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2794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为每个任务匹配最优模型，实现资源高效利用，成本降低 60%。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2032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55000" y="2286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699500" y="2286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架构设计：多Agent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2794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分工协作优于全能单体，通过角色划分提升系统的复杂任务处理能力。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91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460500" y="4445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开发理念：代码生成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953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“约束即自由”，通过 SKILL.md 等规范定义，让生成更可控、高效。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381500" y="4191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35500" y="4445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080000" y="4445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安全保障：风险管理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35500" y="4953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坚持“先建防线再建功能”，引入熔断机制，确保系统稳健运行。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001000" y="4191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255000" y="44450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699500" y="4445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系统稳定性：运维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255000" y="4953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设计目标是让系统在无人干预的情况下也能“好好活着”，具备自愈能力。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综合项目布置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006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项目核心目标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291" flipH="false" flipV="false">
            <a:off x="1016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603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任务：为一个自选场景设计并实现完整的 AI Agent 系统。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2385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2131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可选场景方向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619500"/>
            <a:ext cx="2222500" cy="457200"/>
          </a:xfrm>
          <a:prstGeom prst="roundRect">
            <a:avLst>
              <a:gd name="adj" fmla="val 13888"/>
            </a:avLst>
          </a:prstGeom>
          <a:solidFill>
            <a:srgbClr val="00BFF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F0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知识管理系统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492500" y="3619500"/>
            <a:ext cx="2222500" cy="457200"/>
          </a:xfrm>
          <a:prstGeom prst="roundRect">
            <a:avLst>
              <a:gd name="adj" fmla="val 13888"/>
            </a:avLst>
          </a:prstGeom>
          <a:solidFill>
            <a:srgbClr val="00BFF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F0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智能客服助手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191000"/>
            <a:ext cx="2222500" cy="457200"/>
          </a:xfrm>
          <a:prstGeom prst="roundRect">
            <a:avLst>
              <a:gd name="adj" fmla="val 13888"/>
            </a:avLst>
          </a:prstGeom>
          <a:solidFill>
            <a:srgbClr val="00BFF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F0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自动化内容创作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92500" y="4191000"/>
            <a:ext cx="2222500" cy="457200"/>
          </a:xfrm>
          <a:prstGeom prst="roundRect">
            <a:avLst>
              <a:gd name="adj" fmla="val 13888"/>
            </a:avLst>
          </a:prstGeom>
          <a:solidFill>
            <a:srgbClr val="00BFF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F0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业务数据分析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77000" y="2032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858000" y="2006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交付物清单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291" flipH="false" flipV="false">
            <a:off x="6477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2667000"/>
            <a:ext cx="228600" cy="228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794500" y="26416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记忆系统设计（四层架构）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3048000"/>
            <a:ext cx="228600" cy="228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794500" y="30226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模型路由配置（YAML 文件）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3429000"/>
            <a:ext cx="228600" cy="228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794500" y="34036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定义（至少包含 3 个 Agent）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3810000"/>
            <a:ext cx="228600" cy="2286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794500" y="37846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运维方案（配置 + 定时任务 + 监控）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9291" flipH="false" flipV="false">
            <a:off x="6477009" y="4311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28" id="2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477000" y="4572000"/>
            <a:ext cx="254000" cy="2540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6794500" y="45466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截止时间：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2周内完成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477000" y="4953000"/>
            <a:ext cx="254000" cy="2540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6794500" y="49276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参考资料：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全6课讲义内容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课程结束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8034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从</a:t>
            </a:r>
            <a:r>
              <a:rPr lang="en-US" b="tru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一个聊天机器人</a:t>
            </a: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到</a:t>
            </a:r>
            <a:r>
              <a:rPr lang="en-US" b="tru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一个完整的AI Agent系统</a:t>
            </a: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，六课走完了一个系统从0到1的全部旅程。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核心路线回顾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556000"/>
            <a:ext cx="1524000" cy="762000"/>
          </a:xfrm>
          <a:prstGeom prst="roundRect">
            <a:avLst>
              <a:gd name="adj" fmla="val 8333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89000" y="37846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06500" y="3746500"/>
            <a:ext cx="101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记忆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2349500" y="38100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2667000" y="3556000"/>
            <a:ext cx="1524000" cy="762000"/>
          </a:xfrm>
          <a:prstGeom prst="roundRect">
            <a:avLst>
              <a:gd name="adj" fmla="val 8333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2794000" y="37846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3111500" y="3746500"/>
            <a:ext cx="101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路由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254500" y="38100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572000" y="3556000"/>
            <a:ext cx="1524000" cy="762000"/>
          </a:xfrm>
          <a:prstGeom prst="roundRect">
            <a:avLst>
              <a:gd name="adj" fmla="val 8333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99000" y="37846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5016500" y="3746500"/>
            <a:ext cx="101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协作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159500" y="38100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477000" y="3556000"/>
            <a:ext cx="1524000" cy="762000"/>
          </a:xfrm>
          <a:prstGeom prst="roundRect">
            <a:avLst>
              <a:gd name="adj" fmla="val 8333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37846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21500" y="3746500"/>
            <a:ext cx="101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生成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064500" y="38100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8382000" y="3556000"/>
            <a:ext cx="1524000" cy="762000"/>
          </a:xfrm>
          <a:prstGeom prst="roundRect">
            <a:avLst>
              <a:gd name="adj" fmla="val 8333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509000" y="37846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826500" y="3746500"/>
            <a:ext cx="101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实战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969500" y="38100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10287000" y="3556000"/>
            <a:ext cx="1524000" cy="762000"/>
          </a:xfrm>
          <a:prstGeom prst="roundRect">
            <a:avLst>
              <a:gd name="adj" fmla="val 8333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10414000" y="3784600"/>
            <a:ext cx="304800" cy="304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10731500" y="3746500"/>
            <a:ext cx="101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运维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" y="4699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00">
              <a:alpha val="10000"/>
            </a:srgbClr>
          </a:solidFill>
          <a:ln w="12700" cmpd="sng" cap="flat">
            <a:solidFill>
              <a:srgbClr val="FFFF00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1016000" y="5003800"/>
            <a:ext cx="406400" cy="4064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1524000" y="48895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最后建议：</a:t>
            </a:r>
            <a:r>
              <a:rPr lang="en-US" b="true" i="false" strike="noStrike" u="none" sz="18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先跑通，再拆分，持续迭代。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62000" y="5842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祝你的 AI Agent，一直活着 🚀</a:t>
            </a:r>
            <a:endParaRPr lang="en-US" sz="1100"/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