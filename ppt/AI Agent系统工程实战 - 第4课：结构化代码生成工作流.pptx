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3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slides/slide17.xml" Type="http://schemas.openxmlformats.org/officeDocument/2006/relationships/slide"/><Relationship Id="rId26" Target="slides/slide18.xml" Type="http://schemas.openxmlformats.org/officeDocument/2006/relationships/slide"/><Relationship Id="rId27" Target="slides/slide19.xml" Type="http://schemas.openxmlformats.org/officeDocument/2006/relationships/slide"/><Relationship Id="rId28" Target="slides/slide20.xml" Type="http://schemas.openxmlformats.org/officeDocument/2006/relationships/slide"/><Relationship Id="rId29" Target="slides/slide21.xml" Type="http://schemas.openxmlformats.org/officeDocument/2006/relationships/slide"/><Relationship Id="rId3" Target="presProps.xml" Type="http://schemas.openxmlformats.org/officeDocument/2006/relationships/presProps"/><Relationship Id="rId30" Target="slides/slide22.xml" Type="http://schemas.openxmlformats.org/officeDocument/2006/relationships/slide"/><Relationship Id="rId31" Target="slides/slide23.xml" Type="http://schemas.openxmlformats.org/officeDocument/2006/relationships/slide"/><Relationship Id="rId32" Target="slides/slide24.xml" Type="http://schemas.openxmlformats.org/officeDocument/2006/relationships/slide"/><Relationship Id="rId33" Target="slides/slide25.xml" Type="http://schemas.openxmlformats.org/officeDocument/2006/relationships/slide"/><Relationship Id="rId34" Target="slides/slide26.xml" Type="http://schemas.openxmlformats.org/officeDocument/2006/relationships/slide"/><Relationship Id="rId35" Target="slides/slide27.xml" Type="http://schemas.openxmlformats.org/officeDocument/2006/relationships/slide"/><Relationship Id="rId36" Target="slides/slide28.xml" Type="http://schemas.openxmlformats.org/officeDocument/2006/relationships/slide"/><Relationship Id="rId37" Target="slides/slide29.xml" Type="http://schemas.openxmlformats.org/officeDocument/2006/relationships/slide"/><Relationship Id="rId38" Target="slides/slide30.xml" Type="http://schemas.openxmlformats.org/officeDocument/2006/relationships/slide"/><Relationship Id="rId39" Target="slides/slide31.xml" Type="http://schemas.openxmlformats.org/officeDocument/2006/relationships/slide"/><Relationship Id="rId4" Target="slideMasters/slideMaster1.xml" Type="http://schemas.openxmlformats.org/officeDocument/2006/relationships/slideMaster"/><Relationship Id="rId40" Target="slides/slide32.xml" Type="http://schemas.openxmlformats.org/officeDocument/2006/relationships/slide"/><Relationship Id="rId41" Target="slides/slide33.xml" Type="http://schemas.openxmlformats.org/officeDocument/2006/relationships/slide"/><Relationship Id="rId42" Target="slides/slide34.xml" Type="http://schemas.openxmlformats.org/officeDocument/2006/relationships/slide"/><Relationship Id="rId43" Target="slides/slide35.xml" Type="http://schemas.openxmlformats.org/officeDocument/2006/relationships/slide"/><Relationship Id="rId44" Target="slides/slide36.xml" Type="http://schemas.openxmlformats.org/officeDocument/2006/relationships/slide"/><Relationship Id="rId45" Target="notesSlides/notesSlide1.xml" Type="http://schemas.openxmlformats.org/officeDocument/2006/relationships/notesSlide"/><Relationship Id="rId46" Target="notesSlides/notesSlide2.xml" Type="http://schemas.openxmlformats.org/officeDocument/2006/relationships/notesSlide"/><Relationship Id="rId47" Target="notesSlides/notesSlide3.xml" Type="http://schemas.openxmlformats.org/officeDocument/2006/relationships/notesSlide"/><Relationship Id="rId48" Target="notesSlides/notesSlide4.xml" Type="http://schemas.openxmlformats.org/officeDocument/2006/relationships/notesSlide"/><Relationship Id="rId49" Target="notesSlides/notesSlide5.xml" Type="http://schemas.openxmlformats.org/officeDocument/2006/relationships/notesSlide"/><Relationship Id="rId50" Target="notesSlides/notesSlide6.xml" Type="http://schemas.openxmlformats.org/officeDocument/2006/relationships/notesSlide"/><Relationship Id="rId51" Target="notesSlides/notesSlide7.xml" Type="http://schemas.openxmlformats.org/officeDocument/2006/relationships/notesSlide"/><Relationship Id="rId52" Target="notesSlides/notesSlide8.xml" Type="http://schemas.openxmlformats.org/officeDocument/2006/relationships/notesSlide"/><Relationship Id="rId53" Target="notesSlides/notesSlide9.xml" Type="http://schemas.openxmlformats.org/officeDocument/2006/relationships/notesSlide"/><Relationship Id="rId54" Target="notesSlides/notesSlide10.xml" Type="http://schemas.openxmlformats.org/officeDocument/2006/relationships/notesSlide"/><Relationship Id="rId55" Target="notesSlides/notesSlide11.xml" Type="http://schemas.openxmlformats.org/officeDocument/2006/relationships/notesSlide"/><Relationship Id="rId56" Target="notesSlides/notesSlide12.xml" Type="http://schemas.openxmlformats.org/officeDocument/2006/relationships/notesSlide"/><Relationship Id="rId57" Target="notesSlides/notesSlide13.xml" Type="http://schemas.openxmlformats.org/officeDocument/2006/relationships/notesSlide"/><Relationship Id="rId58" Target="notesSlides/notesSlide14.xml" Type="http://schemas.openxmlformats.org/officeDocument/2006/relationships/notesSlide"/><Relationship Id="rId59" Target="notesSlides/notesSlide15.xml" Type="http://schemas.openxmlformats.org/officeDocument/2006/relationships/notesSlide"/><Relationship Id="rId6" Target="notesMasters/notesMaster1.xml" Type="http://schemas.openxmlformats.org/officeDocument/2006/relationships/notesMaster"/><Relationship Id="rId60" Target="notesSlides/notesSlide16.xml" Type="http://schemas.openxmlformats.org/officeDocument/2006/relationships/notesSlide"/><Relationship Id="rId61" Target="notesSlides/notesSlide17.xml" Type="http://schemas.openxmlformats.org/officeDocument/2006/relationships/notesSlide"/><Relationship Id="rId62" Target="notesSlides/notesSlide18.xml" Type="http://schemas.openxmlformats.org/officeDocument/2006/relationships/notesSlide"/><Relationship Id="rId63" Target="notesSlides/notesSlide19.xml" Type="http://schemas.openxmlformats.org/officeDocument/2006/relationships/notesSlide"/><Relationship Id="rId64" Target="notesSlides/notesSlide20.xml" Type="http://schemas.openxmlformats.org/officeDocument/2006/relationships/notesSlide"/><Relationship Id="rId65" Target="notesSlides/notesSlide21.xml" Type="http://schemas.openxmlformats.org/officeDocument/2006/relationships/notesSlide"/><Relationship Id="rId66" Target="notesSlides/notesSlide22.xml" Type="http://schemas.openxmlformats.org/officeDocument/2006/relationships/notesSlide"/><Relationship Id="rId67" Target="notesSlides/notesSlide23.xml" Type="http://schemas.openxmlformats.org/officeDocument/2006/relationships/notesSlide"/><Relationship Id="rId68" Target="notesSlides/notesSlide24.xml" Type="http://schemas.openxmlformats.org/officeDocument/2006/relationships/notesSlide"/><Relationship Id="rId69" Target="notesSlides/notesSlide25.xml" Type="http://schemas.openxmlformats.org/officeDocument/2006/relationships/notesSlide"/><Relationship Id="rId7" Target="theme/theme2.xml" Type="http://schemas.openxmlformats.org/officeDocument/2006/relationships/theme"/><Relationship Id="rId70" Target="notesSlides/notesSlide26.xml" Type="http://schemas.openxmlformats.org/officeDocument/2006/relationships/notesSlide"/><Relationship Id="rId71" Target="notesSlides/notesSlide27.xml" Type="http://schemas.openxmlformats.org/officeDocument/2006/relationships/notesSlide"/><Relationship Id="rId72" Target="notesSlides/notesSlide28.xml" Type="http://schemas.openxmlformats.org/officeDocument/2006/relationships/notesSlide"/><Relationship Id="rId73" Target="notesSlides/notesSlide29.xml" Type="http://schemas.openxmlformats.org/officeDocument/2006/relationships/notesSlide"/><Relationship Id="rId74" Target="notesSlides/notesSlide30.xml" Type="http://schemas.openxmlformats.org/officeDocument/2006/relationships/notesSlide"/><Relationship Id="rId75" Target="notesSlides/notesSlide31.xml" Type="http://schemas.openxmlformats.org/officeDocument/2006/relationships/notesSlide"/><Relationship Id="rId76" Target="notesSlides/notesSlide32.xml" Type="http://schemas.openxmlformats.org/officeDocument/2006/relationships/notesSlide"/><Relationship Id="rId77" Target="notesSlides/notesSlide33.xml" Type="http://schemas.openxmlformats.org/officeDocument/2006/relationships/notesSlide"/><Relationship Id="rId78" Target="notesSlides/notesSlide34.xml" Type="http://schemas.openxmlformats.org/officeDocument/2006/relationships/notesSlide"/><Relationship Id="rId79" Target="notesSlides/notesSlide35.xml" Type="http://schemas.openxmlformats.org/officeDocument/2006/relationships/notesSlide"/><Relationship Id="rId8" Target="slideMasters/slideMaster2.xml" Type="http://schemas.openxmlformats.org/officeDocument/2006/relationships/slideMaster"/><Relationship Id="rId80" Target="notesSlides/notesSlide36.xml" Type="http://schemas.openxmlformats.org/officeDocument/2006/relationships/notesSlide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_rels/notesSlide2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4.xml" Type="http://schemas.openxmlformats.org/officeDocument/2006/relationships/slide"/></Relationships>
</file>

<file path=ppt/notesSlides/_rels/notesSlide2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5.xml" Type="http://schemas.openxmlformats.org/officeDocument/2006/relationships/slide"/></Relationships>
</file>

<file path=ppt/notesSlides/_rels/notesSlide2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6.xml" Type="http://schemas.openxmlformats.org/officeDocument/2006/relationships/slide"/></Relationships>
</file>

<file path=ppt/notesSlides/_rels/notesSlide2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7.xml" Type="http://schemas.openxmlformats.org/officeDocument/2006/relationships/slide"/></Relationships>
</file>

<file path=ppt/notesSlides/_rels/notesSlide2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8.xml" Type="http://schemas.openxmlformats.org/officeDocument/2006/relationships/slide"/></Relationships>
</file>

<file path=ppt/notesSlides/_rels/notesSlide2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9.xml" Type="http://schemas.openxmlformats.org/officeDocument/2006/relationships/slide"/></Relationships>
</file>

<file path=ppt/notesSlides/_rels/notesSlide3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0.xml" Type="http://schemas.openxmlformats.org/officeDocument/2006/relationships/slide"/></Relationships>
</file>

<file path=ppt/notesSlides/_rels/notesSlide3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1.xml" Type="http://schemas.openxmlformats.org/officeDocument/2006/relationships/slide"/></Relationships>
</file>

<file path=ppt/notesSlides/_rels/notesSlide3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2.xml" Type="http://schemas.openxmlformats.org/officeDocument/2006/relationships/slide"/></Relationships>
</file>

<file path=ppt/notesSlides/_rels/notesSlide3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3.xml" Type="http://schemas.openxmlformats.org/officeDocument/2006/relationships/slide"/></Relationships>
</file>

<file path=ppt/notesSlides/_rels/notesSlide3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4.xml" Type="http://schemas.openxmlformats.org/officeDocument/2006/relationships/slide"/></Relationships>
</file>

<file path=ppt/notesSlides/_rels/notesSlide3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5.xml" Type="http://schemas.openxmlformats.org/officeDocument/2006/relationships/slide"/></Relationships>
</file>

<file path=ppt/notesSlides/_rels/notesSlide3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大家好，欢迎来到AI Agent系统工程实战课程的第四课。在前几课中，我们搭建了完整的Agent基础设施，包括记忆系统、模型路由和多Agent架构。今天，我们将学习如何利用这些基础，让Agent真正地为我们解决实际问题——编写代码。本课的主题是“结构化代码生成工作流”，我们将探讨如何通过系统化的方法，让AI生成高质量、可维护的代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今天课程的整体安排。我们将首先分析无约束代码生成存在的问题，然后引入Skill系统架构作为解决方案。接着，我们会详细讲解代码生成的六步工作流，并通过一个完整的FastAPI案例来实践。中间会有一个练习环节，帮助大家动手编写SKILL文件并生成代码。最后，我们会探讨测试生成和写作系统，并进行总结。希望大家能跟上节奏，有所收获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始之前，我想问大家一个问题：你有没有直接让AI“帮我写一个用户管理系统”的经历？生成的代码质量如何？你敢把它直接部署到生产环境吗？我相信很多人都有过类似的尝试，但结果往往不尽如人意。这正是我们今天要解决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直接让AI写代码，就像碰运气一样，充满了不确定性。总结起来，主要存在四个核心问题：生成的代码缺乏统一的结构，导致文件组织混乱；代码质量不稳定，这次有异常处理，下次可能就没有；生成的代码难以维护，没有统一的命名和注释规范；最重要的是，无法复现，同样的需求，每次生成的结果都可能不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详细列出了这四个核心问题的具体表现。缺乏结构体现在文件组织的混乱；质量不稳定体现在功能实现的不一致；难以维护体现在没有统一的规范；无法复现则让我们无法追溯和复用之前的成功经验。这些问题严重阻碍了AI在实际开发工作中的应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问题到底出在哪里呢？是AI不懂编程语法吗？显然不是，现在的大语言模型在语法上已经非常强大。是需要更大的模型吗？也不是。真正的问题在于，我们没有给AI一个统一的输出标准，也就是缺乏必要的“约束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引出了我们本节课的核心洞察：约束即自由。表面上看，约束是限制，但实际上，恰当的结构化约束能够为AI指明方向，让它的输出更加稳定、可靠，从而真正释放它的生产力。这就像软件工程中的设计模式，表面上是一套限制规则，实际上是前人最佳实践的沉淀，能帮助我们更快、更好地构建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那么，具体如何给AI施加结构化约束呢？我们的解决方案是引入“Skill系统”。Skill系统将代码生成的最佳实践封装成一个个可复用的“技能包”，每个技能包都定义了明确的输入、输出和工作流程，从而让AI的代码生成过程变得可预测、可控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我们进入第二个模块：Skill系统架构。每个Skill，就像一本详细的“操作手册”，它明确地告诉AI，当面对某一类特定任务时，应该遵循什么样的步骤、达到什么样的标准来完成工作。这就为AI的输出提供了清晰的指引和约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一个典型的Skill系统包含多个技能包，每个技能包都有自己的目录。每个技能包内部主要包含三个核心组件：SKILL.md文件是技能的灵魂，定义了技能的核心要素；templates目录存放代码模板，提供结构骨架；scripts目录包含辅助脚本，用于实现自动化验证等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在Skill系统中，SKILL.md文件是灵魂所在。一个完整的SKILL.md文件必须包含六个核心要素，这六个要素共同构成了一个完整的认知闭环，每个要素都回答了一个关于如何执行任务的关键问题。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六个要素分别是：适用场景，回答“什么时候用？”；输入要求，回答“需要什么原料？”；输出格式，回答“产出什么样？”；工作流程，回答“按什么步骤？”；示例，回答“做好是什么样？”；常见陷阱，回答“容易错在哪？”。这六个要素形成了一个完整的认知闭环，确保了任务执行的每一个环节都有明确的指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为了帮助大家更好地理解这六个要素，我们可以做一些类比。适用场景就像药品说明书的适应症，告诉你什么时候可以用；输入要求就像菜谱的食材清单，告诉你需要准备什么；输出格式就像合同的交付标准，定义了最终的产出样子；工作流程就像施工的工序流程，规定了操作步骤；示例就像样板间，展示了做好的样子；常见陷阱则像是前人踩过的坑，提醒你注意避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一个coding-agent的SKILL.md示例。在适用场景部分，我们明确了这个技能适用于构建新功能、审查PR和重构代码库等场景。在输入要求部分，我们列出了必须的功能需求描述，以及可选的技术栈限制、性能要求和现有代码上下文。这些清晰的定义为AI的工作提供了明确的边界和输入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输出格式部分，我们严格定义了每个代码文件必须包含的元素，如文件头注释、类型注解、文档字符串等，这保证了代码的规范性和可读性。在工作流程部分，我们遵循测试驱动开发的理念，要求先编写测试，再实现代码，最后进行验证和审查。这一系列步骤确保了代码的质量和可靠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这六个要素中，哪一个对输出质量的一致性贡献最大呢？答案是输出格式。因为输出格式直接定义了“什么是合格的输出”，它为AI的工作设定了明确的质量基线，确保了每次生成的代码都符合统一的标准，这是实现代码质量稳定和可维护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有了Skill系统作为基础，我们就可以建立一个标准化的代码生成流程。从用户提出自然语言请求，到最终生成可运行的代码，整个过程需要经过六个步骤的工作流。接下来，我们将详细讲解这个六步工作流。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就是代码生成的六步工作流。第一步是意图分析，将用户的自然语言请求转化为结构化的任务描述；第二步是技能选择，根据任务类型匹配最合适的Skill；第三步是架构设计，规划代码的模块划分和接口；第四步是代码生成，基于架构和模板生成完整的代码文件；第五步是自动验证，对生成的代码进行语法、类型和测试检查，如果不通过则返回第四步重新生成；最后一步是迭代优化，生成最终的代码和说明文档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详细说明了六步工作流中每一步的输入、输出以及判断该步骤是否完成的标准。例如，意图分析的输入是用户的自然语言描述，输出是结构化的任务，判断标准是需求是否明确。通过这样清晰的定义，整个工作流变得可监控、可验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这是意图分析步骤的一个具体示例。输入是用户的自然语言请求：“帮我创建一个用户管理的REST API，使用FastAPI，包含JWT认证”。经过分析，系统将其转化为一个结构化的任务描述，明确了任务类型是“new_application”，复杂度为“medium”，技术栈包括FastAPI、SQLAlchemy和JWT，并列出了具体的功能需求。同时，检查是否有模糊不清的地方，这里unclear_points为空，表示需求明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自动验证是保证代码质量的最后一道防线，它分为三个层次。第一层是语法检查，确保代码没有语法错误；第二层是类型检查，使用mypy等工具确保类型安全；第三层也是最关键的一层，是测试运行，通过执行预先编写的测试用例来验证代码的功能是否符合预期。如果测试失败，系统会回到代码生成步骤进行修复，通常经过1到3轮迭代就能收敛到正确的结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我们跳过自动验证这一步会怎么样？生成的代码可能看起来结构完整，但其中可能隐藏着各种问题，只有在实际运行时才会暴露出来。这就像一个没有质量检验环节的工厂，生产出的产品看似完好，但客户拿到手后才发现各种毛病，这会带来巨大的维护成本和信任危机。因此，自动验证是不可省略的关键步骤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实际运行过程中，工作流的各个步骤都可能遇到异常情况。这张速查表列出了常见的异常情况及其处理方式。例如，如果意图分析发现需求模糊，系统会列出需要澄清的问题；如果技能选择没有找到匹配的Skill，会使用通用的coding-agent；如果自动验证测试失败，会回到代码生成步骤进行修复。通过这些预设的处理机制，系统能够更加健壮和智能地应对各种情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理论部分就到这里，现在我们通过一个完整的案例来实践刚才所学的知识。我们的任务是：根据需求“帮我创建一个用户管理的REST API，使用FastAPI，包含JWT认证”，生成7个可运行的代码文件。让我们看看整个工作流是如何运作的。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我们最终生成的项目结构，包含7个文件。每个文件都遵循单一职责原则，只关注一个特定的功能。比如，main.py是应用入口，负责初始化和注册路由；models.py定义数据模型；schemas.py定义接口模型；auth.py处理认证逻辑；crud.py封装数据操作；routers/users.py实现用户相关的API端点；tests/test_users.py则包含测试用例。这种清晰的结构保证了代码的可维护性和可扩展性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图展示了各文件之间的依赖关系。我们遵循依赖方向单一的原则，即路由层依赖于业务层和接口模型，业务层依赖于数据模型，而数据模型不依赖于任何上层模块。这种清晰的依赖关系避免了循环依赖，保证了系统的稳定性和可维护性。反向依赖是绝不允许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models.py文件中User模型的定义。这里有两个设计要点：首先，email字段设置了unique和index属性，这既防止了重复注册，又能加速登录时的查询效率。其次，我们只存储哈希后的密码（hashed_password），而不是明文密码，这是一个重要的安全措施，即使数据库泄露，用户的密码也不会被直接暴露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schemas.py文件中的内容，它定义了面向API的Pydantic模型。UserCreate模型用于接收创建用户时的请求数据，包含明文密码字段。而UserResponse模型用于返回给客户端的用户信息，它继承自UserBase，但不包含password字段，这遵循了最小暴露原则，确保敏感信息不会泄露。此外，Config类中的from_attributes设置允许将ORM模型对象直接转换为Pydantic模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里有一个关键问题：为什么我们要把数据模型（models.py）和接口模型（schemas.py）分开，而不是用同一个类？因为它们的用途和安全要求完全不同。models.py面向数据库，存储的是哈希后的密码；而schemas.py面向API，需要接收明文密码用于创建用户，但在返回信息时又不能包含密码。如果将它们合并，会导致严重的耦合，修改一处可能会影响全局，这是软件工程中需要极力避免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现在是动手实践的时间。这个练习分为两部分，总共30分钟。第一部分，希望大家在15分钟内，为“数据分析报告生成”这个任务编写一个完整的SKILL.md文件，确保六个要素都齐全。第二部分，基于你编写的SKILL.md文件，生成一个数据分析脚本的骨架，该脚本需要能够读取CSV文件、进行统计分析并生成Markdown报告。大家可以使用提供的测试数据进行验证。现在开始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我们的代码生成工作流中，测试扮演着至关重要的角色。测试不仅是写给人看的验收标准，更是用于自动验证AI生成结果的关键工具。在传统的测试驱动开发（TDD）中，测试指导开发；而在AI代码生成中，测试则验证生成的代码是否符合预期。可以说，没有测试的代码生成，就像没有质量检验的工厂，无法保证最终产品的质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是测试文件test_users.py中的关键片段。这里体现了三个重要的设计点：首先，验证HTTP响应的状态码是否符合预期；其次，检查返回的数据字段是否正确，特别是确保敏感的password字段没有被返回；最后，覆盖了重复邮箱注册这样的边界情况，确保系统能够正确处理异常输入。这些测试用例共同构成了代码质量的保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Skill系统不仅适用于代码生成，也可以应用于其他任务，比如写作。这是一个写作Skill的五阶段工作流定义，包括大纲生成、段落展开、一致性检查、可读性优化和格式输出。它同样定义了明确的质量检查标准。这体现了Skill系统的通用性：无论是代码还是写作，其核心都是明确的输入规范、固定的输出结构和可执行的工作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张表格对比了代码Skill和写作Skill在输入、输出、验证和迭代等方面的异同。尽管具体任务不同，但它们都遵循着相同的核心原则：需要明确的输入规范、固定的输出结构和可执行的工作流。这揭示了Skill系统的本质：它是一种将领域专家的隐性知识和最佳实践，转化为显性、可复用、可执行的操作指南的方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好了，我们来总结一下本节课的核心内容。首先，我们认识到无约束代码生成存在结构、质量、维护和复现四大问题。其次，我们引入了Skill系统，将最佳实践封装为包含六要素的技能包。第三，我们学习了从意图分析到迭代优化的六步工作流。第四，强调了自动验证是不可省略的质量最后防线。最后，我们看到Skill系统具有广泛的通用性。贯穿始终的设计哲学是：约束即自由。希望大家都掌握了这些核心概念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到目前为止，我们已经搭建了完整的Agent基础设施，包括记忆系统、模型路由、多Agent架构和代码生成工作流。接下来，我们将进入最硬核的实战案例环节。下一节课是选修课，主题是“AI驱动的量化交易系统”，难度会升级到高级。课程的重点将是风险管理，这是任何AI自动化系统都不可或缺的“安全网”。感谢大家的参与，我们下次课再见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4.xml" Type="http://schemas.openxmlformats.org/officeDocument/2006/relationships/notesSlide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25.png" Type="http://schemas.openxmlformats.org/officeDocument/2006/relationships/image"/><Relationship Id="rId3" Target="../media/image26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9.png" Type="http://schemas.openxmlformats.org/officeDocument/2006/relationships/image"/><Relationship Id="rId7" Target="../media/image30.svg" Type="http://schemas.openxmlformats.org/officeDocument/2006/relationships/image"/><Relationship Id="rId8" Target="../media/image31.png" Type="http://schemas.openxmlformats.org/officeDocument/2006/relationships/image"/><Relationship Id="rId9" Target="../media/image3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7.png" Type="http://schemas.openxmlformats.org/officeDocument/2006/relationships/image"/><Relationship Id="rId3" Target="../media/image38.svg" Type="http://schemas.openxmlformats.org/officeDocument/2006/relationships/image"/><Relationship Id="rId4" Target="../media/image39.png" Type="http://schemas.openxmlformats.org/officeDocument/2006/relationships/image"/><Relationship Id="rId5" Target="../media/image40.svg" Type="http://schemas.openxmlformats.org/officeDocument/2006/relationships/image"/><Relationship Id="rId6" Target="../notesSlides/notesSlide8.xml" Type="http://schemas.openxmlformats.org/officeDocument/2006/relationships/notesSlid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notesSlides/notesSlide10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41.png" Type="http://schemas.openxmlformats.org/officeDocument/2006/relationships/image"/><Relationship Id="rId5" Target="../media/image42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45.png" Type="http://schemas.openxmlformats.org/officeDocument/2006/relationships/image"/><Relationship Id="rId9" Target="../media/image46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7.png" Type="http://schemas.openxmlformats.org/officeDocument/2006/relationships/image"/><Relationship Id="rId11" Target="../media/image58.svg" Type="http://schemas.openxmlformats.org/officeDocument/2006/relationships/image"/><Relationship Id="rId12" Target="../media/image59.png" Type="http://schemas.openxmlformats.org/officeDocument/2006/relationships/image"/><Relationship Id="rId13" Target="../media/image60.svg" Type="http://schemas.openxmlformats.org/officeDocument/2006/relationships/image"/><Relationship Id="rId14" Target="../notesSlides/notesSlide11.xml" Type="http://schemas.openxmlformats.org/officeDocument/2006/relationships/notesSlide"/><Relationship Id="rId2" Target="../media/image49.png" Type="http://schemas.openxmlformats.org/officeDocument/2006/relationships/image"/><Relationship Id="rId3" Target="../media/image50.svg" Type="http://schemas.openxmlformats.org/officeDocument/2006/relationships/image"/><Relationship Id="rId4" Target="../media/image51.png" Type="http://schemas.openxmlformats.org/officeDocument/2006/relationships/image"/><Relationship Id="rId5" Target="../media/image52.svg" Type="http://schemas.openxmlformats.org/officeDocument/2006/relationships/image"/><Relationship Id="rId6" Target="../media/image53.png" Type="http://schemas.openxmlformats.org/officeDocument/2006/relationships/image"/><Relationship Id="rId7" Target="../media/image54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1.png" Type="http://schemas.openxmlformats.org/officeDocument/2006/relationships/image"/><Relationship Id="rId11" Target="../media/image52.svg" Type="http://schemas.openxmlformats.org/officeDocument/2006/relationships/image"/><Relationship Id="rId12" Target="../media/image63.png" Type="http://schemas.openxmlformats.org/officeDocument/2006/relationships/image"/><Relationship Id="rId13" Target="../media/image64.svg" Type="http://schemas.openxmlformats.org/officeDocument/2006/relationships/image"/><Relationship Id="rId14" Target="../notesSlides/notesSlide12.xml" Type="http://schemas.openxmlformats.org/officeDocument/2006/relationships/notesSlid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4.xml" Type="http://schemas.openxmlformats.org/officeDocument/2006/relationships/notesSlide"/><Relationship Id="rId2" Target="../media/image69.png" Type="http://schemas.openxmlformats.org/officeDocument/2006/relationships/image"/><Relationship Id="rId3" Target="../media/image70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3.png" Type="http://schemas.openxmlformats.org/officeDocument/2006/relationships/image"/><Relationship Id="rId11" Target="../media/image74.svg" Type="http://schemas.openxmlformats.org/officeDocument/2006/relationships/image"/><Relationship Id="rId12" Target="../media/image75.png" Type="http://schemas.openxmlformats.org/officeDocument/2006/relationships/image"/><Relationship Id="rId13" Target="../media/image76.svg" Type="http://schemas.openxmlformats.org/officeDocument/2006/relationships/image"/><Relationship Id="rId14" Target="../notesSlides/notesSlide15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71.png" Type="http://schemas.openxmlformats.org/officeDocument/2006/relationships/image"/><Relationship Id="rId5" Target="../media/image72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55.png" Type="http://schemas.openxmlformats.org/officeDocument/2006/relationships/image"/><Relationship Id="rId9" Target="../media/image56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85.png" Type="http://schemas.openxmlformats.org/officeDocument/2006/relationships/image"/><Relationship Id="rId11" Target="../media/image86.svg" Type="http://schemas.openxmlformats.org/officeDocument/2006/relationships/image"/><Relationship Id="rId12" Target="../media/image87.png" Type="http://schemas.openxmlformats.org/officeDocument/2006/relationships/image"/><Relationship Id="rId13" Target="../media/image88.svg" Type="http://schemas.openxmlformats.org/officeDocument/2006/relationships/image"/><Relationship Id="rId14" Target="../media/image89.png" Type="http://schemas.openxmlformats.org/officeDocument/2006/relationships/image"/><Relationship Id="rId15" Target="../media/image90.svg" Type="http://schemas.openxmlformats.org/officeDocument/2006/relationships/image"/><Relationship Id="rId16" Target="../notesSlides/notesSlide16.xml" Type="http://schemas.openxmlformats.org/officeDocument/2006/relationships/notesSlide"/><Relationship Id="rId2" Target="../media/image77.png" Type="http://schemas.openxmlformats.org/officeDocument/2006/relationships/image"/><Relationship Id="rId3" Target="../media/image78.svg" Type="http://schemas.openxmlformats.org/officeDocument/2006/relationships/image"/><Relationship Id="rId4" Target="../media/image79.png" Type="http://schemas.openxmlformats.org/officeDocument/2006/relationships/image"/><Relationship Id="rId5" Target="../media/image80.svg" Type="http://schemas.openxmlformats.org/officeDocument/2006/relationships/image"/><Relationship Id="rId6" Target="../media/image81.png" Type="http://schemas.openxmlformats.org/officeDocument/2006/relationships/image"/><Relationship Id="rId7" Target="../media/image82.svg" Type="http://schemas.openxmlformats.org/officeDocument/2006/relationships/image"/><Relationship Id="rId8" Target="../media/image83.png" Type="http://schemas.openxmlformats.org/officeDocument/2006/relationships/image"/><Relationship Id="rId9" Target="../media/image84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7.png" Type="http://schemas.openxmlformats.org/officeDocument/2006/relationships/image"/><Relationship Id="rId13" Target="../media/image8.svg" Type="http://schemas.openxmlformats.org/officeDocument/2006/relationships/image"/><Relationship Id="rId14" Target="../notesSlides/notesSlide17.xml" Type="http://schemas.openxmlformats.org/officeDocument/2006/relationships/notesSlide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media/image97.png" Type="http://schemas.openxmlformats.org/officeDocument/2006/relationships/image"/><Relationship Id="rId9" Target="../media/image9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03.png" Type="http://schemas.openxmlformats.org/officeDocument/2006/relationships/image"/><Relationship Id="rId11" Target="../media/image104.svg" Type="http://schemas.openxmlformats.org/officeDocument/2006/relationships/image"/><Relationship Id="rId12" Target="../media/image105.png" Type="http://schemas.openxmlformats.org/officeDocument/2006/relationships/image"/><Relationship Id="rId13" Target="../media/image106.svg" Type="http://schemas.openxmlformats.org/officeDocument/2006/relationships/image"/><Relationship Id="rId14" Target="../notesSlides/notesSlide18.xml" Type="http://schemas.openxmlformats.org/officeDocument/2006/relationships/notesSlide"/><Relationship Id="rId2" Target="../media/image99.png" Type="http://schemas.openxmlformats.org/officeDocument/2006/relationships/image"/><Relationship Id="rId3" Target="../media/image100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101.png" Type="http://schemas.openxmlformats.org/officeDocument/2006/relationships/image"/><Relationship Id="rId7" Target="../media/image10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9.xml" Type="http://schemas.openxmlformats.org/officeDocument/2006/relationships/notesSlide"/></Relationships>
</file>

<file path=ppt/slides/_rels/slide2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notesSlides/notesSlide20.xml" Type="http://schemas.openxmlformats.org/officeDocument/2006/relationships/notesSlide"/></Relationships>
</file>

<file path=ppt/slides/_rels/slide2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1.xml" Type="http://schemas.openxmlformats.org/officeDocument/2006/relationships/notesSlide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7.png" Type="http://schemas.openxmlformats.org/officeDocument/2006/relationships/image"/><Relationship Id="rId5" Target="../media/image108.svg" Type="http://schemas.openxmlformats.org/officeDocument/2006/relationships/image"/><Relationship Id="rId6" Target="../media/image109.png" Type="http://schemas.openxmlformats.org/officeDocument/2006/relationships/image"/><Relationship Id="rId7" Target="../media/image110.svg" Type="http://schemas.openxmlformats.org/officeDocument/2006/relationships/image"/><Relationship Id="rId8" Target="../media/image103.png" Type="http://schemas.openxmlformats.org/officeDocument/2006/relationships/image"/><Relationship Id="rId9" Target="../media/image104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89.png" Type="http://schemas.openxmlformats.org/officeDocument/2006/relationships/image"/><Relationship Id="rId3" Target="../media/image90.svg" Type="http://schemas.openxmlformats.org/officeDocument/2006/relationships/image"/><Relationship Id="rId4" Target="../media/image111.png" Type="http://schemas.openxmlformats.org/officeDocument/2006/relationships/image"/><Relationship Id="rId5" Target="../media/image112.svg" Type="http://schemas.openxmlformats.org/officeDocument/2006/relationships/image"/><Relationship Id="rId6" Target="../media/image113.png" Type="http://schemas.openxmlformats.org/officeDocument/2006/relationships/image"/><Relationship Id="rId7" Target="../media/image114.svg" Type="http://schemas.openxmlformats.org/officeDocument/2006/relationships/image"/><Relationship Id="rId8" Target="../notesSlides/notesSlide22.xml" Type="http://schemas.openxmlformats.org/officeDocument/2006/relationships/notesSlide"/></Relationships>
</file>

<file path=ppt/slides/_rels/slide2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3.xml" Type="http://schemas.openxmlformats.org/officeDocument/2006/relationships/notesSlide"/></Relationships>
</file>

<file path=ppt/slides/_rels/slide2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15.png" Type="http://schemas.openxmlformats.org/officeDocument/2006/relationships/image"/><Relationship Id="rId3" Target="../media/image116.svg" Type="http://schemas.openxmlformats.org/officeDocument/2006/relationships/image"/><Relationship Id="rId4" Target="../media/image117.png" Type="http://schemas.openxmlformats.org/officeDocument/2006/relationships/image"/><Relationship Id="rId5" Target="../media/image118.svg" Type="http://schemas.openxmlformats.org/officeDocument/2006/relationships/image"/><Relationship Id="rId6" Target="../notesSlides/notesSlide24.xml" Type="http://schemas.openxmlformats.org/officeDocument/2006/relationships/notesSlide"/></Relationships>
</file>

<file path=ppt/slides/_rels/slide2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25.png" Type="http://schemas.openxmlformats.org/officeDocument/2006/relationships/image"/><Relationship Id="rId11" Target="../media/image126.svg" Type="http://schemas.openxmlformats.org/officeDocument/2006/relationships/image"/><Relationship Id="rId12" Target="../media/image127.png" Type="http://schemas.openxmlformats.org/officeDocument/2006/relationships/image"/><Relationship Id="rId13" Target="../media/image128.svg" Type="http://schemas.openxmlformats.org/officeDocument/2006/relationships/image"/><Relationship Id="rId14" Target="../media/image35.png" Type="http://schemas.openxmlformats.org/officeDocument/2006/relationships/image"/><Relationship Id="rId15" Target="../media/image36.svg" Type="http://schemas.openxmlformats.org/officeDocument/2006/relationships/image"/><Relationship Id="rId16" Target="../notesSlides/notesSlide25.xml" Type="http://schemas.openxmlformats.org/officeDocument/2006/relationships/notesSlide"/><Relationship Id="rId2" Target="../media/image119.png" Type="http://schemas.openxmlformats.org/officeDocument/2006/relationships/image"/><Relationship Id="rId3" Target="../media/image120.svg" Type="http://schemas.openxmlformats.org/officeDocument/2006/relationships/image"/><Relationship Id="rId4" Target="../media/image121.png" Type="http://schemas.openxmlformats.org/officeDocument/2006/relationships/image"/><Relationship Id="rId5" Target="../media/image122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23.png" Type="http://schemas.openxmlformats.org/officeDocument/2006/relationships/image"/><Relationship Id="rId9" Target="../media/image124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9.png" Type="http://schemas.openxmlformats.org/officeDocument/2006/relationships/image"/><Relationship Id="rId3" Target="../media/image130.svg" Type="http://schemas.openxmlformats.org/officeDocument/2006/relationships/image"/><Relationship Id="rId4" Target="../media/image131.png" Type="http://schemas.openxmlformats.org/officeDocument/2006/relationships/image"/><Relationship Id="rId5" Target="../media/image132.svg" Type="http://schemas.openxmlformats.org/officeDocument/2006/relationships/image"/><Relationship Id="rId6" Target="../notesSlides/notesSlide26.xml" Type="http://schemas.openxmlformats.org/officeDocument/2006/relationships/notesSlide"/></Relationships>
</file>

<file path=ppt/slides/_rels/slide2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5.png" Type="http://schemas.openxmlformats.org/officeDocument/2006/relationships/image"/><Relationship Id="rId3" Target="../media/image126.svg" Type="http://schemas.openxmlformats.org/officeDocument/2006/relationships/image"/><Relationship Id="rId4" Target="../media/image133.png" Type="http://schemas.openxmlformats.org/officeDocument/2006/relationships/image"/><Relationship Id="rId5" Target="../media/image134.svg" Type="http://schemas.openxmlformats.org/officeDocument/2006/relationships/image"/><Relationship Id="rId6" Target="../notesSlides/notesSlide27.xml" Type="http://schemas.openxmlformats.org/officeDocument/2006/relationships/notesSlide"/></Relationships>
</file>

<file path=ppt/slides/_rels/slide2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35.png" Type="http://schemas.openxmlformats.org/officeDocument/2006/relationships/image"/><Relationship Id="rId3" Target="../media/image136.svg" Type="http://schemas.openxmlformats.org/officeDocument/2006/relationships/image"/><Relationship Id="rId4" Target="../media/image133.png" Type="http://schemas.openxmlformats.org/officeDocument/2006/relationships/image"/><Relationship Id="rId5" Target="../media/image134.svg" Type="http://schemas.openxmlformats.org/officeDocument/2006/relationships/image"/><Relationship Id="rId6" Target="../media/image97.png" Type="http://schemas.openxmlformats.org/officeDocument/2006/relationships/image"/><Relationship Id="rId7" Target="../media/image98.svg" Type="http://schemas.openxmlformats.org/officeDocument/2006/relationships/image"/><Relationship Id="rId8" Target="../notesSlides/notesSlide28.xml" Type="http://schemas.openxmlformats.org/officeDocument/2006/relationships/notesSlide"/></Relationships>
</file>

<file path=ppt/slides/_rels/slide2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29.xml" Type="http://schemas.openxmlformats.org/officeDocument/2006/relationships/notesSlide"/><Relationship Id="rId2" Target="../media/image137.png" Type="http://schemas.openxmlformats.org/officeDocument/2006/relationships/image"/><Relationship Id="rId3" Target="../media/image138.svg" Type="http://schemas.openxmlformats.org/officeDocument/2006/relationships/image"/><Relationship Id="rId4" Target="../media/image121.png" Type="http://schemas.openxmlformats.org/officeDocument/2006/relationships/image"/><Relationship Id="rId5" Target="../media/image122.svg" Type="http://schemas.openxmlformats.org/officeDocument/2006/relationships/image"/><Relationship Id="rId6" Target="../media/image135.png" Type="http://schemas.openxmlformats.org/officeDocument/2006/relationships/image"/><Relationship Id="rId7" Target="../media/image136.svg" Type="http://schemas.openxmlformats.org/officeDocument/2006/relationships/image"/><Relationship Id="rId8" Target="../media/image139.png" Type="http://schemas.openxmlformats.org/officeDocument/2006/relationships/image"/><Relationship Id="rId9" Target="../media/image140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30.xml" Type="http://schemas.openxmlformats.org/officeDocument/2006/relationships/notesSlide"/><Relationship Id="rId2" Target="../media/image141.png" Type="http://schemas.openxmlformats.org/officeDocument/2006/relationships/image"/><Relationship Id="rId3" Target="../media/image142.svg" Type="http://schemas.openxmlformats.org/officeDocument/2006/relationships/image"/><Relationship Id="rId4" Target="../media/image115.png" Type="http://schemas.openxmlformats.org/officeDocument/2006/relationships/image"/><Relationship Id="rId5" Target="../media/image116.svg" Type="http://schemas.openxmlformats.org/officeDocument/2006/relationships/image"/><Relationship Id="rId6" Target="../media/image57.png" Type="http://schemas.openxmlformats.org/officeDocument/2006/relationships/image"/><Relationship Id="rId7" Target="../media/image58.svg" Type="http://schemas.openxmlformats.org/officeDocument/2006/relationships/image"/><Relationship Id="rId8" Target="../media/image143.png" Type="http://schemas.openxmlformats.org/officeDocument/2006/relationships/image"/><Relationship Id="rId9" Target="../media/image144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45.png" Type="http://schemas.openxmlformats.org/officeDocument/2006/relationships/image"/><Relationship Id="rId3" Target="../media/image146.svg" Type="http://schemas.openxmlformats.org/officeDocument/2006/relationships/image"/><Relationship Id="rId4" Target="../media/image147.png" Type="http://schemas.openxmlformats.org/officeDocument/2006/relationships/image"/><Relationship Id="rId5" Target="../media/image148.svg" Type="http://schemas.openxmlformats.org/officeDocument/2006/relationships/image"/><Relationship Id="rId6" Target="../notesSlides/notesSlide31.xml" Type="http://schemas.openxmlformats.org/officeDocument/2006/relationships/notesSlide"/></Relationships>
</file>

<file path=ppt/slides/_rels/slide3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149.png" Type="http://schemas.openxmlformats.org/officeDocument/2006/relationships/image"/><Relationship Id="rId5" Target="../media/image150.svg" Type="http://schemas.openxmlformats.org/officeDocument/2006/relationships/image"/><Relationship Id="rId6" Target="../media/image63.png" Type="http://schemas.openxmlformats.org/officeDocument/2006/relationships/image"/><Relationship Id="rId7" Target="../media/image64.svg" Type="http://schemas.openxmlformats.org/officeDocument/2006/relationships/image"/><Relationship Id="rId8" Target="../notesSlides/notesSlide32.xml" Type="http://schemas.openxmlformats.org/officeDocument/2006/relationships/notesSlide"/></Relationships>
</file>

<file path=ppt/slides/_rels/slide3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101.png" Type="http://schemas.openxmlformats.org/officeDocument/2006/relationships/image"/><Relationship Id="rId5" Target="../media/image102.svg" Type="http://schemas.openxmlformats.org/officeDocument/2006/relationships/image"/><Relationship Id="rId6" Target="../media/image71.png" Type="http://schemas.openxmlformats.org/officeDocument/2006/relationships/image"/><Relationship Id="rId7" Target="../media/image72.svg" Type="http://schemas.openxmlformats.org/officeDocument/2006/relationships/image"/><Relationship Id="rId8" Target="../notesSlides/notesSlide33.xml" Type="http://schemas.openxmlformats.org/officeDocument/2006/relationships/notesSlide"/></Relationships>
</file>

<file path=ppt/slides/_rels/slide3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97.png" Type="http://schemas.openxmlformats.org/officeDocument/2006/relationships/image"/><Relationship Id="rId3" Target="../media/image98.svg" Type="http://schemas.openxmlformats.org/officeDocument/2006/relationships/image"/><Relationship Id="rId4" Target="../media/image151.png" Type="http://schemas.openxmlformats.org/officeDocument/2006/relationships/image"/><Relationship Id="rId5" Target="../media/image152.svg" Type="http://schemas.openxmlformats.org/officeDocument/2006/relationships/image"/><Relationship Id="rId6" Target="../notesSlides/notesSlide34.xml" Type="http://schemas.openxmlformats.org/officeDocument/2006/relationships/notesSlide"/></Relationships>
</file>

<file path=ppt/slides/_rels/slide3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svg" Type="http://schemas.openxmlformats.org/officeDocument/2006/relationships/image"/><Relationship Id="rId12" Target="../media/image153.png" Type="http://schemas.openxmlformats.org/officeDocument/2006/relationships/image"/><Relationship Id="rId13" Target="../media/image154.svg" Type="http://schemas.openxmlformats.org/officeDocument/2006/relationships/image"/><Relationship Id="rId14" Target="../notesSlides/notesSlide35.xml" Type="http://schemas.openxmlformats.org/officeDocument/2006/relationships/notesSlide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61.png" Type="http://schemas.openxmlformats.org/officeDocument/2006/relationships/image"/><Relationship Id="rId5" Target="../media/image62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133.png" Type="http://schemas.openxmlformats.org/officeDocument/2006/relationships/image"/><Relationship Id="rId9" Target="../media/image134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7.png" Type="http://schemas.openxmlformats.org/officeDocument/2006/relationships/image"/><Relationship Id="rId11" Target="../media/image8.svg" Type="http://schemas.openxmlformats.org/officeDocument/2006/relationships/image"/><Relationship Id="rId12" Target="../media/image161.png" Type="http://schemas.openxmlformats.org/officeDocument/2006/relationships/image"/><Relationship Id="rId13" Target="../media/image162.svg" Type="http://schemas.openxmlformats.org/officeDocument/2006/relationships/image"/><Relationship Id="rId14" Target="../media/image163.png" Type="http://schemas.openxmlformats.org/officeDocument/2006/relationships/image"/><Relationship Id="rId15" Target="../media/image164.svg" Type="http://schemas.openxmlformats.org/officeDocument/2006/relationships/image"/><Relationship Id="rId16" Target="../media/image165.png" Type="http://schemas.openxmlformats.org/officeDocument/2006/relationships/image"/><Relationship Id="rId17" Target="../media/image166.svg" Type="http://schemas.openxmlformats.org/officeDocument/2006/relationships/image"/><Relationship Id="rId18" Target="../media/image1.png" Type="http://schemas.openxmlformats.org/officeDocument/2006/relationships/image"/><Relationship Id="rId19" Target="../media/image2.svg" Type="http://schemas.openxmlformats.org/officeDocument/2006/relationships/image"/><Relationship Id="rId2" Target="../media/image155.png" Type="http://schemas.openxmlformats.org/officeDocument/2006/relationships/image"/><Relationship Id="rId20" Target="../notesSlides/notesSlide36.xml" Type="http://schemas.openxmlformats.org/officeDocument/2006/relationships/notesSlide"/><Relationship Id="rId21" Target="../media/image167.png" Type="http://schemas.openxmlformats.org/officeDocument/2006/relationships/image"/><Relationship Id="rId3" Target="../media/image156.svg" Type="http://schemas.openxmlformats.org/officeDocument/2006/relationships/image"/><Relationship Id="rId4" Target="../media/image157.png" Type="http://schemas.openxmlformats.org/officeDocument/2006/relationships/image"/><Relationship Id="rId5" Target="../media/image158.svg" Type="http://schemas.openxmlformats.org/officeDocument/2006/relationships/image"/><Relationship Id="rId6" Target="../media/image127.png" Type="http://schemas.openxmlformats.org/officeDocument/2006/relationships/image"/><Relationship Id="rId7" Target="../media/image128.svg" Type="http://schemas.openxmlformats.org/officeDocument/2006/relationships/image"/><Relationship Id="rId8" Target="../media/image159.png" Type="http://schemas.openxmlformats.org/officeDocument/2006/relationships/image"/><Relationship Id="rId9" Target="../media/image16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1016000" y="1778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 Agent系统工程实战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1016000" y="26035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第4课：让Agent写代码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31115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—— 结构化代码生成工作流</a:t>
            </a:r>
            <a:endParaRPr lang="en-US" sz="1100"/>
          </a:p>
        </p:txBody>
      </p:sp>
      <p:cxnSp>
        <p:nvCxnSpPr>
          <p:cNvPr name="Connector 6" id="6"/>
          <p:cNvCxnSpPr/>
          <p:nvPr/>
        </p:nvCxnSpPr>
        <p:spPr>
          <a:xfrm rot="-34376" flipH="false" flipV="false">
            <a:off x="5461032" y="367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7" id="7"/>
          <p:cNvSpPr/>
          <p:nvPr/>
        </p:nvSpPr>
        <p:spPr>
          <a:xfrm rot="0" flipH="false" flipV="false">
            <a:off x="2286000" y="4191000"/>
            <a:ext cx="7620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667000" y="44450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984500" y="44196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第6-7章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5285450" flipH="false" flipV="false">
            <a:off x="4381500" y="4565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826000" y="4445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44196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难度：中级</a:t>
            </a:r>
            <a:endParaRPr lang="en-US" sz="1100"/>
          </a:p>
        </p:txBody>
      </p:sp>
      <p:cxnSp>
        <p:nvCxnSpPr>
          <p:cNvPr name="Connector 13" id="13"/>
          <p:cNvCxnSpPr/>
          <p:nvPr/>
        </p:nvCxnSpPr>
        <p:spPr>
          <a:xfrm rot="5285450" flipH="false" flipV="false">
            <a:off x="6540500" y="4565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985000" y="44450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302500" y="4419600"/>
            <a:ext cx="152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时长：3小时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今天的旅程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4572000"/>
          </a:xfrm>
          <a:prstGeom prst="roundRect">
            <a:avLst>
              <a:gd name="adj" fmla="val 2777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1016000" y="2032000"/>
          <a:ext cx="9906000" cy="406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6096000"/>
                <a:gridCol w="2286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主题内容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时间安排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4.1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无约束代码生成的问题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0:00 - 0:15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4.2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Skill系统架构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0:15 - 0:45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4.3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代码生成六步工作流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0:45 - 1:15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休息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1:15 - 1:25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4.4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完整案例：FastAPI用户管理API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1:25 - 1:55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练习：编写SKILL.md + 生成代码骨架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1:55 - 2:25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4.5-4.6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测试生成与写作系统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2:25 - 2:45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44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--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总结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AAAAAA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2:45 - 3:00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你让AI写过代码吗？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3368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代码生成的痛点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66800" y="2844800"/>
            <a:ext cx="4470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“帮我写一个用户管理系统”，生成的代码你敢直接上线吗？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质量、安全、可维护性往往难以满足生产环境要求。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2032000"/>
            <a:ext cx="5080000" cy="2540000"/>
          </a:xfrm>
          <a:prstGeom prst="roundRect">
            <a:avLst>
              <a:gd name="adj" fmla="val 5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00800" y="2336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08800" y="23368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现场互动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00800" y="2844800"/>
            <a:ext cx="44704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来，有过这种经历的举个手。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我们将探讨如何从“能用”走向“好用”。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直接让AI写代码 = 碰运气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 4.1 -- 无约束代码生成的核心痛点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695450" y="27305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3429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缺乏结构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3873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生成的代码缺乏统一的文件组织规范，导致项目结构混乱。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492500" y="2413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425950" y="2730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3619500" y="3429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质量不稳定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3619500" y="3873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输出结果波动大，时好时坏，缺乏可靠的异常处理机制。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2413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56450" y="2730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350000" y="3429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难以维护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873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命名不规范、注释缺失，后续开发人员难以理解和扩展。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953500" y="2413000"/>
            <a:ext cx="2476500" cy="2794000"/>
          </a:xfrm>
          <a:prstGeom prst="roundRect">
            <a:avLst>
              <a:gd name="adj" fmla="val 5128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886950" y="27305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9080500" y="3429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无法复现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9080500" y="3873500"/>
            <a:ext cx="22225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相同的输入可能产生不同的输出，缺乏确定性和可追溯性。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四个核心问题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86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缺乏结构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94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同一需求，每次生成的文件组织完全不同，导致项目结构混乱。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28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286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质量不稳定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794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功能实现不一致，例如今天有异常处理，明天可能就遗漏了。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难以维护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4953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缺乏统一的命名规范、注释规范和测试覆盖，增加了后续维护成本。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9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4445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4445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无法复现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477000" y="49530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“上次生成的很好，再来一次”往往做不到，难以追溯和复用成功经验。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问题出在哪里？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这些问题的根源是什么？是AI能力不够吗？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54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794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30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A. AI不懂编程语言语法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大模型在基础语法层面已具备极高准确性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54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00BFFF">
              <a:alpha val="15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794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330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B. 缺乏统一的输出标准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这是核心痛点，AI缺乏必要的“约束”机制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2540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794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382000" y="3302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C. 需要更大的模型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模型规模并非唯一解，效率与精准度更关键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0000">
              <a:alpha val="40000"/>
            </a:srgbClr>
          </a:solidFill>
          <a:ln w="12700" cmpd="sng" cap="flat">
            <a:solidFill>
              <a:srgbClr val="FFFF00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3086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397000" y="5232400"/>
            <a:ext cx="965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b="true" i="false" strike="noStrike" u="none" sz="16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B。AI语法能力很强，缺的是“约束”。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核心洞察：约束即自由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413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143000" y="3111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核心观点：结构化约束释放生产力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556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给AI施加</a:t>
            </a: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结构化约束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，不仅不是限制，反而能让AI的输出更加稳定可靠，从而真正</a:t>
            </a: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释放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其巨大的生产力。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096000" y="2032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413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477000" y="31115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类比：设计模式的启示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3556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这就像软件工程中的设计模式，表面看是一套限制规则，实际上是</a:t>
            </a: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最佳实践的沉淀</a:t>
            </a: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，能帮助我们更快、更好地构建系统。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如何给AI施加“结构化约束”？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286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667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905000" y="2768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核心挑战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143000" y="3302000"/>
            <a:ext cx="431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如何在保持AI灵活性的同时，确保其生成的代码符合工程规范、具备可维护性，并能解决复杂的业务逻辑问题？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286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731000" y="2667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493000" y="2768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解决方案：Skill系统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731000" y="3302000"/>
            <a:ext cx="4318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将代码生成的最佳实践封装为可复用的“技能包”，定义明确的输入输出与工作流程，实现AI生成过程的可控与高效。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每个Skill = 一本"操作手册"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模块 4.2 -- Skill系统架构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10668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70000" y="2921000"/>
            <a:ext cx="1016000" cy="10160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2540000" y="2921000"/>
            <a:ext cx="762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核心观点：标准化执行指南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2540000" y="3492500"/>
            <a:ext cx="7620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每个Skill就像一本“操作手册”，它明确地告诉AI，当面对某一类特定任务时，应该遵循什么样的步骤、达到什么样的标准来完成工作。这为AI的输出提供了清晰的指引和约束。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4092" flipH="false" flipV="false">
            <a:off x="762004" y="5962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00BFF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Skill系统目录结构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coding-agent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6195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35941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 (核心定义)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0005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9751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templates/ (代码骨架)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381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43561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scripts/ (自动验证)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445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609600" cy="6096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4699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test-driven-development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4699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8" id="1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3619500"/>
            <a:ext cx="254000" cy="2540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016500" y="35941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 (核心定义)</a:t>
            </a:r>
            <a:endParaRPr lang="en-US" sz="1100"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699000" y="40005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5016500" y="39751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examples/ (示例项目)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128000" y="2032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609600" cy="6096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382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systematic-debugging</a:t>
            </a:r>
            <a:endParaRPr lang="en-US" sz="1100"/>
          </a:p>
        </p:txBody>
      </p:sp>
      <p:cxnSp>
        <p:nvCxnSpPr>
          <p:cNvPr name="Connector 25" id="25"/>
          <p:cNvCxnSpPr/>
          <p:nvPr/>
        </p:nvCxnSpPr>
        <p:spPr>
          <a:xfrm rot="-15626" flipH="false" flipV="false">
            <a:off x="8382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6" id="2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382000" y="3619500"/>
            <a:ext cx="254000" cy="2540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699500" y="35941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 (核心定义)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4000500"/>
            <a:ext cx="254000" cy="2540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8699500" y="39751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patterns/ (调试模式库)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 = Skill系统的灵魂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145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一个完整的Skill定义文件必须包含六个核心要素，构建完整的认知闭环。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667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016000" y="3111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技能名称 (Name)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明确技能的唯一标识，回答“这是什么”的问题。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2413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667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4699000" y="3111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功能描述 (Description)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699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阐述技能的核心能力与用途，回答“能做什么”的问题。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128000" y="2413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667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382000" y="3111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触发条件 (Trigger)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382000" y="3429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定义技能的激活方式，回答“何时启动”的问题。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4318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5720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016000" y="501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执行逻辑 (Logic)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1016000" y="5334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描述具体的执行步骤与流程，回答“如何执行”的问题。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445000" y="4318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4572000"/>
            <a:ext cx="406400" cy="4064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4699000" y="501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输入参数 (Input)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699000" y="5334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明确技能运行所需的变量，回答“需要什么”的问题。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128000" y="4318000"/>
            <a:ext cx="3302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572000"/>
            <a:ext cx="406400" cy="4064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8382000" y="5016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输出结果 (Output)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0" y="5334000"/>
            <a:ext cx="2794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定义技能执行后的返回数据，回答“产出什么”的问题。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 六要素认知闭环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22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84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适用场景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524000" y="26035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关键问题：什么时候用？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350000" y="203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2222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112000" y="2184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输入要求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112000" y="26035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关键问题：需要什么原料？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556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524000" y="3708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输出格式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524000" y="41275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关键问题：产出什么样？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3556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3746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7112000" y="3708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工作流程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112000" y="41275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关键问题：按什么步骤？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" y="5080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270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1524000" y="5232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示例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1524000" y="56515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关键问题：做好是什么样？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350000" y="5080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5270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112000" y="52324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常见陷阱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112000" y="56515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关键问题：容易错在哪？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六要素类比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59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133600"/>
            <a:ext cx="203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核心要素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683000" y="2159000"/>
            <a:ext cx="304800" cy="3048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4064000" y="21336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回答的问题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77000" y="2159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858000" y="21336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生活化类比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4297" flipH="false" flipV="false">
            <a:off x="1016004" y="2597150"/>
            <a:ext cx="1016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1016000" y="279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683000" y="279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什么时候用？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77000" y="2794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药品说明书的“适应症”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016000" y="323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输入要求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683000" y="3238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需要什么原料？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3238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菜谱的“食材清单”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1016000" y="368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输出格式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3683000" y="3683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产出长什么样？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77000" y="3683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合同的“交付标准”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016000" y="4127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工作流程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3683000" y="4127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按什么步骤做？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77000" y="4127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施工的“工序流程”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1016000" y="457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示例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3683000" y="457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做好是什么样？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477000" y="45720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样板间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1016000" y="5016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常见陷阱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3683000" y="5016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容易错在哪？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477000" y="5016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前人踩过的坑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SKILL.md示例 -- 适用场景 + 输入要求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 (Scenarios)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203200" cy="20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294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构建新功能或应用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327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审查PR (Pull Request)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016000" y="3746500"/>
            <a:ext cx="4572000" cy="457200"/>
          </a:xfrm>
          <a:prstGeom prst="roundRect">
            <a:avLst>
              <a:gd name="adj" fmla="val 13888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143000" y="3873500"/>
            <a:ext cx="203200" cy="2032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3835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重构大型代码库 (重点关注)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350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22860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985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输入要求 (Inputs)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9549" flipH="false" flipV="false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19" id="1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2984500"/>
            <a:ext cx="203200" cy="2032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6921500" y="294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功能需求描述（必须）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3365500"/>
            <a:ext cx="203200" cy="2032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921500" y="3327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技术栈限制（可选）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604000" y="3746500"/>
            <a:ext cx="203200" cy="203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921500" y="3708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性能要求（可选）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604000" y="4127500"/>
            <a:ext cx="4572000" cy="457200"/>
          </a:xfrm>
          <a:prstGeom prst="roundRect">
            <a:avLst>
              <a:gd name="adj" fmla="val 13888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731000" y="4254500"/>
            <a:ext cx="203200" cy="203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048500" y="4216400"/>
            <a:ext cx="406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现有代码上下文（如有，重点关注）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SKILL.md示例 -- 输出格式 + 工作流程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输出格式规范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203200" cy="2032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33500" y="294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文件头注释（用途、作者、日期）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203200" cy="2032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33500" y="3327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严格的类型注解规范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03200" cy="2032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33500" y="3708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文档字符串 (Docstring) - 核心规范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203200" cy="2032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33500" y="4089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关键逻辑的详细注释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604000" y="2286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标准工作流程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549" flipH="false" flipV="false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0" id="2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2984500"/>
            <a:ext cx="203200" cy="203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21500" y="294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1. 分析需求 - 理解意图，澄清模糊点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3302000"/>
            <a:ext cx="203200" cy="2032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921500" y="32639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2. 设计架构 - 模块划分和接口定义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3619500"/>
            <a:ext cx="203200" cy="2032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21500" y="3581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3. 编写测试 - 先写测试，定义期望 (TDD)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3937000"/>
            <a:ext cx="203200" cy="203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6921500" y="38989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4. 实现代码 - 满足测试用例</a:t>
            </a:r>
            <a:endParaRPr lang="en-US" sz="1100"/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4254500"/>
            <a:ext cx="203200" cy="203200"/>
          </a:xfrm>
          <a:prstGeom prst="rect">
            <a:avLst/>
          </a:prstGeom>
        </p:spPr>
      </p:pic>
      <p:sp>
        <p:nvSpPr>
          <p:cNvPr name="AutoShape 29" id="29"/>
          <p:cNvSpPr/>
          <p:nvPr/>
        </p:nvSpPr>
        <p:spPr>
          <a:xfrm rot="0" flipH="false" flipV="false">
            <a:off x="6921500" y="42164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5. 验证运行 - 执行测试，确保通过</a:t>
            </a:r>
            <a:endParaRPr lang="en-US" sz="1100"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604000" y="4572000"/>
            <a:ext cx="203200" cy="2032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6921500" y="45339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6. 代码审查 - 质量、性能、安全检查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哪个要素最重要？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思考：在提示词工程的六个核心要素中，哪个对输出质量的一致性贡献最大？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27178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273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适用场景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413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7178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143500" y="273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输入要求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128000" y="24130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00BFFF">
              <a:alpha val="15000"/>
            </a:srgbClr>
          </a:solidFill>
          <a:ln w="25400" cmpd="sng" cap="flat">
            <a:solidFill>
              <a:srgbClr val="FFFF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18500" y="27178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8826500" y="27305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输出格式 (答案)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36195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52500" y="39243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460500" y="3937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工作流程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445000" y="36195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35500" y="39243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5143500" y="3937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示例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128000" y="3619500"/>
            <a:ext cx="3302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18500" y="39243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826500" y="3937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常见陷阱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62000" y="4953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1016000" y="5143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1524000" y="5143500"/>
            <a:ext cx="9652000" cy="889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核心解释：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输出格式直接定义了“什么是合格的输出”，它为AI的工作设定了明确的质量基线，确保了每次生成的代码都符合统一的标准，这是实现代码质量稳定和可维护的关键。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有了Skill系统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从“用户请求”到“可运行代码”，我们构建了一套标准化的</a:t>
            </a:r>
            <a:r>
              <a:rPr lang="en-US" b="true" i="false" strike="noStrike" u="none" sz="20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六步工作流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794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219200" y="31115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889000" y="3873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用户请求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Input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2349500" y="3784600"/>
            <a:ext cx="304800" cy="3048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2730500" y="2794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3187700" y="31115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2857500" y="3873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意图识别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Intent</a:t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318000" y="3784600"/>
            <a:ext cx="304800" cy="3048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4699000" y="2794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156200" y="3111500"/>
            <a:ext cx="609600" cy="6096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4826000" y="3873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技能匹配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Match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286500" y="3784600"/>
            <a:ext cx="304800" cy="3048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6667500" y="2794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7124700" y="3111500"/>
            <a:ext cx="609600" cy="6096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6794500" y="3873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参数提取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Params</a:t>
            </a:r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8255000" y="3784600"/>
            <a:ext cx="304800" cy="3048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8636000" y="2794000"/>
            <a:ext cx="1524000" cy="2286000"/>
          </a:xfrm>
          <a:prstGeom prst="roundRect">
            <a:avLst>
              <a:gd name="adj" fmla="val 8333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9093200" y="3111500"/>
            <a:ext cx="609600" cy="6096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8763000" y="3873500"/>
            <a:ext cx="127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ctr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Generate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代码生成六步工作流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32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1: 意图分析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15626" flipH="false" flipV="false">
            <a:off x="1016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603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将用户自然语言请求转化为结构化任务，明确任务类型、复杂度及技术栈。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445000" y="1778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207000" y="2032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2: 技能选择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5626" flipH="false" flipV="false">
            <a:off x="4699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4699000" y="2603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根据任务特征，智能匹配最合适的技能模块（Skill）及其配置参数。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1778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032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3: 架构设计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5626" flipH="false" flipV="false">
            <a:off x="8382014" y="2470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8382000" y="2603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规划代码结构，进行模块划分与接口定义，确保代码的可扩展性。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762000" y="393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1524000" y="4191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4: 代码生成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5626" flipH="false" flipV="false">
            <a:off x="1016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1016000" y="476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基于架构设计和模板引擎，自动生成完整的代码文件集。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445000" y="393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4191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5207000" y="4191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5: 自动验证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5626" flipH="false" flipV="false">
            <a:off x="4699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4699000" y="476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执行语法检查、类型验证及单元测试，不通过则返回重新生成。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128000" y="3937000"/>
            <a:ext cx="3302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191000"/>
            <a:ext cx="406400" cy="406400"/>
          </a:xfrm>
          <a:prstGeom prst="rect">
            <a:avLst/>
          </a:prstGeom>
        </p:spPr>
      </p:pic>
      <p:sp>
        <p:nvSpPr>
          <p:cNvPr name="AutoShape 31" id="31"/>
          <p:cNvSpPr/>
          <p:nvPr/>
        </p:nvSpPr>
        <p:spPr>
          <a:xfrm rot="0" flipH="false" flipV="false">
            <a:off x="8890000" y="41910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6: 迭代优化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15626" flipH="false" flipV="false">
            <a:off x="8382014" y="46291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8382000" y="4762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生成最终可交付的代码包及详细的说明文档，完成交付。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每一步的输入输出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1905000"/>
          <a:ext cx="10668000" cy="3937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2540000"/>
                <a:gridCol w="2540000"/>
                <a:gridCol w="4064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步骤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判断标准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意图分析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自然语言描述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结构化任务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需求是否明确？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技能选择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任务类型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Skill配置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有无匹配Skill？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架构设计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需求+Skill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模块+接口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单一职责？低耦合？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代码生成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架构+模板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代码文件集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符合输出格式？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自动验证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生成的代码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验证报告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全部检查通过？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迭代优化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代码+报告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最终代码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达到质量标准？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1：意图分析示例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用户自然语言输入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16000" y="2921000"/>
            <a:ext cx="457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“帮我创建一个用户管理的 REST API，使用 FastAPI 框架，并且需要包含 JWT 认证功能。”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2032000"/>
            <a:ext cx="5080000" cy="4064000"/>
          </a:xfrm>
          <a:prstGeom prst="roundRect">
            <a:avLst>
              <a:gd name="adj" fmla="val 3125"/>
            </a:avLst>
          </a:prstGeom>
          <a:solidFill>
            <a:srgbClr val="000000">
              <a:alpha val="6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350000" y="2286000"/>
            <a:ext cx="304800" cy="3048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731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结构化意图解析结果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549" flipH="false" flipV="false">
            <a:off x="6350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350000" y="2921000"/>
            <a:ext cx="4572000" cy="304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intent_analysis = {</a:t>
            </a:r>
            <a:r>
              <a:rPr lang="en-US" b="false" i="false" strike="noStrike" u="none" sz="13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"task_type":</a:t>
            </a:r>
            <a:r>
              <a:rPr lang="en-US" b="true" i="false" strike="noStrike" u="none" sz="13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"new_application"</a:t>
            </a: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, # 任务类型</a:t>
            </a:r>
            <a:r>
              <a:rPr lang="en-US" b="false" i="false" strike="noStrike" u="none" sz="13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"complexity": "medium",</a:t>
            </a:r>
            <a:r>
              <a:rPr lang="en-US" b="false" i="false" strike="noStrike" u="none" sz="13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"tech_stack": ["FastAPI", "SQLAlchemy", "JWT"],</a:t>
            </a:r>
            <a:r>
              <a:rPr lang="en-US" b="false" i="false" strike="noStrike" u="none" sz="13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"requirements": ["用户CRUD", "JWT认证"],</a:t>
            </a:r>
            <a:r>
              <a:rPr lang="en-US" b="false" i="false" strike="noStrike" u="none" sz="13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"unclear_points":</a:t>
            </a:r>
            <a:r>
              <a:rPr lang="en-US" b="true" i="false" strike="noStrike" u="none" sz="1300">
                <a:solidFill>
                  <a:srgbClr val="FFFF00"/>
                </a:solidFill>
                <a:latin typeface="Roboto Mono"/>
                <a:ea typeface="Roboto Mono"/>
                <a:cs typeface="Roboto Mono"/>
                <a:sym typeface="Roboto Mono"/>
              </a:rPr>
              <a:t>[]</a:t>
            </a: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# 无模糊点</a:t>
            </a:r>
            <a:r>
              <a:rPr lang="en-US" b="false" i="false" strike="noStrike" u="none" sz="1300">
                <a:solidFill>
                  <a:srgbClr val="1F2329"/>
                </a:solidFill>
                <a:latin typeface="Roboto Mono"/>
                <a:ea typeface="Roboto Mono"/>
                <a:cs typeface="Roboto Mono"/>
                <a:sym typeface="Roboto Mono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69696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Step 5：自动验证三层次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第一层：语法检查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429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工具：python -m py_compile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作用：确保代码没有基本的语法错误，是最基础的防线。</a:t>
            </a:r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2860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第二层：类型检查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429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工具：mypy (可选)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作用：静态类型分析，确保变量类型匹配，预防潜在的逻辑错误。</a:t>
            </a:r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032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00BFFF">
              <a:alpha val="10000"/>
            </a:srgbClr>
          </a:solidFill>
          <a:ln w="254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2860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382000" y="2984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第三层：测试运行 (关键)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3429000"/>
            <a:ext cx="279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工具：pytest</a:t>
            </a: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作用：执行测试用例，验证功能是否符合预期。失败则回滚至 Step 4。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5626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460500" y="5524500"/>
            <a:ext cx="952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核心总结：自动验证是代码质量的最后一道防线，通常需经过 1-3 轮迭代收敛。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跳过自动验证会怎样？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2108200" y="2349500"/>
            <a:ext cx="609600" cy="6096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016000" y="3111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潜在风险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3556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如果跳过 Step 5 自动验证，最可能发生什么？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91200" y="2349500"/>
            <a:ext cx="609600" cy="6096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4699000" y="3111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运行时暴露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3556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代码结构看似“完整”，但潜在问题只有在实际运行时才会暴露，导致系统崩溃。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9474200" y="2349500"/>
            <a:ext cx="609600" cy="6096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382000" y="3111500"/>
            <a:ext cx="279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工厂质检类比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3556000"/>
            <a:ext cx="2794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就像没有质检环节的工厂，产品出厂时看似完好，直到客户投诉才发现严重问题。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异常处理速查表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10668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762000" y="2032000"/>
          <a:ext cx="10668000" cy="3683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/>
                <a:gridCol w="3556000"/>
                <a:gridCol w="5080000"/>
              </a:tblGrid>
              <a:tr h="635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步骤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异常情况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处理方式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意图分析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需求模糊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列出澄清问题，要求补充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技能选择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无匹配Skill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用通用coding-agent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架构设计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超出单服务范围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建议拆分为多个任务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代码生成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上下文窗口不足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分文件逐个生成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自动验证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测试失败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回到Step 4修复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迭代优化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3轮未收敛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标记问题，人工介入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理论讲完了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接下来，我们通过一个完整的实战案例来巩固所学知识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413000"/>
            <a:ext cx="10668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143000" y="2730500"/>
            <a:ext cx="609600" cy="6096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905000" y="27686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核心任务：构建用户管理系统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143000" y="3365500"/>
            <a:ext cx="927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“帮我创建一个用户管理的 REST API，使用 FastAPI，包含 JWT 认证”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4699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143000" y="5029200"/>
            <a:ext cx="609600" cy="6096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905000" y="4953000"/>
            <a:ext cx="889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实践目标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0" y="5397500"/>
            <a:ext cx="927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从需求分析到最终生成 7 个可直接运行的代码文件</a:t>
            </a:r>
            <a:endParaRPr lang="en-US" sz="1100"/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FastAPI案例：7个文件架构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main.py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476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应用入口：初始化应用实例，注册路由，启动服务。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4445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99000" y="2032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5207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models.py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4699000" y="2476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数据模型：使用SQLAlchemy定义数据库表结构与ORM映射。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128000" y="1778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382000" y="2032000"/>
            <a:ext cx="406400" cy="4064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8890000" y="2032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schemas.py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382000" y="2476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接口模型：基于Pydantic定义请求/响应数据结构与验证。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40640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406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auth.py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1016000" y="4508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认证逻辑：封装JWT令牌生成、验证及权限检查逻辑。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445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4699000" y="4064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5207000" y="406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crud.py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4699000" y="4508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数据操作：封装数据库的增删改查(CRUD)核心业务逻辑。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8128000" y="3810000"/>
            <a:ext cx="3302000" cy="1778000"/>
          </a:xfrm>
          <a:prstGeom prst="roundRect">
            <a:avLst>
              <a:gd name="adj" fmla="val 7142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8382000" y="4064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8890000" y="4064000"/>
            <a:ext cx="228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routers/users.py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382000" y="4508500"/>
            <a:ext cx="2794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用户路由：定义REST API端点，处理具体的HTTP请求。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62000" y="5842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1016000" y="5969000"/>
            <a:ext cx="254000" cy="2540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1397000" y="5918200"/>
            <a:ext cx="965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核心原则：每个文件只关注一个职责（单一职责原则），确保代码的高内聚低耦合。</a:t>
            </a:r>
            <a:endParaRPr lang="en-US" sz="1100"/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文件依赖关系图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604000" cy="4318000"/>
          </a:xfrm>
          <a:prstGeom prst="roundRect">
            <a:avLst>
              <a:gd name="adj" fmla="val 2941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177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2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main.py (入口)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016000" y="2794000"/>
            <a:ext cx="177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2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routers/ (路由层)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175000" y="2794000"/>
            <a:ext cx="177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2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schemas.py (接口模型)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3556000"/>
            <a:ext cx="177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2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database.py (数据库)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3175000" y="3556000"/>
            <a:ext cx="177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2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models.py (数据模型)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175000" y="4318000"/>
            <a:ext cx="1778000" cy="508000"/>
          </a:xfrm>
          <a:prstGeom prst="roundRect">
            <a:avLst>
              <a:gd name="adj" fmla="val 12500"/>
            </a:avLst>
          </a:prstGeom>
          <a:solidFill>
            <a:srgbClr val="00BFFF">
              <a:alpha val="20000"/>
            </a:srgbClr>
          </a:solidFill>
          <a:ln w="12700" cmpd="sng" cap="flat">
            <a:solidFill>
              <a:srgbClr val="00BFFF">
                <a:alpha val="100000"/>
              </a:srgbClr>
            </a:solidFill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crud.py (业务逻辑)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5228255" flipH="false" flipV="false">
            <a:off x="1778000" y="2660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name="Connector 12" id="12"/>
          <p:cNvCxnSpPr/>
          <p:nvPr/>
        </p:nvCxnSpPr>
        <p:spPr>
          <a:xfrm rot="-114549" flipH="false" flipV="false">
            <a:off x="2794106" y="3041650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name="Connector 13" id="13"/>
          <p:cNvCxnSpPr/>
          <p:nvPr/>
        </p:nvCxnSpPr>
        <p:spPr>
          <a:xfrm rot="5228255" flipH="false" flipV="false">
            <a:off x="3937000" y="3422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name="Connector 14" id="14"/>
          <p:cNvCxnSpPr/>
          <p:nvPr/>
        </p:nvCxnSpPr>
        <p:spPr>
          <a:xfrm rot="5228255" flipH="false" flipV="false">
            <a:off x="3937000" y="4184809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FFFFFF">
                <a:alpha val="6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5" id="15"/>
          <p:cNvSpPr/>
          <p:nvPr/>
        </p:nvSpPr>
        <p:spPr>
          <a:xfrm rot="0" flipH="false" flipV="false">
            <a:off x="7620000" y="1778000"/>
            <a:ext cx="381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874000" y="2032000"/>
            <a:ext cx="406400" cy="406400"/>
          </a:xfrm>
          <a:prstGeom prst="rect">
            <a:avLst/>
          </a:prstGeom>
        </p:spPr>
      </p:pic>
      <p:sp>
        <p:nvSpPr>
          <p:cNvPr name="AutoShape 17" id="17"/>
          <p:cNvSpPr/>
          <p:nvPr/>
        </p:nvSpPr>
        <p:spPr>
          <a:xfrm rot="0" flipH="false" flipV="false">
            <a:off x="8382000" y="2032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核心原则：依赖方向单一</a:t>
            </a:r>
            <a:endParaRPr lang="en-US" sz="1100"/>
          </a:p>
        </p:txBody>
      </p:sp>
      <p:cxnSp>
        <p:nvCxnSpPr>
          <p:cNvPr name="Connector 18" id="18"/>
          <p:cNvCxnSpPr/>
          <p:nvPr/>
        </p:nvCxnSpPr>
        <p:spPr>
          <a:xfrm rot="-13222" flipH="false" flipV="false">
            <a:off x="7874012" y="2470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9" id="19"/>
          <p:cNvSpPr/>
          <p:nvPr/>
        </p:nvSpPr>
        <p:spPr>
          <a:xfrm rot="0" flipH="false" flipV="false">
            <a:off x="7874000" y="2603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遵循严格的层级调用关系：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路由层 → 业务层 → 模型层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确保系统结构清晰，易于维护。</a:t>
            </a:r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620000" y="4064000"/>
            <a:ext cx="3810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5757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874000" y="43180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382000" y="4318000"/>
            <a:ext cx="2921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5757"/>
                </a:solidFill>
                <a:latin typeface="Noto Sans SC"/>
                <a:ea typeface="Noto Sans SC"/>
                <a:cs typeface="Noto Sans SC"/>
                <a:sym typeface="Noto Sans SC"/>
              </a:rPr>
              <a:t>禁止反向依赖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3222" flipH="false" flipV="false">
            <a:off x="7874012" y="4756150"/>
            <a:ext cx="330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7874000" y="4889500"/>
            <a:ext cx="330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数据模型层不应依赖任何上层模块。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严禁循环依赖，避免系统耦合度高。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models.py -- 数据模型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5842000" cy="4318000"/>
          </a:xfrm>
          <a:prstGeom prst="roundRect">
            <a:avLst>
              <a:gd name="adj" fmla="val 2941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334155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5842000" cy="457200"/>
          </a:xfrm>
          <a:prstGeom prst="roundRect">
            <a:avLst>
              <a:gd name="adj" fmla="val 0"/>
            </a:avLst>
          </a:prstGeom>
          <a:solidFill>
            <a:srgbClr val="334155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30400"/>
            <a:ext cx="152400" cy="1524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1930400"/>
            <a:ext cx="152400" cy="1524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60500" y="1930400"/>
            <a:ext cx="152400" cy="1524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778000" y="18542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CBD5E1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User Model Definition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23495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92EA"/>
                </a:solidFill>
                <a:latin typeface="Noto Sans SC"/>
                <a:ea typeface="Noto Sans SC"/>
                <a:cs typeface="Noto Sans SC"/>
                <a:sym typeface="Noto Sans SC"/>
              </a:rPr>
              <a:t>class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User(Base):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26670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__tablename__ = "users"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889000" y="29845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id = Column(Integer, primary_key=True)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3302000"/>
            <a:ext cx="5588000" cy="355600"/>
          </a:xfrm>
          <a:prstGeom prst="roundRect">
            <a:avLst>
              <a:gd name="adj" fmla="val 17857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52500" y="33274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email = Column(String,</a:t>
            </a: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unique=True, index=True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3683000"/>
            <a:ext cx="5588000" cy="355600"/>
          </a:xfrm>
          <a:prstGeom prst="roundRect">
            <a:avLst>
              <a:gd name="adj" fmla="val 17857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3708400"/>
            <a:ext cx="546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hashed_password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= Column(String, nullable=False)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89000" y="40640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is_active = Column(Boolean, default=True)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889000" y="43815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created_at = Column(DateTime(timezone=True))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858000" y="1778000"/>
            <a:ext cx="4572000" cy="2032000"/>
          </a:xfrm>
          <a:prstGeom prst="roundRect">
            <a:avLst>
              <a:gd name="adj" fmla="val 6250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112000" y="20320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620000" y="2032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高效查询与唯一性约束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0742" flipH="false" flipV="false">
            <a:off x="7112010" y="2470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7112000" y="2603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为 email 字段设置</a:t>
            </a: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unique=True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防止重复注册，同时添加</a:t>
            </a: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index=True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索引，显著提升登录时的查询效率。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858000" y="4064000"/>
            <a:ext cx="4572000" cy="2032000"/>
          </a:xfrm>
          <a:prstGeom prst="roundRect">
            <a:avLst>
              <a:gd name="adj" fmla="val 6250"/>
            </a:avLst>
          </a:prstGeom>
          <a:solidFill>
            <a:srgbClr val="1E293B">
              <a:alpha val="6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112000" y="43180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620000" y="4318000"/>
            <a:ext cx="368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安全存储策略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0742" flipH="false" flipV="false">
            <a:off x="7112010" y="475615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7112000" y="4889500"/>
            <a:ext cx="4064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数据库中只存储哈希后的密码（</a:t>
            </a: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hashed_password</a:t>
            </a: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），而非明文。即使数据库泄露，用户密码也不会被直接暴露，保障数据安全。</a:t>
            </a:r>
            <a:endParaRPr lang="en-US" sz="1100"/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schemas.py -- 接口模型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096000" cy="4318000"/>
          </a:xfrm>
          <a:prstGeom prst="roundRect">
            <a:avLst>
              <a:gd name="adj" fmla="val 2941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475569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1016000" y="2032000"/>
            <a:ext cx="5588000" cy="381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792EA"/>
                </a:solidFill>
                <a:latin typeface="Noto Sans SC"/>
                <a:ea typeface="Noto Sans SC"/>
                <a:cs typeface="Noto Sans SC"/>
                <a:sym typeface="Noto Sans SC"/>
              </a:rPr>
              <a:t>class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UserCreate(UserBase):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"""创建用户请求体"""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password: str # 明文密码，只在创建时接收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792EA"/>
                </a:solidFill>
                <a:latin typeface="Noto Sans SC"/>
                <a:ea typeface="Noto Sans SC"/>
                <a:cs typeface="Noto Sans SC"/>
                <a:sym typeface="Noto Sans SC"/>
              </a:rPr>
              <a:t>class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UserResponse(UserBase):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"""返回给客户端的用户信息"""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id: int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created_at: datetime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C792EA"/>
                </a:solidFill>
                <a:latin typeface="Noto Sans SC"/>
                <a:ea typeface="Noto Sans SC"/>
                <a:cs typeface="Noto Sans SC"/>
                <a:sym typeface="Noto Sans SC"/>
              </a:rPr>
              <a:t>class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Config:</a:t>
            </a:r>
            <a:r>
              <a:rPr lang="en-US" b="false" i="false" strike="noStrike" u="none" sz="14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from_attributes = True</a:t>
            </a: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366000" y="19050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7874000" y="187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分层设计原则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874000" y="2286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schemas.py 面向 API (外部)，models.py 面向数据库 (内部)，职责分离，架构清晰。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366000" y="3175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7874000" y="314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最小暴露原则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874000" y="3556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UserResponse 模型中不包含 password 字段，确保敏感信息不会泄露给客户端。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66000" y="4445000"/>
            <a:ext cx="406400" cy="4064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7874000" y="4419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ORM 模型转换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874000" y="4826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BD5E1"/>
                </a:solidFill>
                <a:latin typeface="Noto Sans SC"/>
                <a:ea typeface="Noto Sans SC"/>
                <a:cs typeface="Noto Sans SC"/>
                <a:sym typeface="Noto Sans SC"/>
              </a:rPr>
              <a:t>通过 Config.from_attributes = True，实现 SQLAlchemy ORM 对象到 Pydantic 模型的自动转换。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为什么要分两个模型文件？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905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1463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146300"/>
            <a:ext cx="9525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核心疑问：为什么 models.py 和 schemas.py 要分开？不能用同一个类吗？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762000" y="3048000"/>
            <a:ext cx="4953000" cy="2032000"/>
          </a:xfrm>
          <a:prstGeom prst="roundRect">
            <a:avLst>
              <a:gd name="adj" fmla="val 625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302000"/>
            <a:ext cx="508000" cy="508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651000" y="3365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models.py：面向数据库</a:t>
            </a:r>
            <a:endParaRPr lang="en-US" sz="1100"/>
          </a:p>
        </p:txBody>
      </p:sp>
      <p:cxnSp>
        <p:nvCxnSpPr>
          <p:cNvPr name="Connector 10" id="10"/>
          <p:cNvCxnSpPr/>
          <p:nvPr/>
        </p:nvCxnSpPr>
        <p:spPr>
          <a:xfrm rot="-9822" flipH="false" flipV="false">
            <a:off x="1016009" y="3867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016000" y="40005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负责数据的持久化存储。例如，存储的是经过哈希处理的密码，而非明文，以确保数据安全。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5969000" y="3048000"/>
            <a:ext cx="4953000" cy="2032000"/>
          </a:xfrm>
          <a:prstGeom prst="roundRect">
            <a:avLst>
              <a:gd name="adj" fmla="val 6250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23000" y="3302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6858000" y="3365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schemas.py：面向 API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9822" flipH="false" flipV="false">
            <a:off x="6223009" y="3867150"/>
            <a:ext cx="444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6223000" y="4000500"/>
            <a:ext cx="444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负责数据的输入输出验证。例如，接收用户提交的明文密码用于创建账号，或过滤敏感信息返回给前端。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5638800"/>
            <a:ext cx="406400" cy="406400"/>
          </a:xfrm>
          <a:prstGeom prst="rect">
            <a:avLst/>
          </a:prstGeom>
        </p:spPr>
      </p:pic>
      <p:sp>
        <p:nvSpPr>
          <p:cNvPr name="AutoShape 19" id="19"/>
          <p:cNvSpPr/>
          <p:nvPr/>
        </p:nvSpPr>
        <p:spPr>
          <a:xfrm rot="0" flipH="false" flipV="false">
            <a:off x="1524000" y="5588000"/>
            <a:ext cx="9525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结论：字段、用途、安全要求均不同。合并会导致严重的代码耦合，修改一处可能影响全局。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练习：设计SKILL.md + 生成代码骨架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2286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Part A：编写 SKILL.md (15分钟)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2730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为“数据分析报告生成”任务编写完整的 SKILL.md 文件，确保六要素（功能、输入、输出、步骤等）齐全。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223000" y="2032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22860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985000" y="2286000"/>
            <a:ext cx="431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Part B：生成代码骨架 (15分钟)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477000" y="2730500"/>
            <a:ext cx="4699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基于编写好的 SKILL.md，生成数据分析脚本骨架，包含 pandas 读取 CSV、统计分析及 Markdown 报告生成逻辑。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191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445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460500" y="4445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测试数据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sales_data.csv (包含8条销售记录)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223000" y="44450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6667500" y="4445000"/>
            <a:ext cx="457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参考资料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讲义练习06完整描述文档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模块 4.5 -- 测试驱动生成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66800" y="23368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74800" y="23368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核心观点：测试即标准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766" flipH="false" flipV="false">
            <a:off x="1066809" y="2838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1066800" y="2971800"/>
            <a:ext cx="44704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在传统 TDD 中，测试是写给人看的验收标准。而在 AI 代码生成场景下，测试不仅是规范，更是用于</a:t>
            </a: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自动验证生成结果</a:t>
            </a: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的关键工具，确保输出符合预期。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096000" y="2032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00800" y="23368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6908800" y="2336800"/>
            <a:ext cx="4064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结论：质量的底线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9766" flipH="false" flipV="false">
            <a:off x="6400809" y="28384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400800" y="2971800"/>
            <a:ext cx="4470400" cy="177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没有测试的代码生成，就像没有质量检验的工厂。缺乏自动化验证环节，生成的代码可能存在逻辑漏洞或不符合规范，无法保证最终交付的质量。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5334000"/>
            <a:ext cx="10668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00B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“测试驱动生成是确保 AI 代码质量的基石”</a:t>
            </a:r>
            <a:endParaRPr lang="en-US" sz="1100"/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192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测试文件关键片段 -- test_users.py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6604000" cy="4064000"/>
          </a:xfrm>
          <a:prstGeom prst="roundRect">
            <a:avLst>
              <a:gd name="adj" fmla="val 3125"/>
            </a:avLst>
          </a:prstGeom>
          <a:solidFill>
            <a:srgbClr val="FFFFFF">
              <a:alpha val="5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889000" y="2222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DCFE"/>
                </a:solidFill>
                <a:latin typeface="Noto Sans SC"/>
                <a:ea typeface="Noto Sans SC"/>
                <a:cs typeface="Noto Sans SC"/>
                <a:sym typeface="Noto Sans SC"/>
              </a:rPr>
              <a:t>def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test_create_user(client):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25400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response = client.post("/users/", json={...})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889000" y="2857500"/>
            <a:ext cx="6350000" cy="355600"/>
          </a:xfrm>
          <a:prstGeom prst="roundRect">
            <a:avLst>
              <a:gd name="adj" fmla="val 17857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28829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assert response.status_code == 200</a:t>
            </a:r>
            <a:r>
              <a:rPr lang="en-US" b="false" i="false" strike="noStrike" u="none" sz="1400">
                <a:solidFill>
                  <a:srgbClr val="9CDCFE"/>
                </a:solidFill>
                <a:latin typeface="Noto Sans SC"/>
                <a:ea typeface="Noto Sans SC"/>
                <a:cs typeface="Noto Sans SC"/>
                <a:sym typeface="Noto Sans SC"/>
              </a:rPr>
              <a:t># 验证状态码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238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data = response.json()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5560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assert data["email"] == "test@example.com"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89000" y="3873500"/>
            <a:ext cx="6350000" cy="355600"/>
          </a:xfrm>
          <a:prstGeom prst="roundRect">
            <a:avLst>
              <a:gd name="adj" fmla="val 17857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38989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assert "password" not in data</a:t>
            </a:r>
            <a:r>
              <a:rPr lang="en-US" b="false" i="false" strike="noStrike" u="none" sz="1400">
                <a:solidFill>
                  <a:srgbClr val="9CDCFE"/>
                </a:solidFill>
                <a:latin typeface="Noto Sans SC"/>
                <a:ea typeface="Noto Sans SC"/>
                <a:cs typeface="Noto Sans SC"/>
                <a:sym typeface="Noto Sans SC"/>
              </a:rPr>
              <a:t># 敏感字段检查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89000" y="4254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CDCFE"/>
                </a:solidFill>
                <a:latin typeface="Noto Sans SC"/>
                <a:ea typeface="Noto Sans SC"/>
                <a:cs typeface="Noto Sans SC"/>
                <a:sym typeface="Noto Sans SC"/>
              </a:rPr>
              <a:t>def</a:t>
            </a: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test_duplicate_email(client):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89000" y="45720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client.post("/users/", json={...})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89000" y="4889500"/>
            <a:ext cx="635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response = client.post("/users/", json={...})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89000" y="5207000"/>
            <a:ext cx="6350000" cy="355600"/>
          </a:xfrm>
          <a:prstGeom prst="roundRect">
            <a:avLst>
              <a:gd name="adj" fmla="val 17857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5232400"/>
            <a:ext cx="6223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assert response.status_code == 400</a:t>
            </a:r>
            <a:r>
              <a:rPr lang="en-US" b="false" i="false" strike="noStrike" u="none" sz="1400">
                <a:solidFill>
                  <a:srgbClr val="9CDCFE"/>
                </a:solidFill>
                <a:latin typeface="Noto Sans SC"/>
                <a:ea typeface="Noto Sans SC"/>
                <a:cs typeface="Noto Sans SC"/>
                <a:sym typeface="Noto Sans SC"/>
              </a:rPr>
              <a:t># 边界情况覆盖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7620000" y="203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设计要点解析</a:t>
            </a:r>
            <a:endParaRPr lang="en-US" sz="1100"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620000" y="2603500"/>
            <a:ext cx="304800" cy="3048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8001000" y="25654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状态码验证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确保接口返回正确的 HTTP 状态码 (200/400)，验证业务逻辑是否符合预期。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620000" y="34925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8001000" y="34544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敏感字段过滤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严格检查返回数据，确保密码等敏感信息不会被意外泄露。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620000" y="4381500"/>
            <a:ext cx="304800" cy="3048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8001000" y="4343400"/>
            <a:ext cx="355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边界情况覆盖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测试重复注册等异常场景，确保系统在极端情况下的稳定性。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72A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9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写作Skill -- 五阶段工作流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6096000" cy="4318000"/>
          </a:xfrm>
          <a:prstGeom prst="roundRect">
            <a:avLst>
              <a:gd name="adj" fmla="val 2941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78000"/>
            <a:ext cx="6096000" cy="457200"/>
          </a:xfrm>
          <a:prstGeom prst="roundRect">
            <a:avLst>
              <a:gd name="adj" fmla="val 0"/>
            </a:avLst>
          </a:prstGeom>
          <a:solidFill>
            <a:srgbClr val="334155">
              <a:alpha val="5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1943100"/>
            <a:ext cx="127000" cy="127000"/>
          </a:xfrm>
          <a:prstGeom prst="ellipse">
            <a:avLst/>
          </a:prstGeom>
          <a:solidFill>
            <a:srgbClr val="EF444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206500" y="1943100"/>
            <a:ext cx="127000" cy="127000"/>
          </a:xfrm>
          <a:prstGeom prst="ellipse">
            <a:avLst/>
          </a:prstGeom>
          <a:solidFill>
            <a:srgbClr val="EAB30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460500" y="1943100"/>
            <a:ext cx="127000" cy="127000"/>
          </a:xfrm>
          <a:prstGeom prst="ellipse">
            <a:avLst/>
          </a:prstGeom>
          <a:solidFill>
            <a:srgbClr val="22C55E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952500" y="23495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C678DD"/>
                </a:solidFill>
                <a:latin typeface="Noto Sans SC"/>
                <a:ea typeface="Noto Sans SC"/>
                <a:cs typeface="Noto Sans SC"/>
                <a:sym typeface="Noto Sans SC"/>
              </a:rPr>
              <a:t>writing_workflow</a:t>
            </a:r>
            <a:r>
              <a:rPr lang="en-US" b="false" i="false" strike="noStrike" u="none" sz="1400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= {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952500" y="26670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C07B"/>
                </a:solidFill>
                <a:latin typeface="Noto Sans SC"/>
                <a:ea typeface="Noto Sans SC"/>
                <a:cs typeface="Noto Sans SC"/>
                <a:sym typeface="Noto Sans SC"/>
              </a:rPr>
              <a:t>"stages"</a:t>
            </a:r>
            <a:r>
              <a:rPr lang="en-US" b="false" i="false" strike="noStrike" u="none" sz="1400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 [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952500" y="29845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"1. 大纲生成"</a:t>
            </a:r>
            <a:r>
              <a:rPr lang="en-US" b="false" i="false" strike="noStrike" u="none" sz="1400">
                <a:solidFill>
                  <a:srgbClr val="5C6370"/>
                </a:solidFill>
                <a:latin typeface="Noto Sans SC"/>
                <a:ea typeface="Noto Sans SC"/>
                <a:cs typeface="Noto Sans SC"/>
                <a:sym typeface="Noto Sans SC"/>
              </a:rPr>
              <a:t>, # 结构化标题层级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952500" y="33020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"2. 段落展开"</a:t>
            </a:r>
            <a:r>
              <a:rPr lang="en-US" b="false" i="false" strike="noStrike" u="none" sz="1400">
                <a:solidFill>
                  <a:srgbClr val="5C6370"/>
                </a:solidFill>
                <a:latin typeface="Noto Sans SC"/>
                <a:ea typeface="Noto Sans SC"/>
                <a:cs typeface="Noto Sans SC"/>
                <a:sym typeface="Noto Sans SC"/>
              </a:rPr>
              <a:t>, # 逐段填充内容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952500" y="3606800"/>
            <a:ext cx="5715000" cy="355600"/>
          </a:xfrm>
          <a:prstGeom prst="roundRect">
            <a:avLst>
              <a:gd name="adj" fmla="val 17857"/>
            </a:avLst>
          </a:prstGeom>
          <a:solidFill>
            <a:srgbClr val="FFFF00">
              <a:alpha val="1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3632200"/>
            <a:ext cx="558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"3. 一致性检查"</a:t>
            </a:r>
            <a:r>
              <a:rPr lang="en-US" b="false" i="false" strike="noStrike" u="none" sz="1400">
                <a:solidFill>
                  <a:srgbClr val="5C6370"/>
                </a:solidFill>
                <a:latin typeface="Noto Sans SC"/>
                <a:ea typeface="Noto Sans SC"/>
                <a:cs typeface="Noto Sans SC"/>
                <a:sym typeface="Noto Sans SC"/>
              </a:rPr>
              <a:t>, # 术语/格式统一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952500" y="40005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"4. 可读性优化"</a:t>
            </a:r>
            <a:r>
              <a:rPr lang="en-US" b="false" i="false" strike="noStrike" u="none" sz="1400">
                <a:solidFill>
                  <a:srgbClr val="5C6370"/>
                </a:solidFill>
                <a:latin typeface="Noto Sans SC"/>
                <a:ea typeface="Noto Sans SC"/>
                <a:cs typeface="Noto Sans SC"/>
                <a:sym typeface="Noto Sans SC"/>
              </a:rPr>
              <a:t>, # 句式/过渡/节奏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952500" y="43180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8C379"/>
                </a:solidFill>
                <a:latin typeface="Noto Sans SC"/>
                <a:ea typeface="Noto Sans SC"/>
                <a:cs typeface="Noto Sans SC"/>
                <a:sym typeface="Noto Sans SC"/>
              </a:rPr>
              <a:t>"5. 格式输出"</a:t>
            </a:r>
            <a:r>
              <a:rPr lang="en-US" b="false" i="false" strike="noStrike" u="none" sz="1400">
                <a:solidFill>
                  <a:srgbClr val="5C6370"/>
                </a:solidFill>
                <a:latin typeface="Noto Sans SC"/>
                <a:ea typeface="Noto Sans SC"/>
                <a:cs typeface="Noto Sans SC"/>
                <a:sym typeface="Noto Sans SC"/>
              </a:rPr>
              <a:t>, # Markdown/PDF/DOCX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952500" y="46355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],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952500" y="49530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E5C07B"/>
                </a:solidFill>
                <a:latin typeface="Noto Sans SC"/>
                <a:ea typeface="Noto Sans SC"/>
                <a:cs typeface="Noto Sans SC"/>
                <a:sym typeface="Noto Sans SC"/>
              </a:rPr>
              <a:t>"quality_gates"</a:t>
            </a:r>
            <a:r>
              <a:rPr lang="en-US" b="false" i="false" strike="noStrike" u="none" sz="1400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: { ... }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952500" y="5270500"/>
            <a:ext cx="571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ABB2BF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12000" y="1778000"/>
            <a:ext cx="4318000" cy="4318000"/>
          </a:xfrm>
          <a:prstGeom prst="roundRect">
            <a:avLst>
              <a:gd name="adj" fmla="val 2941"/>
            </a:avLst>
          </a:prstGeom>
          <a:solidFill>
            <a:srgbClr val="1E293B">
              <a:alpha val="80000"/>
            </a:srgbClr>
          </a:solidFill>
          <a:ln w="12700" cmpd="sng" cap="flat">
            <a:solidFill>
              <a:srgbClr val="38BDF8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7366000" y="20320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核心共性 (Core Commonalities)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1459" flipH="false" flipV="false">
            <a:off x="7366011" y="2470150"/>
            <a:ext cx="381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3" id="23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366000" y="2730500"/>
            <a:ext cx="406400" cy="4064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874000" y="2730500"/>
            <a:ext cx="330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明确输入规范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定义清晰的输入参数与格式要求</a:t>
            </a:r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366000" y="3492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874000" y="3492500"/>
            <a:ext cx="330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固定执行结构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标准化的步骤流程，确保逻辑严密</a:t>
            </a:r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66000" y="4254500"/>
            <a:ext cx="406400" cy="4064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7874000" y="4254500"/>
            <a:ext cx="330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可验证输出结果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内置质量检查门，确保产出符合标准</a:t>
            </a: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代码Skill vs 写作Skill</a:t>
            </a:r>
            <a:endParaRPr lang="en-US" sz="1100"/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2000" y="2032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778000"/>
                <a:gridCol w="4445000"/>
                <a:gridCol w="4445000"/>
              </a:tblGrid>
              <a:tr h="5080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代码 Skill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600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写作 Skill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C8C8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输入要素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功能需求、技术栈、API文档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主题方向、目标读者画像、字数限制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25400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C8C8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输出产物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可编译运行的代码文件 (.py, .java)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结构化的文档、文章或报告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C8C8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验证机制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语法检查、单元测试、集成测试运行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格式检查、逻辑一致性、内容审核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1500">
                <a:tc>
                  <a:txBody>
                    <a:bodyPr anchor="t" rtlCol="false"/>
                    <a:lstStyle/>
                    <a:p>
                      <a:pPr algn="ctr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C8C8C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迭代优化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修复Bug、重构代码、优化性能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anchor="t" rtlCol="false"/>
                    <a:lstStyle/>
                    <a:p>
                      <a:pPr algn="l" indent="0" marL="12700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调整结构、润色表达、更新数据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27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name="AutoShape 5" id="5"/>
          <p:cNvSpPr/>
          <p:nvPr/>
        </p:nvSpPr>
        <p:spPr>
          <a:xfrm rot="0" flipH="false" flipV="false"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5000"/>
            </a:srgbClr>
          </a:solidFill>
          <a:ln w="12700" cmpd="sng" cap="flat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52500" y="5308600"/>
            <a:ext cx="304800" cy="3048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397000" y="5207000"/>
            <a:ext cx="990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共性规律：</a:t>
            </a: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两者均需遵循明确的输入规范、具备固定的输出结构，并依赖可执行的工作流来保证质量。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5969000"/>
            <a:ext cx="10668000" cy="508000"/>
          </a:xfrm>
          <a:prstGeom prst="roundRect">
            <a:avLst>
              <a:gd name="adj" fmla="val 25000"/>
            </a:avLst>
          </a:prstGeom>
          <a:solidFill>
            <a:srgbClr val="FFFFFF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60960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6032500"/>
            <a:ext cx="990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Skill系统的本质 = 将隐性知识显性化，转化为可复用的操作指南。</a:t>
            </a:r>
            <a:endParaRPr lang="en-US" sz="1100"/>
          </a:p>
        </p:txBody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762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第4课核心总结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651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406400" cy="4064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524000" y="1841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无约束代码生成的痛点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存在结构混乱、质量低下、难以维护、无法复现四大核心问题。</a:t>
            </a:r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6223000" y="1651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477000" y="1841500"/>
            <a:ext cx="406400" cy="4064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6985000" y="1841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 系统定义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将最佳实践封装为标准化的“技能包”，遵循 SKILL.md 六要素规范。</a:t>
            </a:r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762000" y="3238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429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524000" y="3429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标准六步工作流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意图分析 → 技能选择 → 架构设计 → 代码生成 → 自动验证 → 迭代优化。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32385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477000" y="34290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6985000" y="34290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自动验证不可省略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作为质量的最后一道防线，确保生成结果的正确性和稳定性。</a:t>
            </a:r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4826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5016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1524000" y="5016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Skill 系统的通用性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300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不仅限于代码生成，还可应用于写作、数据分析等多种场景。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23000" y="4826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FFFF00">
              <a:alpha val="10000"/>
            </a:srgbClr>
          </a:solidFill>
          <a:ln w="12700" cmpd="sng" cap="flat">
            <a:solidFill>
              <a:srgbClr val="FFFF00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77000" y="5016500"/>
            <a:ext cx="406400" cy="4064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85000" y="5016500"/>
            <a:ext cx="4318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核心设计哲学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“约束即自由” —— 在规则框架内，实现高效、高质量的自动化生成。</a:t>
            </a:r>
          </a:p>
        </p:txBody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A0F1E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016000"/>
            <a:ext cx="10668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下节课预告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286000"/>
            <a:ext cx="304800" cy="3048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397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课程回顾：Agent 基础设施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9549" flipH="false" flipV="false">
            <a:off x="1016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8" id="8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2984500"/>
            <a:ext cx="254000" cy="254000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rot="0" flipH="false" flipV="false">
            <a:off x="1397000" y="2959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第1课：记忆系统 (Memory)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254000" cy="2540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397000" y="3340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第2课：模型路由 (Routing)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1016000" y="3746500"/>
            <a:ext cx="254000" cy="254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1397000" y="3721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第3课：多Agent架构 (Multi-Agent)</a:t>
            </a:r>
            <a:endParaRPr lang="en-US" sz="1100"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1016000" y="4127500"/>
            <a:ext cx="254000" cy="2540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1397000" y="4102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第4课：代码生成工作流 (Code Generation)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350000" y="2032000"/>
            <a:ext cx="5080000" cy="3556000"/>
          </a:xfrm>
          <a:prstGeom prst="roundRect">
            <a:avLst>
              <a:gd name="adj" fmla="val 3571"/>
            </a:avLst>
          </a:prstGeom>
          <a:solidFill>
            <a:srgbClr val="00BFFF">
              <a:alpha val="10000"/>
            </a:srgbClr>
          </a:solidFill>
          <a:ln w="12700" cmpd="sng" cap="flat">
            <a:solidFill>
              <a:srgbClr val="00BFFF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604000" y="2286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985000" y="22606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第5课：AI驱动的量化交易系统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9549" flipH="false" flipV="false">
            <a:off x="6604009" y="27241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FF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name="Picture 20" id="20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604000" y="2984500"/>
            <a:ext cx="254000" cy="2540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6985000" y="29591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难度升级：中级 ➔</a:t>
            </a:r>
            <a:r>
              <a:rPr lang="en-US" b="true" i="false" strike="noStrike" u="none" sz="1400">
                <a:solidFill>
                  <a:srgbClr val="FFFF00"/>
                </a:solidFill>
                <a:latin typeface="Noto Sans SC"/>
                <a:ea typeface="Noto Sans SC"/>
                <a:cs typeface="Noto Sans SC"/>
                <a:sym typeface="Noto Sans SC"/>
              </a:rPr>
              <a:t>高级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604000" y="3365500"/>
            <a:ext cx="254000" cy="254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6985000" y="3340100"/>
            <a:ext cx="431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核心重点：风险管理 (Risk Management)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indent="0">
              <a:lnSpc>
                <a:spcPct val="125000"/>
              </a:lnSpc>
            </a:pPr>
            <a:r>
              <a:rPr lang="en-US" b="false" i="false" strike="noStrike" u="none" sz="1200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任何AI自动化系统都需要的“安全网”</a:t>
            </a:r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0" flipH="false" flipV="false">
            <a:off x="6604000" y="4191000"/>
            <a:ext cx="254000" cy="2540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85000" y="4165600"/>
            <a:ext cx="431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课程性质：选修 / 进阶实战</a:t>
            </a:r>
            <a:endParaRPr lang="en-US" sz="1100"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