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notesSlides/notesSlide1.xml" Type="http://schemas.openxmlformats.org/officeDocument/2006/relationships/notesSlide"/><Relationship Id="rId43" Target="notesSlides/notesSlide2.xml" Type="http://schemas.openxmlformats.org/officeDocument/2006/relationships/notesSlide"/><Relationship Id="rId44" Target="notesSlides/notesSlide3.xml" Type="http://schemas.openxmlformats.org/officeDocument/2006/relationships/notesSlide"/><Relationship Id="rId45" Target="notesSlides/notesSlide4.xml" Type="http://schemas.openxmlformats.org/officeDocument/2006/relationships/notesSlide"/><Relationship Id="rId46" Target="notesSlides/notesSlide5.xml" Type="http://schemas.openxmlformats.org/officeDocument/2006/relationships/notesSlide"/><Relationship Id="rId47" Target="notesSlides/notesSlide6.xml" Type="http://schemas.openxmlformats.org/officeDocument/2006/relationships/notesSlide"/><Relationship Id="rId48" Target="notesSlides/notesSlide7.xml" Type="http://schemas.openxmlformats.org/officeDocument/2006/relationships/notesSlide"/><Relationship Id="rId49" Target="notesSlides/notesSlide8.xml" Type="http://schemas.openxmlformats.org/officeDocument/2006/relationships/notesSlide"/><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notesSlides/notesSlide16.xml" Type="http://schemas.openxmlformats.org/officeDocument/2006/relationships/notesSlide"/><Relationship Id="rId58" Target="notesSlides/notesSlide17.xml" Type="http://schemas.openxmlformats.org/officeDocument/2006/relationships/notesSlide"/><Relationship Id="rId59" Target="notesSlides/notesSlide18.xml" Type="http://schemas.openxmlformats.org/officeDocument/2006/relationships/notesSlide"/><Relationship Id="rId6" Target="notesMasters/notesMaster1.xml" Type="http://schemas.openxmlformats.org/officeDocument/2006/relationships/notesMaster"/><Relationship Id="rId60" Target="notesSlides/notesSlide19.xml" Type="http://schemas.openxmlformats.org/officeDocument/2006/relationships/notesSlide"/><Relationship Id="rId61" Target="notesSlides/notesSlide20.xml" Type="http://schemas.openxmlformats.org/officeDocument/2006/relationships/notesSlide"/><Relationship Id="rId62" Target="notesSlides/notesSlide21.xml" Type="http://schemas.openxmlformats.org/officeDocument/2006/relationships/notesSlide"/><Relationship Id="rId63" Target="notesSlides/notesSlide22.xml" Type="http://schemas.openxmlformats.org/officeDocument/2006/relationships/notesSlide"/><Relationship Id="rId64" Target="notesSlides/notesSlide23.xml" Type="http://schemas.openxmlformats.org/officeDocument/2006/relationships/notesSlide"/><Relationship Id="rId65" Target="notesSlides/notesSlide24.xml" Type="http://schemas.openxmlformats.org/officeDocument/2006/relationships/notesSlide"/><Relationship Id="rId66" Target="notesSlides/notesSlide25.xml" Type="http://schemas.openxmlformats.org/officeDocument/2006/relationships/notesSlide"/><Relationship Id="rId67" Target="notesSlides/notesSlide26.xml" Type="http://schemas.openxmlformats.org/officeDocument/2006/relationships/notesSlide"/><Relationship Id="rId68" Target="notesSlides/notesSlide27.xml" Type="http://schemas.openxmlformats.org/officeDocument/2006/relationships/notesSlide"/><Relationship Id="rId69" Target="notesSlides/notesSlide28.xml" Type="http://schemas.openxmlformats.org/officeDocument/2006/relationships/notesSlide"/><Relationship Id="rId7" Target="theme/theme2.xml" Type="http://schemas.openxmlformats.org/officeDocument/2006/relationships/theme"/><Relationship Id="rId70" Target="notesSlides/notesSlide29.xml" Type="http://schemas.openxmlformats.org/officeDocument/2006/relationships/notesSlide"/><Relationship Id="rId71" Target="notesSlides/notesSlide30.xml" Type="http://schemas.openxmlformats.org/officeDocument/2006/relationships/notesSlide"/><Relationship Id="rId72" Target="notesSlides/notesSlide31.xml" Type="http://schemas.openxmlformats.org/officeDocument/2006/relationships/notesSlide"/><Relationship Id="rId73" Target="notesSlides/notesSlide32.xml" Type="http://schemas.openxmlformats.org/officeDocument/2006/relationships/notesSlide"/><Relationship Id="rId74" Target="notesSlides/notesSlide33.xml" Type="http://schemas.openxmlformats.org/officeDocument/2006/relationships/notesSlid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大家好，欢迎来到AI Agent系统工程实战课程的第一课。今天我们将一起探讨一个非常有趣且核心的话题：如何让我们的AI助手从一个简单的聊天机器人，进化为拥有持久记忆的智能助手。这节课的主题是“AI Agent的记忆觉醒”，我们将深入了解记忆系统的设计与实现。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今天课程的整体安排。我们将从最基础的ChatBot结构开始，探讨其记忆的局限性，然后引入向量数据库来解决语义理解问题。中间会穿插两个练习环节，帮助大家动手实践。最后，我们会介绍更高级的四层记忆架构、记忆自动收敛机制以及混合搜索系统。希望大家能跟上节奏，有所收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正式开始之前，我想先做一个小调查。大家平时使用像ChatGPT或Claude这样的AI助手时，有没有遇到过这样的情况：你跟它说了一个很重要的信息，比如你的偏好或者某个关键数据，但过了一会儿，当你再次提及相关话题时，它却好像完全忘记了之前的对话内容？如果遇到过，请举手示意一下。看来很多人都有类似的经历，这正是我们今天要解决的核心问题——AI的“记忆”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为了理解记忆问题的根源，我们先从一个最简单的聊天机器人模型——ClawBot v1开始。它的核心工作流程非常直接，分为四个步骤：首先加载记忆，然后构建上下文，接着调用大语言模型的API，最后保存新的记忆。这个流程看似完整，但正是在这个基础模型中，隐藏着导致AI“失忆”的关键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这张图展示了ClawBot v1的完整数据流。大家可以看到，所有的历史对话都存储在一个JSON文件里。当新的对话开始时，系统会加载所有历史，但在构建发送给模型的上下文时，它只取了最近的20轮对话。这就是问题的关键——它用一种“一刀切”的方式，简单粗暴地丢弃了所有超过20轮的旧信息，无论这些信息有多重要。这就是为什么AI会“失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下对应的核心代码。在这个chat函数中，当保存对话历史时，执行了history[-20:]这个操作，它只保留了列表中最后20个元素，也就是最近的20轮对话。这一行代码，就是导致我们所有旧记忆丢失的罪魁祸首。它没有任何智能判断，只是机械地截断历史记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现在请大家思考一下，ClawBot v1设计上最大的问题到底是什么？是选项A，觉得20轮太少，改成200轮就好了？还是选项B，它没有区分信息的重要性，采取了一刀切的方式？或者是选项C，应该用更专业的数据库来替代JSON文件？给大家30秒时间思考一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正确答案是B。虽然增加轮数（A）或更换数据库（C）可能会带来一些改善，但都没有解决根本问题。JSON存储方式本身存在四大缺陷：首先，它无法跨会话检索，超过20轮的信息就永久丢失了；其次，它没有语义理解能力，无法识别“API密钥”和“API key”其实是同一个东西；第三，所有用户的数据都挤在一个文件里，容易导致文件膨胀；最后，也是最关键的，它无法区分信息的重要性，把闲聊和关键信息混为一谈，同等对待。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这引出了一个非常重要的概念：对话记录并不等于记忆。对话记录只是按时间顺序排列的原始数据，像一本流水账。而真正的记忆，是经过理解、筛选和组织后的知识。一个智能的AI Agent，和一个简单的ChatBot，最本质的区别就在于它所拥有的“记忆质量”。我们的目标，就是要让AI拥有高质量的记忆。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那么，如何解决语义理解的问题呢？比如，如何让AI知道“API密钥”和“API key”指的是同一个东西？传统的关键词匹配是做不到这一点的。这就需要我们引入一个强大的工具——向量Embedding。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二个模块：向量数据库基础。向量Embedding的核心思想，就是将我们日常使用的文本，转换成一组高维的数字向量。这个转换的神奇之处在于，语义上相近的文本，它们在这个高维空间中对应的向量点，距离也会更近。这就为AI理解语义提供了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让大家有一个更直观的理解，我们可以把高维空间简化成一个二维平面。比如，“男人”和“国王”的向量点比较近，“女人”和“女王”的向量点也比较近。更有趣的是，通过向量运算，我们可以发现“国王”减去“男人”再加上“女人”，结果非常接近“女王”。这完美地展示了向量Embedding捕捉语义关系的能力。同样，“API密钥”、“API key”、“访问令牌”这些表达相同意思的词语，它们的向量也会自动聚集在一起。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现在我们来做个小测试。如果我们的记忆库中有一条记录是“我的币安API key是abc123”，那么当我们用“交易所密钥”作为关键词去搜索时，能找到这条记录吗？为什么能？请大家思考一下。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答案是肯定的。这背后的原理就是余弦相似度。它是衡量两个向量方向相似程度的指标，结果越接近1，说明两个向量的方向越一致，语义也就越相似。比如，“API密钥”和“API key”的余弦相似度可能高达0.92，而“API密钥”和“天气预报”的相似度则几乎为0。正是基于这个原理，向量数据库才能实现智能的语义搜索。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接下来我们看一下如何在代码中实现向量存储。这里展示的是VectorMemory类的add方法。</a:t>
            </a:r>
          </a:p>
          <a:p>
            <a:pPr algn="l" indent="0">
              <a:lnSpc>
                <a:spcPct val="100000"/>
              </a:lnSpc>
            </a:pPr>
            <a:r>
              <a:rPr lang="en-US" b="false" i="false" strike="noStrike" u="none" sz="1400">
                <a:solidFill>
                  <a:srgbClr val="000000"/>
                </a:solidFill>
              </a:rPr>
              <a:t>首先，我们初始化一个SentenceTransformer模型作为编码器，然后创建一个ChromaDB的客户端和集合。</a:t>
            </a:r>
          </a:p>
          <a:p>
            <a:pPr algn="l" indent="0">
              <a:lnSpc>
                <a:spcPct val="100000"/>
              </a:lnSpc>
            </a:pPr>
            <a:r>
              <a:rPr lang="en-US" b="false" i="false" strike="noStrike" u="none" sz="1400">
                <a:solidFill>
                  <a:srgbClr val="000000"/>
                </a:solidFill>
              </a:rPr>
              <a:t>当调用add方法时，关键步骤是使用encoder.encode将文本转换成向量，然后将这个向量连同原始文本一起存入数据库。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搜索方法的实现也很直观。首先，我们将用户的查询文本同样转换成向量，然后调用数据库的query方法，传入这个查询向量，并指定返回结果的数量。数据库会自动计算查询向量与所有存储向量的相似度，并返回最相似的前N个结果。这样，当我们搜索“API key”时，就能找到语义相似的“API密钥”记录了。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这张表格清晰地对比了JSON存储和向量存储的差异。向量存储在语义理解、跨会话检索、关联发现和存储效率上都展现出了巨大的优势。它解决了我们最初提出的大部分问题，让AI的记忆能力有了质的飞跃。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理论部分就到这里，现在是动手实践的时间。第一个练习，希望大家在20分钟内，基于ChromaDB实现我们刚刚讨论的VectorMemory类，重点是完成add和search方法。完成后，请验证一下，使用“API密钥”和“API key”作为关键词是否能互相检索到对方。大家可以参考讲义中的完整代码。现在开始吧！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很好，相信大家已经完成了第一个练习，体验到了向量搜索的强大。但是，新的问题又出现了。现在所有的记忆都被平等地存储和检索，无论是“用户喜欢喝咖啡”这样的日常偏好，还是“用户的银行密码”这样的敏感信息，都被一视同仁。这显然是不合理的。因此，我们需要引入一个新的概念——记忆分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可以借鉴人类的记忆模型。人类的记忆也不是一团乱麻，而是分为不同层次的。比如，我们正在处理的信息属于工作记忆，今天发生的事情属于短期记忆，像名字这样的信息属于长期记忆，而我们的专业知识则构成了知识体系。同样，AI Agent也需要这样的分层记忆架构。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这就是我们为AI Agent设计的四层记忆架构。第一层是工作记忆，对应当前的对话上下文，存储在内存中，会话结束后就清除。第二层是短期记忆，保存当天的对话记录，存储在MD文件中，保留数天到数周。第三层是长期记忆，存储用户的重要事实和偏好，永久保存，并结合向量数据库进行检索。第四层是知识库，存储领域知识和技能，也是永久保存并定期更新。在检索时，系统会按照L1到L4的优先级依次查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现在请大家思考一个实际问题：如果我们要设计一个客服AI Agent，它的四层记忆分别应该存放什么内容呢？比如，工作记忆、短期记忆、长期记忆和知识库各自应该包含哪些信息？给大家30秒时间思考一下。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个具体的例子。当用户问“我之前让你监控的Polymarket市场现在怎样？”时，系统会按照优先级依次检索。首先检查工作记忆，发现当前对话没有相关上下文；接着检查短期记忆，今日也没有相关记录；然后在长期记忆中找到了“启动Polymarket套利监控”这条记录；最后在知识库中找到了“价格监控脚本每小时扫描”的信息。系统会融合这些信息，给出一个综合的回复。这就是四层记忆架构的协作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四个模块：记忆自动收敛。这个概念的灵感来源于人类大脑在睡眠中进行的记忆巩固过程。我们的目标是让AI能够自动地将短期记忆中的重要信息，提取并提升到长期记忆中。这个过程包括四个步骤：自动扫描短期记忆、通过正则表达式提取关键事件、判断事件的重要性，最后将重要的事件写入长期记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记忆收敛器的核心逻辑。首先，我们定义了一些正则表达式模式，用于匹配不同类型的关键事件，比如账户信息、用户决策、项目里程碑和错误信息。然后，在should_promote_to_longterm函数中，我们根据事件的类型和内容来判断它是否重要到需要提升到长期记忆。例如，金额超过100的账户信息，或者任何项目里程碑事件，都会被认为是重要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这里有一个有趣的问题：错误信息通常很重要，为什么我们不在代码中为“error”类型的事件设置自动提升规则呢？提示一下，大家可以想想我们定义的error模式匹配的范围有多广。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表格解释了我们选择正则表达式而非LLM进行收敛判断的原因。虽然LLM的理解能力更强，但它在运行成本、速度和可预测性方面都不如正则表达式。对于需要频繁运行的记忆收敛器来说，正则表达式是成本和效率上的最优解。当然，对于一些复杂的判断，我们也可以结合LLM来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介绍一个更高级的记忆系统——QMD向量记忆系统。它采用了混合搜索策略，结合了BM25、向量搜索和RRF三种技术。BM25擅长精确的关键词匹配，比如搜索错误代码“E1001”。向量搜索则擅长语义理解。而RRF（Reciprocal Rank Fusion）算法则负责将这两种搜索的结果进行融合排序，从而获得更全面、更准确的检索结果。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RRF算法的核心思想是，对于一个文档，它在不同搜索结果列表中的排名越靠前，其最终得分就越高。公式中的k是一个常数，通常设为60。</a:t>
            </a:r>
          </a:p>
          <a:p>
            <a:pPr algn="l" indent="0">
              <a:lnSpc>
                <a:spcPct val="100000"/>
              </a:lnSpc>
            </a:pPr>
            <a:r>
              <a:rPr lang="en-US" b="false" i="false" strike="noStrike" u="none" sz="1400">
                <a:solidFill>
                  <a:srgbClr val="000000"/>
                </a:solidFill>
              </a:rPr>
              <a:t>通过这个公式，那些在BM25和向量搜索中都表现不错的文档，会获得更高的综合得分。这就避免了单一搜索方式的局限性，奖励了在多个维度上都相关的文档。</a:t>
            </a:r>
          </a:p>
          <a:p>
            <a:pPr algn="l" indent="0">
              <a:lnSpc>
                <a:spcPct val="100000"/>
              </a:lnSpc>
            </a:pPr>
            <a:r>
              <a:rPr lang="en-US" b="false" i="false" strike="noStrike" u="none" sz="1400">
                <a:solidFill>
                  <a:srgbClr val="000000"/>
                </a:solidFill>
              </a:rPr>
              <a:t>我们可以看到右边的示例，文档A和文档C虽然在单一维度上不是绝对第一，但在双路搜索中都表现稳定，因此得分较高；而文档D虽然在BM25中排名第一，但在向量搜索中缺失，得分明显较低。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有没有想过，为什么RRF要基于排名来融合，而不是直接把BM25的分数和余弦相似度的分数加起来？这是因为这两种分数的量级和分布完全不同，直接相加没有意义，甚至会导致结果被其中一种分数主导。而排名则是一个相对值，不同系统的排名可以进行公平的比较和融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是第二个练习时间。这次的任务是实现一个记忆收敛器。请大家在25分钟内，从给定的日志文件中提取关键事件，并根据规则判断哪些事件需要提升到长期记忆。规则是：金额超过500美元的账户信息、所有的里程碑事件，以及包含“严重”关键词的错误信息。大家可以参考讲义中的完整代码。现在开始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好了，我们来总结一下本节课的核心内容。首先，我们认识到AI Agent和ChatBot的本质区别在于记忆的质量。其次，向量Embedding技术让AI具备了语义理解的能力。第三，我们学习了如何通过四层记忆架构来对记忆进行分层管理。第四，记忆收敛机制能够自动将重要信息从短期记忆提升到长期记忆。最后，混合搜索策略结合了多种技术的优点，使得检索更加可靠。希望大家都掌握了这些核心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我们解决了AI“知道什么”的问题，也就是记忆问题。但一个智能的Agent不仅需要知道信息，还需要具备处理不同任务的能力。当它需要同时处理代码生成、问答、文档总结等多种任务时，应该调用哪个模型呢？这就是我们下一节课要探讨的主题：多模型调度与智能路由。感谢大家的参与，我们下次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notesSlides/notesSlide2.xml" Type="http://schemas.openxmlformats.org/officeDocument/2006/relationships/notesSlid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1.png" Type="http://schemas.openxmlformats.org/officeDocument/2006/relationships/image"/><Relationship Id="rId15" Target="../media/image42.svg" Type="http://schemas.openxmlformats.org/officeDocument/2006/relationships/image"/><Relationship Id="rId16" Target="../notesSlides/notesSlide5.xml" Type="http://schemas.openxmlformats.org/officeDocument/2006/relationships/notesSlid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media/image61.png" Type="http://schemas.openxmlformats.org/officeDocument/2006/relationships/image"/><Relationship Id="rId13" Target="../media/image62.svg" Type="http://schemas.openxmlformats.org/officeDocument/2006/relationships/image"/><Relationship Id="rId14" Target="../notesSlides/notesSlide8.xml" Type="http://schemas.openxmlformats.org/officeDocument/2006/relationships/notesSlide"/><Relationship Id="rId2" Target="../media/image51.png" Type="http://schemas.openxmlformats.org/officeDocument/2006/relationships/image"/><Relationship Id="rId3" Target="../media/image5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3.png" Type="http://schemas.openxmlformats.org/officeDocument/2006/relationships/image"/><Relationship Id="rId3" Target="../media/image64.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 Id="rId4" Target="../media/image73.png" Type="http://schemas.openxmlformats.org/officeDocument/2006/relationships/image"/><Relationship Id="rId5" Target="../media/image74.svg" Type="http://schemas.openxmlformats.org/officeDocument/2006/relationships/image"/><Relationship Id="rId6"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79.png" Type="http://schemas.openxmlformats.org/officeDocument/2006/relationships/image"/><Relationship Id="rId7" Target="../media/image80.svg" Type="http://schemas.openxmlformats.org/officeDocument/2006/relationships/image"/><Relationship Id="rId8" Target="../media/image73.png" Type="http://schemas.openxmlformats.org/officeDocument/2006/relationships/image"/><Relationship Id="rId9" Target="../media/image7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4.xml" Type="http://schemas.openxmlformats.org/officeDocument/2006/relationships/notesSlide"/><Relationship Id="rId2" Target="../media/image75.png" Type="http://schemas.openxmlformats.org/officeDocument/2006/relationships/image"/><Relationship Id="rId3" Target="../media/image76.svg" Type="http://schemas.openxmlformats.org/officeDocument/2006/relationships/image"/><Relationship Id="rId4" Target="../media/image83.png" Type="http://schemas.openxmlformats.org/officeDocument/2006/relationships/image"/><Relationship Id="rId5" Target="../media/image84.svg" Type="http://schemas.openxmlformats.org/officeDocument/2006/relationships/image"/><Relationship Id="rId6" Target="../media/image85.png" Type="http://schemas.openxmlformats.org/officeDocument/2006/relationships/image"/><Relationship Id="rId7" Target="../media/image86.svg" Type="http://schemas.openxmlformats.org/officeDocument/2006/relationships/image"/><Relationship Id="rId8" Target="../media/image87.png" Type="http://schemas.openxmlformats.org/officeDocument/2006/relationships/image"/><Relationship Id="rId9" Target="../media/image8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1.png" Type="http://schemas.openxmlformats.org/officeDocument/2006/relationships/image"/><Relationship Id="rId11" Target="../media/image92.svg" Type="http://schemas.openxmlformats.org/officeDocument/2006/relationships/image"/><Relationship Id="rId12" Target="../media/image93.png" Type="http://schemas.openxmlformats.org/officeDocument/2006/relationships/image"/><Relationship Id="rId13" Target="../media/image94.svg" Type="http://schemas.openxmlformats.org/officeDocument/2006/relationships/image"/><Relationship Id="rId14" Target="../notesSlides/notesSlide16.xml" Type="http://schemas.openxmlformats.org/officeDocument/2006/relationships/notesSlide"/><Relationship Id="rId2" Target="../media/image33.png" Type="http://schemas.openxmlformats.org/officeDocument/2006/relationships/image"/><Relationship Id="rId3" Target="../media/image3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59.png" Type="http://schemas.openxmlformats.org/officeDocument/2006/relationships/image"/><Relationship Id="rId7" Target="../media/image60.svg" Type="http://schemas.openxmlformats.org/officeDocument/2006/relationships/image"/><Relationship Id="rId8" Target="../media/image89.png" Type="http://schemas.openxmlformats.org/officeDocument/2006/relationships/image"/><Relationship Id="rId9" Target="../media/image9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19.png" Type="http://schemas.openxmlformats.org/officeDocument/2006/relationships/image"/><Relationship Id="rId3" Target="../media/image2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95.png" Type="http://schemas.openxmlformats.org/officeDocument/2006/relationships/image"/><Relationship Id="rId9" Target="../media/image9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8.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97.png" Type="http://schemas.openxmlformats.org/officeDocument/2006/relationships/image"/><Relationship Id="rId5" Target="../media/image9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1.png" Type="http://schemas.openxmlformats.org/officeDocument/2006/relationships/image"/><Relationship Id="rId3" Target="../media/image102.svg" Type="http://schemas.openxmlformats.org/officeDocument/2006/relationships/image"/><Relationship Id="rId4" Target="../media/image103.png" Type="http://schemas.openxmlformats.org/officeDocument/2006/relationships/image"/><Relationship Id="rId5" Target="../media/image104.svg" Type="http://schemas.openxmlformats.org/officeDocument/2006/relationships/image"/><Relationship Id="rId6" Target="../media/image105.png" Type="http://schemas.openxmlformats.org/officeDocument/2006/relationships/image"/><Relationship Id="rId7" Target="../media/image106.svg" Type="http://schemas.openxmlformats.org/officeDocument/2006/relationships/image"/><Relationship Id="rId8"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0.xml" Type="http://schemas.openxmlformats.org/officeDocument/2006/relationships/notesSlide"/><Relationship Id="rId2" Target="../media/image65.png" Type="http://schemas.openxmlformats.org/officeDocument/2006/relationships/image"/><Relationship Id="rId3" Target="../media/image6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1.png" Type="http://schemas.openxmlformats.org/officeDocument/2006/relationships/image"/><Relationship Id="rId11" Target="../media/image112.svg" Type="http://schemas.openxmlformats.org/officeDocument/2006/relationships/image"/><Relationship Id="rId12" Target="../notesSlides/notesSlide21.xml" Type="http://schemas.openxmlformats.org/officeDocument/2006/relationships/notesSlide"/><Relationship Id="rId2" Target="../media/image107.png" Type="http://schemas.openxmlformats.org/officeDocument/2006/relationships/image"/><Relationship Id="rId3" Target="../media/image108.svg" Type="http://schemas.openxmlformats.org/officeDocument/2006/relationships/image"/><Relationship Id="rId4" Target="../media/image109.png" Type="http://schemas.openxmlformats.org/officeDocument/2006/relationships/image"/><Relationship Id="rId5" Target="../media/image110.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3.png" Type="http://schemas.openxmlformats.org/officeDocument/2006/relationships/image"/><Relationship Id="rId3" Target="../media/image11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notesSlides/notesSlide23.xml" Type="http://schemas.openxmlformats.org/officeDocument/2006/relationships/notesSlide"/><Relationship Id="rId2" Target="../media/image31.png" Type="http://schemas.openxmlformats.org/officeDocument/2006/relationships/image"/><Relationship Id="rId3" Target="../media/image32.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9.png" Type="http://schemas.openxmlformats.org/officeDocument/2006/relationships/image"/><Relationship Id="rId11" Target="../media/image120.svg" Type="http://schemas.openxmlformats.org/officeDocument/2006/relationships/image"/><Relationship Id="rId12" Target="../media/image121.png" Type="http://schemas.openxmlformats.org/officeDocument/2006/relationships/image"/><Relationship Id="rId13" Target="../media/image122.svg" Type="http://schemas.openxmlformats.org/officeDocument/2006/relationships/image"/><Relationship Id="rId14" Target="../media/image123.png" Type="http://schemas.openxmlformats.org/officeDocument/2006/relationships/image"/><Relationship Id="rId15" Target="../media/image124.svg" Type="http://schemas.openxmlformats.org/officeDocument/2006/relationships/image"/><Relationship Id="rId16" Target="../notesSlides/notesSlide24.xml" Type="http://schemas.openxmlformats.org/officeDocument/2006/relationships/notesSlide"/><Relationship Id="rId2" Target="../media/image65.png" Type="http://schemas.openxmlformats.org/officeDocument/2006/relationships/image"/><Relationship Id="rId3" Target="../media/image66.svg" Type="http://schemas.openxmlformats.org/officeDocument/2006/relationships/image"/><Relationship Id="rId4" Target="../media/image115.png" Type="http://schemas.openxmlformats.org/officeDocument/2006/relationships/image"/><Relationship Id="rId5" Target="../media/image116.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117.png" Type="http://schemas.openxmlformats.org/officeDocument/2006/relationships/image"/><Relationship Id="rId9" Target="../media/image11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25.png" Type="http://schemas.openxmlformats.org/officeDocument/2006/relationships/image"/><Relationship Id="rId5" Target="../media/image126.svg" Type="http://schemas.openxmlformats.org/officeDocument/2006/relationships/image"/><Relationship Id="rId6"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7.png" Type="http://schemas.openxmlformats.org/officeDocument/2006/relationships/image"/><Relationship Id="rId3" Target="../media/image128.svg" Type="http://schemas.openxmlformats.org/officeDocument/2006/relationships/image"/><Relationship Id="rId4" Target="../media/image129.png" Type="http://schemas.openxmlformats.org/officeDocument/2006/relationships/image"/><Relationship Id="rId5" Target="../media/image130.svg" Type="http://schemas.openxmlformats.org/officeDocument/2006/relationships/image"/><Relationship Id="rId6"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1.png" Type="http://schemas.openxmlformats.org/officeDocument/2006/relationships/image"/><Relationship Id="rId3" Target="../media/image132.svg" Type="http://schemas.openxmlformats.org/officeDocument/2006/relationships/image"/><Relationship Id="rId4"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133.png" Type="http://schemas.openxmlformats.org/officeDocument/2006/relationships/image"/><Relationship Id="rId7" Target="../media/image134.svg" Type="http://schemas.openxmlformats.org/officeDocument/2006/relationships/image"/><Relationship Id="rId8"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7.png" Type="http://schemas.openxmlformats.org/officeDocument/2006/relationships/image"/><Relationship Id="rId3" Target="../media/image78.svg" Type="http://schemas.openxmlformats.org/officeDocument/2006/relationships/image"/><Relationship Id="rId4" Target="../media/image67.png" Type="http://schemas.openxmlformats.org/officeDocument/2006/relationships/image"/><Relationship Id="rId5" Target="../media/image68.svg" Type="http://schemas.openxmlformats.org/officeDocument/2006/relationships/image"/><Relationship Id="rId6" Target="../media/image135.png" Type="http://schemas.openxmlformats.org/officeDocument/2006/relationships/image"/><Relationship Id="rId7" Target="../media/image136.svg" Type="http://schemas.openxmlformats.org/officeDocument/2006/relationships/image"/><Relationship Id="rId8"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3.png" Type="http://schemas.openxmlformats.org/officeDocument/2006/relationships/image"/><Relationship Id="rId3" Target="../media/image114.svg" Type="http://schemas.openxmlformats.org/officeDocument/2006/relationships/image"/><Relationship Id="rId4"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1.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97.png" Type="http://schemas.openxmlformats.org/officeDocument/2006/relationships/image"/><Relationship Id="rId5" Target="../media/image98.svg" Type="http://schemas.openxmlformats.org/officeDocument/2006/relationships/image"/><Relationship Id="rId6" Target="../media/image137.png" Type="http://schemas.openxmlformats.org/officeDocument/2006/relationships/image"/><Relationship Id="rId7" Target="../media/image138.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notesSlides/notesSlide32.xml" Type="http://schemas.openxmlformats.org/officeDocument/2006/relationships/notesSlide"/><Relationship Id="rId2" Target="../media/image65.png" Type="http://schemas.openxmlformats.org/officeDocument/2006/relationships/image"/><Relationship Id="rId3" Target="../media/image6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139.png" Type="http://schemas.openxmlformats.org/officeDocument/2006/relationships/image"/><Relationship Id="rId7" Target="../media/image140.svg" Type="http://schemas.openxmlformats.org/officeDocument/2006/relationships/image"/><Relationship Id="rId8" Target="../media/image141.png" Type="http://schemas.openxmlformats.org/officeDocument/2006/relationships/image"/><Relationship Id="rId9" Target="../media/image14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 Id="rId4" Target="../media/image143.png" Type="http://schemas.openxmlformats.org/officeDocument/2006/relationships/image"/><Relationship Id="rId5" Target="../media/image144.svg" Type="http://schemas.openxmlformats.org/officeDocument/2006/relationships/image"/><Relationship Id="rId6" Target="../notesSlides/notesSlide33.xml" Type="http://schemas.openxmlformats.org/officeDocument/2006/relationships/notesSlide"/><Relationship Id="rId7" Target="../media/image14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778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00BFFF"/>
                </a:solidFill>
                <a:latin typeface="Noto Sans SC"/>
                <a:ea typeface="Noto Sans SC"/>
                <a:cs typeface="Noto Sans SC"/>
                <a:sym typeface="Noto Sans SC"/>
              </a:rPr>
              <a:t>AI Agent系统工程实战</a:t>
            </a:r>
            <a:endParaRPr lang="en-US" sz="1100"/>
          </a:p>
        </p:txBody>
      </p:sp>
      <p:sp>
        <p:nvSpPr>
          <p:cNvPr name="AutoShape 4" id="4"/>
          <p:cNvSpPr/>
          <p:nvPr/>
        </p:nvSpPr>
        <p:spPr>
          <a:xfrm rot="0" flipH="false" flipV="false">
            <a:off x="1016000" y="26035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第1课：从聊天机器人到智能助手</a:t>
            </a:r>
            <a:endParaRPr lang="en-US" sz="1100"/>
          </a:p>
        </p:txBody>
      </p:sp>
      <p:sp>
        <p:nvSpPr>
          <p:cNvPr name="AutoShape 5" id="5"/>
          <p:cNvSpPr/>
          <p:nvPr/>
        </p:nvSpPr>
        <p:spPr>
          <a:xfrm rot="0" flipH="false" flipV="false">
            <a:off x="1016000" y="3111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C8C8C8"/>
                </a:solidFill>
                <a:latin typeface="Noto Sans SC"/>
                <a:ea typeface="Noto Sans SC"/>
                <a:cs typeface="Noto Sans SC"/>
                <a:sym typeface="Noto Sans SC"/>
              </a:rPr>
              <a:t>—— AI Agent的记忆觉醒</a:t>
            </a:r>
            <a:endParaRPr lang="en-US" sz="1100"/>
          </a:p>
        </p:txBody>
      </p:sp>
      <p:cxnSp>
        <p:nvCxnSpPr>
          <p:cNvPr name="Connector 6" id="6"/>
          <p:cNvCxnSpPr/>
          <p:nvPr/>
        </p:nvCxnSpPr>
        <p:spPr>
          <a:xfrm rot="-34376" flipH="false" flipV="false">
            <a:off x="5461032" y="3676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7" id="7"/>
          <p:cNvSpPr/>
          <p:nvPr/>
        </p:nvSpPr>
        <p:spPr>
          <a:xfrm rot="0" flipH="false" flipV="false">
            <a:off x="2286000" y="4191000"/>
            <a:ext cx="7620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667000" y="4445000"/>
            <a:ext cx="254000" cy="254000"/>
          </a:xfrm>
          <a:prstGeom prst="rect">
            <a:avLst/>
          </a:prstGeom>
        </p:spPr>
      </p:pic>
      <p:sp>
        <p:nvSpPr>
          <p:cNvPr name="AutoShape 9" id="9"/>
          <p:cNvSpPr/>
          <p:nvPr/>
        </p:nvSpPr>
        <p:spPr>
          <a:xfrm rot="0" flipH="false" flipV="false">
            <a:off x="2984500" y="4419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第1-2章</a:t>
            </a:r>
            <a:endParaRPr lang="en-US" sz="1100"/>
          </a:p>
        </p:txBody>
      </p:sp>
      <p:cxnSp>
        <p:nvCxnSpPr>
          <p:cNvPr name="Connector 10" id="10"/>
          <p:cNvCxnSpPr/>
          <p:nvPr/>
        </p:nvCxnSpPr>
        <p:spPr>
          <a:xfrm rot="5285450" flipH="false" flipV="false">
            <a:off x="4381500" y="4565756"/>
            <a:ext cx="38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4445000"/>
            <a:ext cx="254000" cy="254000"/>
          </a:xfrm>
          <a:prstGeom prst="rect">
            <a:avLst/>
          </a:prstGeom>
        </p:spPr>
      </p:pic>
      <p:sp>
        <p:nvSpPr>
          <p:cNvPr name="AutoShape 12" id="12"/>
          <p:cNvSpPr/>
          <p:nvPr/>
        </p:nvSpPr>
        <p:spPr>
          <a:xfrm rot="0" flipH="false" flipV="false">
            <a:off x="5143500" y="4419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难度：中级</a:t>
            </a:r>
            <a:endParaRPr lang="en-US" sz="1100"/>
          </a:p>
        </p:txBody>
      </p:sp>
      <p:cxnSp>
        <p:nvCxnSpPr>
          <p:cNvPr name="Connector 13" id="13"/>
          <p:cNvCxnSpPr/>
          <p:nvPr/>
        </p:nvCxnSpPr>
        <p:spPr>
          <a:xfrm rot="5285450" flipH="false" flipV="false">
            <a:off x="6540500" y="4565756"/>
            <a:ext cx="38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85000" y="4445000"/>
            <a:ext cx="254000" cy="254000"/>
          </a:xfrm>
          <a:prstGeom prst="rect">
            <a:avLst/>
          </a:prstGeom>
        </p:spPr>
      </p:pic>
      <p:sp>
        <p:nvSpPr>
          <p:cNvPr name="AutoShape 15" id="15"/>
          <p:cNvSpPr/>
          <p:nvPr/>
        </p:nvSpPr>
        <p:spPr>
          <a:xfrm rot="0" flipH="false" flipV="false">
            <a:off x="7302500" y="4419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时长：3小时</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今天的旅程</a:t>
            </a:r>
            <a:endParaRPr lang="en-US" sz="1100"/>
          </a:p>
        </p:txBody>
      </p:sp>
      <p:sp>
        <p:nvSpPr>
          <p:cNvPr name="AutoShape 4" id="4"/>
          <p:cNvSpPr/>
          <p:nvPr/>
        </p:nvSpPr>
        <p:spPr>
          <a:xfrm rot="0" flipH="false" flipV="false">
            <a:off x="762000" y="1905000"/>
            <a:ext cx="10668000" cy="558800"/>
          </a:xfrm>
          <a:prstGeom prst="roundRect">
            <a:avLst>
              <a:gd name="adj" fmla="val 22727"/>
            </a:avLst>
          </a:prstGeom>
          <a:solidFill>
            <a:srgbClr val="00BFFF">
              <a:alpha val="20000"/>
            </a:srgbClr>
          </a:solidFill>
          <a:ln cmpd="sng" cap="flat">
            <a:solidFill>
              <a:srgbClr val="00ACE6">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032000"/>
            <a:ext cx="127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模块</a:t>
            </a:r>
            <a:endParaRPr lang="en-US" sz="1100"/>
          </a:p>
        </p:txBody>
      </p:sp>
      <p:sp>
        <p:nvSpPr>
          <p:cNvPr name="AutoShape 6" id="6"/>
          <p:cNvSpPr/>
          <p:nvPr/>
        </p:nvSpPr>
        <p:spPr>
          <a:xfrm rot="0" flipH="false" flipV="false">
            <a:off x="2413000" y="20320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主题内容</a:t>
            </a:r>
            <a:endParaRPr lang="en-US" sz="1100"/>
          </a:p>
        </p:txBody>
      </p:sp>
      <p:sp>
        <p:nvSpPr>
          <p:cNvPr name="AutoShape 7" id="7"/>
          <p:cNvSpPr/>
          <p:nvPr/>
        </p:nvSpPr>
        <p:spPr>
          <a:xfrm rot="0" flipH="false" flipV="false">
            <a:off x="8636000" y="20320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预计时间</a:t>
            </a:r>
            <a:endParaRPr lang="en-US" sz="1100"/>
          </a:p>
        </p:txBody>
      </p:sp>
      <p:sp>
        <p:nvSpPr>
          <p:cNvPr name="AutoShape 8" id="8"/>
          <p:cNvSpPr/>
          <p:nvPr/>
        </p:nvSpPr>
        <p:spPr>
          <a:xfrm rot="0" flipH="false" flipV="false">
            <a:off x="762000" y="2590800"/>
            <a:ext cx="10668000" cy="508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717800"/>
            <a:ext cx="254000" cy="254000"/>
          </a:xfrm>
          <a:prstGeom prst="rect">
            <a:avLst/>
          </a:prstGeom>
        </p:spPr>
      </p:pic>
      <p:sp>
        <p:nvSpPr>
          <p:cNvPr name="AutoShape 10" id="10"/>
          <p:cNvSpPr/>
          <p:nvPr/>
        </p:nvSpPr>
        <p:spPr>
          <a:xfrm rot="0" flipH="false" flipV="false">
            <a:off x="1333500" y="27178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1.1</a:t>
            </a:r>
            <a:endParaRPr lang="en-US" sz="1100"/>
          </a:p>
        </p:txBody>
      </p:sp>
      <p:sp>
        <p:nvSpPr>
          <p:cNvPr name="AutoShape 11" id="11"/>
          <p:cNvSpPr/>
          <p:nvPr/>
        </p:nvSpPr>
        <p:spPr>
          <a:xfrm rot="0" flipH="false" flipV="false">
            <a:off x="2413000" y="27178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ChatBot基本结构与记忆局限</a:t>
            </a:r>
            <a:endParaRPr lang="en-US" sz="1100"/>
          </a:p>
        </p:txBody>
      </p:sp>
      <p:sp>
        <p:nvSpPr>
          <p:cNvPr name="AutoShape 12" id="12"/>
          <p:cNvSpPr/>
          <p:nvPr/>
        </p:nvSpPr>
        <p:spPr>
          <a:xfrm rot="0" flipH="false" flipV="false">
            <a:off x="8636000" y="27178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0:00 - 0:50</a:t>
            </a:r>
            <a:endParaRPr lang="en-US" sz="1100"/>
          </a:p>
        </p:txBody>
      </p:sp>
      <p:sp>
        <p:nvSpPr>
          <p:cNvPr name="AutoShape 13" id="13"/>
          <p:cNvSpPr/>
          <p:nvPr/>
        </p:nvSpPr>
        <p:spPr>
          <a:xfrm rot="0" flipH="false" flipV="false">
            <a:off x="762000" y="3175000"/>
            <a:ext cx="10668000" cy="508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302000"/>
            <a:ext cx="254000" cy="254000"/>
          </a:xfrm>
          <a:prstGeom prst="rect">
            <a:avLst/>
          </a:prstGeom>
        </p:spPr>
      </p:pic>
      <p:sp>
        <p:nvSpPr>
          <p:cNvPr name="AutoShape 15" id="15"/>
          <p:cNvSpPr/>
          <p:nvPr/>
        </p:nvSpPr>
        <p:spPr>
          <a:xfrm rot="0" flipH="false" flipV="false">
            <a:off x="1333500" y="33020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1.2</a:t>
            </a:r>
            <a:endParaRPr lang="en-US" sz="1100"/>
          </a:p>
        </p:txBody>
      </p:sp>
      <p:sp>
        <p:nvSpPr>
          <p:cNvPr name="AutoShape 16" id="16"/>
          <p:cNvSpPr/>
          <p:nvPr/>
        </p:nvSpPr>
        <p:spPr>
          <a:xfrm rot="0" flipH="false" flipV="false">
            <a:off x="2413000" y="33020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向量数据库基础</a:t>
            </a:r>
            <a:endParaRPr lang="en-US" sz="1100"/>
          </a:p>
        </p:txBody>
      </p:sp>
      <p:sp>
        <p:nvSpPr>
          <p:cNvPr name="AutoShape 17" id="17"/>
          <p:cNvSpPr/>
          <p:nvPr/>
        </p:nvSpPr>
        <p:spPr>
          <a:xfrm rot="0" flipH="false" flipV="false">
            <a:off x="8636000" y="33020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0:35 - 1:10</a:t>
            </a:r>
            <a:endParaRPr lang="en-US" sz="1100"/>
          </a:p>
        </p:txBody>
      </p:sp>
      <p:sp>
        <p:nvSpPr>
          <p:cNvPr name="AutoShape 18" id="18"/>
          <p:cNvSpPr/>
          <p:nvPr/>
        </p:nvSpPr>
        <p:spPr>
          <a:xfrm rot="0" flipH="false" flipV="false">
            <a:off x="762000" y="3759200"/>
            <a:ext cx="10668000" cy="508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886200"/>
            <a:ext cx="254000" cy="254000"/>
          </a:xfrm>
          <a:prstGeom prst="rect">
            <a:avLst/>
          </a:prstGeom>
        </p:spPr>
      </p:pic>
      <p:sp>
        <p:nvSpPr>
          <p:cNvPr name="AutoShape 20" id="20"/>
          <p:cNvSpPr/>
          <p:nvPr/>
        </p:nvSpPr>
        <p:spPr>
          <a:xfrm rot="0" flipH="false" flipV="false">
            <a:off x="1333500" y="38862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a:t>
            </a:r>
            <a:endParaRPr lang="en-US" sz="1100"/>
          </a:p>
        </p:txBody>
      </p:sp>
      <p:sp>
        <p:nvSpPr>
          <p:cNvPr name="AutoShape 21" id="21"/>
          <p:cNvSpPr/>
          <p:nvPr/>
        </p:nvSpPr>
        <p:spPr>
          <a:xfrm rot="0" flipH="false" flipV="false">
            <a:off x="2413000" y="38862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练习1 + 休息</a:t>
            </a:r>
            <a:endParaRPr lang="en-US" sz="1100"/>
          </a:p>
        </p:txBody>
      </p:sp>
      <p:sp>
        <p:nvSpPr>
          <p:cNvPr name="AutoShape 22" id="22"/>
          <p:cNvSpPr/>
          <p:nvPr/>
        </p:nvSpPr>
        <p:spPr>
          <a:xfrm rot="0" flipH="false" flipV="false">
            <a:off x="8636000" y="38862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0:50 - 1:20</a:t>
            </a:r>
            <a:endParaRPr lang="en-US" sz="1100"/>
          </a:p>
        </p:txBody>
      </p:sp>
      <p:sp>
        <p:nvSpPr>
          <p:cNvPr name="AutoShape 23" id="23"/>
          <p:cNvSpPr/>
          <p:nvPr/>
        </p:nvSpPr>
        <p:spPr>
          <a:xfrm rot="0" flipH="false" flipV="false">
            <a:off x="762000" y="4343400"/>
            <a:ext cx="10668000" cy="508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470400"/>
            <a:ext cx="254000" cy="254000"/>
          </a:xfrm>
          <a:prstGeom prst="rect">
            <a:avLst/>
          </a:prstGeom>
        </p:spPr>
      </p:pic>
      <p:sp>
        <p:nvSpPr>
          <p:cNvPr name="AutoShape 25" id="25"/>
          <p:cNvSpPr/>
          <p:nvPr/>
        </p:nvSpPr>
        <p:spPr>
          <a:xfrm rot="0" flipH="false" flipV="false">
            <a:off x="1333500" y="44704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1.3</a:t>
            </a:r>
            <a:endParaRPr lang="en-US" sz="1100"/>
          </a:p>
        </p:txBody>
      </p:sp>
      <p:sp>
        <p:nvSpPr>
          <p:cNvPr name="AutoShape 26" id="26"/>
          <p:cNvSpPr/>
          <p:nvPr/>
        </p:nvSpPr>
        <p:spPr>
          <a:xfrm rot="0" flipH="false" flipV="false">
            <a:off x="2413000" y="44704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四层记忆架构设计</a:t>
            </a:r>
            <a:endParaRPr lang="en-US" sz="1100"/>
          </a:p>
        </p:txBody>
      </p:sp>
      <p:sp>
        <p:nvSpPr>
          <p:cNvPr name="AutoShape 27" id="27"/>
          <p:cNvSpPr/>
          <p:nvPr/>
        </p:nvSpPr>
        <p:spPr>
          <a:xfrm rot="0" flipH="false" flipV="false">
            <a:off x="8636000" y="44704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1:20 - 1:50</a:t>
            </a:r>
            <a:endParaRPr lang="en-US" sz="1100"/>
          </a:p>
        </p:txBody>
      </p:sp>
      <p:sp>
        <p:nvSpPr>
          <p:cNvPr name="AutoShape 28" id="28"/>
          <p:cNvSpPr/>
          <p:nvPr/>
        </p:nvSpPr>
        <p:spPr>
          <a:xfrm rot="0" flipH="false" flipV="false">
            <a:off x="762000" y="4927600"/>
            <a:ext cx="10668000" cy="508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054600"/>
            <a:ext cx="254000" cy="254000"/>
          </a:xfrm>
          <a:prstGeom prst="rect">
            <a:avLst/>
          </a:prstGeom>
        </p:spPr>
      </p:pic>
      <p:sp>
        <p:nvSpPr>
          <p:cNvPr name="AutoShape 30" id="30"/>
          <p:cNvSpPr/>
          <p:nvPr/>
        </p:nvSpPr>
        <p:spPr>
          <a:xfrm rot="0" flipH="false" flipV="false">
            <a:off x="1333500" y="50546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1.4</a:t>
            </a:r>
            <a:endParaRPr lang="en-US" sz="1100"/>
          </a:p>
        </p:txBody>
      </p:sp>
      <p:sp>
        <p:nvSpPr>
          <p:cNvPr name="AutoShape 31" id="31"/>
          <p:cNvSpPr/>
          <p:nvPr/>
        </p:nvSpPr>
        <p:spPr>
          <a:xfrm rot="0" flipH="false" flipV="false">
            <a:off x="2413000" y="50546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记忆自动收敛</a:t>
            </a:r>
            <a:endParaRPr lang="en-US" sz="1100"/>
          </a:p>
        </p:txBody>
      </p:sp>
      <p:sp>
        <p:nvSpPr>
          <p:cNvPr name="AutoShape 32" id="32"/>
          <p:cNvSpPr/>
          <p:nvPr/>
        </p:nvSpPr>
        <p:spPr>
          <a:xfrm rot="0" flipH="false" flipV="false">
            <a:off x="8636000" y="50546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1:50 - 2:20</a:t>
            </a:r>
            <a:endParaRPr lang="en-US" sz="1100"/>
          </a:p>
        </p:txBody>
      </p:sp>
      <p:sp>
        <p:nvSpPr>
          <p:cNvPr name="AutoShape 33" id="33"/>
          <p:cNvSpPr/>
          <p:nvPr/>
        </p:nvSpPr>
        <p:spPr>
          <a:xfrm rot="0" flipH="false" flipV="false">
            <a:off x="762000" y="5511800"/>
            <a:ext cx="10668000" cy="508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1016000" y="5638800"/>
            <a:ext cx="254000" cy="254000"/>
          </a:xfrm>
          <a:prstGeom prst="rect">
            <a:avLst/>
          </a:prstGeom>
        </p:spPr>
      </p:pic>
      <p:sp>
        <p:nvSpPr>
          <p:cNvPr name="AutoShape 35" id="35"/>
          <p:cNvSpPr/>
          <p:nvPr/>
        </p:nvSpPr>
        <p:spPr>
          <a:xfrm rot="0" flipH="false" flipV="false">
            <a:off x="1333500" y="56388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1.5</a:t>
            </a:r>
            <a:endParaRPr lang="en-US" sz="1100"/>
          </a:p>
        </p:txBody>
      </p:sp>
      <p:sp>
        <p:nvSpPr>
          <p:cNvPr name="AutoShape 36" id="36"/>
          <p:cNvSpPr/>
          <p:nvPr/>
        </p:nvSpPr>
        <p:spPr>
          <a:xfrm rot="0" flipH="false" flipV="false">
            <a:off x="2413000" y="5638800"/>
            <a:ext cx="609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QMD向量记忆系统</a:t>
            </a:r>
            <a:endParaRPr lang="en-US" sz="1100"/>
          </a:p>
        </p:txBody>
      </p:sp>
      <p:sp>
        <p:nvSpPr>
          <p:cNvPr name="AutoShape 37" id="37"/>
          <p:cNvSpPr/>
          <p:nvPr/>
        </p:nvSpPr>
        <p:spPr>
          <a:xfrm rot="0" flipH="false" flipV="false">
            <a:off x="8636000" y="56388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2:00 - 2:20</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你的AI助手"失忆"过吗？</a:t>
            </a:r>
            <a:endParaRPr lang="en-US" sz="1100"/>
          </a:p>
        </p:txBody>
      </p:sp>
      <p:sp>
        <p:nvSpPr>
          <p:cNvPr name="AutoShape 4" id="4"/>
          <p:cNvSpPr/>
          <p:nvPr/>
        </p:nvSpPr>
        <p:spPr>
          <a:xfrm rot="0" flipH="false" flipV="false">
            <a:off x="762000" y="2032000"/>
            <a:ext cx="10668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609600" cy="609600"/>
          </a:xfrm>
          <a:prstGeom prst="rect">
            <a:avLst/>
          </a:prstGeom>
        </p:spPr>
      </p:pic>
      <p:sp>
        <p:nvSpPr>
          <p:cNvPr name="AutoShape 6" id="6"/>
          <p:cNvSpPr/>
          <p:nvPr/>
        </p:nvSpPr>
        <p:spPr>
          <a:xfrm rot="0" flipH="false" flipV="false">
            <a:off x="1905000" y="2413000"/>
            <a:ext cx="863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核心场景回顾</a:t>
            </a:r>
            <a:endParaRPr lang="en-US" sz="1100"/>
          </a:p>
        </p:txBody>
      </p:sp>
      <p:sp>
        <p:nvSpPr>
          <p:cNvPr name="AutoShape 7" id="7"/>
          <p:cNvSpPr/>
          <p:nvPr/>
        </p:nvSpPr>
        <p:spPr>
          <a:xfrm rot="0" flipH="false" flipV="false">
            <a:off x="1905000" y="2857500"/>
            <a:ext cx="863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90196"/>
                  </a:srgbClr>
                </a:solidFill>
                <a:latin typeface="Noto Sans SC"/>
                <a:ea typeface="Noto Sans SC"/>
                <a:cs typeface="Noto Sans SC"/>
                <a:sym typeface="Noto Sans SC"/>
              </a:rPr>
              <a:t>在使用 ChatGPT 或 Claude 时，你是否遇到过这种情况：你提供了一个关键信息（如个人偏好、特定数据），但在后续对话中，它却像完全没听过一样，需要你反复提醒？</a:t>
            </a:r>
            <a:endParaRPr lang="en-US" sz="1100"/>
          </a:p>
        </p:txBody>
      </p:sp>
      <p:sp>
        <p:nvSpPr>
          <p:cNvPr name="AutoShape 8" id="8"/>
          <p:cNvSpPr/>
          <p:nvPr/>
        </p:nvSpPr>
        <p:spPr>
          <a:xfrm rot="0" flipH="false" flipV="false">
            <a:off x="762000" y="4572000"/>
            <a:ext cx="10668000" cy="1270000"/>
          </a:xfrm>
          <a:prstGeom prst="roundRect">
            <a:avLst>
              <a:gd name="adj" fmla="val 10000"/>
            </a:avLst>
          </a:prstGeom>
          <a:solidFill>
            <a:srgbClr val="FFFF00">
              <a:alpha val="10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4902200"/>
            <a:ext cx="609600" cy="609600"/>
          </a:xfrm>
          <a:prstGeom prst="rect">
            <a:avLst/>
          </a:prstGeom>
        </p:spPr>
      </p:pic>
      <p:sp>
        <p:nvSpPr>
          <p:cNvPr name="AutoShape 10" id="10"/>
          <p:cNvSpPr/>
          <p:nvPr/>
        </p:nvSpPr>
        <p:spPr>
          <a:xfrm rot="0" flipH="false" flipV="false">
            <a:off x="1905000" y="4826000"/>
            <a:ext cx="863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00"/>
                </a:solidFill>
                <a:latin typeface="Noto Sans SC"/>
                <a:ea typeface="Noto Sans SC"/>
                <a:cs typeface="Noto Sans SC"/>
                <a:sym typeface="Noto Sans SC"/>
              </a:rPr>
              <a:t>互动调查：</a:t>
            </a:r>
            <a:r>
              <a:rPr lang="en-US" b="false" i="false" strike="noStrike" u="none" sz="1800">
                <a:solidFill>
                  <a:srgbClr val="FFFFFF"/>
                </a:solidFill>
                <a:latin typeface="Noto Sans SC"/>
                <a:ea typeface="Noto Sans SC"/>
                <a:cs typeface="Noto Sans SC"/>
                <a:sym typeface="Noto Sans SC"/>
              </a:rPr>
              <a:t>如果遇到过上述“失忆”现象，请举手示意一下！</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ClawBot v1：一切的起点</a:t>
            </a:r>
            <a:endParaRPr lang="en-US" sz="1100"/>
          </a:p>
        </p:txBody>
      </p:sp>
      <p:sp>
        <p:nvSpPr>
          <p:cNvPr name="AutoShape 4" id="4"/>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模块 1.1 —— ChatBot的基本结构与核心工作流</a:t>
            </a:r>
            <a:endParaRPr lang="en-US" sz="1100"/>
          </a:p>
        </p:txBody>
      </p:sp>
      <p:sp>
        <p:nvSpPr>
          <p:cNvPr name="AutoShape 5" id="5"/>
          <p:cNvSpPr/>
          <p:nvPr/>
        </p:nvSpPr>
        <p:spPr>
          <a:xfrm rot="0" flipH="false" flipV="false">
            <a:off x="7620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63700" y="2730500"/>
            <a:ext cx="609600" cy="609600"/>
          </a:xfrm>
          <a:prstGeom prst="rect">
            <a:avLst/>
          </a:prstGeom>
        </p:spPr>
      </p:pic>
      <p:sp>
        <p:nvSpPr>
          <p:cNvPr name="AutoShape 7" id="7"/>
          <p:cNvSpPr/>
          <p:nvPr/>
        </p:nvSpPr>
        <p:spPr>
          <a:xfrm rot="0" flipH="false" flipV="false">
            <a:off x="889000" y="3492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01 记忆加载</a:t>
            </a:r>
            <a:endParaRPr lang="en-US" sz="1100"/>
          </a:p>
        </p:txBody>
      </p:sp>
      <p:sp>
        <p:nvSpPr>
          <p:cNvPr name="AutoShape 8" id="8"/>
          <p:cNvSpPr/>
          <p:nvPr/>
        </p:nvSpPr>
        <p:spPr>
          <a:xfrm rot="0" flipH="false" flipV="false">
            <a:off x="889000" y="3937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从存储介质中读取历史对话记录，作为会话的基础。</a:t>
            </a:r>
            <a:endParaRPr lang="en-US" sz="1100"/>
          </a:p>
        </p:txBody>
      </p:sp>
      <p:sp>
        <p:nvSpPr>
          <p:cNvPr name="AutoShape 9" id="9"/>
          <p:cNvSpPr/>
          <p:nvPr/>
        </p:nvSpPr>
        <p:spPr>
          <a:xfrm rot="0" flipH="false" flipV="false">
            <a:off x="35052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06900" y="2730500"/>
            <a:ext cx="609600" cy="609600"/>
          </a:xfrm>
          <a:prstGeom prst="rect">
            <a:avLst/>
          </a:prstGeom>
        </p:spPr>
      </p:pic>
      <p:sp>
        <p:nvSpPr>
          <p:cNvPr name="AutoShape 11" id="11"/>
          <p:cNvSpPr/>
          <p:nvPr/>
        </p:nvSpPr>
        <p:spPr>
          <a:xfrm rot="0" flipH="false" flipV="false">
            <a:off x="3632200" y="3492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02 上下文构建</a:t>
            </a:r>
            <a:endParaRPr lang="en-US" sz="1100"/>
          </a:p>
        </p:txBody>
      </p:sp>
      <p:sp>
        <p:nvSpPr>
          <p:cNvPr name="AutoShape 12" id="12"/>
          <p:cNvSpPr/>
          <p:nvPr/>
        </p:nvSpPr>
        <p:spPr>
          <a:xfrm rot="0" flipH="false" flipV="false">
            <a:off x="3632200" y="3937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将历史记忆与用户最新输入拼接，形成完整的对话上下文。</a:t>
            </a:r>
            <a:endParaRPr lang="en-US" sz="1100"/>
          </a:p>
        </p:txBody>
      </p:sp>
      <p:sp>
        <p:nvSpPr>
          <p:cNvPr name="AutoShape 13" id="13"/>
          <p:cNvSpPr/>
          <p:nvPr/>
        </p:nvSpPr>
        <p:spPr>
          <a:xfrm rot="0" flipH="false" flipV="false">
            <a:off x="62484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50100" y="2730500"/>
            <a:ext cx="609600" cy="609600"/>
          </a:xfrm>
          <a:prstGeom prst="rect">
            <a:avLst/>
          </a:prstGeom>
        </p:spPr>
      </p:pic>
      <p:sp>
        <p:nvSpPr>
          <p:cNvPr name="AutoShape 15" id="15"/>
          <p:cNvSpPr/>
          <p:nvPr/>
        </p:nvSpPr>
        <p:spPr>
          <a:xfrm rot="0" flipH="false" flipV="false">
            <a:off x="6375400" y="3492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03 API调用</a:t>
            </a:r>
            <a:endParaRPr lang="en-US" sz="1100"/>
          </a:p>
        </p:txBody>
      </p:sp>
      <p:sp>
        <p:nvSpPr>
          <p:cNvPr name="AutoShape 16" id="16"/>
          <p:cNvSpPr/>
          <p:nvPr/>
        </p:nvSpPr>
        <p:spPr>
          <a:xfrm rot="0" flipH="false" flipV="false">
            <a:off x="6375400" y="3937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将构建好的上下文发送给大语言模型，获取响应结果。</a:t>
            </a:r>
            <a:endParaRPr lang="en-US" sz="1100"/>
          </a:p>
        </p:txBody>
      </p:sp>
      <p:sp>
        <p:nvSpPr>
          <p:cNvPr name="AutoShape 17" id="17"/>
          <p:cNvSpPr/>
          <p:nvPr/>
        </p:nvSpPr>
        <p:spPr>
          <a:xfrm rot="0" flipH="false" flipV="false">
            <a:off x="89916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93300" y="2730500"/>
            <a:ext cx="609600" cy="609600"/>
          </a:xfrm>
          <a:prstGeom prst="rect">
            <a:avLst/>
          </a:prstGeom>
        </p:spPr>
      </p:pic>
      <p:sp>
        <p:nvSpPr>
          <p:cNvPr name="AutoShape 19" id="19"/>
          <p:cNvSpPr/>
          <p:nvPr/>
        </p:nvSpPr>
        <p:spPr>
          <a:xfrm rot="0" flipH="false" flipV="false">
            <a:off x="9118600" y="3492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04 记忆保存</a:t>
            </a:r>
            <a:endParaRPr lang="en-US" sz="1100"/>
          </a:p>
        </p:txBody>
      </p:sp>
      <p:sp>
        <p:nvSpPr>
          <p:cNvPr name="AutoShape 20" id="20"/>
          <p:cNvSpPr/>
          <p:nvPr/>
        </p:nvSpPr>
        <p:spPr>
          <a:xfrm rot="0" flipH="false" flipV="false">
            <a:off x="9118600" y="3937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将新的对话内容（输入+输出）写入存储，更新记忆库。</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ClawBot v1 数据流</a:t>
            </a:r>
            <a:endParaRPr lang="en-US" sz="1100"/>
          </a:p>
        </p:txBody>
      </p:sp>
      <p:sp>
        <p:nvSpPr>
          <p:cNvPr name="AutoShape 4" id="4"/>
          <p:cNvSpPr/>
          <p:nvPr/>
        </p:nvSpPr>
        <p:spPr>
          <a:xfrm rot="0" flipH="false" flipV="false">
            <a:off x="762000" y="1778000"/>
            <a:ext cx="3302000" cy="889000"/>
          </a:xfrm>
          <a:prstGeom prst="roundRect">
            <a:avLst>
              <a:gd name="adj" fmla="val 14285"/>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019300"/>
            <a:ext cx="406400" cy="406400"/>
          </a:xfrm>
          <a:prstGeom prst="rect">
            <a:avLst/>
          </a:prstGeom>
        </p:spPr>
      </p:pic>
      <p:sp>
        <p:nvSpPr>
          <p:cNvPr name="AutoShape 6" id="6"/>
          <p:cNvSpPr/>
          <p:nvPr/>
        </p:nvSpPr>
        <p:spPr>
          <a:xfrm rot="0" flipH="false" flipV="false">
            <a:off x="1460500" y="19050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用户消息输入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User Input</a:t>
            </a:r>
          </a:p>
        </p:txBody>
      </p:sp>
      <p:cxnSp>
        <p:nvCxnSpPr>
          <p:cNvPr name="Connector 7" id="7"/>
          <p:cNvCxnSpPr/>
          <p:nvPr/>
        </p:nvCxnSpPr>
        <p:spPr>
          <a:xfrm rot="5228255" flipH="false" flipV="false">
            <a:off x="2286000" y="2787809"/>
            <a:ext cx="254000" cy="12700"/>
          </a:xfrm>
          <a:prstGeom prst="line">
            <a:avLst/>
          </a:prstGeom>
          <a:solidFill>
            <a:srgbClr val="DEE0E3">
              <a:alpha val="100000"/>
            </a:srgbClr>
          </a:solidFill>
          <a:ln w="25400" cmpd="sng" cap="flat">
            <a:solidFill>
              <a:srgbClr val="FFFFFF">
                <a:alpha val="50000"/>
              </a:srgbClr>
            </a:solidFill>
            <a:prstDash val="solid"/>
            <a:round/>
            <a:headEnd type="none" w="lg" len="lg"/>
            <a:tailEnd type="arrow" w="sm" len="sm"/>
          </a:ln>
        </p:spPr>
      </p:cxnSp>
      <p:sp>
        <p:nvSpPr>
          <p:cNvPr name="AutoShape 8" id="8"/>
          <p:cNvSpPr/>
          <p:nvPr/>
        </p:nvSpPr>
        <p:spPr>
          <a:xfrm rot="0" flipH="false" flipV="false">
            <a:off x="762000" y="2921000"/>
            <a:ext cx="3302000" cy="889000"/>
          </a:xfrm>
          <a:prstGeom prst="roundRect">
            <a:avLst>
              <a:gd name="adj" fmla="val 14285"/>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3162300"/>
            <a:ext cx="406400" cy="406400"/>
          </a:xfrm>
          <a:prstGeom prst="rect">
            <a:avLst/>
          </a:prstGeom>
        </p:spPr>
      </p:pic>
      <p:sp>
        <p:nvSpPr>
          <p:cNvPr name="AutoShape 10" id="10"/>
          <p:cNvSpPr/>
          <p:nvPr/>
        </p:nvSpPr>
        <p:spPr>
          <a:xfrm rot="0" flipH="false" flipV="false">
            <a:off x="1460500" y="30480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加载历史对话</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加载 memory.json 全部数据</a:t>
            </a:r>
          </a:p>
        </p:txBody>
      </p:sp>
      <p:cxnSp>
        <p:nvCxnSpPr>
          <p:cNvPr name="Connector 11" id="11"/>
          <p:cNvCxnSpPr/>
          <p:nvPr/>
        </p:nvCxnSpPr>
        <p:spPr>
          <a:xfrm rot="5228255" flipH="false" flipV="false">
            <a:off x="2286000" y="3930809"/>
            <a:ext cx="254000" cy="12700"/>
          </a:xfrm>
          <a:prstGeom prst="line">
            <a:avLst/>
          </a:prstGeom>
          <a:solidFill>
            <a:srgbClr val="DEE0E3">
              <a:alpha val="100000"/>
            </a:srgbClr>
          </a:solidFill>
          <a:ln w="25400" cmpd="sng" cap="flat">
            <a:solidFill>
              <a:srgbClr val="FFFFFF">
                <a:alpha val="50000"/>
              </a:srgbClr>
            </a:solidFill>
            <a:prstDash val="solid"/>
            <a:round/>
            <a:headEnd type="none" w="lg" len="lg"/>
            <a:tailEnd type="arrow" w="sm" len="sm"/>
          </a:ln>
        </p:spPr>
      </p:cxnSp>
      <p:sp>
        <p:nvSpPr>
          <p:cNvPr name="AutoShape 12" id="12"/>
          <p:cNvSpPr/>
          <p:nvPr/>
        </p:nvSpPr>
        <p:spPr>
          <a:xfrm rot="0" flipH="false" flipV="false">
            <a:off x="762000" y="4064000"/>
            <a:ext cx="3302000" cy="889000"/>
          </a:xfrm>
          <a:prstGeom prst="roundRect">
            <a:avLst>
              <a:gd name="adj" fmla="val 14285"/>
            </a:avLst>
          </a:prstGeom>
          <a:solidFill>
            <a:srgbClr val="FF0000">
              <a:alpha val="15000"/>
            </a:srgbClr>
          </a:solidFill>
          <a:ln w="25400" cmpd="sng" cap="flat">
            <a:solidFill>
              <a:srgbClr val="FF0000">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4305300"/>
            <a:ext cx="406400" cy="406400"/>
          </a:xfrm>
          <a:prstGeom prst="rect">
            <a:avLst/>
          </a:prstGeom>
        </p:spPr>
      </p:pic>
      <p:sp>
        <p:nvSpPr>
          <p:cNvPr name="AutoShape 14" id="14"/>
          <p:cNvSpPr/>
          <p:nvPr/>
        </p:nvSpPr>
        <p:spPr>
          <a:xfrm rot="0" flipH="false" flipV="false">
            <a:off x="1460500" y="41910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构建上下文列表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6464"/>
                </a:solidFill>
                <a:latin typeface="Noto Sans SC"/>
                <a:ea typeface="Noto Sans SC"/>
                <a:cs typeface="Noto Sans SC"/>
                <a:sym typeface="Noto Sans SC"/>
              </a:rPr>
              <a:t>关键瓶颈：history[-20:] 一刀切</a:t>
            </a:r>
          </a:p>
        </p:txBody>
      </p:sp>
      <p:cxnSp>
        <p:nvCxnSpPr>
          <p:cNvPr name="Connector 15" id="15"/>
          <p:cNvCxnSpPr/>
          <p:nvPr/>
        </p:nvCxnSpPr>
        <p:spPr>
          <a:xfrm rot="5228255" flipH="false" flipV="false">
            <a:off x="2286000" y="5073809"/>
            <a:ext cx="254000" cy="12700"/>
          </a:xfrm>
          <a:prstGeom prst="line">
            <a:avLst/>
          </a:prstGeom>
          <a:solidFill>
            <a:srgbClr val="DEE0E3">
              <a:alpha val="100000"/>
            </a:srgbClr>
          </a:solidFill>
          <a:ln w="25400" cmpd="sng" cap="flat">
            <a:solidFill>
              <a:srgbClr val="FFFFFF">
                <a:alpha val="50000"/>
              </a:srgbClr>
            </a:solidFill>
            <a:prstDash val="solid"/>
            <a:round/>
            <a:headEnd type="none" w="lg" len="lg"/>
            <a:tailEnd type="arrow" w="sm" len="sm"/>
          </a:ln>
        </p:spPr>
      </p:cxnSp>
      <p:sp>
        <p:nvSpPr>
          <p:cNvPr name="AutoShape 16" id="16"/>
          <p:cNvSpPr/>
          <p:nvPr/>
        </p:nvSpPr>
        <p:spPr>
          <a:xfrm rot="0" flipH="false" flipV="false">
            <a:off x="762000" y="5207000"/>
            <a:ext cx="3302000" cy="889000"/>
          </a:xfrm>
          <a:prstGeom prst="roundRect">
            <a:avLst>
              <a:gd name="adj" fmla="val 14285"/>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2500" y="5448300"/>
            <a:ext cx="406400" cy="406400"/>
          </a:xfrm>
          <a:prstGeom prst="rect">
            <a:avLst/>
          </a:prstGeom>
        </p:spPr>
      </p:pic>
      <p:sp>
        <p:nvSpPr>
          <p:cNvPr name="AutoShape 18" id="18"/>
          <p:cNvSpPr/>
          <p:nvPr/>
        </p:nvSpPr>
        <p:spPr>
          <a:xfrm rot="0" flipH="false" flipV="false">
            <a:off x="1460500" y="53340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调用 GPT-4 API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发送上下文并获取回复</a:t>
            </a:r>
          </a:p>
        </p:txBody>
      </p:sp>
      <p:sp>
        <p:nvSpPr>
          <p:cNvPr name="AutoShape 19" id="19"/>
          <p:cNvSpPr/>
          <p:nvPr/>
        </p:nvSpPr>
        <p:spPr>
          <a:xfrm rot="0" flipH="false" flipV="false">
            <a:off x="4318000" y="1778000"/>
            <a:ext cx="7112000" cy="1524000"/>
          </a:xfrm>
          <a:prstGeom prst="roundRect">
            <a:avLst>
              <a:gd name="adj" fmla="val 8333"/>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572000" y="2032000"/>
            <a:ext cx="508000" cy="508000"/>
          </a:xfrm>
          <a:prstGeom prst="rect">
            <a:avLst/>
          </a:prstGeom>
        </p:spPr>
      </p:pic>
      <p:sp>
        <p:nvSpPr>
          <p:cNvPr name="AutoShape 21" id="21"/>
          <p:cNvSpPr/>
          <p:nvPr/>
        </p:nvSpPr>
        <p:spPr>
          <a:xfrm rot="0" flipH="false" flipV="false">
            <a:off x="5207000" y="1968500"/>
            <a:ext cx="609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数据存储机制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所有历史对话均存储在 memory.json 文件中。每次新对话开始时，系统会加载全部历史记录，但在构建发送给模型的上下文时，仅截取最近的20轮对话。</a:t>
            </a:r>
          </a:p>
        </p:txBody>
      </p:sp>
      <p:sp>
        <p:nvSpPr>
          <p:cNvPr name="AutoShape 22" id="22"/>
          <p:cNvSpPr/>
          <p:nvPr/>
        </p:nvSpPr>
        <p:spPr>
          <a:xfrm rot="0" flipH="false" flipV="false">
            <a:off x="4318000" y="3492500"/>
            <a:ext cx="7112000" cy="1524000"/>
          </a:xfrm>
          <a:prstGeom prst="roundRect">
            <a:avLst>
              <a:gd name="adj" fmla="val 8333"/>
            </a:avLst>
          </a:prstGeom>
          <a:solidFill>
            <a:srgbClr val="FF0000">
              <a:alpha val="5000"/>
            </a:srgbClr>
          </a:solidFill>
          <a:ln w="12700" cmpd="sng" cap="flat">
            <a:solidFill>
              <a:srgbClr val="FF0000">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572000" y="3746500"/>
            <a:ext cx="508000" cy="508000"/>
          </a:xfrm>
          <a:prstGeom prst="rect">
            <a:avLst/>
          </a:prstGeom>
        </p:spPr>
      </p:pic>
      <p:sp>
        <p:nvSpPr>
          <p:cNvPr name="AutoShape 24" id="24"/>
          <p:cNvSpPr/>
          <p:nvPr/>
        </p:nvSpPr>
        <p:spPr>
          <a:xfrm rot="0" flipH="false" flipV="false">
            <a:off x="5207000" y="3683000"/>
            <a:ext cx="609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0000"/>
                </a:solidFill>
                <a:latin typeface="Noto Sans SC"/>
                <a:ea typeface="Noto Sans SC"/>
                <a:cs typeface="Noto Sans SC"/>
                <a:sym typeface="Noto Sans SC"/>
              </a:rPr>
              <a:t>关键瓶颈分析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v1 版本采用简单粗暴的“一刀切”策略，无论旧信息是否重要，超过20轮即被丢弃。这导致了模型在长对话中出现严重的“失忆”现象，无法记住早期的关键指令。</a:t>
            </a:r>
          </a:p>
        </p:txBody>
      </p:sp>
      <p:sp>
        <p:nvSpPr>
          <p:cNvPr name="AutoShape 25" id="25"/>
          <p:cNvSpPr/>
          <p:nvPr/>
        </p:nvSpPr>
        <p:spPr>
          <a:xfrm rot="0" flipH="false" flipV="false">
            <a:off x="4318000" y="5207000"/>
            <a:ext cx="7112000" cy="889000"/>
          </a:xfrm>
          <a:prstGeom prst="roundRect">
            <a:avLst>
              <a:gd name="adj" fmla="val 14285"/>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4572000" y="5448300"/>
            <a:ext cx="406400" cy="406400"/>
          </a:xfrm>
          <a:prstGeom prst="rect">
            <a:avLst/>
          </a:prstGeom>
        </p:spPr>
      </p:pic>
      <p:sp>
        <p:nvSpPr>
          <p:cNvPr name="AutoShape 27" id="27"/>
          <p:cNvSpPr/>
          <p:nvPr/>
        </p:nvSpPr>
        <p:spPr>
          <a:xfrm rot="0" flipH="false" flipV="false">
            <a:off x="5207000" y="5334000"/>
            <a:ext cx="609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输出结果：返回回复并更新存储</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ClawBot v1 核心代码</a:t>
            </a:r>
            <a:endParaRPr lang="en-US" sz="1100"/>
          </a:p>
        </p:txBody>
      </p:sp>
      <p:sp>
        <p:nvSpPr>
          <p:cNvPr name="AutoShape 4" id="4"/>
          <p:cNvSpPr/>
          <p:nvPr/>
        </p:nvSpPr>
        <p:spPr>
          <a:xfrm rot="0" flipH="false" flipV="false">
            <a:off x="762000" y="2032000"/>
            <a:ext cx="10668000" cy="3556000"/>
          </a:xfrm>
          <a:prstGeom prst="roundRect">
            <a:avLst>
              <a:gd name="adj" fmla="val 357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86000"/>
            <a:ext cx="1016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3C5FD"/>
                </a:solidFill>
                <a:latin typeface="Roboto Mono"/>
                <a:ea typeface="Roboto Mono"/>
                <a:cs typeface="Roboto Mono"/>
                <a:sym typeface="Roboto Mono"/>
              </a:rPr>
              <a:t>def</a:t>
            </a:r>
            <a:r>
              <a:rPr lang="en-US" b="false" i="false" strike="noStrike" u="none" sz="1400">
                <a:solidFill>
                  <a:srgbClr val="FFFFFF"/>
                </a:solidFill>
                <a:latin typeface="Roboto Mono"/>
                <a:ea typeface="Roboto Mono"/>
                <a:cs typeface="Roboto Mono"/>
                <a:sym typeface="Roboto Mono"/>
              </a:rPr>
              <a:t>chat(self, user_id:</a:t>
            </a:r>
            <a:r>
              <a:rPr lang="en-US" b="false" i="false" strike="noStrike" u="none" sz="1400">
                <a:solidFill>
                  <a:srgbClr val="A7F3D0"/>
                </a:solidFill>
                <a:latin typeface="Roboto Mono"/>
                <a:ea typeface="Roboto Mono"/>
                <a:cs typeface="Roboto Mono"/>
                <a:sym typeface="Roboto Mono"/>
              </a:rPr>
              <a:t>str</a:t>
            </a:r>
            <a:r>
              <a:rPr lang="en-US" b="false" i="false" strike="noStrike" u="none" sz="1400">
                <a:solidFill>
                  <a:srgbClr val="FFFFFF"/>
                </a:solidFill>
                <a:latin typeface="Roboto Mono"/>
                <a:ea typeface="Roboto Mono"/>
                <a:cs typeface="Roboto Mono"/>
                <a:sym typeface="Roboto Mono"/>
              </a:rPr>
              <a:t>, message:</a:t>
            </a:r>
            <a:r>
              <a:rPr lang="en-US" b="false" i="false" strike="noStrike" u="none" sz="1400">
                <a:solidFill>
                  <a:srgbClr val="A7F3D0"/>
                </a:solidFill>
                <a:latin typeface="Roboto Mono"/>
                <a:ea typeface="Roboto Mono"/>
                <a:cs typeface="Roboto Mono"/>
                <a:sym typeface="Roboto Mono"/>
              </a:rPr>
              <a:t>str</a:t>
            </a:r>
            <a:r>
              <a:rPr lang="en-US" b="false" i="false" strike="noStrike" u="none" sz="1400">
                <a:solidFill>
                  <a:srgbClr val="FFFFFF"/>
                </a:solidFill>
                <a:latin typeface="Roboto Mono"/>
                <a:ea typeface="Roboto Mono"/>
                <a:cs typeface="Roboto Mono"/>
                <a:sym typeface="Roboto Mono"/>
              </a:rPr>
              <a:t>) -&gt;</a:t>
            </a:r>
            <a:r>
              <a:rPr lang="en-US" b="false" i="false" strike="noStrike" u="none" sz="1400">
                <a:solidFill>
                  <a:srgbClr val="A7F3D0"/>
                </a:solidFill>
                <a:latin typeface="Roboto Mono"/>
                <a:ea typeface="Roboto Mono"/>
                <a:cs typeface="Roboto Mono"/>
                <a:sym typeface="Roboto Mono"/>
              </a:rPr>
              <a:t>str</a:t>
            </a:r>
            <a:r>
              <a:rPr lang="en-US" b="false" i="false" strike="noStrike" u="none" sz="1400">
                <a:solidFill>
                  <a:srgbClr val="FFFFFF"/>
                </a:solidFill>
                <a:latin typeface="Roboto Mono"/>
                <a:ea typeface="Roboto Mono"/>
                <a:cs typeface="Roboto Mono"/>
                <a:sym typeface="Roboto Mono"/>
              </a:rPr>
              <a:t>:</a:t>
            </a:r>
            <a:endParaRPr lang="en-US" sz="1100"/>
          </a:p>
        </p:txBody>
      </p:sp>
      <p:sp>
        <p:nvSpPr>
          <p:cNvPr name="AutoShape 6" id="6"/>
          <p:cNvSpPr/>
          <p:nvPr/>
        </p:nvSpPr>
        <p:spPr>
          <a:xfrm rot="0" flipH="false" flipV="false">
            <a:off x="1016000" y="2641600"/>
            <a:ext cx="1016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Roboto Mono"/>
                <a:ea typeface="Roboto Mono"/>
                <a:cs typeface="Roboto Mono"/>
                <a:sym typeface="Roboto Mono"/>
              </a:rPr>
              <a:t>history = self.conversations.get(user_id, [])</a:t>
            </a:r>
            <a:endParaRPr lang="en-US" sz="1100"/>
          </a:p>
        </p:txBody>
      </p:sp>
      <p:sp>
        <p:nvSpPr>
          <p:cNvPr name="AutoShape 7" id="7"/>
          <p:cNvSpPr/>
          <p:nvPr/>
        </p:nvSpPr>
        <p:spPr>
          <a:xfrm rot="0" flipH="false" flipV="false">
            <a:off x="1016000" y="2997200"/>
            <a:ext cx="1016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Roboto Mono"/>
                <a:ea typeface="Roboto Mono"/>
                <a:cs typeface="Roboto Mono"/>
                <a:sym typeface="Roboto Mono"/>
              </a:rPr>
              <a:t>messages = [{</a:t>
            </a:r>
            <a:r>
              <a:rPr lang="en-US" b="false" i="false" strike="noStrike" u="none" sz="1400">
                <a:solidFill>
                  <a:srgbClr val="A7F3D0"/>
                </a:solidFill>
                <a:latin typeface="Roboto Mono"/>
                <a:ea typeface="Roboto Mono"/>
                <a:cs typeface="Roboto Mono"/>
                <a:sym typeface="Roboto Mono"/>
              </a:rPr>
              <a:t>"role"</a:t>
            </a:r>
            <a:r>
              <a:rPr lang="en-US" b="false" i="false" strike="noStrike" u="none" sz="1400">
                <a:solidFill>
                  <a:srgbClr val="FFFFFF"/>
                </a:solidFill>
                <a:latin typeface="Roboto Mono"/>
                <a:ea typeface="Roboto Mono"/>
                <a:cs typeface="Roboto Mono"/>
                <a:sym typeface="Roboto Mono"/>
              </a:rPr>
              <a:t>:</a:t>
            </a:r>
            <a:r>
              <a:rPr lang="en-US" b="false" i="false" strike="noStrike" u="none" sz="1400">
                <a:solidFill>
                  <a:srgbClr val="A7F3D0"/>
                </a:solidFill>
                <a:latin typeface="Roboto Mono"/>
                <a:ea typeface="Roboto Mono"/>
                <a:cs typeface="Roboto Mono"/>
                <a:sym typeface="Roboto Mono"/>
              </a:rPr>
              <a:t>"system"</a:t>
            </a:r>
            <a:r>
              <a:rPr lang="en-US" b="false" i="false" strike="noStrike" u="none" sz="1400">
                <a:solidFill>
                  <a:srgbClr val="FFFFFF"/>
                </a:solidFill>
                <a:latin typeface="Roboto Mono"/>
                <a:ea typeface="Roboto Mono"/>
                <a:cs typeface="Roboto Mono"/>
                <a:sym typeface="Roboto Mono"/>
              </a:rPr>
              <a:t>,</a:t>
            </a:r>
            <a:r>
              <a:rPr lang="en-US" b="false" i="false" strike="noStrike" u="none" sz="1400">
                <a:solidFill>
                  <a:srgbClr val="A7F3D0"/>
                </a:solidFill>
                <a:latin typeface="Roboto Mono"/>
                <a:ea typeface="Roboto Mono"/>
                <a:cs typeface="Roboto Mono"/>
                <a:sym typeface="Roboto Mono"/>
              </a:rPr>
              <a:t>"content"</a:t>
            </a:r>
            <a:r>
              <a:rPr lang="en-US" b="false" i="false" strike="noStrike" u="none" sz="1400">
                <a:solidFill>
                  <a:srgbClr val="FFFFFF"/>
                </a:solidFill>
                <a:latin typeface="Roboto Mono"/>
                <a:ea typeface="Roboto Mono"/>
                <a:cs typeface="Roboto Mono"/>
                <a:sym typeface="Roboto Mono"/>
              </a:rPr>
              <a:t>:</a:t>
            </a:r>
            <a:r>
              <a:rPr lang="en-US" b="false" i="false" strike="noStrike" u="none" sz="1400">
                <a:solidFill>
                  <a:srgbClr val="A7F3D0"/>
                </a:solidFill>
                <a:latin typeface="Roboto Mono"/>
                <a:ea typeface="Roboto Mono"/>
                <a:cs typeface="Roboto Mono"/>
                <a:sym typeface="Roboto Mono"/>
              </a:rPr>
              <a:t>"你是一个有用的AI助手。"</a:t>
            </a:r>
            <a:r>
              <a:rPr lang="en-US" b="false" i="false" strike="noStrike" u="none" sz="1400">
                <a:solidFill>
                  <a:srgbClr val="FFFFFF"/>
                </a:solidFill>
                <a:latin typeface="Roboto Mono"/>
                <a:ea typeface="Roboto Mono"/>
                <a:cs typeface="Roboto Mono"/>
                <a:sym typeface="Roboto Mono"/>
              </a:rPr>
              <a:t>}]</a:t>
            </a:r>
            <a:endParaRPr lang="en-US" sz="1100"/>
          </a:p>
        </p:txBody>
      </p:sp>
      <p:sp>
        <p:nvSpPr>
          <p:cNvPr name="AutoShape 8" id="8"/>
          <p:cNvSpPr/>
          <p:nvPr/>
        </p:nvSpPr>
        <p:spPr>
          <a:xfrm rot="0" flipH="false" flipV="false">
            <a:off x="1016000" y="3352800"/>
            <a:ext cx="1016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Roboto Mono"/>
                <a:ea typeface="Roboto Mono"/>
                <a:cs typeface="Roboto Mono"/>
                <a:sym typeface="Roboto Mono"/>
              </a:rPr>
              <a:t>+ history + [{</a:t>
            </a:r>
            <a:r>
              <a:rPr lang="en-US" b="false" i="false" strike="noStrike" u="none" sz="1400">
                <a:solidFill>
                  <a:srgbClr val="A7F3D0"/>
                </a:solidFill>
                <a:latin typeface="Roboto Mono"/>
                <a:ea typeface="Roboto Mono"/>
                <a:cs typeface="Roboto Mono"/>
                <a:sym typeface="Roboto Mono"/>
              </a:rPr>
              <a:t>"role"</a:t>
            </a:r>
            <a:r>
              <a:rPr lang="en-US" b="false" i="false" strike="noStrike" u="none" sz="1400">
                <a:solidFill>
                  <a:srgbClr val="FFFFFF"/>
                </a:solidFill>
                <a:latin typeface="Roboto Mono"/>
                <a:ea typeface="Roboto Mono"/>
                <a:cs typeface="Roboto Mono"/>
                <a:sym typeface="Roboto Mono"/>
              </a:rPr>
              <a:t>:</a:t>
            </a:r>
            <a:r>
              <a:rPr lang="en-US" b="false" i="false" strike="noStrike" u="none" sz="1400">
                <a:solidFill>
                  <a:srgbClr val="A7F3D0"/>
                </a:solidFill>
                <a:latin typeface="Roboto Mono"/>
                <a:ea typeface="Roboto Mono"/>
                <a:cs typeface="Roboto Mono"/>
                <a:sym typeface="Roboto Mono"/>
              </a:rPr>
              <a:t>"user"</a:t>
            </a:r>
            <a:r>
              <a:rPr lang="en-US" b="false" i="false" strike="noStrike" u="none" sz="1400">
                <a:solidFill>
                  <a:srgbClr val="FFFFFF"/>
                </a:solidFill>
                <a:latin typeface="Roboto Mono"/>
                <a:ea typeface="Roboto Mono"/>
                <a:cs typeface="Roboto Mono"/>
                <a:sym typeface="Roboto Mono"/>
              </a:rPr>
              <a:t>,</a:t>
            </a:r>
            <a:r>
              <a:rPr lang="en-US" b="false" i="false" strike="noStrike" u="none" sz="1400">
                <a:solidFill>
                  <a:srgbClr val="A7F3D0"/>
                </a:solidFill>
                <a:latin typeface="Roboto Mono"/>
                <a:ea typeface="Roboto Mono"/>
                <a:cs typeface="Roboto Mono"/>
                <a:sym typeface="Roboto Mono"/>
              </a:rPr>
              <a:t>"content"</a:t>
            </a:r>
            <a:r>
              <a:rPr lang="en-US" b="false" i="false" strike="noStrike" u="none" sz="1400">
                <a:solidFill>
                  <a:srgbClr val="FFFFFF"/>
                </a:solidFill>
                <a:latin typeface="Roboto Mono"/>
                <a:ea typeface="Roboto Mono"/>
                <a:cs typeface="Roboto Mono"/>
                <a:sym typeface="Roboto Mono"/>
              </a:rPr>
              <a:t>: message}]</a:t>
            </a:r>
            <a:endParaRPr lang="en-US" sz="1100"/>
          </a:p>
        </p:txBody>
      </p:sp>
      <p:sp>
        <p:nvSpPr>
          <p:cNvPr name="AutoShape 9" id="9"/>
          <p:cNvSpPr/>
          <p:nvPr/>
        </p:nvSpPr>
        <p:spPr>
          <a:xfrm rot="0" flipH="false" flipV="false">
            <a:off x="1016000" y="3708400"/>
            <a:ext cx="1016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Roboto Mono"/>
                <a:ea typeface="Roboto Mono"/>
                <a:cs typeface="Roboto Mono"/>
                <a:sym typeface="Roboto Mono"/>
              </a:rPr>
              <a:t>response = openai.ChatCompletion.create(model=</a:t>
            </a:r>
            <a:r>
              <a:rPr lang="en-US" b="false" i="false" strike="noStrike" u="none" sz="1400">
                <a:solidFill>
                  <a:srgbClr val="A7F3D0"/>
                </a:solidFill>
                <a:latin typeface="Roboto Mono"/>
                <a:ea typeface="Roboto Mono"/>
                <a:cs typeface="Roboto Mono"/>
                <a:sym typeface="Roboto Mono"/>
              </a:rPr>
              <a:t>"gpt-4"</a:t>
            </a:r>
            <a:r>
              <a:rPr lang="en-US" b="false" i="false" strike="noStrike" u="none" sz="1400">
                <a:solidFill>
                  <a:srgbClr val="FFFFFF"/>
                </a:solidFill>
                <a:latin typeface="Roboto Mono"/>
                <a:ea typeface="Roboto Mono"/>
                <a:cs typeface="Roboto Mono"/>
                <a:sym typeface="Roboto Mono"/>
              </a:rPr>
              <a:t>, messages=messages)</a:t>
            </a:r>
            <a:endParaRPr lang="en-US" sz="1100"/>
          </a:p>
        </p:txBody>
      </p:sp>
      <p:sp>
        <p:nvSpPr>
          <p:cNvPr name="AutoShape 10" id="10"/>
          <p:cNvSpPr/>
          <p:nvPr/>
        </p:nvSpPr>
        <p:spPr>
          <a:xfrm rot="0" flipH="false" flipV="false">
            <a:off x="1016000" y="4038600"/>
            <a:ext cx="10160000" cy="406400"/>
          </a:xfrm>
          <a:prstGeom prst="roundRect">
            <a:avLst>
              <a:gd name="adj" fmla="val 15625"/>
            </a:avLst>
          </a:prstGeom>
          <a:solidFill>
            <a:srgbClr val="FFFF00">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143000" y="4089400"/>
            <a:ext cx="990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Roboto Mono"/>
                <a:ea typeface="Roboto Mono"/>
                <a:cs typeface="Roboto Mono"/>
                <a:sym typeface="Roboto Mono"/>
              </a:rPr>
              <a:t>self.conversations[user_id] = history[-20:] # 仅保留最近20条记录</a:t>
            </a:r>
            <a:endParaRPr lang="en-US" sz="1100"/>
          </a:p>
        </p:txBody>
      </p:sp>
      <p:sp>
        <p:nvSpPr>
          <p:cNvPr name="AutoShape 12" id="12"/>
          <p:cNvSpPr/>
          <p:nvPr/>
        </p:nvSpPr>
        <p:spPr>
          <a:xfrm rot="0" flipH="false" flipV="false">
            <a:off x="1016000" y="4495800"/>
            <a:ext cx="1016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Roboto Mono"/>
                <a:ea typeface="Roboto Mono"/>
                <a:cs typeface="Roboto Mono"/>
                <a:sym typeface="Roboto Mono"/>
              </a:rPr>
              <a:t>self._save_memory()</a:t>
            </a:r>
            <a:endParaRPr lang="en-US" sz="1100"/>
          </a:p>
        </p:txBody>
      </p:sp>
      <p:pic>
        <p:nvPicPr>
          <p:cNvPr name="Picture 13" id="1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5715000"/>
            <a:ext cx="304800" cy="304800"/>
          </a:xfrm>
          <a:prstGeom prst="rect">
            <a:avLst/>
          </a:prstGeom>
        </p:spPr>
      </p:pic>
      <p:sp>
        <p:nvSpPr>
          <p:cNvPr name="AutoShape 14" id="14"/>
          <p:cNvSpPr/>
          <p:nvPr/>
        </p:nvSpPr>
        <p:spPr>
          <a:xfrm rot="0" flipH="false" flipV="false">
            <a:off x="1143000" y="5689600"/>
            <a:ext cx="952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关键问题：代码中使用了</a:t>
            </a:r>
            <a:r>
              <a:rPr lang="en-US" b="true" i="false" strike="noStrike" u="none" sz="1400">
                <a:solidFill>
                  <a:srgbClr val="FFFF00"/>
                </a:solidFill>
                <a:latin typeface="Roboto Mono"/>
                <a:ea typeface="Roboto Mono"/>
                <a:cs typeface="Roboto Mono"/>
                <a:sym typeface="Roboto Mono"/>
              </a:rPr>
              <a:t>history[-20:]</a:t>
            </a:r>
            <a:r>
              <a:rPr lang="en-US" b="false" i="false" strike="noStrike" u="none" sz="1400">
                <a:solidFill>
                  <a:srgbClr val="D1D5DB"/>
                </a:solidFill>
                <a:latin typeface="Noto Sans SC"/>
                <a:ea typeface="Noto Sans SC"/>
                <a:cs typeface="Noto Sans SC"/>
                <a:sym typeface="Noto Sans SC"/>
              </a:rPr>
              <a:t>机械截断历史记录，导致旧记忆丢失。</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ClawBot v1 最大的问题是什么？</a:t>
            </a:r>
            <a:endParaRPr lang="en-US" sz="1100"/>
          </a:p>
        </p:txBody>
      </p:sp>
      <p:sp>
        <p:nvSpPr>
          <p:cNvPr name="AutoShape 4" id="4"/>
          <p:cNvSpPr/>
          <p:nvPr/>
        </p:nvSpPr>
        <p:spPr>
          <a:xfrm rot="0" flipH="false" flipV="false">
            <a:off x="762000" y="20320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406400" cy="406400"/>
          </a:xfrm>
          <a:prstGeom prst="rect">
            <a:avLst/>
          </a:prstGeom>
        </p:spPr>
      </p:pic>
      <p:sp>
        <p:nvSpPr>
          <p:cNvPr name="AutoShape 6" id="6"/>
          <p:cNvSpPr/>
          <p:nvPr/>
        </p:nvSpPr>
        <p:spPr>
          <a:xfrm rot="0" flipH="false" flipV="false">
            <a:off x="1651000" y="2286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 20轮太少，改成200轮</a:t>
            </a:r>
            <a:endParaRPr lang="en-US" sz="1100"/>
          </a:p>
        </p:txBody>
      </p:sp>
      <p:sp>
        <p:nvSpPr>
          <p:cNvPr name="AutoShape 7" id="7"/>
          <p:cNvSpPr/>
          <p:nvPr/>
        </p:nvSpPr>
        <p:spPr>
          <a:xfrm rot="0" flipH="false" flipV="false">
            <a:off x="762000" y="32385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66800" y="3543300"/>
            <a:ext cx="406400" cy="406400"/>
          </a:xfrm>
          <a:prstGeom prst="rect">
            <a:avLst/>
          </a:prstGeom>
        </p:spPr>
      </p:pic>
      <p:sp>
        <p:nvSpPr>
          <p:cNvPr name="AutoShape 9" id="9"/>
          <p:cNvSpPr/>
          <p:nvPr/>
        </p:nvSpPr>
        <p:spPr>
          <a:xfrm rot="0" flipH="false" flipV="false">
            <a:off x="1651000" y="3492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B. 不区分重要性，一刀切丢弃</a:t>
            </a:r>
            <a:endParaRPr lang="en-US" sz="1100"/>
          </a:p>
        </p:txBody>
      </p:sp>
      <p:sp>
        <p:nvSpPr>
          <p:cNvPr name="AutoShape 10" id="10"/>
          <p:cNvSpPr/>
          <p:nvPr/>
        </p:nvSpPr>
        <p:spPr>
          <a:xfrm rot="0" flipH="false" flipV="false">
            <a:off x="762000" y="44450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66800" y="4749800"/>
            <a:ext cx="406400" cy="406400"/>
          </a:xfrm>
          <a:prstGeom prst="rect">
            <a:avLst/>
          </a:prstGeom>
        </p:spPr>
      </p:pic>
      <p:sp>
        <p:nvSpPr>
          <p:cNvPr name="AutoShape 12" id="12"/>
          <p:cNvSpPr/>
          <p:nvPr/>
        </p:nvSpPr>
        <p:spPr>
          <a:xfrm rot="0" flipH="false" flipV="false">
            <a:off x="1651000" y="4699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C. 应该用数据库替代JSON文件</a:t>
            </a:r>
            <a:endParaRPr lang="en-US" sz="1100"/>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2000" y="5715000"/>
            <a:ext cx="254000" cy="254000"/>
          </a:xfrm>
          <a:prstGeom prst="rect">
            <a:avLst/>
          </a:prstGeom>
        </p:spPr>
      </p:pic>
      <p:sp>
        <p:nvSpPr>
          <p:cNvPr name="AutoShape 14" id="14"/>
          <p:cNvSpPr/>
          <p:nvPr/>
        </p:nvSpPr>
        <p:spPr>
          <a:xfrm rot="0" flipH="false" flipV="false">
            <a:off x="1117600" y="5689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思考时间：30秒...</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JSON存储的四大缺陷</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10668000" cy="635000"/>
          </a:xfrm>
          <a:prstGeom prst="roundRect">
            <a:avLst>
              <a:gd name="adj" fmla="val 0"/>
            </a:avLst>
          </a:prstGeom>
          <a:solidFill>
            <a:srgbClr val="00BFFF">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97100"/>
            <a:ext cx="304800" cy="304800"/>
          </a:xfrm>
          <a:prstGeom prst="rect">
            <a:avLst/>
          </a:prstGeom>
        </p:spPr>
      </p:pic>
      <p:sp>
        <p:nvSpPr>
          <p:cNvPr name="AutoShape 7" id="7"/>
          <p:cNvSpPr/>
          <p:nvPr/>
        </p:nvSpPr>
        <p:spPr>
          <a:xfrm rot="0" flipH="false" flipV="false">
            <a:off x="1397000" y="2159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核心缺陷</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2197100"/>
            <a:ext cx="304800" cy="304800"/>
          </a:xfrm>
          <a:prstGeom prst="rect">
            <a:avLst/>
          </a:prstGeom>
        </p:spPr>
      </p:pic>
      <p:sp>
        <p:nvSpPr>
          <p:cNvPr name="AutoShape 9" id="9"/>
          <p:cNvSpPr/>
          <p:nvPr/>
        </p:nvSpPr>
        <p:spPr>
          <a:xfrm rot="0" flipH="false" flipV="false">
            <a:off x="4953000" y="2159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具体表现</a:t>
            </a:r>
            <a:endParaRPr lang="en-US" sz="1100"/>
          </a:p>
        </p:txBody>
      </p:sp>
      <p:cxnSp>
        <p:nvCxnSpPr>
          <p:cNvPr name="Connector 10" id="10"/>
          <p:cNvCxnSpPr/>
          <p:nvPr/>
        </p:nvCxnSpPr>
        <p:spPr>
          <a:xfrm rot="-4092" flipH="false" flipV="false">
            <a:off x="762004" y="2660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2857500"/>
            <a:ext cx="254000" cy="254000"/>
          </a:xfrm>
          <a:prstGeom prst="rect">
            <a:avLst/>
          </a:prstGeom>
        </p:spPr>
      </p:pic>
      <p:sp>
        <p:nvSpPr>
          <p:cNvPr name="AutoShape 12" id="12"/>
          <p:cNvSpPr/>
          <p:nvPr/>
        </p:nvSpPr>
        <p:spPr>
          <a:xfrm rot="0" flipH="false" flipV="false">
            <a:off x="1397000" y="28194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无法跨会话检索</a:t>
            </a:r>
            <a:endParaRPr lang="en-US" sz="1100"/>
          </a:p>
        </p:txBody>
      </p:sp>
      <p:sp>
        <p:nvSpPr>
          <p:cNvPr name="AutoShape 13" id="13"/>
          <p:cNvSpPr/>
          <p:nvPr/>
        </p:nvSpPr>
        <p:spPr>
          <a:xfrm rot="0" flipH="false" flipV="false">
            <a:off x="4572000" y="2819400"/>
            <a:ext cx="584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超过20轮对话后，历史上下文信息永久丢失，无法回溯。</a:t>
            </a:r>
            <a:endParaRPr lang="en-US" sz="1100"/>
          </a:p>
        </p:txBody>
      </p:sp>
      <p:cxnSp>
        <p:nvCxnSpPr>
          <p:cNvPr name="Connector 14" id="14"/>
          <p:cNvCxnSpPr/>
          <p:nvPr/>
        </p:nvCxnSpPr>
        <p:spPr>
          <a:xfrm rot="-4092" flipH="false" flipV="false">
            <a:off x="762004" y="3295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492500"/>
            <a:ext cx="254000" cy="254000"/>
          </a:xfrm>
          <a:prstGeom prst="rect">
            <a:avLst/>
          </a:prstGeom>
        </p:spPr>
      </p:pic>
      <p:sp>
        <p:nvSpPr>
          <p:cNvPr name="AutoShape 16" id="16"/>
          <p:cNvSpPr/>
          <p:nvPr/>
        </p:nvSpPr>
        <p:spPr>
          <a:xfrm rot="0" flipH="false" flipV="false">
            <a:off x="1397000" y="34544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缺乏语义理解能力</a:t>
            </a:r>
            <a:endParaRPr lang="en-US" sz="1100"/>
          </a:p>
        </p:txBody>
      </p:sp>
      <p:sp>
        <p:nvSpPr>
          <p:cNvPr name="AutoShape 17" id="17"/>
          <p:cNvSpPr/>
          <p:nvPr/>
        </p:nvSpPr>
        <p:spPr>
          <a:xfrm rot="0" flipH="false" flipV="false">
            <a:off x="4572000" y="3454400"/>
            <a:ext cx="584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无法识别同义词，例如搜索“API密钥”无法匹配到“API key”。</a:t>
            </a:r>
            <a:endParaRPr lang="en-US" sz="1100"/>
          </a:p>
        </p:txBody>
      </p:sp>
      <p:cxnSp>
        <p:nvCxnSpPr>
          <p:cNvPr name="Connector 18" id="18"/>
          <p:cNvCxnSpPr/>
          <p:nvPr/>
        </p:nvCxnSpPr>
        <p:spPr>
          <a:xfrm rot="-4092" flipH="false" flipV="false">
            <a:off x="762004" y="3930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4127500"/>
            <a:ext cx="254000" cy="254000"/>
          </a:xfrm>
          <a:prstGeom prst="rect">
            <a:avLst/>
          </a:prstGeom>
        </p:spPr>
      </p:pic>
      <p:sp>
        <p:nvSpPr>
          <p:cNvPr name="AutoShape 20" id="20"/>
          <p:cNvSpPr/>
          <p:nvPr/>
        </p:nvSpPr>
        <p:spPr>
          <a:xfrm rot="0" flipH="false" flipV="false">
            <a:off x="1397000" y="40894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文件膨胀问题</a:t>
            </a:r>
            <a:endParaRPr lang="en-US" sz="1100"/>
          </a:p>
        </p:txBody>
      </p:sp>
      <p:sp>
        <p:nvSpPr>
          <p:cNvPr name="AutoShape 21" id="21"/>
          <p:cNvSpPr/>
          <p:nvPr/>
        </p:nvSpPr>
        <p:spPr>
          <a:xfrm rot="0" flipH="false" flipV="false">
            <a:off x="4572000" y="4089400"/>
            <a:ext cx="584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所有用户数据挤在一个文件中，随着使用时间增长，文件体积急剧增大。</a:t>
            </a:r>
            <a:endParaRPr lang="en-US" sz="1100"/>
          </a:p>
        </p:txBody>
      </p:sp>
      <p:cxnSp>
        <p:nvCxnSpPr>
          <p:cNvPr name="Connector 22" id="22"/>
          <p:cNvCxnSpPr/>
          <p:nvPr/>
        </p:nvCxnSpPr>
        <p:spPr>
          <a:xfrm rot="-4092" flipH="false" flipV="false">
            <a:off x="762004" y="4565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1016000" y="4762500"/>
            <a:ext cx="254000" cy="254000"/>
          </a:xfrm>
          <a:prstGeom prst="rect">
            <a:avLst/>
          </a:prstGeom>
        </p:spPr>
      </p:pic>
      <p:sp>
        <p:nvSpPr>
          <p:cNvPr name="AutoShape 24" id="24"/>
          <p:cNvSpPr/>
          <p:nvPr/>
        </p:nvSpPr>
        <p:spPr>
          <a:xfrm rot="0" flipH="false" flipV="false">
            <a:off x="1397000" y="47244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无法区分信息重要性</a:t>
            </a:r>
            <a:endParaRPr lang="en-US" sz="1100"/>
          </a:p>
        </p:txBody>
      </p:sp>
      <p:sp>
        <p:nvSpPr>
          <p:cNvPr name="AutoShape 25" id="25"/>
          <p:cNvSpPr/>
          <p:nvPr/>
        </p:nvSpPr>
        <p:spPr>
          <a:xfrm rot="0" flipH="false" flipV="false">
            <a:off x="4572000" y="4724400"/>
            <a:ext cx="584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将闲聊内容与关键业务信息混为一谈，无法进行优先级区分。</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对话记录 ≠ 记忆</a:t>
            </a:r>
            <a:endParaRPr lang="en-US" sz="1100"/>
          </a:p>
        </p:txBody>
      </p:sp>
      <p:sp>
        <p:nvSpPr>
          <p:cNvPr name="AutoShape 4" id="4"/>
          <p:cNvSpPr/>
          <p:nvPr/>
        </p:nvSpPr>
        <p:spPr>
          <a:xfrm rot="0" flipH="false" flipV="false">
            <a:off x="762000" y="2032000"/>
            <a:ext cx="5080000" cy="3048000"/>
          </a:xfrm>
          <a:prstGeom prst="roundRect">
            <a:avLst>
              <a:gd name="adj" fmla="val 41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609600" cy="609600"/>
          </a:xfrm>
          <a:prstGeom prst="rect">
            <a:avLst/>
          </a:prstGeom>
        </p:spPr>
      </p:pic>
      <p:sp>
        <p:nvSpPr>
          <p:cNvPr name="AutoShape 6" id="6"/>
          <p:cNvSpPr/>
          <p:nvPr/>
        </p:nvSpPr>
        <p:spPr>
          <a:xfrm rot="0" flipH="false" flipV="false">
            <a:off x="1905000" y="2476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E2E8F0"/>
                </a:solidFill>
                <a:latin typeface="Noto Sans SC"/>
                <a:ea typeface="Noto Sans SC"/>
                <a:cs typeface="Noto Sans SC"/>
                <a:sym typeface="Noto Sans SC"/>
              </a:rPr>
              <a:t>对话记录 (Chat Log)</a:t>
            </a:r>
            <a:endParaRPr lang="en-US" sz="1100"/>
          </a:p>
        </p:txBody>
      </p:sp>
      <p:cxnSp>
        <p:nvCxnSpPr>
          <p:cNvPr name="Connector 7" id="7"/>
          <p:cNvCxnSpPr/>
          <p:nvPr/>
        </p:nvCxnSpPr>
        <p:spPr>
          <a:xfrm rot="-10110" flipH="false" flipV="false">
            <a:off x="1143009" y="3105150"/>
            <a:ext cx="431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8" id="8"/>
          <p:cNvSpPr/>
          <p:nvPr/>
        </p:nvSpPr>
        <p:spPr>
          <a:xfrm rot="0" flipH="false" flipV="false">
            <a:off x="1143000" y="3302000"/>
            <a:ext cx="431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94A3B8"/>
                </a:solidFill>
                <a:latin typeface="Noto Sans SC"/>
                <a:ea typeface="Noto Sans SC"/>
                <a:cs typeface="Noto Sans SC"/>
                <a:sym typeface="Noto Sans SC"/>
              </a:rPr>
              <a:t>仅仅是按时间顺序排列的原始数据，如同机械的流水账，缺乏深度理解。</a:t>
            </a:r>
            <a:endParaRPr lang="en-US" sz="1100"/>
          </a:p>
        </p:txBody>
      </p:sp>
      <p:sp>
        <p:nvSpPr>
          <p:cNvPr name="AutoShape 9" id="9"/>
          <p:cNvSpPr/>
          <p:nvPr/>
        </p:nvSpPr>
        <p:spPr>
          <a:xfrm rot="0" flipH="false" flipV="false">
            <a:off x="6350000" y="2032000"/>
            <a:ext cx="5080000" cy="3048000"/>
          </a:xfrm>
          <a:prstGeom prst="roundRect">
            <a:avLst>
              <a:gd name="adj" fmla="val 4166"/>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413000"/>
            <a:ext cx="609600" cy="609600"/>
          </a:xfrm>
          <a:prstGeom prst="rect">
            <a:avLst/>
          </a:prstGeom>
        </p:spPr>
      </p:pic>
      <p:sp>
        <p:nvSpPr>
          <p:cNvPr name="AutoShape 11" id="11"/>
          <p:cNvSpPr/>
          <p:nvPr/>
        </p:nvSpPr>
        <p:spPr>
          <a:xfrm rot="0" flipH="false" flipV="false">
            <a:off x="7493000" y="2476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记忆 (Memory)</a:t>
            </a:r>
            <a:endParaRPr lang="en-US" sz="1100"/>
          </a:p>
        </p:txBody>
      </p:sp>
      <p:cxnSp>
        <p:nvCxnSpPr>
          <p:cNvPr name="Connector 12" id="12"/>
          <p:cNvCxnSpPr/>
          <p:nvPr/>
        </p:nvCxnSpPr>
        <p:spPr>
          <a:xfrm rot="-10110" flipH="false" flipV="false">
            <a:off x="6731009" y="3105150"/>
            <a:ext cx="4318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13" id="13"/>
          <p:cNvSpPr/>
          <p:nvPr/>
        </p:nvSpPr>
        <p:spPr>
          <a:xfrm rot="0" flipH="false" flipV="false">
            <a:off x="6731000" y="3302000"/>
            <a:ext cx="431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2E8F0"/>
                </a:solidFill>
                <a:latin typeface="Noto Sans SC"/>
                <a:ea typeface="Noto Sans SC"/>
                <a:cs typeface="Noto Sans SC"/>
                <a:sym typeface="Noto Sans SC"/>
              </a:rPr>
              <a:t>经过理解、筛选和组织后的结构化知识，能够被系统灵活调用和应用。</a:t>
            </a:r>
            <a:endParaRPr lang="en-US" sz="1100"/>
          </a:p>
        </p:txBody>
      </p:sp>
      <p:sp>
        <p:nvSpPr>
          <p:cNvPr name="AutoShape 14" id="14"/>
          <p:cNvSpPr/>
          <p:nvPr/>
        </p:nvSpPr>
        <p:spPr>
          <a:xfrm rot="0" flipH="false" flipV="false">
            <a:off x="762000" y="5334000"/>
            <a:ext cx="10668000" cy="762000"/>
          </a:xfrm>
          <a:prstGeom prst="roundRect">
            <a:avLst>
              <a:gd name="adj" fmla="val 16666"/>
            </a:avLst>
          </a:prstGeom>
          <a:solidFill>
            <a:srgbClr val="FFFF00">
              <a:alpha val="10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562600"/>
            <a:ext cx="304800" cy="304800"/>
          </a:xfrm>
          <a:prstGeom prst="rect">
            <a:avLst/>
          </a:prstGeom>
        </p:spPr>
      </p:pic>
      <p:sp>
        <p:nvSpPr>
          <p:cNvPr name="AutoShape 16" id="16"/>
          <p:cNvSpPr/>
          <p:nvPr/>
        </p:nvSpPr>
        <p:spPr>
          <a:xfrm rot="0" flipH="false" flipV="false">
            <a:off x="1460500" y="5524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核心洞察：AI Agent与ChatBot的本质区别在于</a:t>
            </a:r>
            <a:r>
              <a:rPr lang="en-US" b="true" i="false" strike="noStrike" u="none" sz="1600">
                <a:solidFill>
                  <a:srgbClr val="FFFF00"/>
                </a:solidFill>
                <a:latin typeface="Noto Sans SC"/>
                <a:ea typeface="Noto Sans SC"/>
                <a:cs typeface="Noto Sans SC"/>
                <a:sym typeface="Noto Sans SC"/>
              </a:rPr>
              <a:t>“记忆的质量”</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如何让AI理解语义？</a:t>
            </a:r>
            <a:endParaRPr lang="en-US" sz="1100"/>
          </a:p>
        </p:txBody>
      </p:sp>
      <p:sp>
        <p:nvSpPr>
          <p:cNvPr name="AutoShape 4" id="4"/>
          <p:cNvSpPr/>
          <p:nvPr/>
        </p:nvSpPr>
        <p:spPr>
          <a:xfrm rot="0" flipH="false" flipV="false">
            <a:off x="762000" y="2286000"/>
            <a:ext cx="4826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540000"/>
            <a:ext cx="406400" cy="406400"/>
          </a:xfrm>
          <a:prstGeom prst="rect">
            <a:avLst/>
          </a:prstGeom>
        </p:spPr>
      </p:pic>
      <p:sp>
        <p:nvSpPr>
          <p:cNvPr name="AutoShape 6" id="6"/>
          <p:cNvSpPr/>
          <p:nvPr/>
        </p:nvSpPr>
        <p:spPr>
          <a:xfrm rot="0" flipH="false" flipV="false">
            <a:off x="1524000" y="2565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语义理解的挑战</a:t>
            </a:r>
            <a:endParaRPr lang="en-US" sz="1100"/>
          </a:p>
        </p:txBody>
      </p:sp>
      <p:cxnSp>
        <p:nvCxnSpPr>
          <p:cNvPr name="Connector 7" id="7"/>
          <p:cNvCxnSpPr/>
          <p:nvPr/>
        </p:nvCxnSpPr>
        <p:spPr>
          <a:xfrm rot="-10110" flipH="false" flipV="false">
            <a:off x="1016009" y="3041650"/>
            <a:ext cx="431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3238500"/>
            <a:ext cx="431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对于人类来说，“API密钥”和“API key”显然是同一回事。但传统的关键词匹配算法只能识别字符，无法理解深层含义。</a:t>
            </a:r>
            <a:endParaRPr lang="en-US" sz="1100"/>
          </a:p>
        </p:txBody>
      </p:sp>
      <p:sp>
        <p:nvSpPr>
          <p:cNvPr name="AutoShape 9" id="9"/>
          <p:cNvSpPr/>
          <p:nvPr/>
        </p:nvSpPr>
        <p:spPr>
          <a:xfrm rot="0" flipH="false" flipV="false">
            <a:off x="5842000" y="2286000"/>
            <a:ext cx="4826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096000" y="2540000"/>
            <a:ext cx="406400" cy="406400"/>
          </a:xfrm>
          <a:prstGeom prst="rect">
            <a:avLst/>
          </a:prstGeom>
        </p:spPr>
      </p:pic>
      <p:sp>
        <p:nvSpPr>
          <p:cNvPr name="AutoShape 11" id="11"/>
          <p:cNvSpPr/>
          <p:nvPr/>
        </p:nvSpPr>
        <p:spPr>
          <a:xfrm rot="0" flipH="false" flipV="false">
            <a:off x="6604000" y="2565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解决方案：向量 Embedding</a:t>
            </a:r>
            <a:endParaRPr lang="en-US" sz="1100"/>
          </a:p>
        </p:txBody>
      </p:sp>
      <p:cxnSp>
        <p:nvCxnSpPr>
          <p:cNvPr name="Connector 12" id="12"/>
          <p:cNvCxnSpPr/>
          <p:nvPr/>
        </p:nvCxnSpPr>
        <p:spPr>
          <a:xfrm rot="-10110" flipH="false" flipV="false">
            <a:off x="6096009" y="3041650"/>
            <a:ext cx="431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6096000" y="3238500"/>
            <a:ext cx="431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将文本转化为计算机可理解的“向量”，捕捉语义信息。即使表述不同，只要含义相近，向量空间中的距离就会很近。</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向量 Embedding</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1.2 -- 向量数据库基础</a:t>
            </a:r>
            <a:endParaRPr lang="en-US" sz="1100"/>
          </a:p>
        </p:txBody>
      </p:sp>
      <p:sp>
        <p:nvSpPr>
          <p:cNvPr name="AutoShape 5" id="5"/>
          <p:cNvSpPr/>
          <p:nvPr/>
        </p:nvSpPr>
        <p:spPr>
          <a:xfrm rot="0" flipH="false" flipV="false">
            <a:off x="762000" y="2413000"/>
            <a:ext cx="5080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717800"/>
            <a:ext cx="609600" cy="609600"/>
          </a:xfrm>
          <a:prstGeom prst="rect">
            <a:avLst/>
          </a:prstGeom>
        </p:spPr>
      </p:pic>
      <p:sp>
        <p:nvSpPr>
          <p:cNvPr name="AutoShape 7" id="7"/>
          <p:cNvSpPr/>
          <p:nvPr/>
        </p:nvSpPr>
        <p:spPr>
          <a:xfrm rot="0" flipH="false" flipV="false">
            <a:off x="1828800" y="2794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核心概念：映射转换</a:t>
            </a:r>
            <a:endParaRPr lang="en-US" sz="1100"/>
          </a:p>
        </p:txBody>
      </p:sp>
      <p:sp>
        <p:nvSpPr>
          <p:cNvPr name="AutoShape 8" id="8"/>
          <p:cNvSpPr/>
          <p:nvPr/>
        </p:nvSpPr>
        <p:spPr>
          <a:xfrm rot="0" flipH="false" flipV="false">
            <a:off x="1066800" y="3365500"/>
            <a:ext cx="4470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将人类可读的文本信息，通过算法映射到高维数字空间，转化为一组数值化的向量表示。</a:t>
            </a:r>
            <a:endParaRPr lang="en-US" sz="1100"/>
          </a:p>
        </p:txBody>
      </p:sp>
      <p:sp>
        <p:nvSpPr>
          <p:cNvPr name="AutoShape 9" id="9"/>
          <p:cNvSpPr/>
          <p:nvPr/>
        </p:nvSpPr>
        <p:spPr>
          <a:xfrm rot="0" flipH="false" flipV="false">
            <a:off x="6096000" y="2413000"/>
            <a:ext cx="5080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00800" y="2717800"/>
            <a:ext cx="609600" cy="609600"/>
          </a:xfrm>
          <a:prstGeom prst="rect">
            <a:avLst/>
          </a:prstGeom>
        </p:spPr>
      </p:pic>
      <p:sp>
        <p:nvSpPr>
          <p:cNvPr name="AutoShape 11" id="11"/>
          <p:cNvSpPr/>
          <p:nvPr/>
        </p:nvSpPr>
        <p:spPr>
          <a:xfrm rot="0" flipH="false" flipV="false">
            <a:off x="7162800" y="2794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关键特性：语义距离</a:t>
            </a:r>
            <a:endParaRPr lang="en-US" sz="1100"/>
          </a:p>
        </p:txBody>
      </p:sp>
      <p:sp>
        <p:nvSpPr>
          <p:cNvPr name="AutoShape 12" id="12"/>
          <p:cNvSpPr/>
          <p:nvPr/>
        </p:nvSpPr>
        <p:spPr>
          <a:xfrm rot="0" flipH="false" flipV="false">
            <a:off x="6400800" y="3365500"/>
            <a:ext cx="4470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语义相近的文本，在高维空间中对应的向量点距离更近。这是实现语义搜索和AI理解的基石。</a:t>
            </a:r>
            <a:endParaRPr lang="en-US" sz="1100"/>
          </a:p>
        </p:txBody>
      </p:sp>
      <p:sp>
        <p:nvSpPr>
          <p:cNvPr name="AutoShape 13" id="13"/>
          <p:cNvSpPr/>
          <p:nvPr/>
        </p:nvSpPr>
        <p:spPr>
          <a:xfrm rot="0" flipH="false" flipV="false">
            <a:off x="762000" y="5080000"/>
            <a:ext cx="10668000" cy="25400"/>
          </a:xfrm>
          <a:prstGeom prst="roundRect">
            <a:avLst>
              <a:gd name="adj" fmla="val 0"/>
            </a:avLst>
          </a:prstGeom>
          <a:solidFill>
            <a:srgbClr val="00B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20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核心价值：</a:t>
            </a:r>
            <a:r>
              <a:rPr lang="en-US" b="true" i="false" strike="noStrike" u="none" sz="1400">
                <a:solidFill>
                  <a:srgbClr val="FFFF00"/>
                </a:solidFill>
                <a:latin typeface="Noto Sans SC"/>
                <a:ea typeface="Noto Sans SC"/>
                <a:cs typeface="Noto Sans SC"/>
                <a:sym typeface="Noto Sans SC"/>
              </a:rPr>
              <a:t>让机器具备了“理解”语义的能力</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D">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Embedding的直觉理解</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语义空间映射 (2D简化)</a:t>
            </a:r>
            <a:endParaRPr lang="en-US" sz="1100"/>
          </a:p>
        </p:txBody>
      </p:sp>
      <p:cxnSp>
        <p:nvCxnSpPr>
          <p:cNvPr name="Connector 7" id="7"/>
          <p:cNvCxnSpPr/>
          <p:nvPr/>
        </p:nvCxnSpPr>
        <p:spPr>
          <a:xfrm rot="-9549" flipH="false" flipV="false">
            <a:off x="1016009" y="4819650"/>
            <a:ext cx="4572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cxnSp>
        <p:nvCxnSpPr>
          <p:cNvPr name="Connector 8" id="8"/>
          <p:cNvCxnSpPr/>
          <p:nvPr/>
        </p:nvCxnSpPr>
        <p:spPr>
          <a:xfrm rot="-5421485" flipH="false" flipV="false">
            <a:off x="0" y="3803630"/>
            <a:ext cx="2032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9" id="9"/>
          <p:cNvSpPr/>
          <p:nvPr/>
        </p:nvSpPr>
        <p:spPr>
          <a:xfrm rot="0" flipH="false" flipV="false">
            <a:off x="1524000" y="4445000"/>
            <a:ext cx="152400" cy="152400"/>
          </a:xfrm>
          <a:prstGeom prst="ellipse">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714500" y="4394200"/>
            <a:ext cx="76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男人</a:t>
            </a:r>
            <a:endParaRPr lang="en-US" sz="1100"/>
          </a:p>
        </p:txBody>
      </p:sp>
      <p:sp>
        <p:nvSpPr>
          <p:cNvPr name="AutoShape 11" id="11"/>
          <p:cNvSpPr/>
          <p:nvPr/>
        </p:nvSpPr>
        <p:spPr>
          <a:xfrm rot="0" flipH="false" flipV="false">
            <a:off x="3556000" y="4064000"/>
            <a:ext cx="152400" cy="152400"/>
          </a:xfrm>
          <a:prstGeom prst="ellipse">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746500" y="4013200"/>
            <a:ext cx="76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国王</a:t>
            </a:r>
            <a:endParaRPr lang="en-US" sz="1100"/>
          </a:p>
        </p:txBody>
      </p:sp>
      <p:sp>
        <p:nvSpPr>
          <p:cNvPr name="AutoShape 13" id="13"/>
          <p:cNvSpPr/>
          <p:nvPr/>
        </p:nvSpPr>
        <p:spPr>
          <a:xfrm rot="0" flipH="false" flipV="false">
            <a:off x="1905000" y="3175000"/>
            <a:ext cx="152400" cy="152400"/>
          </a:xfrm>
          <a:prstGeom prst="ellipse">
            <a:avLst/>
          </a:prstGeom>
          <a:solidFill>
            <a:srgbClr val="FF69B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2095500" y="3124200"/>
            <a:ext cx="76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女人</a:t>
            </a:r>
            <a:endParaRPr lang="en-US" sz="1100"/>
          </a:p>
        </p:txBody>
      </p:sp>
      <p:sp>
        <p:nvSpPr>
          <p:cNvPr name="AutoShape 15" id="15"/>
          <p:cNvSpPr/>
          <p:nvPr/>
        </p:nvSpPr>
        <p:spPr>
          <a:xfrm rot="0" flipH="false" flipV="false">
            <a:off x="3937000" y="2794000"/>
            <a:ext cx="152400" cy="152400"/>
          </a:xfrm>
          <a:prstGeom prst="ellipse">
            <a:avLst/>
          </a:prstGeom>
          <a:solidFill>
            <a:srgbClr val="FF69B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127500" y="2743200"/>
            <a:ext cx="76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女王</a:t>
            </a:r>
            <a:endParaRPr lang="en-US" sz="1100"/>
          </a:p>
        </p:txBody>
      </p:sp>
      <p:sp>
        <p:nvSpPr>
          <p:cNvPr name="AutoShape 17" id="17"/>
          <p:cNvSpPr/>
          <p:nvPr/>
        </p:nvSpPr>
        <p:spPr>
          <a:xfrm rot="0" flipH="false" flipV="false">
            <a:off x="1016000" y="5334000"/>
            <a:ext cx="4572000" cy="508000"/>
          </a:xfrm>
          <a:prstGeom prst="roundRect">
            <a:avLst>
              <a:gd name="adj" fmla="val 12500"/>
            </a:avLst>
          </a:prstGeom>
          <a:solidFill>
            <a:srgbClr val="00BFFF">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公式：国王 - 男人 + 女人 ≈ 女王</a:t>
            </a:r>
            <a:endParaRPr lang="en-US" sz="1100"/>
          </a:p>
        </p:txBody>
      </p:sp>
      <p:sp>
        <p:nvSpPr>
          <p:cNvPr name="AutoShape 18" id="18"/>
          <p:cNvSpPr/>
          <p:nvPr/>
        </p:nvSpPr>
        <p:spPr>
          <a:xfrm rot="0" flipH="false" flipV="false">
            <a:off x="6096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286000"/>
            <a:ext cx="304800" cy="304800"/>
          </a:xfrm>
          <a:prstGeom prst="rect">
            <a:avLst/>
          </a:prstGeom>
        </p:spPr>
      </p:pic>
      <p:sp>
        <p:nvSpPr>
          <p:cNvPr name="AutoShape 20" id="20"/>
          <p:cNvSpPr/>
          <p:nvPr/>
        </p:nvSpPr>
        <p:spPr>
          <a:xfrm rot="0" flipH="false" flipV="false">
            <a:off x="6731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语义相似性法则</a:t>
            </a:r>
            <a:endParaRPr lang="en-US" sz="1100"/>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2921000"/>
            <a:ext cx="406400" cy="406400"/>
          </a:xfrm>
          <a:prstGeom prst="rect">
            <a:avLst/>
          </a:prstGeom>
        </p:spPr>
      </p:pic>
      <p:sp>
        <p:nvSpPr>
          <p:cNvPr name="AutoShape 22" id="22"/>
          <p:cNvSpPr/>
          <p:nvPr/>
        </p:nvSpPr>
        <p:spPr>
          <a:xfrm rot="0" flipH="false" flipV="false">
            <a:off x="6858000" y="2921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语义相近，距离相近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FFFFFF">
                    <a:alpha val="70196"/>
                  </a:srgbClr>
                </a:solidFill>
                <a:latin typeface="Noto Sans SC"/>
                <a:ea typeface="Noto Sans SC"/>
                <a:cs typeface="Noto Sans SC"/>
                <a:sym typeface="Noto Sans SC"/>
              </a:rPr>
              <a:t>在向量空间中，含义相似的词语会自动聚集在一起，距离越近，语义相似度越高。</a:t>
            </a:r>
          </a:p>
        </p:txBody>
      </p:sp>
      <p:cxnSp>
        <p:nvCxnSpPr>
          <p:cNvPr name="Connector 23" id="23"/>
          <p:cNvCxnSpPr/>
          <p:nvPr/>
        </p:nvCxnSpPr>
        <p:spPr>
          <a:xfrm rot="-9549" flipH="false" flipV="false">
            <a:off x="6350009" y="38036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4064000"/>
            <a:ext cx="406400" cy="406400"/>
          </a:xfrm>
          <a:prstGeom prst="rect">
            <a:avLst/>
          </a:prstGeom>
        </p:spPr>
      </p:pic>
      <p:sp>
        <p:nvSpPr>
          <p:cNvPr name="AutoShape 25" id="25"/>
          <p:cNvSpPr/>
          <p:nvPr/>
        </p:nvSpPr>
        <p:spPr>
          <a:xfrm rot="0" flipH="false" flipV="false">
            <a:off x="6858000" y="40640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同义词自动聚类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FFFFFF">
                    <a:alpha val="70196"/>
                  </a:srgbClr>
                </a:solidFill>
                <a:latin typeface="Noto Sans SC"/>
                <a:ea typeface="Noto Sans SC"/>
                <a:cs typeface="Noto Sans SC"/>
                <a:sym typeface="Noto Sans SC"/>
              </a:rPr>
              <a:t>不同的表达方式如果意思相同，其向量会非常接近。例如：</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00BFFF"/>
                </a:solidFill>
                <a:latin typeface="Noto Sans SC"/>
                <a:ea typeface="Noto Sans SC"/>
                <a:cs typeface="Noto Sans SC"/>
                <a:sym typeface="Noto Sans SC"/>
              </a:rPr>
              <a:t>"API密钥" ≈ "API key" ≈ "访问令牌"</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搜索 "交易所密钥"</a:t>
            </a:r>
            <a:endParaRPr lang="en-US" sz="1100"/>
          </a:p>
        </p:txBody>
      </p:sp>
      <p:sp>
        <p:nvSpPr>
          <p:cNvPr name="AutoShape 4" id="4"/>
          <p:cNvSpPr/>
          <p:nvPr/>
        </p:nvSpPr>
        <p:spPr>
          <a:xfrm rot="0" flipH="false" flipV="false">
            <a:off x="762000" y="2032000"/>
            <a:ext cx="10668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2349500"/>
            <a:ext cx="406400" cy="406400"/>
          </a:xfrm>
          <a:prstGeom prst="rect">
            <a:avLst/>
          </a:prstGeom>
        </p:spPr>
      </p:pic>
      <p:sp>
        <p:nvSpPr>
          <p:cNvPr name="AutoShape 6" id="6"/>
          <p:cNvSpPr/>
          <p:nvPr/>
        </p:nvSpPr>
        <p:spPr>
          <a:xfrm rot="0" flipH="false" flipV="false">
            <a:off x="1587500" y="2349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场景测试：语义匹配能力</a:t>
            </a:r>
            <a:endParaRPr lang="en-US" sz="1100"/>
          </a:p>
        </p:txBody>
      </p:sp>
      <p:cxnSp>
        <p:nvCxnSpPr>
          <p:cNvPr name="Connector 7" id="7"/>
          <p:cNvCxnSpPr/>
          <p:nvPr/>
        </p:nvCxnSpPr>
        <p:spPr>
          <a:xfrm rot="-4351" flipH="false" flipV="false">
            <a:off x="1079504" y="2851150"/>
            <a:ext cx="10033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1079500" y="2984500"/>
            <a:ext cx="1003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DCDCDC"/>
                </a:solidFill>
                <a:latin typeface="Noto Sans SC"/>
                <a:ea typeface="Noto Sans SC"/>
                <a:cs typeface="Noto Sans SC"/>
                <a:sym typeface="Noto Sans SC"/>
              </a:rPr>
              <a:t>记忆库中有一条记录：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DCDCDC"/>
                </a:solidFill>
                <a:latin typeface="Noto Sans SC"/>
                <a:ea typeface="Noto Sans SC"/>
                <a:cs typeface="Noto Sans SC"/>
                <a:sym typeface="Noto Sans SC"/>
              </a:rPr>
              <a:t>“我的币安API key是abc123”</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DCDCDC"/>
                </a:solidFill>
                <a:latin typeface="Noto Sans SC"/>
                <a:ea typeface="Noto Sans SC"/>
                <a:cs typeface="Noto Sans SC"/>
                <a:sym typeface="Noto Sans SC"/>
              </a:rPr>
              <a:t>当搜索关键词为</a:t>
            </a:r>
            <a:r>
              <a:rPr lang="en-US" b="true" i="false" strike="noStrike" u="none" sz="1600">
                <a:solidFill>
                  <a:srgbClr val="FFFF00"/>
                </a:solidFill>
                <a:latin typeface="Noto Sans SC"/>
                <a:ea typeface="Noto Sans SC"/>
                <a:cs typeface="Noto Sans SC"/>
                <a:sym typeface="Noto Sans SC"/>
              </a:rPr>
              <a:t>“交易所密钥”</a:t>
            </a:r>
            <a:r>
              <a:rPr lang="en-US" b="false" i="false" strike="noStrike" u="none" sz="1600">
                <a:solidFill>
                  <a:srgbClr val="DCDCDC"/>
                </a:solidFill>
                <a:latin typeface="Noto Sans SC"/>
                <a:ea typeface="Noto Sans SC"/>
                <a:cs typeface="Noto Sans SC"/>
                <a:sym typeface="Noto Sans SC"/>
              </a:rPr>
              <a:t>时，能找到这条记忆吗？</a:t>
            </a:r>
          </a:p>
        </p:txBody>
      </p:sp>
      <p:sp>
        <p:nvSpPr>
          <p:cNvPr name="AutoShape 9" id="9"/>
          <p:cNvSpPr/>
          <p:nvPr/>
        </p:nvSpPr>
        <p:spPr>
          <a:xfrm rot="0" flipH="false" flipV="false">
            <a:off x="762000" y="4572000"/>
            <a:ext cx="10668000" cy="1270000"/>
          </a:xfrm>
          <a:prstGeom prst="roundRect">
            <a:avLst>
              <a:gd name="adj" fmla="val 10000"/>
            </a:avLst>
          </a:prstGeom>
          <a:solidFill>
            <a:srgbClr val="FFFFFF">
              <a:alpha val="8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79500" y="4889500"/>
            <a:ext cx="406400" cy="406400"/>
          </a:xfrm>
          <a:prstGeom prst="rect">
            <a:avLst/>
          </a:prstGeom>
        </p:spPr>
      </p:pic>
      <p:sp>
        <p:nvSpPr>
          <p:cNvPr name="AutoShape 11" id="11"/>
          <p:cNvSpPr/>
          <p:nvPr/>
        </p:nvSpPr>
        <p:spPr>
          <a:xfrm rot="0" flipH="false" flipV="false">
            <a:off x="1587500" y="4826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00"/>
                </a:solidFill>
                <a:latin typeface="Noto Sans SC"/>
                <a:ea typeface="Noto Sans SC"/>
                <a:cs typeface="Noto Sans SC"/>
                <a:sym typeface="Noto Sans SC"/>
              </a:rPr>
              <a:t>思考：为什么能匹配到？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B4B4B4"/>
                </a:solidFill>
                <a:latin typeface="Noto Sans SC"/>
                <a:ea typeface="Noto Sans SC"/>
                <a:cs typeface="Noto Sans SC"/>
                <a:sym typeface="Noto Sans SC"/>
              </a:rPr>
              <a:t>提示：传统的关键词搜索可能无法做到，但向量搜索可以。</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余弦相似度 (Cosine Similarity)</a:t>
            </a:r>
            <a:endParaRPr lang="en-US" sz="1100"/>
          </a:p>
        </p:txBody>
      </p:sp>
      <p:sp>
        <p:nvSpPr>
          <p:cNvPr name="AutoShape 4" id="4"/>
          <p:cNvSpPr/>
          <p:nvPr/>
        </p:nvSpPr>
        <p:spPr>
          <a:xfrm rot="0" flipH="false" flipV="false">
            <a:off x="762000" y="1778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304800" cy="304800"/>
          </a:xfrm>
          <a:prstGeom prst="rect">
            <a:avLst/>
          </a:prstGeom>
        </p:spPr>
      </p:pic>
      <p:sp>
        <p:nvSpPr>
          <p:cNvPr name="AutoShape 6" id="6"/>
          <p:cNvSpPr/>
          <p:nvPr/>
        </p:nvSpPr>
        <p:spPr>
          <a:xfrm rot="0" flipH="false" flipV="false">
            <a:off x="1397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核心公式与原理</a:t>
            </a:r>
            <a:endParaRPr lang="en-US" sz="1100"/>
          </a:p>
        </p:txBody>
      </p:sp>
      <p:sp>
        <p:nvSpPr>
          <p:cNvPr name="AutoShape 7" id="7"/>
          <p:cNvSpPr/>
          <p:nvPr/>
        </p:nvSpPr>
        <p:spPr>
          <a:xfrm rot="0" flipH="false" flipV="false">
            <a:off x="1016000" y="2540000"/>
            <a:ext cx="4572000" cy="762000"/>
          </a:xfrm>
          <a:prstGeom prst="roundRect">
            <a:avLst>
              <a:gd name="adj" fmla="val 8333"/>
            </a:avLst>
          </a:prstGeom>
          <a:solidFill>
            <a:srgbClr val="00B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00"/>
                </a:solidFill>
                <a:latin typeface="Noto Sans SC"/>
                <a:ea typeface="Noto Sans SC"/>
                <a:cs typeface="Noto Sans SC"/>
                <a:sym typeface="Noto Sans SC"/>
              </a:rPr>
              <a:t>cosine(A, B) = (A · B) / (|A| × |B|)</a:t>
            </a:r>
            <a:endParaRPr lang="en-US" sz="1100"/>
          </a:p>
        </p:txBody>
      </p:sp>
      <p:sp>
        <p:nvSpPr>
          <p:cNvPr name="AutoShape 8" id="8"/>
          <p:cNvSpPr/>
          <p:nvPr/>
        </p:nvSpPr>
        <p:spPr>
          <a:xfrm rot="0" flipH="false" flipV="false">
            <a:off x="1016000" y="3429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结果范围：[-1, 1]</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60000"/>
                  </a:srgbClr>
                </a:solidFill>
                <a:latin typeface="Noto Sans SC"/>
                <a:ea typeface="Noto Sans SC"/>
                <a:cs typeface="Noto Sans SC"/>
                <a:sym typeface="Noto Sans SC"/>
              </a:rPr>
              <a:t>值越接近 1，语义越相似；值越接近 0，语义越无关。</a:t>
            </a:r>
          </a:p>
        </p:txBody>
      </p:sp>
      <p:sp>
        <p:nvSpPr>
          <p:cNvPr name="AutoShape 9" id="9"/>
          <p:cNvSpPr/>
          <p:nvPr/>
        </p:nvSpPr>
        <p:spPr>
          <a:xfrm rot="0" flipH="false" flipV="false">
            <a:off x="6096000" y="1778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032000"/>
            <a:ext cx="304800" cy="304800"/>
          </a:xfrm>
          <a:prstGeom prst="rect">
            <a:avLst/>
          </a:prstGeom>
        </p:spPr>
      </p:pic>
      <p:sp>
        <p:nvSpPr>
          <p:cNvPr name="AutoShape 11" id="11"/>
          <p:cNvSpPr/>
          <p:nvPr/>
        </p:nvSpPr>
        <p:spPr>
          <a:xfrm rot="0" flipH="false" flipV="false">
            <a:off x="6731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语义相似度示例</a:t>
            </a:r>
            <a:endParaRPr lang="en-US" sz="1100"/>
          </a:p>
        </p:txBody>
      </p:sp>
      <p:sp>
        <p:nvSpPr>
          <p:cNvPr name="AutoShape 12" id="12"/>
          <p:cNvSpPr/>
          <p:nvPr/>
        </p:nvSpPr>
        <p:spPr>
          <a:xfrm rot="0" flipH="false" flipV="false">
            <a:off x="6350000" y="2540000"/>
            <a:ext cx="4572000" cy="1016000"/>
          </a:xfrm>
          <a:prstGeom prst="roundRect">
            <a:avLst>
              <a:gd name="adj" fmla="val 6250"/>
            </a:avLst>
          </a:prstGeom>
          <a:solidFill>
            <a:srgbClr val="00FF7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2730500"/>
            <a:ext cx="304800" cy="304800"/>
          </a:xfrm>
          <a:prstGeom prst="rect">
            <a:avLst/>
          </a:prstGeom>
        </p:spPr>
      </p:pic>
      <p:sp>
        <p:nvSpPr>
          <p:cNvPr name="AutoShape 14" id="14"/>
          <p:cNvSpPr/>
          <p:nvPr/>
        </p:nvSpPr>
        <p:spPr>
          <a:xfrm rot="0" flipH="false" flipV="false">
            <a:off x="6921500" y="2667000"/>
            <a:ext cx="393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"API密钥" vs "API key"</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00FF7F"/>
                </a:solidFill>
                <a:latin typeface="Noto Sans SC"/>
                <a:ea typeface="Noto Sans SC"/>
                <a:cs typeface="Noto Sans SC"/>
                <a:sym typeface="Noto Sans SC"/>
              </a:rPr>
              <a:t>相似度 ≈ 0.92 (高度相似)</a:t>
            </a:r>
          </a:p>
        </p:txBody>
      </p:sp>
      <p:sp>
        <p:nvSpPr>
          <p:cNvPr name="AutoShape 15" id="15"/>
          <p:cNvSpPr/>
          <p:nvPr/>
        </p:nvSpPr>
        <p:spPr>
          <a:xfrm rot="0" flipH="false" flipV="false">
            <a:off x="6350000" y="3683000"/>
            <a:ext cx="4572000" cy="1016000"/>
          </a:xfrm>
          <a:prstGeom prst="roundRect">
            <a:avLst>
              <a:gd name="adj" fmla="val 6250"/>
            </a:avLst>
          </a:prstGeom>
          <a:solidFill>
            <a:srgbClr val="FF6347">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40500" y="3873500"/>
            <a:ext cx="304800" cy="304800"/>
          </a:xfrm>
          <a:prstGeom prst="rect">
            <a:avLst/>
          </a:prstGeom>
        </p:spPr>
      </p:pic>
      <p:sp>
        <p:nvSpPr>
          <p:cNvPr name="AutoShape 17" id="17"/>
          <p:cNvSpPr/>
          <p:nvPr/>
        </p:nvSpPr>
        <p:spPr>
          <a:xfrm rot="0" flipH="false" flipV="false">
            <a:off x="6921500" y="3810000"/>
            <a:ext cx="393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"API密钥" vs "天气预报"</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6347"/>
                </a:solidFill>
                <a:latin typeface="Noto Sans SC"/>
                <a:ea typeface="Noto Sans SC"/>
                <a:cs typeface="Noto Sans SC"/>
                <a:sym typeface="Noto Sans SC"/>
              </a:rPr>
              <a:t>相似度 ≈ 0.05 (几乎无关)</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9">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VectorMemory -- add() 方法实现</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1E293B">
              <a:alpha val="8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86000"/>
            <a:ext cx="7366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792EA"/>
                </a:solidFill>
                <a:latin typeface="Noto Sans SC"/>
                <a:ea typeface="Noto Sans SC"/>
                <a:cs typeface="Noto Sans SC"/>
                <a:sym typeface="Noto Sans SC"/>
              </a:rPr>
              <a:t>class</a:t>
            </a:r>
            <a:r>
              <a:rPr lang="en-US" b="false" i="false" strike="noStrike" u="none" sz="1400">
                <a:solidFill>
                  <a:srgbClr val="FFFFFF"/>
                </a:solidFill>
                <a:latin typeface="Noto Sans SC"/>
                <a:ea typeface="Noto Sans SC"/>
                <a:cs typeface="Noto Sans SC"/>
                <a:sym typeface="Noto Sans SC"/>
              </a:rPr>
              <a:t>VectorMemory:</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792EA"/>
                </a:solidFill>
                <a:latin typeface="Noto Sans SC"/>
                <a:ea typeface="Noto Sans SC"/>
                <a:cs typeface="Noto Sans SC"/>
                <a:sym typeface="Noto Sans SC"/>
              </a:rPr>
              <a:t>def</a:t>
            </a:r>
            <a:r>
              <a:rPr lang="en-US" b="false" i="false" strike="noStrike" u="none" sz="1400">
                <a:solidFill>
                  <a:srgbClr val="FFFFFF"/>
                </a:solidFill>
                <a:latin typeface="Noto Sans SC"/>
                <a:ea typeface="Noto Sans SC"/>
                <a:cs typeface="Noto Sans SC"/>
                <a:sym typeface="Noto Sans SC"/>
              </a:rPr>
              <a:t>__init__(self, collection_name="clawbot_memory"):</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self.encoder = SentenceTransformer(</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00"/>
                </a:solidFill>
                <a:latin typeface="Noto Sans SC"/>
                <a:ea typeface="Noto Sans SC"/>
                <a:cs typeface="Noto Sans SC"/>
                <a:sym typeface="Noto Sans SC"/>
              </a:rPr>
              <a:t>'all-MiniLM-L6-v2'</a:t>
            </a:r>
            <a:r>
              <a:rPr lang="en-US" b="false" i="false" strike="noStrike" u="none" sz="1400">
                <a:solidFill>
                  <a:srgbClr val="94A3B8"/>
                </a:solidFill>
                <a:latin typeface="Noto Sans SC"/>
                <a:ea typeface="Noto Sans SC"/>
                <a:cs typeface="Noto Sans SC"/>
                <a:sym typeface="Noto Sans SC"/>
              </a:rPr>
              <a:t># 模型加载</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self.client = chromadb.Client(Settings(...))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self.collection = self.client.get_or_create_collection(...)</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C792EA"/>
                </a:solidFill>
                <a:latin typeface="Noto Sans SC"/>
                <a:ea typeface="Noto Sans SC"/>
                <a:cs typeface="Noto Sans SC"/>
                <a:sym typeface="Noto Sans SC"/>
              </a:rPr>
              <a:t>def</a:t>
            </a:r>
            <a:r>
              <a:rPr lang="en-US" b="false" i="false" strike="noStrike" u="none" sz="1400">
                <a:solidFill>
                  <a:srgbClr val="FFFFFF"/>
                </a:solidFill>
                <a:latin typeface="Noto Sans SC"/>
                <a:ea typeface="Noto Sans SC"/>
                <a:cs typeface="Noto Sans SC"/>
                <a:sym typeface="Noto Sans SC"/>
              </a:rPr>
              <a:t>add(self, text: str, metadata: dict = None):</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embedding =</a:t>
            </a:r>
            <a:r>
              <a:rPr lang="en-US" b="false" i="false" strike="noStrike" u="none" sz="1400">
                <a:solidFill>
                  <a:srgbClr val="FFFF00"/>
                </a:solidFill>
                <a:latin typeface="Noto Sans SC"/>
                <a:ea typeface="Noto Sans SC"/>
                <a:cs typeface="Noto Sans SC"/>
                <a:sym typeface="Noto Sans SC"/>
              </a:rPr>
              <a:t>self.encoder.encode(text).tolist()</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self.collection.add(</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embeddings=[embedding], documents=[text],</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metadatas=[metadata or {}], ids=[doc_id]</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a:t>
            </a: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636000" y="2413000"/>
            <a:ext cx="406400" cy="406400"/>
          </a:xfrm>
          <a:prstGeom prst="rect">
            <a:avLst/>
          </a:prstGeom>
        </p:spPr>
      </p:pic>
      <p:sp>
        <p:nvSpPr>
          <p:cNvPr name="AutoShape 7" id="7"/>
          <p:cNvSpPr/>
          <p:nvPr/>
        </p:nvSpPr>
        <p:spPr>
          <a:xfrm rot="0" flipH="false" flipV="false">
            <a:off x="9144000" y="2413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模型加载与初始化</a:t>
            </a:r>
            <a:endParaRPr lang="en-US" sz="1100"/>
          </a:p>
        </p:txBody>
      </p:sp>
      <p:sp>
        <p:nvSpPr>
          <p:cNvPr name="AutoShape 8" id="8"/>
          <p:cNvSpPr/>
          <p:nvPr/>
        </p:nvSpPr>
        <p:spPr>
          <a:xfrm rot="0" flipH="false" flipV="false">
            <a:off x="8636000" y="2857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4A3B8"/>
                </a:solidFill>
                <a:latin typeface="Noto Sans SC"/>
                <a:ea typeface="Noto Sans SC"/>
                <a:cs typeface="Noto Sans SC"/>
                <a:sym typeface="Noto Sans SC"/>
              </a:rPr>
              <a:t>使用 SentenceTransformer 加载 'all-MiniLM-L6-v2' 轻量级模型，作为文本编码器。</a:t>
            </a:r>
            <a:endParaRPr lang="en-US" sz="1100"/>
          </a:p>
        </p:txBody>
      </p:sp>
      <p:cxnSp>
        <p:nvCxnSpPr>
          <p:cNvPr name="Connector 9" id="9"/>
          <p:cNvCxnSpPr/>
          <p:nvPr/>
        </p:nvCxnSpPr>
        <p:spPr>
          <a:xfrm rot="-17188" flipH="false" flipV="false">
            <a:off x="8636016" y="3676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636000" y="3937000"/>
            <a:ext cx="406400" cy="406400"/>
          </a:xfrm>
          <a:prstGeom prst="rect">
            <a:avLst/>
          </a:prstGeom>
        </p:spPr>
      </p:pic>
      <p:sp>
        <p:nvSpPr>
          <p:cNvPr name="AutoShape 11" id="11"/>
          <p:cNvSpPr/>
          <p:nvPr/>
        </p:nvSpPr>
        <p:spPr>
          <a:xfrm rot="0" flipH="false" flipV="false">
            <a:off x="9144000" y="3937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文本向量化编码</a:t>
            </a:r>
            <a:endParaRPr lang="en-US" sz="1100"/>
          </a:p>
        </p:txBody>
      </p:sp>
      <p:sp>
        <p:nvSpPr>
          <p:cNvPr name="AutoShape 12" id="12"/>
          <p:cNvSpPr/>
          <p:nvPr/>
        </p:nvSpPr>
        <p:spPr>
          <a:xfrm rot="0" flipH="false" flipV="false">
            <a:off x="8636000" y="4381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4A3B8"/>
                </a:solidFill>
                <a:latin typeface="Noto Sans SC"/>
                <a:ea typeface="Noto Sans SC"/>
                <a:cs typeface="Noto Sans SC"/>
                <a:sym typeface="Noto Sans SC"/>
              </a:rPr>
              <a:t>核心步骤：调用 encoder.encode() 将文本转换为稠密向量，实现语义的数值化表达。</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VectorMemory -- search() 方法</a:t>
            </a:r>
            <a:endParaRPr lang="en-US" sz="1100"/>
          </a:p>
        </p:txBody>
      </p:sp>
      <p:sp>
        <p:nvSpPr>
          <p:cNvPr name="AutoShape 4" id="4"/>
          <p:cNvSpPr/>
          <p:nvPr/>
        </p:nvSpPr>
        <p:spPr>
          <a:xfrm rot="0" flipH="false" flipV="false">
            <a:off x="762000" y="2032000"/>
            <a:ext cx="5842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304800" cy="304800"/>
          </a:xfrm>
          <a:prstGeom prst="rect">
            <a:avLst/>
          </a:prstGeom>
        </p:spPr>
      </p:pic>
      <p:sp>
        <p:nvSpPr>
          <p:cNvPr name="AutoShape 6" id="6"/>
          <p:cNvSpPr/>
          <p:nvPr/>
        </p:nvSpPr>
        <p:spPr>
          <a:xfrm rot="0" flipH="false" flipV="false">
            <a:off x="1397000" y="2184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8C8C8"/>
                </a:solidFill>
                <a:latin typeface="Noto Sans SC"/>
                <a:ea typeface="Noto Sans SC"/>
                <a:cs typeface="Noto Sans SC"/>
                <a:sym typeface="Noto Sans SC"/>
              </a:rPr>
              <a:t>核心实现代码</a:t>
            </a:r>
            <a:endParaRPr lang="en-US" sz="1100"/>
          </a:p>
        </p:txBody>
      </p:sp>
      <p:sp>
        <p:nvSpPr>
          <p:cNvPr name="AutoShape 7" id="7"/>
          <p:cNvSpPr/>
          <p:nvPr/>
        </p:nvSpPr>
        <p:spPr>
          <a:xfrm rot="0" flipH="false" flipV="false">
            <a:off x="1016000" y="2667000"/>
            <a:ext cx="5334000" cy="3175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2794000"/>
            <a:ext cx="5080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9CDCFE"/>
                </a:solidFill>
                <a:latin typeface="Roboto Mono"/>
                <a:ea typeface="Roboto Mono"/>
                <a:cs typeface="Roboto Mono"/>
                <a:sym typeface="Roboto Mono"/>
              </a:rPr>
              <a:t>def</a:t>
            </a:r>
            <a:r>
              <a:rPr lang="en-US" b="false" i="false" strike="noStrike" u="none" sz="1300">
                <a:solidFill>
                  <a:srgbClr val="FFFFFF"/>
                </a:solidFill>
                <a:latin typeface="Roboto Mono"/>
                <a:ea typeface="Roboto Mono"/>
                <a:cs typeface="Roboto Mono"/>
                <a:sym typeface="Roboto Mono"/>
              </a:rPr>
              <a:t>search(self, query: str, n_results: int = 5):</a:t>
            </a:r>
            <a:r>
              <a:rPr lang="en-US" b="false" i="false" strike="noStrike" u="none" sz="1300">
                <a:solidFill>
                  <a:srgbClr val="1F2329"/>
                </a:solidFill>
                <a:latin typeface="Roboto Mono"/>
                <a:ea typeface="Roboto Mono"/>
                <a:cs typeface="Roboto Mono"/>
                <a:sym typeface="Roboto Mono"/>
              </a:rPr>
              <a:t/>
            </a:r>
            <a:endParaRPr lang="en-US" sz="1100"/>
          </a:p>
          <a:p>
            <a:pPr algn="l" indent="0">
              <a:lnSpc>
                <a:spcPct val="108333"/>
              </a:lnSpc>
            </a:pPr>
            <a:r>
              <a:rPr lang="en-US" b="false" i="false" strike="noStrike" u="none" sz="1300">
                <a:solidFill>
                  <a:srgbClr val="FFFFFF"/>
                </a:solidFill>
                <a:latin typeface="Roboto Mono"/>
                <a:ea typeface="Roboto Mono"/>
                <a:cs typeface="Roboto Mono"/>
                <a:sym typeface="Roboto Mono"/>
              </a:rPr>
              <a:t>query_embedding = self.encoder.encode(query).tolist()</a:t>
            </a:r>
            <a:r>
              <a:rPr lang="en-US" b="false" i="false" strike="noStrike" u="none" sz="1300">
                <a:solidFill>
                  <a:srgbClr val="1F2329"/>
                </a:solidFill>
                <a:latin typeface="Roboto Mono"/>
                <a:ea typeface="Roboto Mono"/>
                <a:cs typeface="Roboto Mono"/>
                <a:sym typeface="Roboto Mono"/>
              </a:rPr>
              <a:t/>
            </a:r>
          </a:p>
          <a:p>
            <a:pPr algn="l" indent="0">
              <a:lnSpc>
                <a:spcPct val="108333"/>
              </a:lnSpc>
            </a:pPr>
            <a:r>
              <a:rPr lang="en-US" b="false" i="false" strike="noStrike" u="none" sz="1300">
                <a:solidFill>
                  <a:srgbClr val="FFFFFF"/>
                </a:solidFill>
                <a:latin typeface="Roboto Mono"/>
                <a:ea typeface="Roboto Mono"/>
                <a:cs typeface="Roboto Mono"/>
                <a:sym typeface="Roboto Mono"/>
              </a:rPr>
              <a:t>results =</a:t>
            </a:r>
            <a:r>
              <a:rPr lang="en-US" b="false" i="false" strike="noStrike" u="none" sz="1300">
                <a:solidFill>
                  <a:srgbClr val="FFFF00"/>
                </a:solidFill>
                <a:latin typeface="Roboto Mono"/>
                <a:ea typeface="Roboto Mono"/>
                <a:cs typeface="Roboto Mono"/>
                <a:sym typeface="Roboto Mono"/>
              </a:rPr>
              <a:t>self.collection.query(</a:t>
            </a:r>
            <a:r>
              <a:rPr lang="en-US" b="false" i="false" strike="noStrike" u="none" sz="1300">
                <a:solidFill>
                  <a:srgbClr val="1F2329"/>
                </a:solidFill>
                <a:latin typeface="Roboto Mono"/>
                <a:ea typeface="Roboto Mono"/>
                <a:cs typeface="Roboto Mono"/>
                <a:sym typeface="Roboto Mono"/>
              </a:rPr>
              <a:t/>
            </a:r>
          </a:p>
          <a:p>
            <a:pPr algn="l" indent="0">
              <a:lnSpc>
                <a:spcPct val="108333"/>
              </a:lnSpc>
            </a:pPr>
            <a:r>
              <a:rPr lang="en-US" b="false" i="false" strike="noStrike" u="none" sz="1300">
                <a:solidFill>
                  <a:srgbClr val="FFFF00"/>
                </a:solidFill>
                <a:latin typeface="Roboto Mono"/>
                <a:ea typeface="Roboto Mono"/>
                <a:cs typeface="Roboto Mono"/>
                <a:sym typeface="Roboto Mono"/>
              </a:rPr>
              <a:t>query_embeddings=[query_embedding],</a:t>
            </a:r>
            <a:r>
              <a:rPr lang="en-US" b="false" i="false" strike="noStrike" u="none" sz="1300">
                <a:solidFill>
                  <a:srgbClr val="1F2329"/>
                </a:solidFill>
                <a:latin typeface="Roboto Mono"/>
                <a:ea typeface="Roboto Mono"/>
                <a:cs typeface="Roboto Mono"/>
                <a:sym typeface="Roboto Mono"/>
              </a:rPr>
              <a:t/>
            </a:r>
          </a:p>
          <a:p>
            <a:pPr algn="l" indent="0">
              <a:lnSpc>
                <a:spcPct val="108333"/>
              </a:lnSpc>
            </a:pPr>
            <a:r>
              <a:rPr lang="en-US" b="false" i="false" strike="noStrike" u="none" sz="1300">
                <a:solidFill>
                  <a:srgbClr val="FFFF00"/>
                </a:solidFill>
                <a:latin typeface="Roboto Mono"/>
                <a:ea typeface="Roboto Mono"/>
                <a:cs typeface="Roboto Mono"/>
                <a:sym typeface="Roboto Mono"/>
              </a:rPr>
              <a:t>n_results=n_results</a:t>
            </a:r>
            <a:r>
              <a:rPr lang="en-US" b="false" i="false" strike="noStrike" u="none" sz="1300">
                <a:solidFill>
                  <a:srgbClr val="1F2329"/>
                </a:solidFill>
                <a:latin typeface="Roboto Mono"/>
                <a:ea typeface="Roboto Mono"/>
                <a:cs typeface="Roboto Mono"/>
                <a:sym typeface="Roboto Mono"/>
              </a:rPr>
              <a:t/>
            </a:r>
          </a:p>
          <a:p>
            <a:pPr algn="l" indent="0">
              <a:lnSpc>
                <a:spcPct val="108333"/>
              </a:lnSpc>
            </a:pPr>
            <a:r>
              <a:rPr lang="en-US" b="false" i="false" strike="noStrike" u="none" sz="1300">
                <a:solidFill>
                  <a:srgbClr val="FFFF00"/>
                </a:solidFill>
                <a:latin typeface="Roboto Mono"/>
                <a:ea typeface="Roboto Mono"/>
                <a:cs typeface="Roboto Mono"/>
                <a:sym typeface="Roboto Mono"/>
              </a:rPr>
              <a:t>)</a:t>
            </a:r>
            <a:r>
              <a:rPr lang="en-US" b="false" i="false" strike="noStrike" u="none" sz="1300">
                <a:solidFill>
                  <a:srgbClr val="1F2329"/>
                </a:solidFill>
                <a:latin typeface="Roboto Mono"/>
                <a:ea typeface="Roboto Mono"/>
                <a:cs typeface="Roboto Mono"/>
                <a:sym typeface="Roboto Mono"/>
              </a:rPr>
              <a:t/>
            </a:r>
          </a:p>
          <a:p>
            <a:pPr algn="l" indent="0">
              <a:lnSpc>
                <a:spcPct val="108333"/>
              </a:lnSpc>
            </a:pPr>
            <a:r>
              <a:rPr lang="en-US" b="false" i="false" strike="noStrike" u="none" sz="1300">
                <a:solidFill>
                  <a:srgbClr val="9CDCFE"/>
                </a:solidFill>
                <a:latin typeface="Roboto Mono"/>
                <a:ea typeface="Roboto Mono"/>
                <a:cs typeface="Roboto Mono"/>
                <a:sym typeface="Roboto Mono"/>
              </a:rPr>
              <a:t>return</a:t>
            </a:r>
            <a:r>
              <a:rPr lang="en-US" b="false" i="false" strike="noStrike" u="none" sz="1300">
                <a:solidFill>
                  <a:srgbClr val="FFFFFF"/>
                </a:solidFill>
                <a:latin typeface="Roboto Mono"/>
                <a:ea typeface="Roboto Mono"/>
                <a:cs typeface="Roboto Mono"/>
                <a:sym typeface="Roboto Mono"/>
              </a:rPr>
              <a:t>results['documents'][0]</a:t>
            </a:r>
          </a:p>
        </p:txBody>
      </p:sp>
      <p:sp>
        <p:nvSpPr>
          <p:cNvPr name="AutoShape 9" id="9"/>
          <p:cNvSpPr/>
          <p:nvPr/>
        </p:nvSpPr>
        <p:spPr>
          <a:xfrm rot="0" flipH="false" flipV="false">
            <a:off x="6858000" y="2032000"/>
            <a:ext cx="4572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112000" y="2222500"/>
            <a:ext cx="304800" cy="304800"/>
          </a:xfrm>
          <a:prstGeom prst="rect">
            <a:avLst/>
          </a:prstGeom>
        </p:spPr>
      </p:pic>
      <p:sp>
        <p:nvSpPr>
          <p:cNvPr name="AutoShape 11" id="11"/>
          <p:cNvSpPr/>
          <p:nvPr/>
        </p:nvSpPr>
        <p:spPr>
          <a:xfrm rot="0" flipH="false" flipV="false">
            <a:off x="7493000" y="2184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8C8C8"/>
                </a:solidFill>
                <a:latin typeface="Noto Sans SC"/>
                <a:ea typeface="Noto Sans SC"/>
                <a:cs typeface="Noto Sans SC"/>
                <a:sym typeface="Noto Sans SC"/>
              </a:rPr>
              <a:t>语义检索原理演示</a:t>
            </a:r>
            <a:endParaRPr lang="en-US" sz="1100"/>
          </a:p>
        </p:txBody>
      </p:sp>
      <p:sp>
        <p:nvSpPr>
          <p:cNvPr name="AutoShape 12" id="12"/>
          <p:cNvSpPr/>
          <p:nvPr/>
        </p:nvSpPr>
        <p:spPr>
          <a:xfrm rot="0" flipH="false" flipV="false">
            <a:off x="7112000" y="2667000"/>
            <a:ext cx="4064000" cy="762000"/>
          </a:xfrm>
          <a:prstGeom prst="roundRect">
            <a:avLst>
              <a:gd name="adj" fmla="val 16666"/>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302500" y="2895600"/>
            <a:ext cx="304800" cy="304800"/>
          </a:xfrm>
          <a:prstGeom prst="rect">
            <a:avLst/>
          </a:prstGeom>
        </p:spPr>
      </p:pic>
      <p:sp>
        <p:nvSpPr>
          <p:cNvPr name="AutoShape 14" id="14"/>
          <p:cNvSpPr/>
          <p:nvPr/>
        </p:nvSpPr>
        <p:spPr>
          <a:xfrm rot="0" flipH="false" flipV="false">
            <a:off x="7747000" y="2794000"/>
            <a:ext cx="330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4B4B4"/>
                </a:solidFill>
                <a:latin typeface="Noto Sans SC"/>
                <a:ea typeface="Noto Sans SC"/>
                <a:cs typeface="Noto Sans SC"/>
                <a:sym typeface="Noto Sans SC"/>
              </a:rPr>
              <a:t>输入查询文本：</a:t>
            </a:r>
            <a:r>
              <a:rPr lang="en-US" b="true" i="false" strike="noStrike" u="none" sz="1400">
                <a:solidFill>
                  <a:srgbClr val="FFFFFF"/>
                </a:solidFill>
                <a:latin typeface="Noto Sans SC"/>
                <a:ea typeface="Noto Sans SC"/>
                <a:cs typeface="Noto Sans SC"/>
                <a:sym typeface="Noto Sans SC"/>
              </a:rPr>
              <a:t>"API key"</a:t>
            </a:r>
            <a:endParaRPr lang="en-US" sz="1100"/>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991600" y="3492500"/>
            <a:ext cx="304800" cy="304800"/>
          </a:xfrm>
          <a:prstGeom prst="rect">
            <a:avLst/>
          </a:prstGeom>
        </p:spPr>
      </p:pic>
      <p:sp>
        <p:nvSpPr>
          <p:cNvPr name="AutoShape 16" id="16"/>
          <p:cNvSpPr/>
          <p:nvPr/>
        </p:nvSpPr>
        <p:spPr>
          <a:xfrm rot="0" flipH="false" flipV="false">
            <a:off x="7112000" y="3873500"/>
            <a:ext cx="4064000" cy="762000"/>
          </a:xfrm>
          <a:prstGeom prst="roundRect">
            <a:avLst>
              <a:gd name="adj" fmla="val 16666"/>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302500" y="4102100"/>
            <a:ext cx="304800" cy="304800"/>
          </a:xfrm>
          <a:prstGeom prst="rect">
            <a:avLst/>
          </a:prstGeom>
        </p:spPr>
      </p:pic>
      <p:sp>
        <p:nvSpPr>
          <p:cNvPr name="AutoShape 18" id="18"/>
          <p:cNvSpPr/>
          <p:nvPr/>
        </p:nvSpPr>
        <p:spPr>
          <a:xfrm rot="0" flipH="false" flipV="false">
            <a:off x="7747000" y="4000500"/>
            <a:ext cx="330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4B4B4"/>
                </a:solidFill>
                <a:latin typeface="Noto Sans SC"/>
                <a:ea typeface="Noto Sans SC"/>
                <a:cs typeface="Noto Sans SC"/>
                <a:sym typeface="Noto Sans SC"/>
              </a:rPr>
              <a:t>向量匹配结果：</a:t>
            </a:r>
            <a:r>
              <a:rPr lang="en-US" b="true" i="false" strike="noStrike" u="none" sz="1400">
                <a:solidFill>
                  <a:srgbClr val="FFFF00"/>
                </a:solidFill>
                <a:latin typeface="Noto Sans SC"/>
                <a:ea typeface="Noto Sans SC"/>
                <a:cs typeface="Noto Sans SC"/>
                <a:sym typeface="Noto Sans SC"/>
              </a:rPr>
              <a:t>"API密钥"</a:t>
            </a:r>
            <a:endParaRPr lang="en-US" sz="1100"/>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991600" y="4699000"/>
            <a:ext cx="304800" cy="304800"/>
          </a:xfrm>
          <a:prstGeom prst="rect">
            <a:avLst/>
          </a:prstGeom>
        </p:spPr>
      </p:pic>
      <p:sp>
        <p:nvSpPr>
          <p:cNvPr name="AutoShape 20" id="20"/>
          <p:cNvSpPr/>
          <p:nvPr/>
        </p:nvSpPr>
        <p:spPr>
          <a:xfrm rot="0" flipH="false" flipV="false">
            <a:off x="7112000" y="5080000"/>
            <a:ext cx="4064000" cy="762000"/>
          </a:xfrm>
          <a:prstGeom prst="roundRect">
            <a:avLst>
              <a:gd name="adj" fmla="val 16666"/>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302500" y="5308600"/>
            <a:ext cx="304800" cy="304800"/>
          </a:xfrm>
          <a:prstGeom prst="rect">
            <a:avLst/>
          </a:prstGeom>
        </p:spPr>
      </p:pic>
      <p:sp>
        <p:nvSpPr>
          <p:cNvPr name="AutoShape 22" id="22"/>
          <p:cNvSpPr/>
          <p:nvPr/>
        </p:nvSpPr>
        <p:spPr>
          <a:xfrm rot="0" flipH="false" flipV="false">
            <a:off x="7747000" y="5207000"/>
            <a:ext cx="330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4B4B4"/>
                </a:solidFill>
                <a:latin typeface="Noto Sans SC"/>
                <a:ea typeface="Noto Sans SC"/>
                <a:cs typeface="Noto Sans SC"/>
                <a:sym typeface="Noto Sans SC"/>
              </a:rPr>
              <a:t>相似度得分：</a:t>
            </a:r>
            <a:r>
              <a:rPr lang="en-US" b="true" i="false" strike="noStrike" u="none" sz="1400">
                <a:solidFill>
                  <a:srgbClr val="FFFF00"/>
                </a:solidFill>
                <a:latin typeface="Noto Sans SC"/>
                <a:ea typeface="Noto Sans SC"/>
                <a:cs typeface="Noto Sans SC"/>
                <a:sym typeface="Noto Sans SC"/>
              </a:rPr>
              <a:t>≈ 0.92</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JSON存储 vs 向量存储</a:t>
            </a:r>
            <a:endParaRPr lang="en-US" sz="1100"/>
          </a:p>
        </p:txBody>
      </p:sp>
      <p:sp>
        <p:nvSpPr>
          <p:cNvPr name="AutoShape 4" id="4"/>
          <p:cNvSpPr/>
          <p:nvPr/>
        </p:nvSpPr>
        <p:spPr>
          <a:xfrm rot="0" flipH="false" flipV="false">
            <a:off x="762000" y="2032000"/>
            <a:ext cx="5207000" cy="1905000"/>
          </a:xfrm>
          <a:prstGeom prst="roundRect">
            <a:avLst>
              <a:gd name="adj" fmla="val 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406400" cy="406400"/>
          </a:xfrm>
          <a:prstGeom prst="rect">
            <a:avLst/>
          </a:prstGeom>
        </p:spPr>
      </p:pic>
      <p:sp>
        <p:nvSpPr>
          <p:cNvPr name="AutoShape 6" id="6"/>
          <p:cNvSpPr/>
          <p:nvPr/>
        </p:nvSpPr>
        <p:spPr>
          <a:xfrm rot="0" flipH="false" flipV="false">
            <a:off x="1524000" y="2235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语义理解能力</a:t>
            </a:r>
            <a:endParaRPr lang="en-US" sz="1100"/>
          </a:p>
        </p:txBody>
      </p:sp>
      <p:cxnSp>
        <p:nvCxnSpPr>
          <p:cNvPr name="Connector 7" id="7"/>
          <p:cNvCxnSpPr/>
          <p:nvPr/>
        </p:nvCxnSpPr>
        <p:spPr>
          <a:xfrm rot="-9291" flipH="false" flipV="false">
            <a:off x="1016009" y="2724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8" id="8"/>
          <p:cNvSpPr/>
          <p:nvPr/>
        </p:nvSpPr>
        <p:spPr>
          <a:xfrm rot="0" flipH="false" flipV="false">
            <a:off x="1016000" y="2857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JSON："API密钥" ≠ "API key" (精确匹配失败)</a:t>
            </a:r>
            <a:endParaRPr lang="en-US" sz="1100"/>
          </a:p>
        </p:txBody>
      </p:sp>
      <p:sp>
        <p:nvSpPr>
          <p:cNvPr name="AutoShape 9" id="9"/>
          <p:cNvSpPr/>
          <p:nvPr/>
        </p:nvSpPr>
        <p:spPr>
          <a:xfrm rot="0" flipH="false" flipV="false">
            <a:off x="1016000" y="3238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向量："API密钥" ≈ "API key" (语义相似匹配成功)</a:t>
            </a:r>
            <a:endParaRPr lang="en-US" sz="1100"/>
          </a:p>
        </p:txBody>
      </p:sp>
      <p:sp>
        <p:nvSpPr>
          <p:cNvPr name="AutoShape 10" id="10"/>
          <p:cNvSpPr/>
          <p:nvPr/>
        </p:nvSpPr>
        <p:spPr>
          <a:xfrm rot="0" flipH="false" flipV="false">
            <a:off x="6223000" y="2032000"/>
            <a:ext cx="5207000" cy="1905000"/>
          </a:xfrm>
          <a:prstGeom prst="roundRect">
            <a:avLst>
              <a:gd name="adj" fmla="val 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22500"/>
            <a:ext cx="406400" cy="406400"/>
          </a:xfrm>
          <a:prstGeom prst="rect">
            <a:avLst/>
          </a:prstGeom>
        </p:spPr>
      </p:pic>
      <p:sp>
        <p:nvSpPr>
          <p:cNvPr name="AutoShape 12" id="12"/>
          <p:cNvSpPr/>
          <p:nvPr/>
        </p:nvSpPr>
        <p:spPr>
          <a:xfrm rot="0" flipH="false" flipV="false">
            <a:off x="6985000" y="2235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跨会话检索范围</a:t>
            </a:r>
            <a:endParaRPr lang="en-US" sz="1100"/>
          </a:p>
        </p:txBody>
      </p:sp>
      <p:cxnSp>
        <p:nvCxnSpPr>
          <p:cNvPr name="Connector 13" id="13"/>
          <p:cNvCxnSpPr/>
          <p:nvPr/>
        </p:nvCxnSpPr>
        <p:spPr>
          <a:xfrm rot="-9291" flipH="false" flipV="false">
            <a:off x="6477009" y="2724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4" id="14"/>
          <p:cNvSpPr/>
          <p:nvPr/>
        </p:nvSpPr>
        <p:spPr>
          <a:xfrm rot="0" flipH="false" flipV="false">
            <a:off x="6477000" y="2857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JSON：受限于上下文窗口，仅能搜索最近20轮对话</a:t>
            </a:r>
            <a:endParaRPr lang="en-US" sz="1100"/>
          </a:p>
        </p:txBody>
      </p:sp>
      <p:sp>
        <p:nvSpPr>
          <p:cNvPr name="AutoShape 15" id="15"/>
          <p:cNvSpPr/>
          <p:nvPr/>
        </p:nvSpPr>
        <p:spPr>
          <a:xfrm rot="0" flipH="false" flipV="false">
            <a:off x="6477000" y="3238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向量：突破窗口限制，可搜索所有历史记忆数据</a:t>
            </a:r>
            <a:endParaRPr lang="en-US" sz="1100"/>
          </a:p>
        </p:txBody>
      </p:sp>
      <p:sp>
        <p:nvSpPr>
          <p:cNvPr name="AutoShape 16" id="16"/>
          <p:cNvSpPr/>
          <p:nvPr/>
        </p:nvSpPr>
        <p:spPr>
          <a:xfrm rot="0" flipH="false" flipV="false">
            <a:off x="762000" y="4191000"/>
            <a:ext cx="5207000" cy="1905000"/>
          </a:xfrm>
          <a:prstGeom prst="roundRect">
            <a:avLst>
              <a:gd name="adj" fmla="val 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381500"/>
            <a:ext cx="406400" cy="406400"/>
          </a:xfrm>
          <a:prstGeom prst="rect">
            <a:avLst/>
          </a:prstGeom>
        </p:spPr>
      </p:pic>
      <p:sp>
        <p:nvSpPr>
          <p:cNvPr name="AutoShape 18" id="18"/>
          <p:cNvSpPr/>
          <p:nvPr/>
        </p:nvSpPr>
        <p:spPr>
          <a:xfrm rot="0" flipH="false" flipV="false">
            <a:off x="1524000" y="4394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知识关联发现</a:t>
            </a:r>
            <a:endParaRPr lang="en-US" sz="1100"/>
          </a:p>
        </p:txBody>
      </p:sp>
      <p:cxnSp>
        <p:nvCxnSpPr>
          <p:cNvPr name="Connector 19" id="19"/>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0" id="20"/>
          <p:cNvSpPr/>
          <p:nvPr/>
        </p:nvSpPr>
        <p:spPr>
          <a:xfrm rot="0" flipH="false" flipV="false">
            <a:off x="1016000" y="5016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JSON：数据孤立，无法自动建立深层关联</a:t>
            </a:r>
            <a:endParaRPr lang="en-US" sz="1100"/>
          </a:p>
        </p:txBody>
      </p:sp>
      <p:sp>
        <p:nvSpPr>
          <p:cNvPr name="AutoShape 21" id="21"/>
          <p:cNvSpPr/>
          <p:nvPr/>
        </p:nvSpPr>
        <p:spPr>
          <a:xfrm rot="0" flipH="false" flipV="false">
            <a:off x="1016000" y="5397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向量：基于语义相似度，自动关联相似记忆片段</a:t>
            </a:r>
            <a:endParaRPr lang="en-US" sz="1100"/>
          </a:p>
        </p:txBody>
      </p:sp>
      <p:sp>
        <p:nvSpPr>
          <p:cNvPr name="AutoShape 22" id="22"/>
          <p:cNvSpPr/>
          <p:nvPr/>
        </p:nvSpPr>
        <p:spPr>
          <a:xfrm rot="0" flipH="false" flipV="false">
            <a:off x="6223000" y="4191000"/>
            <a:ext cx="5207000" cy="1905000"/>
          </a:xfrm>
          <a:prstGeom prst="roundRect">
            <a:avLst>
              <a:gd name="adj" fmla="val 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381500"/>
            <a:ext cx="406400" cy="406400"/>
          </a:xfrm>
          <a:prstGeom prst="rect">
            <a:avLst/>
          </a:prstGeom>
        </p:spPr>
      </p:pic>
      <p:sp>
        <p:nvSpPr>
          <p:cNvPr name="AutoShape 24" id="24"/>
          <p:cNvSpPr/>
          <p:nvPr/>
        </p:nvSpPr>
        <p:spPr>
          <a:xfrm rot="0" flipH="false" flipV="false">
            <a:off x="6985000" y="4394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存储与检索效率</a:t>
            </a:r>
            <a:endParaRPr lang="en-US" sz="1100"/>
          </a:p>
        </p:txBody>
      </p:sp>
      <p:cxnSp>
        <p:nvCxnSpPr>
          <p:cNvPr name="Connector 25" id="25"/>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6" id="26"/>
          <p:cNvSpPr/>
          <p:nvPr/>
        </p:nvSpPr>
        <p:spPr>
          <a:xfrm rot="0" flipH="false" flipV="false">
            <a:off x="6477000" y="5016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JSON：全量加载历史数据，消耗大量Token</a:t>
            </a:r>
            <a:endParaRPr lang="en-US" sz="1100"/>
          </a:p>
        </p:txBody>
      </p:sp>
      <p:sp>
        <p:nvSpPr>
          <p:cNvPr name="AutoShape 27" id="27"/>
          <p:cNvSpPr/>
          <p:nvPr/>
        </p:nvSpPr>
        <p:spPr>
          <a:xfrm rot="0" flipH="false" flipV="false">
            <a:off x="6477000" y="53975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向量：按需检索相关片段，大幅提升效率</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练习1：基于ChromaDB实现VectorMemory类</a:t>
            </a:r>
            <a:endParaRPr lang="en-US" sz="1100"/>
          </a:p>
        </p:txBody>
      </p:sp>
      <p:sp>
        <p:nvSpPr>
          <p:cNvPr name="AutoShape 4" id="4"/>
          <p:cNvSpPr/>
          <p:nvPr/>
        </p:nvSpPr>
        <p:spPr>
          <a:xfrm rot="0" flipH="false" flipV="false">
            <a:off x="762000" y="2032000"/>
            <a:ext cx="5080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预计耗时</a:t>
            </a:r>
            <a:endParaRPr lang="en-US" sz="1100"/>
          </a:p>
        </p:txBody>
      </p:sp>
      <p:sp>
        <p:nvSpPr>
          <p:cNvPr name="AutoShape 7" id="7"/>
          <p:cNvSpPr/>
          <p:nvPr/>
        </p:nvSpPr>
        <p:spPr>
          <a:xfrm rot="0" flipH="false" flipV="false">
            <a:off x="1524000" y="273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20分钟，请合理分配时间</a:t>
            </a:r>
            <a:endParaRPr lang="en-US" sz="1100"/>
          </a:p>
        </p:txBody>
      </p:sp>
      <p:sp>
        <p:nvSpPr>
          <p:cNvPr name="AutoShape 8" id="8"/>
          <p:cNvSpPr/>
          <p:nvPr/>
        </p:nvSpPr>
        <p:spPr>
          <a:xfrm rot="0" flipH="false" flipV="false">
            <a:off x="6096000" y="2032000"/>
            <a:ext cx="5080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286000"/>
            <a:ext cx="406400" cy="406400"/>
          </a:xfrm>
          <a:prstGeom prst="rect">
            <a:avLst/>
          </a:prstGeom>
        </p:spPr>
      </p:pic>
      <p:sp>
        <p:nvSpPr>
          <p:cNvPr name="AutoShape 10" id="10"/>
          <p:cNvSpPr/>
          <p:nvPr/>
        </p:nvSpPr>
        <p:spPr>
          <a:xfrm rot="0" flipH="false" flipV="false">
            <a:off x="6858000" y="2286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核心目标</a:t>
            </a:r>
            <a:endParaRPr lang="en-US" sz="1100"/>
          </a:p>
        </p:txBody>
      </p:sp>
      <p:sp>
        <p:nvSpPr>
          <p:cNvPr name="AutoShape 11" id="11"/>
          <p:cNvSpPr/>
          <p:nvPr/>
        </p:nvSpPr>
        <p:spPr>
          <a:xfrm rot="0" flipH="false" flipV="false">
            <a:off x="6858000" y="273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实现 VectorMemory 类的 add() 和 search() 方法</a:t>
            </a:r>
            <a:endParaRPr lang="en-US" sz="1100"/>
          </a:p>
        </p:txBody>
      </p:sp>
      <p:sp>
        <p:nvSpPr>
          <p:cNvPr name="AutoShape 12" id="12"/>
          <p:cNvSpPr/>
          <p:nvPr/>
        </p:nvSpPr>
        <p:spPr>
          <a:xfrm rot="0" flipH="false" flipV="false">
            <a:off x="762000" y="4064000"/>
            <a:ext cx="5080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318000"/>
            <a:ext cx="406400" cy="406400"/>
          </a:xfrm>
          <a:prstGeom prst="rect">
            <a:avLst/>
          </a:prstGeom>
        </p:spPr>
      </p:pic>
      <p:sp>
        <p:nvSpPr>
          <p:cNvPr name="AutoShape 14" id="14"/>
          <p:cNvSpPr/>
          <p:nvPr/>
        </p:nvSpPr>
        <p:spPr>
          <a:xfrm rot="0" flipH="false" flipV="false">
            <a:off x="1524000" y="4318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验证方法</a:t>
            </a:r>
            <a:endParaRPr lang="en-US" sz="1100"/>
          </a:p>
        </p:txBody>
      </p:sp>
      <p:sp>
        <p:nvSpPr>
          <p:cNvPr name="AutoShape 15" id="15"/>
          <p:cNvSpPr/>
          <p:nvPr/>
        </p:nvSpPr>
        <p:spPr>
          <a:xfrm rot="0" flipH="false" flipV="false">
            <a:off x="1524000" y="4762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测试 "API密钥" 和 "API key" 能否互相检索到对方</a:t>
            </a:r>
            <a:endParaRPr lang="en-US" sz="1100"/>
          </a:p>
        </p:txBody>
      </p:sp>
      <p:sp>
        <p:nvSpPr>
          <p:cNvPr name="AutoShape 16" id="16"/>
          <p:cNvSpPr/>
          <p:nvPr/>
        </p:nvSpPr>
        <p:spPr>
          <a:xfrm rot="0" flipH="false" flipV="false">
            <a:off x="6096000" y="4064000"/>
            <a:ext cx="5080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4318000"/>
            <a:ext cx="406400" cy="406400"/>
          </a:xfrm>
          <a:prstGeom prst="rect">
            <a:avLst/>
          </a:prstGeom>
        </p:spPr>
      </p:pic>
      <p:sp>
        <p:nvSpPr>
          <p:cNvPr name="AutoShape 18" id="18"/>
          <p:cNvSpPr/>
          <p:nvPr/>
        </p:nvSpPr>
        <p:spPr>
          <a:xfrm rot="0" flipH="false" flipV="false">
            <a:off x="6858000" y="4318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参考资源</a:t>
            </a:r>
            <a:endParaRPr lang="en-US" sz="1100"/>
          </a:p>
        </p:txBody>
      </p:sp>
      <p:sp>
        <p:nvSpPr>
          <p:cNvPr name="AutoShape 19" id="19"/>
          <p:cNvSpPr/>
          <p:nvPr/>
        </p:nvSpPr>
        <p:spPr>
          <a:xfrm rot="0" flipH="false" flipV="false">
            <a:off x="6858000" y="4762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文件: exercise_01_vector_memory.py</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参考: 讲义模块1.2 VectorMemory完整代码</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新问题出现了</a:t>
            </a:r>
            <a:endParaRPr lang="en-US" sz="1100"/>
          </a:p>
        </p:txBody>
      </p:sp>
      <p:sp>
        <p:nvSpPr>
          <p:cNvPr name="AutoShape 4" id="4"/>
          <p:cNvSpPr/>
          <p:nvPr/>
        </p:nvSpPr>
        <p:spPr>
          <a:xfrm rot="0" flipH="false" flipV="false">
            <a:off x="762000" y="2032000"/>
            <a:ext cx="4826000" cy="3302000"/>
          </a:xfrm>
          <a:prstGeom prst="roundRect">
            <a:avLst>
              <a:gd name="adj" fmla="val 384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406400" cy="406400"/>
          </a:xfrm>
          <a:prstGeom prst="rect">
            <a:avLst/>
          </a:prstGeom>
        </p:spPr>
      </p:pic>
      <p:sp>
        <p:nvSpPr>
          <p:cNvPr name="AutoShape 6" id="6"/>
          <p:cNvSpPr/>
          <p:nvPr/>
        </p:nvSpPr>
        <p:spPr>
          <a:xfrm rot="0" flipH="false" flipV="false">
            <a:off x="1574800" y="2336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现状：记忆被“平等”对待</a:t>
            </a:r>
            <a:endParaRPr lang="en-US" sz="1100"/>
          </a:p>
        </p:txBody>
      </p:sp>
      <p:cxnSp>
        <p:nvCxnSpPr>
          <p:cNvPr name="Connector 7" id="7"/>
          <p:cNvCxnSpPr/>
          <p:nvPr/>
        </p:nvCxnSpPr>
        <p:spPr>
          <a:xfrm rot="-10354" flipH="false" flipV="false">
            <a:off x="1066810" y="2838450"/>
            <a:ext cx="4216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66800" y="3048000"/>
            <a:ext cx="4216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在当前的向量存储中，所有信息被一视同仁地存储和检索：</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solidFill>
                <a:latin typeface="Noto Sans SC"/>
                <a:ea typeface="Noto Sans SC"/>
                <a:cs typeface="Noto Sans SC"/>
                <a:sym typeface="Noto Sans SC"/>
              </a:rPr>
              <a:t>日常偏好：“用户喜欢喝咖啡”</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solidFill>
                <a:latin typeface="Noto Sans SC"/>
                <a:ea typeface="Noto Sans SC"/>
                <a:cs typeface="Noto Sans SC"/>
                <a:sym typeface="Noto Sans SC"/>
              </a:rPr>
              <a:t>敏感隐私：“用户的银行密码”</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453A"/>
                </a:solidFill>
                <a:latin typeface="Noto Sans SC"/>
                <a:ea typeface="Noto Sans SC"/>
                <a:cs typeface="Noto Sans SC"/>
                <a:sym typeface="Noto Sans SC"/>
              </a:rPr>
              <a:t>风险：重要性与安全性未被区分</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42000" y="3429000"/>
            <a:ext cx="508000" cy="508000"/>
          </a:xfrm>
          <a:prstGeom prst="rect">
            <a:avLst/>
          </a:prstGeom>
        </p:spPr>
      </p:pic>
      <p:sp>
        <p:nvSpPr>
          <p:cNvPr name="AutoShape 10" id="10"/>
          <p:cNvSpPr/>
          <p:nvPr/>
        </p:nvSpPr>
        <p:spPr>
          <a:xfrm rot="0" flipH="false" flipV="false">
            <a:off x="6604000" y="2032000"/>
            <a:ext cx="4826000" cy="3302000"/>
          </a:xfrm>
          <a:prstGeom prst="roundRect">
            <a:avLst>
              <a:gd name="adj" fmla="val 3846"/>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08800" y="2336800"/>
            <a:ext cx="406400" cy="406400"/>
          </a:xfrm>
          <a:prstGeom prst="rect">
            <a:avLst/>
          </a:prstGeom>
        </p:spPr>
      </p:pic>
      <p:sp>
        <p:nvSpPr>
          <p:cNvPr name="AutoShape 12" id="12"/>
          <p:cNvSpPr/>
          <p:nvPr/>
        </p:nvSpPr>
        <p:spPr>
          <a:xfrm rot="0" flipH="false" flipV="false">
            <a:off x="7416800" y="2336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解决方案：记忆分层</a:t>
            </a:r>
            <a:endParaRPr lang="en-US" sz="1100"/>
          </a:p>
        </p:txBody>
      </p:sp>
      <p:cxnSp>
        <p:nvCxnSpPr>
          <p:cNvPr name="Connector 13" id="13"/>
          <p:cNvCxnSpPr/>
          <p:nvPr/>
        </p:nvCxnSpPr>
        <p:spPr>
          <a:xfrm rot="-10354" flipH="false" flipV="false">
            <a:off x="6908810" y="2838450"/>
            <a:ext cx="42164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14" id="14"/>
          <p:cNvSpPr/>
          <p:nvPr/>
        </p:nvSpPr>
        <p:spPr>
          <a:xfrm rot="0" flipH="false" flipV="false">
            <a:off x="6908800" y="3048000"/>
            <a:ext cx="4216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我们需要建立分层机制，将记忆按重要性和敏感性分类：</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FFFFFF"/>
              </a:buClr>
              <a:buFont typeface="Wingdings"/>
              <a:buChar char="ü"/>
            </a:pPr>
            <a:r>
              <a:rPr lang="en-US" b="false" i="false" strike="noStrike" u="none" sz="1400">
                <a:solidFill>
                  <a:srgbClr val="FFFFFF"/>
                </a:solidFill>
                <a:latin typeface="Noto Sans SC"/>
                <a:ea typeface="Noto Sans SC"/>
                <a:cs typeface="Noto Sans SC"/>
                <a:sym typeface="Noto Sans SC"/>
              </a:rPr>
              <a:t>区分短期记忆与长期记忆</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FFFFFF"/>
              </a:buClr>
              <a:buFont typeface="Wingdings"/>
              <a:buChar char="ü"/>
            </a:pPr>
            <a:r>
              <a:rPr lang="en-US" b="false" i="false" strike="noStrike" u="none" sz="1400">
                <a:solidFill>
                  <a:srgbClr val="FFFFFF"/>
                </a:solidFill>
                <a:latin typeface="Noto Sans SC"/>
                <a:ea typeface="Noto Sans SC"/>
                <a:cs typeface="Noto Sans SC"/>
                <a:sym typeface="Noto Sans SC"/>
              </a:rPr>
              <a:t>隔离公开信息与隐私数据</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00BFFF"/>
                </a:solidFill>
                <a:latin typeface="Noto Sans SC"/>
                <a:ea typeface="Noto Sans SC"/>
                <a:cs typeface="Noto Sans SC"/>
                <a:sym typeface="Noto Sans SC"/>
              </a:rPr>
              <a:t>目标：实现更高效、更安全的检索</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不是所有记忆都同等重要</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模块 1.3 —— 四层记忆架构：从人类记忆到 AI Agent</a:t>
            </a:r>
            <a:endParaRPr lang="en-US" sz="1100"/>
          </a:p>
        </p:txBody>
      </p:sp>
      <p:sp>
        <p:nvSpPr>
          <p:cNvPr name="AutoShape 5" id="5"/>
          <p:cNvSpPr/>
          <p:nvPr/>
        </p:nvSpPr>
        <p:spPr>
          <a:xfrm rot="0" flipH="false" flipV="false">
            <a:off x="762000" y="2413000"/>
            <a:ext cx="2476500" cy="3048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95450" y="2667000"/>
            <a:ext cx="609600" cy="609600"/>
          </a:xfrm>
          <a:prstGeom prst="rect">
            <a:avLst/>
          </a:prstGeom>
        </p:spPr>
      </p:pic>
      <p:sp>
        <p:nvSpPr>
          <p:cNvPr name="AutoShape 7" id="7"/>
          <p:cNvSpPr/>
          <p:nvPr/>
        </p:nvSpPr>
        <p:spPr>
          <a:xfrm rot="0" flipH="false" flipV="false">
            <a:off x="889000" y="3365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工作记忆</a:t>
            </a:r>
            <a:endParaRPr lang="en-US" sz="1100"/>
          </a:p>
        </p:txBody>
      </p:sp>
      <p:cxnSp>
        <p:nvCxnSpPr>
          <p:cNvPr name="Connector 8" id="8"/>
          <p:cNvCxnSpPr/>
          <p:nvPr/>
        </p:nvCxnSpPr>
        <p:spPr>
          <a:xfrm rot="-22178" flipH="false" flipV="false">
            <a:off x="1016020" y="3803650"/>
            <a:ext cx="196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889000" y="3937000"/>
            <a:ext cx="22225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类比：正在读的这段话</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200">
                <a:solidFill>
                  <a:srgbClr val="FFFFFF">
                    <a:alpha val="50196"/>
                  </a:srgbClr>
                </a:solidFill>
                <a:latin typeface="Noto Sans SC"/>
                <a:ea typeface="Noto Sans SC"/>
                <a:cs typeface="Noto Sans SC"/>
                <a:sym typeface="Noto Sans SC"/>
              </a:rPr>
              <a:t>即时处理的信息，短暂易逝</a:t>
            </a:r>
          </a:p>
        </p:txBody>
      </p:sp>
      <p:sp>
        <p:nvSpPr>
          <p:cNvPr name="AutoShape 10" id="10"/>
          <p:cNvSpPr/>
          <p:nvPr/>
        </p:nvSpPr>
        <p:spPr>
          <a:xfrm rot="0" flipH="false" flipV="false">
            <a:off x="3492500" y="2413000"/>
            <a:ext cx="2476500" cy="3048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25950" y="2667000"/>
            <a:ext cx="609600" cy="609600"/>
          </a:xfrm>
          <a:prstGeom prst="rect">
            <a:avLst/>
          </a:prstGeom>
        </p:spPr>
      </p:pic>
      <p:sp>
        <p:nvSpPr>
          <p:cNvPr name="AutoShape 12" id="12"/>
          <p:cNvSpPr/>
          <p:nvPr/>
        </p:nvSpPr>
        <p:spPr>
          <a:xfrm rot="0" flipH="false" flipV="false">
            <a:off x="3619500" y="3365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短期记忆</a:t>
            </a:r>
            <a:endParaRPr lang="en-US" sz="1100"/>
          </a:p>
        </p:txBody>
      </p:sp>
      <p:cxnSp>
        <p:nvCxnSpPr>
          <p:cNvPr name="Connector 13" id="13"/>
          <p:cNvCxnSpPr/>
          <p:nvPr/>
        </p:nvCxnSpPr>
        <p:spPr>
          <a:xfrm rot="-22178" flipH="false" flipV="false">
            <a:off x="3746520" y="3803650"/>
            <a:ext cx="196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3619500" y="3937000"/>
            <a:ext cx="22225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类比：今天午饭吃了什么</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200">
                <a:solidFill>
                  <a:srgbClr val="FFFFFF">
                    <a:alpha val="50196"/>
                  </a:srgbClr>
                </a:solidFill>
                <a:latin typeface="Noto Sans SC"/>
                <a:ea typeface="Noto Sans SC"/>
                <a:cs typeface="Noto Sans SC"/>
                <a:sym typeface="Noto Sans SC"/>
              </a:rPr>
              <a:t>近期发生的事件，随时间淡忘</a:t>
            </a:r>
          </a:p>
        </p:txBody>
      </p:sp>
      <p:sp>
        <p:nvSpPr>
          <p:cNvPr name="AutoShape 15" id="15"/>
          <p:cNvSpPr/>
          <p:nvPr/>
        </p:nvSpPr>
        <p:spPr>
          <a:xfrm rot="0" flipH="false" flipV="false">
            <a:off x="6223000" y="2413000"/>
            <a:ext cx="2476500" cy="3048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56450" y="2667000"/>
            <a:ext cx="609600" cy="609600"/>
          </a:xfrm>
          <a:prstGeom prst="rect">
            <a:avLst/>
          </a:prstGeom>
        </p:spPr>
      </p:pic>
      <p:sp>
        <p:nvSpPr>
          <p:cNvPr name="AutoShape 17" id="17"/>
          <p:cNvSpPr/>
          <p:nvPr/>
        </p:nvSpPr>
        <p:spPr>
          <a:xfrm rot="0" flipH="false" flipV="false">
            <a:off x="6350000" y="3365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长期记忆</a:t>
            </a:r>
            <a:endParaRPr lang="en-US" sz="1100"/>
          </a:p>
        </p:txBody>
      </p:sp>
      <p:cxnSp>
        <p:nvCxnSpPr>
          <p:cNvPr name="Connector 18" id="18"/>
          <p:cNvCxnSpPr/>
          <p:nvPr/>
        </p:nvCxnSpPr>
        <p:spPr>
          <a:xfrm rot="-22178" flipH="false" flipV="false">
            <a:off x="6477020" y="3803650"/>
            <a:ext cx="196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9" id="19"/>
          <p:cNvSpPr/>
          <p:nvPr/>
        </p:nvSpPr>
        <p:spPr>
          <a:xfrm rot="0" flipH="false" flipV="false">
            <a:off x="6350000" y="3937000"/>
            <a:ext cx="22225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类比：你的名字</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200">
                <a:solidFill>
                  <a:srgbClr val="FFFFFF">
                    <a:alpha val="50196"/>
                  </a:srgbClr>
                </a:solidFill>
                <a:latin typeface="Noto Sans SC"/>
                <a:ea typeface="Noto Sans SC"/>
                <a:cs typeface="Noto Sans SC"/>
                <a:sym typeface="Noto Sans SC"/>
              </a:rPr>
              <a:t>核心身份信息，长期稳定存储</a:t>
            </a:r>
          </a:p>
        </p:txBody>
      </p:sp>
      <p:sp>
        <p:nvSpPr>
          <p:cNvPr name="AutoShape 20" id="20"/>
          <p:cNvSpPr/>
          <p:nvPr/>
        </p:nvSpPr>
        <p:spPr>
          <a:xfrm rot="0" flipH="false" flipV="false">
            <a:off x="8953500" y="2413000"/>
            <a:ext cx="2476500" cy="3048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86950" y="2667000"/>
            <a:ext cx="609600" cy="609600"/>
          </a:xfrm>
          <a:prstGeom prst="rect">
            <a:avLst/>
          </a:prstGeom>
        </p:spPr>
      </p:pic>
      <p:sp>
        <p:nvSpPr>
          <p:cNvPr name="AutoShape 22" id="22"/>
          <p:cNvSpPr/>
          <p:nvPr/>
        </p:nvSpPr>
        <p:spPr>
          <a:xfrm rot="0" flipH="false" flipV="false">
            <a:off x="9080500" y="3365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知识体系</a:t>
            </a:r>
            <a:endParaRPr lang="en-US" sz="1100"/>
          </a:p>
        </p:txBody>
      </p:sp>
      <p:cxnSp>
        <p:nvCxnSpPr>
          <p:cNvPr name="Connector 23" id="23"/>
          <p:cNvCxnSpPr/>
          <p:nvPr/>
        </p:nvCxnSpPr>
        <p:spPr>
          <a:xfrm rot="-22178" flipH="false" flipV="false">
            <a:off x="9207520" y="3803650"/>
            <a:ext cx="196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4" id="24"/>
          <p:cNvSpPr/>
          <p:nvPr/>
        </p:nvSpPr>
        <p:spPr>
          <a:xfrm rot="0" flipH="false" flipV="false">
            <a:off x="9080500" y="3937000"/>
            <a:ext cx="22225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类比：你的专业知识</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200">
                <a:solidFill>
                  <a:srgbClr val="FFFFFF">
                    <a:alpha val="50196"/>
                  </a:srgbClr>
                </a:solidFill>
                <a:latin typeface="Noto Sans SC"/>
                <a:ea typeface="Noto Sans SC"/>
                <a:cs typeface="Noto Sans SC"/>
                <a:sym typeface="Noto Sans SC"/>
              </a:rPr>
              <a:t>结构化的认知框架，推理的基础</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四层记忆架构图</a:t>
            </a:r>
            <a:endParaRPr lang="en-US" sz="1100"/>
          </a:p>
        </p:txBody>
      </p:sp>
      <p:sp>
        <p:nvSpPr>
          <p:cNvPr name="AutoShape 4" id="4"/>
          <p:cNvSpPr/>
          <p:nvPr/>
        </p:nvSpPr>
        <p:spPr>
          <a:xfrm rot="0" flipH="false" flipV="false">
            <a:off x="762000" y="15240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28800"/>
            <a:ext cx="406400" cy="406400"/>
          </a:xfrm>
          <a:prstGeom prst="rect">
            <a:avLst/>
          </a:prstGeom>
        </p:spPr>
      </p:pic>
      <p:sp>
        <p:nvSpPr>
          <p:cNvPr name="AutoShape 6" id="6"/>
          <p:cNvSpPr/>
          <p:nvPr/>
        </p:nvSpPr>
        <p:spPr>
          <a:xfrm rot="0" flipH="false" flipV="false">
            <a:off x="1524000" y="171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Layer 1: 工作记忆</a:t>
            </a:r>
            <a:endParaRPr lang="en-US" sz="1100"/>
          </a:p>
        </p:txBody>
      </p:sp>
      <p:sp>
        <p:nvSpPr>
          <p:cNvPr name="AutoShape 7" id="7"/>
          <p:cNvSpPr/>
          <p:nvPr/>
        </p:nvSpPr>
        <p:spPr>
          <a:xfrm rot="0" flipH="false" flipV="false">
            <a:off x="1524000" y="203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内容：当前对话上下文 | 存储：内存 | 周期：会话结束清除</a:t>
            </a:r>
            <a:endParaRPr lang="en-US" sz="1100"/>
          </a:p>
        </p:txBody>
      </p:sp>
      <p:sp>
        <p:nvSpPr>
          <p:cNvPr name="AutoShape 8" id="8"/>
          <p:cNvSpPr/>
          <p:nvPr/>
        </p:nvSpPr>
        <p:spPr>
          <a:xfrm rot="0" flipH="false" flipV="false">
            <a:off x="762000" y="26670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971800"/>
            <a:ext cx="406400" cy="406400"/>
          </a:xfrm>
          <a:prstGeom prst="rect">
            <a:avLst/>
          </a:prstGeom>
        </p:spPr>
      </p:pic>
      <p:sp>
        <p:nvSpPr>
          <p:cNvPr name="AutoShape 10" id="10"/>
          <p:cNvSpPr/>
          <p:nvPr/>
        </p:nvSpPr>
        <p:spPr>
          <a:xfrm rot="0" flipH="false" flipV="false">
            <a:off x="1524000" y="2857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Layer 2: 短期记忆</a:t>
            </a:r>
            <a:endParaRPr lang="en-US" sz="1100"/>
          </a:p>
        </p:txBody>
      </p:sp>
      <p:sp>
        <p:nvSpPr>
          <p:cNvPr name="AutoShape 11" id="11"/>
          <p:cNvSpPr/>
          <p:nvPr/>
        </p:nvSpPr>
        <p:spPr>
          <a:xfrm rot="0" flipH="false" flipV="false">
            <a:off x="1524000" y="3175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内容：今日对话记录 | 存储：MD文件 | 周期：数天到数周</a:t>
            </a:r>
            <a:endParaRPr lang="en-US" sz="1100"/>
          </a:p>
        </p:txBody>
      </p:sp>
      <p:sp>
        <p:nvSpPr>
          <p:cNvPr name="AutoShape 12" id="12"/>
          <p:cNvSpPr/>
          <p:nvPr/>
        </p:nvSpPr>
        <p:spPr>
          <a:xfrm rot="0" flipH="false" flipV="false">
            <a:off x="762000" y="38100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114800"/>
            <a:ext cx="406400" cy="406400"/>
          </a:xfrm>
          <a:prstGeom prst="rect">
            <a:avLst/>
          </a:prstGeom>
        </p:spPr>
      </p:pic>
      <p:sp>
        <p:nvSpPr>
          <p:cNvPr name="AutoShape 14" id="14"/>
          <p:cNvSpPr/>
          <p:nvPr/>
        </p:nvSpPr>
        <p:spPr>
          <a:xfrm rot="0" flipH="false" flipV="false">
            <a:off x="1524000" y="4000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Layer 3: 长期记忆</a:t>
            </a:r>
            <a:endParaRPr lang="en-US" sz="1100"/>
          </a:p>
        </p:txBody>
      </p:sp>
      <p:sp>
        <p:nvSpPr>
          <p:cNvPr name="AutoShape 15" id="15"/>
          <p:cNvSpPr/>
          <p:nvPr/>
        </p:nvSpPr>
        <p:spPr>
          <a:xfrm rot="0" flipH="false" flipV="false">
            <a:off x="1524000" y="4318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内容：重要事实/偏好 | 存储：MEMORY.md + 向量DB | 周期：永久</a:t>
            </a:r>
            <a:endParaRPr lang="en-US" sz="1100"/>
          </a:p>
        </p:txBody>
      </p:sp>
      <p:sp>
        <p:nvSpPr>
          <p:cNvPr name="AutoShape 16" id="16"/>
          <p:cNvSpPr/>
          <p:nvPr/>
        </p:nvSpPr>
        <p:spPr>
          <a:xfrm rot="0" flipH="false" flipV="false">
            <a:off x="762000" y="4953000"/>
            <a:ext cx="10668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257800"/>
            <a:ext cx="406400" cy="406400"/>
          </a:xfrm>
          <a:prstGeom prst="rect">
            <a:avLst/>
          </a:prstGeom>
        </p:spPr>
      </p:pic>
      <p:sp>
        <p:nvSpPr>
          <p:cNvPr name="AutoShape 18" id="18"/>
          <p:cNvSpPr/>
          <p:nvPr/>
        </p:nvSpPr>
        <p:spPr>
          <a:xfrm rot="0" flipH="false" flipV="false">
            <a:off x="1524000" y="5143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Layer 4: 知识库</a:t>
            </a:r>
            <a:endParaRPr lang="en-US" sz="1100"/>
          </a:p>
        </p:txBody>
      </p:sp>
      <p:sp>
        <p:nvSpPr>
          <p:cNvPr name="AutoShape 19" id="19"/>
          <p:cNvSpPr/>
          <p:nvPr/>
        </p:nvSpPr>
        <p:spPr>
          <a:xfrm rot="0" flipH="false" flipV="false">
            <a:off x="1524000" y="5461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内容：领域知识/技能 | 存储：结构化文档+索引 | 周期：永久(定期更新)</a:t>
            </a:r>
            <a:endParaRPr lang="en-US" sz="1100"/>
          </a:p>
        </p:txBody>
      </p:sp>
      <p:sp>
        <p:nvSpPr>
          <p:cNvPr name="AutoShape 20" id="20"/>
          <p:cNvSpPr/>
          <p:nvPr/>
        </p:nvSpPr>
        <p:spPr>
          <a:xfrm rot="0" flipH="false" flipV="false">
            <a:off x="762000" y="6159500"/>
            <a:ext cx="10668000" cy="381000"/>
          </a:xfrm>
          <a:prstGeom prst="roundRect">
            <a:avLst>
              <a:gd name="adj" fmla="val 33333"/>
            </a:avLst>
          </a:prstGeom>
          <a:solidFill>
            <a:srgbClr val="00BFFF">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52500" y="6248400"/>
            <a:ext cx="203200" cy="203200"/>
          </a:xfrm>
          <a:prstGeom prst="rect">
            <a:avLst/>
          </a:prstGeom>
        </p:spPr>
      </p:pic>
      <p:sp>
        <p:nvSpPr>
          <p:cNvPr name="AutoShape 22" id="22"/>
          <p:cNvSpPr/>
          <p:nvPr/>
        </p:nvSpPr>
        <p:spPr>
          <a:xfrm rot="0" flipH="false" flipV="false">
            <a:off x="1270000" y="6197600"/>
            <a:ext cx="889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检索优先级策略：Layer 1 &gt; Layer 2 &gt; Layer 3 &gt; Layer 4</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设计客服AI Agent的记忆</a:t>
            </a:r>
            <a:endParaRPr lang="en-US" sz="1100"/>
          </a:p>
        </p:txBody>
      </p:sp>
      <p:sp>
        <p:nvSpPr>
          <p:cNvPr name="AutoShape 4" id="4"/>
          <p:cNvSpPr/>
          <p:nvPr/>
        </p:nvSpPr>
        <p:spPr>
          <a:xfrm rot="0" flipH="false" flipV="false">
            <a:off x="762000" y="2032000"/>
            <a:ext cx="10668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89200"/>
            <a:ext cx="609600" cy="609600"/>
          </a:xfrm>
          <a:prstGeom prst="rect">
            <a:avLst/>
          </a:prstGeom>
        </p:spPr>
      </p:pic>
      <p:sp>
        <p:nvSpPr>
          <p:cNvPr name="AutoShape 6" id="6"/>
          <p:cNvSpPr/>
          <p:nvPr/>
        </p:nvSpPr>
        <p:spPr>
          <a:xfrm rot="0" flipH="false" flipV="false">
            <a:off x="1905000" y="2286000"/>
            <a:ext cx="889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Noto Sans SC"/>
                <a:ea typeface="Noto Sans SC"/>
                <a:cs typeface="Noto Sans SC"/>
                <a:sym typeface="Noto Sans SC"/>
              </a:rPr>
              <a:t>思考：四层分别应该放什么内容？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FFFFFF">
                    <a:alpha val="70196"/>
                  </a:srgbClr>
                </a:solidFill>
                <a:latin typeface="Noto Sans SC"/>
                <a:ea typeface="Noto Sans SC"/>
                <a:cs typeface="Noto Sans SC"/>
                <a:sym typeface="Noto Sans SC"/>
              </a:rPr>
              <a:t>请结合客服场景，思考工作记忆、短期记忆、长期记忆和知识库的具体数据构成。</a:t>
            </a:r>
          </a:p>
        </p:txBody>
      </p:sp>
      <p:sp>
        <p:nvSpPr>
          <p:cNvPr name="AutoShape 7" id="7"/>
          <p:cNvSpPr/>
          <p:nvPr/>
        </p:nvSpPr>
        <p:spPr>
          <a:xfrm rot="0" flipH="false" flipV="false">
            <a:off x="762000" y="3810000"/>
            <a:ext cx="10668000" cy="1016000"/>
          </a:xfrm>
          <a:prstGeom prst="roundRect">
            <a:avLst>
              <a:gd name="adj" fmla="val 12500"/>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4114800"/>
            <a:ext cx="406400" cy="406400"/>
          </a:xfrm>
          <a:prstGeom prst="rect">
            <a:avLst/>
          </a:prstGeom>
        </p:spPr>
      </p:pic>
      <p:sp>
        <p:nvSpPr>
          <p:cNvPr name="AutoShape 9" id="9"/>
          <p:cNvSpPr/>
          <p:nvPr/>
        </p:nvSpPr>
        <p:spPr>
          <a:xfrm rot="0" flipH="false" flipV="false">
            <a:off x="1905000" y="4064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给大家30秒时间思考...</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四层协作检索流程</a:t>
            </a:r>
            <a:endParaRPr lang="en-US" sz="1100"/>
          </a:p>
        </p:txBody>
      </p:sp>
      <p:sp>
        <p:nvSpPr>
          <p:cNvPr name="AutoShape 4" id="4"/>
          <p:cNvSpPr/>
          <p:nvPr/>
        </p:nvSpPr>
        <p:spPr>
          <a:xfrm rot="0" flipH="false" flipV="false">
            <a:off x="762000" y="1905000"/>
            <a:ext cx="10668000" cy="762000"/>
          </a:xfrm>
          <a:prstGeom prst="roundRect">
            <a:avLst>
              <a:gd name="adj" fmla="val 16666"/>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33600"/>
            <a:ext cx="304800" cy="304800"/>
          </a:xfrm>
          <a:prstGeom prst="rect">
            <a:avLst/>
          </a:prstGeom>
        </p:spPr>
      </p:pic>
      <p:sp>
        <p:nvSpPr>
          <p:cNvPr name="AutoShape 6" id="6"/>
          <p:cNvSpPr/>
          <p:nvPr/>
        </p:nvSpPr>
        <p:spPr>
          <a:xfrm rot="0" flipH="false" flipV="false">
            <a:off x="1397000" y="2095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用户查询：“我之前让你监控的Polymarket市场现在怎样？”</a:t>
            </a:r>
            <a:endParaRPr lang="en-US" sz="1100"/>
          </a:p>
        </p:txBody>
      </p:sp>
      <p:sp>
        <p:nvSpPr>
          <p:cNvPr name="AutoShape 7" id="7"/>
          <p:cNvSpPr/>
          <p:nvPr/>
        </p:nvSpPr>
        <p:spPr>
          <a:xfrm rot="0" flipH="false" flipV="false">
            <a:off x="762000" y="2921000"/>
            <a:ext cx="2476500" cy="2540000"/>
          </a:xfrm>
          <a:prstGeom prst="roundRect">
            <a:avLst>
              <a:gd name="adj" fmla="val 5128"/>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175000"/>
            <a:ext cx="406400" cy="406400"/>
          </a:xfrm>
          <a:prstGeom prst="rect">
            <a:avLst/>
          </a:prstGeom>
        </p:spPr>
      </p:pic>
      <p:sp>
        <p:nvSpPr>
          <p:cNvPr name="AutoShape 9" id="9"/>
          <p:cNvSpPr/>
          <p:nvPr/>
        </p:nvSpPr>
        <p:spPr>
          <a:xfrm rot="0" flipH="false" flipV="false">
            <a:off x="1016000" y="3683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步骤1：工作记忆</a:t>
            </a:r>
            <a:endParaRPr lang="en-US" sz="1100"/>
          </a:p>
        </p:txBody>
      </p:sp>
      <p:cxnSp>
        <p:nvCxnSpPr>
          <p:cNvPr name="Connector 10" id="10"/>
          <p:cNvCxnSpPr/>
          <p:nvPr/>
        </p:nvCxnSpPr>
        <p:spPr>
          <a:xfrm rot="-22178" flipH="false" flipV="false">
            <a:off x="1016020" y="4121150"/>
            <a:ext cx="19685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11" id="11"/>
          <p:cNvSpPr/>
          <p:nvPr/>
        </p:nvSpPr>
        <p:spPr>
          <a:xfrm rot="0" flipH="false" flipV="false">
            <a:off x="1016000" y="4254500"/>
            <a:ext cx="196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当前对话无相关上下文，未找到匹配信息。</a:t>
            </a:r>
            <a:endParaRPr lang="en-US" sz="1100"/>
          </a:p>
        </p:txBody>
      </p:sp>
      <p:sp>
        <p:nvSpPr>
          <p:cNvPr name="AutoShape 12" id="12"/>
          <p:cNvSpPr/>
          <p:nvPr/>
        </p:nvSpPr>
        <p:spPr>
          <a:xfrm rot="0" flipH="false" flipV="false">
            <a:off x="3492500" y="2921000"/>
            <a:ext cx="2476500" cy="2540000"/>
          </a:xfrm>
          <a:prstGeom prst="roundRect">
            <a:avLst>
              <a:gd name="adj" fmla="val 5128"/>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746500" y="3175000"/>
            <a:ext cx="406400" cy="406400"/>
          </a:xfrm>
          <a:prstGeom prst="rect">
            <a:avLst/>
          </a:prstGeom>
        </p:spPr>
      </p:pic>
      <p:sp>
        <p:nvSpPr>
          <p:cNvPr name="AutoShape 14" id="14"/>
          <p:cNvSpPr/>
          <p:nvPr/>
        </p:nvSpPr>
        <p:spPr>
          <a:xfrm rot="0" flipH="false" flipV="false">
            <a:off x="3746500" y="3683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步骤2：短期记忆</a:t>
            </a:r>
            <a:endParaRPr lang="en-US" sz="1100"/>
          </a:p>
        </p:txBody>
      </p:sp>
      <p:cxnSp>
        <p:nvCxnSpPr>
          <p:cNvPr name="Connector 15" id="15"/>
          <p:cNvCxnSpPr/>
          <p:nvPr/>
        </p:nvCxnSpPr>
        <p:spPr>
          <a:xfrm rot="-22178" flipH="false" flipV="false">
            <a:off x="3746520" y="4121150"/>
            <a:ext cx="19685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16" id="16"/>
          <p:cNvSpPr/>
          <p:nvPr/>
        </p:nvSpPr>
        <p:spPr>
          <a:xfrm rot="0" flipH="false" flipV="false">
            <a:off x="3746500" y="4254500"/>
            <a:ext cx="196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今日无相关记录，未检索到有效信息。</a:t>
            </a:r>
            <a:endParaRPr lang="en-US" sz="1100"/>
          </a:p>
        </p:txBody>
      </p:sp>
      <p:sp>
        <p:nvSpPr>
          <p:cNvPr name="AutoShape 17" id="17"/>
          <p:cNvSpPr/>
          <p:nvPr/>
        </p:nvSpPr>
        <p:spPr>
          <a:xfrm rot="0" flipH="false" flipV="false">
            <a:off x="6223000" y="2921000"/>
            <a:ext cx="2476500" cy="2540000"/>
          </a:xfrm>
          <a:prstGeom prst="roundRect">
            <a:avLst>
              <a:gd name="adj" fmla="val 5128"/>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3175000"/>
            <a:ext cx="406400" cy="406400"/>
          </a:xfrm>
          <a:prstGeom prst="rect">
            <a:avLst/>
          </a:prstGeom>
        </p:spPr>
      </p:pic>
      <p:sp>
        <p:nvSpPr>
          <p:cNvPr name="AutoShape 19" id="19"/>
          <p:cNvSpPr/>
          <p:nvPr/>
        </p:nvSpPr>
        <p:spPr>
          <a:xfrm rot="0" flipH="false" flipV="false">
            <a:off x="6477000" y="3683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步骤3：长期记忆</a:t>
            </a:r>
            <a:endParaRPr lang="en-US" sz="1100"/>
          </a:p>
        </p:txBody>
      </p:sp>
      <p:cxnSp>
        <p:nvCxnSpPr>
          <p:cNvPr name="Connector 20" id="20"/>
          <p:cNvCxnSpPr/>
          <p:nvPr/>
        </p:nvCxnSpPr>
        <p:spPr>
          <a:xfrm rot="-22178" flipH="false" flipV="false">
            <a:off x="6477020" y="4121150"/>
            <a:ext cx="19685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21" id="21"/>
          <p:cNvSpPr/>
          <p:nvPr/>
        </p:nvSpPr>
        <p:spPr>
          <a:xfrm rot="0" flipH="false" flipV="false">
            <a:off x="6477000" y="4254500"/>
            <a:ext cx="196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成功找到记录：“启动Polymarket套利监控”。</a:t>
            </a:r>
            <a:endParaRPr lang="en-US" sz="1100"/>
          </a:p>
        </p:txBody>
      </p:sp>
      <p:sp>
        <p:nvSpPr>
          <p:cNvPr name="AutoShape 22" id="22"/>
          <p:cNvSpPr/>
          <p:nvPr/>
        </p:nvSpPr>
        <p:spPr>
          <a:xfrm rot="0" flipH="false" flipV="false">
            <a:off x="8953500" y="2921000"/>
            <a:ext cx="2476500" cy="2540000"/>
          </a:xfrm>
          <a:prstGeom prst="roundRect">
            <a:avLst>
              <a:gd name="adj" fmla="val 5128"/>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207500" y="3175000"/>
            <a:ext cx="406400" cy="406400"/>
          </a:xfrm>
          <a:prstGeom prst="rect">
            <a:avLst/>
          </a:prstGeom>
        </p:spPr>
      </p:pic>
      <p:sp>
        <p:nvSpPr>
          <p:cNvPr name="AutoShape 24" id="24"/>
          <p:cNvSpPr/>
          <p:nvPr/>
        </p:nvSpPr>
        <p:spPr>
          <a:xfrm rot="0" flipH="false" flipV="false">
            <a:off x="9207500" y="3683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步骤4：知识库</a:t>
            </a:r>
            <a:endParaRPr lang="en-US" sz="1100"/>
          </a:p>
        </p:txBody>
      </p:sp>
      <p:cxnSp>
        <p:nvCxnSpPr>
          <p:cNvPr name="Connector 25" id="25"/>
          <p:cNvCxnSpPr/>
          <p:nvPr/>
        </p:nvCxnSpPr>
        <p:spPr>
          <a:xfrm rot="-22178" flipH="false" flipV="false">
            <a:off x="9207520" y="4121150"/>
            <a:ext cx="19685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26" id="26"/>
          <p:cNvSpPr/>
          <p:nvPr/>
        </p:nvSpPr>
        <p:spPr>
          <a:xfrm rot="0" flipH="false" flipV="false">
            <a:off x="9207500" y="4254500"/>
            <a:ext cx="196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找到脚本信息：“价格监控脚本每小时扫描”。</a:t>
            </a:r>
            <a:endParaRPr lang="en-US" sz="1100"/>
          </a:p>
        </p:txBody>
      </p:sp>
      <p:sp>
        <p:nvSpPr>
          <p:cNvPr name="AutoShape 27" id="27"/>
          <p:cNvSpPr/>
          <p:nvPr/>
        </p:nvSpPr>
        <p:spPr>
          <a:xfrm rot="0" flipH="false" flipV="false">
            <a:off x="762000" y="5651500"/>
            <a:ext cx="10668000" cy="508000"/>
          </a:xfrm>
          <a:prstGeom prst="roundRect">
            <a:avLst>
              <a:gd name="adj" fmla="val 250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1016000" y="5778500"/>
            <a:ext cx="254000" cy="254000"/>
          </a:xfrm>
          <a:prstGeom prst="rect">
            <a:avLst/>
          </a:prstGeom>
        </p:spPr>
      </p:pic>
      <p:sp>
        <p:nvSpPr>
          <p:cNvPr name="AutoShape 29" id="29"/>
          <p:cNvSpPr/>
          <p:nvPr/>
        </p:nvSpPr>
        <p:spPr>
          <a:xfrm rot="0" flipH="false" flipV="false">
            <a:off x="1397000" y="57404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综合结果：系统融合长期记忆与知识库信息，生成准确的综合回复。</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记忆收敛 = 大脑的“睡眠整理”</a:t>
            </a:r>
            <a:endParaRPr lang="en-US" sz="1100"/>
          </a:p>
        </p:txBody>
      </p:sp>
      <p:sp>
        <p:nvSpPr>
          <p:cNvPr name="AutoShape 4" id="4"/>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1.4 —— 记忆自动收敛机制解析</a:t>
            </a:r>
            <a:endParaRPr lang="en-US" sz="1100"/>
          </a:p>
        </p:txBody>
      </p:sp>
      <p:sp>
        <p:nvSpPr>
          <p:cNvPr name="AutoShape 5" id="5"/>
          <p:cNvSpPr/>
          <p:nvPr/>
        </p:nvSpPr>
        <p:spPr>
          <a:xfrm rot="0" flipH="false" flipV="false">
            <a:off x="762000" y="2413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67000"/>
            <a:ext cx="406400" cy="406400"/>
          </a:xfrm>
          <a:prstGeom prst="rect">
            <a:avLst/>
          </a:prstGeom>
        </p:spPr>
      </p:pic>
      <p:sp>
        <p:nvSpPr>
          <p:cNvPr name="AutoShape 7" id="7"/>
          <p:cNvSpPr/>
          <p:nvPr/>
        </p:nvSpPr>
        <p:spPr>
          <a:xfrm rot="0" flipH="false" flipV="false">
            <a:off x="1524000" y="2667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核心概念：从短期到长期</a:t>
            </a:r>
            <a:endParaRPr lang="en-US" sz="1100"/>
          </a:p>
        </p:txBody>
      </p:sp>
      <p:sp>
        <p:nvSpPr>
          <p:cNvPr name="AutoShape 8" id="8"/>
          <p:cNvSpPr/>
          <p:nvPr/>
        </p:nvSpPr>
        <p:spPr>
          <a:xfrm rot="0" flipH="false" flipV="false">
            <a:off x="1016000" y="31115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核心问题：如何将短期记忆中的信息“提升”为长期记忆？这是AI具备持续学习能力的关键。</a:t>
            </a:r>
            <a:endParaRPr lang="en-US" sz="1100"/>
          </a:p>
        </p:txBody>
      </p:sp>
      <p:sp>
        <p:nvSpPr>
          <p:cNvPr name="AutoShape 9" id="9"/>
          <p:cNvSpPr/>
          <p:nvPr/>
        </p:nvSpPr>
        <p:spPr>
          <a:xfrm rot="0" flipH="false" flipV="false">
            <a:off x="6223000" y="2413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667000"/>
            <a:ext cx="406400" cy="406400"/>
          </a:xfrm>
          <a:prstGeom prst="rect">
            <a:avLst/>
          </a:prstGeom>
        </p:spPr>
      </p:pic>
      <p:sp>
        <p:nvSpPr>
          <p:cNvPr name="AutoShape 11" id="11"/>
          <p:cNvSpPr/>
          <p:nvPr/>
        </p:nvSpPr>
        <p:spPr>
          <a:xfrm rot="0" flipH="false" flipV="false">
            <a:off x="6985000" y="2667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灵感来源：睡眠中的记忆巩固</a:t>
            </a:r>
            <a:endParaRPr lang="en-US" sz="1100"/>
          </a:p>
        </p:txBody>
      </p:sp>
      <p:sp>
        <p:nvSpPr>
          <p:cNvPr name="AutoShape 12" id="12"/>
          <p:cNvSpPr/>
          <p:nvPr/>
        </p:nvSpPr>
        <p:spPr>
          <a:xfrm rot="0" flipH="false" flipV="false">
            <a:off x="6477000" y="31115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灵感源自人类大脑：在睡眠期间，大脑会自动整理白天的记忆碎片，将重要信息巩固到长期记忆中。</a:t>
            </a:r>
            <a:endParaRPr lang="en-US" sz="1100"/>
          </a:p>
        </p:txBody>
      </p:sp>
      <p:sp>
        <p:nvSpPr>
          <p:cNvPr name="AutoShape 13" id="13"/>
          <p:cNvSpPr/>
          <p:nvPr/>
        </p:nvSpPr>
        <p:spPr>
          <a:xfrm rot="0" flipH="false" flipV="false">
            <a:off x="762000" y="4572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00"/>
                </a:solidFill>
                <a:latin typeface="Noto Sans SC"/>
                <a:ea typeface="Noto Sans SC"/>
                <a:cs typeface="Noto Sans SC"/>
                <a:sym typeface="Noto Sans SC"/>
              </a:rPr>
              <a:t>自动收敛流程</a:t>
            </a:r>
            <a:endParaRPr lang="en-US" sz="1100"/>
          </a:p>
        </p:txBody>
      </p:sp>
      <p:sp>
        <p:nvSpPr>
          <p:cNvPr name="AutoShape 14" id="14"/>
          <p:cNvSpPr/>
          <p:nvPr/>
        </p:nvSpPr>
        <p:spPr>
          <a:xfrm rot="0" flipH="false" flipV="false">
            <a:off x="762000" y="5016500"/>
            <a:ext cx="2286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5207000"/>
            <a:ext cx="304800" cy="304800"/>
          </a:xfrm>
          <a:prstGeom prst="rect">
            <a:avLst/>
          </a:prstGeom>
        </p:spPr>
      </p:pic>
      <p:sp>
        <p:nvSpPr>
          <p:cNvPr name="AutoShape 16" id="16"/>
          <p:cNvSpPr/>
          <p:nvPr/>
        </p:nvSpPr>
        <p:spPr>
          <a:xfrm rot="0" flipH="false" flipV="false">
            <a:off x="1333500" y="5207000"/>
            <a:ext cx="165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自动扫描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遍历短期记忆库</a:t>
            </a: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175000" y="5372100"/>
            <a:ext cx="304800" cy="304800"/>
          </a:xfrm>
          <a:prstGeom prst="rect">
            <a:avLst/>
          </a:prstGeom>
        </p:spPr>
      </p:pic>
      <p:sp>
        <p:nvSpPr>
          <p:cNvPr name="AutoShape 18" id="18"/>
          <p:cNvSpPr/>
          <p:nvPr/>
        </p:nvSpPr>
        <p:spPr>
          <a:xfrm rot="0" flipH="false" flipV="false">
            <a:off x="3606800" y="5016500"/>
            <a:ext cx="2286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3797300" y="5207000"/>
            <a:ext cx="304800" cy="304800"/>
          </a:xfrm>
          <a:prstGeom prst="rect">
            <a:avLst/>
          </a:prstGeom>
        </p:spPr>
      </p:pic>
      <p:sp>
        <p:nvSpPr>
          <p:cNvPr name="AutoShape 20" id="20"/>
          <p:cNvSpPr/>
          <p:nvPr/>
        </p:nvSpPr>
        <p:spPr>
          <a:xfrm rot="0" flipH="false" flipV="false">
            <a:off x="4178300" y="5207000"/>
            <a:ext cx="165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正则提取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提取关键事件特征</a:t>
            </a: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019800" y="5372100"/>
            <a:ext cx="304800" cy="304800"/>
          </a:xfrm>
          <a:prstGeom prst="rect">
            <a:avLst/>
          </a:prstGeom>
        </p:spPr>
      </p:pic>
      <p:sp>
        <p:nvSpPr>
          <p:cNvPr name="AutoShape 22" id="22"/>
          <p:cNvSpPr/>
          <p:nvPr/>
        </p:nvSpPr>
        <p:spPr>
          <a:xfrm rot="0" flipH="false" flipV="false">
            <a:off x="6451600" y="5016500"/>
            <a:ext cx="2286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42100" y="5207000"/>
            <a:ext cx="304800" cy="304800"/>
          </a:xfrm>
          <a:prstGeom prst="rect">
            <a:avLst/>
          </a:prstGeom>
        </p:spPr>
      </p:pic>
      <p:sp>
        <p:nvSpPr>
          <p:cNvPr name="AutoShape 24" id="24"/>
          <p:cNvSpPr/>
          <p:nvPr/>
        </p:nvSpPr>
        <p:spPr>
          <a:xfrm rot="0" flipH="false" flipV="false">
            <a:off x="7023100" y="5207000"/>
            <a:ext cx="165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重要性判断</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评估事件价值权重</a:t>
            </a: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864600" y="5372100"/>
            <a:ext cx="304800" cy="304800"/>
          </a:xfrm>
          <a:prstGeom prst="rect">
            <a:avLst/>
          </a:prstGeom>
        </p:spPr>
      </p:pic>
      <p:sp>
        <p:nvSpPr>
          <p:cNvPr name="AutoShape 26" id="26"/>
          <p:cNvSpPr/>
          <p:nvPr/>
        </p:nvSpPr>
        <p:spPr>
          <a:xfrm rot="0" flipH="false" flipV="false">
            <a:off x="9296400" y="5016500"/>
            <a:ext cx="2286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486900" y="5207000"/>
            <a:ext cx="304800" cy="304800"/>
          </a:xfrm>
          <a:prstGeom prst="rect">
            <a:avLst/>
          </a:prstGeom>
        </p:spPr>
      </p:pic>
      <p:sp>
        <p:nvSpPr>
          <p:cNvPr name="AutoShape 28" id="28"/>
          <p:cNvSpPr/>
          <p:nvPr/>
        </p:nvSpPr>
        <p:spPr>
          <a:xfrm rot="0" flipH="false" flipV="false">
            <a:off x="9867900" y="5207000"/>
            <a:ext cx="165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写入长期记忆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固化核心知识</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MemoryConsolidator 关键逻辑</a:t>
            </a:r>
            <a:endParaRPr lang="en-US" sz="1100"/>
          </a:p>
        </p:txBody>
      </p:sp>
      <p:sp>
        <p:nvSpPr>
          <p:cNvPr name="AutoShape 4" id="4"/>
          <p:cNvSpPr/>
          <p:nvPr/>
        </p:nvSpPr>
        <p:spPr>
          <a:xfrm rot="0" flipH="false" flipV="false">
            <a:off x="762000" y="1778000"/>
            <a:ext cx="5207000" cy="4064000"/>
          </a:xfrm>
          <a:prstGeom prst="roundRect">
            <a:avLst>
              <a:gd name="adj" fmla="val 3125"/>
            </a:avLst>
          </a:prstGeom>
          <a:solidFill>
            <a:srgbClr val="141E32">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68500"/>
            <a:ext cx="304800" cy="304800"/>
          </a:xfrm>
          <a:prstGeom prst="rect">
            <a:avLst/>
          </a:prstGeom>
        </p:spPr>
      </p:pic>
      <p:sp>
        <p:nvSpPr>
          <p:cNvPr name="AutoShape 6" id="6"/>
          <p:cNvSpPr/>
          <p:nvPr/>
        </p:nvSpPr>
        <p:spPr>
          <a:xfrm rot="0" flipH="false" flipV="false">
            <a:off x="1397000" y="1930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核心模式定义 (Patterns)</a:t>
            </a:r>
            <a:endParaRPr lang="en-US" sz="1100"/>
          </a:p>
        </p:txBody>
      </p:sp>
      <p:sp>
        <p:nvSpPr>
          <p:cNvPr name="AutoShape 7" id="7"/>
          <p:cNvSpPr/>
          <p:nvPr/>
        </p:nvSpPr>
        <p:spPr>
          <a:xfrm rot="0" flipH="false" flipV="false">
            <a:off x="1016000" y="2349500"/>
            <a:ext cx="4699000" cy="317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96A0B4"/>
                </a:solidFill>
                <a:latin typeface="Noto Sans SC"/>
                <a:ea typeface="Noto Sans SC"/>
                <a:cs typeface="Noto Sans SC"/>
                <a:sym typeface="Noto Sans SC"/>
              </a:rPr>
              <a:t>self.patterns = {</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FFFFFF"/>
                </a:solidFill>
                <a:latin typeface="Noto Sans SC"/>
                <a:ea typeface="Noto Sans SC"/>
                <a:cs typeface="Noto Sans SC"/>
                <a:sym typeface="Noto Sans SC"/>
              </a:rPr>
              <a:t>'account_info': r'(账户|余额|资金).{0,30}(\$?\d+)',</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00"/>
                </a:solidFill>
                <a:latin typeface="Noto Sans SC"/>
                <a:ea typeface="Noto Sans SC"/>
                <a:cs typeface="Noto Sans SC"/>
                <a:sym typeface="Noto Sans SC"/>
              </a:rPr>
              <a:t># 重点：匹配账户信息与金额</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FF"/>
                </a:solidFill>
                <a:latin typeface="Noto Sans SC"/>
                <a:ea typeface="Noto Sans SC"/>
                <a:cs typeface="Noto Sans SC"/>
                <a:sym typeface="Noto Sans SC"/>
              </a:rPr>
              <a:t>'decision': r'(决定|决策|选择).{0,50}(使用|采用)',</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FF"/>
                </a:solidFill>
                <a:latin typeface="Noto Sans SC"/>
                <a:ea typeface="Noto Sans SC"/>
                <a:cs typeface="Noto Sans SC"/>
                <a:sym typeface="Noto Sans SC"/>
              </a:rPr>
              <a:t>'milestone': r'(完成|启动|部署).{0,30}(项目|系统)',</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FF"/>
                </a:solidFill>
                <a:latin typeface="Noto Sans SC"/>
                <a:ea typeface="Noto Sans SC"/>
                <a:cs typeface="Noto Sans SC"/>
                <a:sym typeface="Noto Sans SC"/>
              </a:rPr>
              <a:t>'error': r'(错误|失败|问题|修复).{0,50}',</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96A0B4"/>
                </a:solidFill>
                <a:latin typeface="Noto Sans SC"/>
                <a:ea typeface="Noto Sans SC"/>
                <a:cs typeface="Noto Sans SC"/>
                <a:sym typeface="Noto Sans SC"/>
              </a:rPr>
              <a:t>}</a:t>
            </a:r>
          </a:p>
        </p:txBody>
      </p:sp>
      <p:sp>
        <p:nvSpPr>
          <p:cNvPr name="AutoShape 8" id="8"/>
          <p:cNvSpPr/>
          <p:nvPr/>
        </p:nvSpPr>
        <p:spPr>
          <a:xfrm rot="0" flipH="false" flipV="false">
            <a:off x="6223000" y="1778000"/>
            <a:ext cx="5207000" cy="4064000"/>
          </a:xfrm>
          <a:prstGeom prst="roundRect">
            <a:avLst>
              <a:gd name="adj" fmla="val 3125"/>
            </a:avLst>
          </a:prstGeom>
          <a:solidFill>
            <a:srgbClr val="141E32">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968500"/>
            <a:ext cx="304800" cy="304800"/>
          </a:xfrm>
          <a:prstGeom prst="rect">
            <a:avLst/>
          </a:prstGeom>
        </p:spPr>
      </p:pic>
      <p:sp>
        <p:nvSpPr>
          <p:cNvPr name="AutoShape 10" id="10"/>
          <p:cNvSpPr/>
          <p:nvPr/>
        </p:nvSpPr>
        <p:spPr>
          <a:xfrm rot="0" flipH="false" flipV="false">
            <a:off x="6858000" y="1930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长期记忆晋升逻辑 (Promotion Logic)</a:t>
            </a:r>
            <a:endParaRPr lang="en-US" sz="1100"/>
          </a:p>
        </p:txBody>
      </p:sp>
      <p:sp>
        <p:nvSpPr>
          <p:cNvPr name="AutoShape 11" id="11"/>
          <p:cNvSpPr/>
          <p:nvPr/>
        </p:nvSpPr>
        <p:spPr>
          <a:xfrm rot="0" flipH="false" flipV="false">
            <a:off x="6477000" y="2349500"/>
            <a:ext cx="4699000" cy="317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96A0B4"/>
                </a:solidFill>
                <a:latin typeface="Noto Sans SC"/>
                <a:ea typeface="Noto Sans SC"/>
                <a:cs typeface="Noto Sans SC"/>
                <a:sym typeface="Noto Sans SC"/>
              </a:rPr>
              <a:t>def should_promote_to_longterm(self, event):</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FFFFFF"/>
                </a:solidFill>
                <a:latin typeface="Noto Sans SC"/>
                <a:ea typeface="Noto Sans SC"/>
                <a:cs typeface="Noto Sans SC"/>
                <a:sym typeface="Noto Sans SC"/>
              </a:rPr>
              <a:t>if event['type'] == 'account_info':</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00"/>
                </a:solidFill>
                <a:latin typeface="Noto Sans SC"/>
                <a:ea typeface="Noto Sans SC"/>
                <a:cs typeface="Noto Sans SC"/>
                <a:sym typeface="Noto Sans SC"/>
              </a:rPr>
              <a:t>if float(amounts[0]) &gt; 100: # 重点：金额阈值判断</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FF"/>
                </a:solidFill>
                <a:latin typeface="Noto Sans SC"/>
                <a:ea typeface="Noto Sans SC"/>
                <a:cs typeface="Noto Sans SC"/>
                <a:sym typeface="Noto Sans SC"/>
              </a:rPr>
              <a:t>return True</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FF"/>
                </a:solidFill>
                <a:latin typeface="Noto Sans SC"/>
                <a:ea typeface="Noto Sans SC"/>
                <a:cs typeface="Noto Sans SC"/>
                <a:sym typeface="Noto Sans SC"/>
              </a:rPr>
              <a:t>if event['type'] == 'milestone':</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00"/>
                </a:solidFill>
                <a:latin typeface="Noto Sans SC"/>
                <a:ea typeface="Noto Sans SC"/>
                <a:cs typeface="Noto Sans SC"/>
                <a:sym typeface="Noto Sans SC"/>
              </a:rPr>
              <a:t>return True # 重点：里程碑事件直接晋升</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FFFFFF"/>
                </a:solidFill>
                <a:latin typeface="Noto Sans SC"/>
                <a:ea typeface="Noto Sans SC"/>
                <a:cs typeface="Noto Sans SC"/>
                <a:sym typeface="Noto Sans SC"/>
              </a:rPr>
              <a:t>return False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为什么“错误”类事件没有自动提升？</a:t>
            </a:r>
            <a:endParaRPr lang="en-US" sz="1100"/>
          </a:p>
        </p:txBody>
      </p:sp>
      <p:sp>
        <p:nvSpPr>
          <p:cNvPr name="AutoShape 4" id="4"/>
          <p:cNvSpPr/>
          <p:nvPr/>
        </p:nvSpPr>
        <p:spPr>
          <a:xfrm rot="0" flipH="false" flipV="false">
            <a:off x="762000" y="2159000"/>
            <a:ext cx="50800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540000"/>
            <a:ext cx="609600" cy="609600"/>
          </a:xfrm>
          <a:prstGeom prst="rect">
            <a:avLst/>
          </a:prstGeom>
        </p:spPr>
      </p:pic>
      <p:sp>
        <p:nvSpPr>
          <p:cNvPr name="AutoShape 6" id="6"/>
          <p:cNvSpPr/>
          <p:nvPr/>
        </p:nvSpPr>
        <p:spPr>
          <a:xfrm rot="0" flipH="false" flipV="false">
            <a:off x="1143000" y="32385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核心思考</a:t>
            </a:r>
            <a:endParaRPr lang="en-US" sz="1100"/>
          </a:p>
        </p:txBody>
      </p:sp>
      <p:sp>
        <p:nvSpPr>
          <p:cNvPr name="AutoShape 7" id="7"/>
          <p:cNvSpPr/>
          <p:nvPr/>
        </p:nvSpPr>
        <p:spPr>
          <a:xfrm rot="0" flipH="false" flipV="false">
            <a:off x="1143000" y="3683000"/>
            <a:ext cx="431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错误信息通常非常关键，既然如此，为什么我们不在代码中默认设置“自动提升”规则呢？</a:t>
            </a:r>
            <a:endParaRPr lang="en-US" sz="1100"/>
          </a:p>
        </p:txBody>
      </p:sp>
      <p:sp>
        <p:nvSpPr>
          <p:cNvPr name="AutoShape 8" id="8"/>
          <p:cNvSpPr/>
          <p:nvPr/>
        </p:nvSpPr>
        <p:spPr>
          <a:xfrm rot="0" flipH="false" flipV="false">
            <a:off x="6096000" y="2159000"/>
            <a:ext cx="50800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540000"/>
            <a:ext cx="609600" cy="609600"/>
          </a:xfrm>
          <a:prstGeom prst="rect">
            <a:avLst/>
          </a:prstGeom>
        </p:spPr>
      </p:pic>
      <p:sp>
        <p:nvSpPr>
          <p:cNvPr name="AutoShape 10" id="10"/>
          <p:cNvSpPr/>
          <p:nvPr/>
        </p:nvSpPr>
        <p:spPr>
          <a:xfrm rot="0" flipH="false" flipV="false">
            <a:off x="6477000" y="32385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关键提示</a:t>
            </a:r>
            <a:endParaRPr lang="en-US" sz="1100"/>
          </a:p>
        </p:txBody>
      </p:sp>
      <p:sp>
        <p:nvSpPr>
          <p:cNvPr name="AutoShape 11" id="11"/>
          <p:cNvSpPr/>
          <p:nvPr/>
        </p:nvSpPr>
        <p:spPr>
          <a:xfrm rot="0" flipH="false" flipV="false">
            <a:off x="6477000" y="3683000"/>
            <a:ext cx="431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请思考：我们定义的 Error 模式匹配范围有多广？如果全部自动提升，会带来什么后果？</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正则 vs LLM 做收敛判断</a:t>
            </a:r>
            <a:endParaRPr lang="en-US" sz="1100"/>
          </a:p>
        </p:txBody>
      </p:sp>
      <p:graphicFrame>
        <p:nvGraphicFramePr>
          <p:cNvPr name="Table 4" id="4"/>
          <p:cNvGraphicFramePr>
            <a:graphicFrameLocks noGrp="true"/>
          </p:cNvGraphicFramePr>
          <p:nvPr/>
        </p:nvGraphicFramePr>
        <p:xfrm>
          <a:off x="762000" y="2032000"/>
          <a:ext cx="10668000" cy="3175000"/>
        </p:xfrm>
        <a:graphic>
          <a:graphicData uri="http://schemas.openxmlformats.org/drawingml/2006/table">
            <a:tbl>
              <a:tblPr>
                <a:effectLst/>
              </a:tblPr>
              <a:tblGrid>
                <a:gridCol w="2032000"/>
                <a:gridCol w="4318000"/>
                <a:gridCol w="4318000"/>
              </a:tblGrid>
              <a:tr h="635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对比维度</a:t>
                      </a:r>
                      <a:endParaRPr lang="en-US" sz="1100"/>
                    </a:p>
                  </a:txBody>
                  <a:tcPr anchor="ctr" anchorCtr="false" marL="101600" marR="101600" marT="101600" marB="101600">
                    <a:lnL>
                      <a:noFill/>
                    </a:lnL>
                    <a:lnR>
                      <a:noFill/>
                    </a:lnR>
                    <a:lnT>
                      <a:noFill/>
                    </a:lnT>
                    <a:lnB cmpd="sng" algn="ctr" cap="flat" w="254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正则匹配 (Regex)</a:t>
                      </a:r>
                      <a:endParaRPr lang="en-US" sz="1100"/>
                    </a:p>
                  </a:txBody>
                  <a:tcPr anchor="ctr" anchorCtr="false" marL="101600" marR="101600" marT="101600" marB="101600">
                    <a:lnL>
                      <a:noFill/>
                    </a:lnL>
                    <a:lnR>
                      <a:noFill/>
                    </a:lnR>
                    <a:lnT>
                      <a:noFill/>
                    </a:lnT>
                    <a:lnB cmpd="sng" algn="ctr" cap="flat" w="254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大语言模型 (LLM)</a:t>
                      </a:r>
                      <a:endParaRPr lang="en-US" sz="1100"/>
                    </a:p>
                  </a:txBody>
                  <a:tcPr anchor="ctr" anchorCtr="false" marL="101600" marR="101600" marT="101600" marB="101600">
                    <a:lnL>
                      <a:noFill/>
                    </a:lnL>
                    <a:lnR>
                      <a:noFill/>
                    </a:lnR>
                    <a:lnT>
                      <a:noFill/>
                    </a:lnT>
                    <a:lnB cmpd="sng" algn="ctr" cap="flat" w="25400">
                      <a:solidFill>
                        <a:srgbClr val="00BFFF"/>
                      </a:solidFill>
                      <a:prstDash val="solid"/>
                      <a:round/>
                      <a:headEnd type="none" w="med" len="med"/>
                      <a:tailEnd type="none" w="med" len="med"/>
                    </a:lnB>
                    <a:solidFill>
                      <a:srgbClr val="00BFFF">
                        <a:alpha val="20000"/>
                      </a:srgbClr>
                    </a:solidFill>
                  </a:tcPr>
                </a:tc>
              </a:tr>
              <a:tr h="6350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运行成本</a:t>
                      </a:r>
                      <a:endParaRPr lang="en-US" sz="1100"/>
                    </a:p>
                  </a:txBody>
                  <a:tcPr anchor="ctr" anchorCtr="false" marL="101600" marR="101600" marT="101600" marB="101600">
                    <a:lnL>
                      <a:noFill/>
                    </a:lnL>
                    <a:lnR>
                      <a:noFill/>
                    </a:lnR>
                    <a:lnT cmpd="sng" algn="ctr" cap="flat" w="254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接近零成本</a:t>
                      </a:r>
                      <a:endParaRPr lang="en-US" sz="1100"/>
                    </a:p>
                  </a:txBody>
                  <a:tcPr anchor="ctr" anchorCtr="false" marL="101600" marR="101600" marT="101600" marB="101600">
                    <a:lnL>
                      <a:noFill/>
                    </a:lnL>
                    <a:lnR>
                      <a:noFill/>
                    </a:lnR>
                    <a:lnT cmpd="sng" algn="ctr" cap="flat" w="254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$0.01 - 0.05 / 次</a:t>
                      </a:r>
                      <a:endParaRPr lang="en-US" sz="1100"/>
                    </a:p>
                  </a:txBody>
                  <a:tcPr anchor="ctr" anchorCtr="false" marL="101600" marR="101600" marT="101600" marB="101600">
                    <a:lnL>
                      <a:noFill/>
                    </a:lnL>
                    <a:lnR>
                      <a:noFill/>
                    </a:lnR>
                    <a:lnT cmpd="sng" algn="ctr" cap="flat" w="254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r>
              <a:tr h="6350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运行速度</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毫秒级响应</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秒级响应</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r>
              <a:tr h="6350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结果可预测性</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逻辑严格，确定性输出</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生成式，每次结果可能不同</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5000"/>
                      </a:srgbClr>
                    </a:solidFill>
                  </a:tcPr>
                </a:tc>
              </a:tr>
              <a:tr h="6350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适用频率</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高频 (每小时)</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低频 (每天)</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solidFill>
                      <a:srgbClr val="FFFFFF">
                        <a:alpha val="5000"/>
                      </a:srgbClr>
                    </a:solidFill>
                  </a:tcPr>
                </a:tc>
              </a:tr>
            </a:tbl>
          </a:graphicData>
        </a:graphic>
      </p:graphicFrame>
      <p:sp>
        <p:nvSpPr>
          <p:cNvPr name="AutoShape 5" id="5"/>
          <p:cNvSpPr/>
          <p:nvPr/>
        </p:nvSpPr>
        <p:spPr>
          <a:xfrm rot="0" flipH="false" flipV="false">
            <a:off x="762000" y="5461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689600"/>
            <a:ext cx="304800" cy="304800"/>
          </a:xfrm>
          <a:prstGeom prst="rect">
            <a:avLst/>
          </a:prstGeom>
        </p:spPr>
      </p:pic>
      <p:sp>
        <p:nvSpPr>
          <p:cNvPr name="AutoShape 7" id="7"/>
          <p:cNvSpPr/>
          <p:nvPr/>
        </p:nvSpPr>
        <p:spPr>
          <a:xfrm rot="0" flipH="false" flipV="false">
            <a:off x="1397000" y="5588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结论：收敛器每天运行多次，正则表达式在成本和效率上是最优解。</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混合搜索：BM25 + 向量 + RRF</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1.5 -- QMD向量记忆系统核心策略</a:t>
            </a:r>
            <a:endParaRPr lang="en-US" sz="1100"/>
          </a:p>
        </p:txBody>
      </p:sp>
      <p:sp>
        <p:nvSpPr>
          <p:cNvPr name="AutoShape 5" id="5"/>
          <p:cNvSpPr/>
          <p:nvPr/>
        </p:nvSpPr>
        <p:spPr>
          <a:xfrm rot="0" flipH="false" flipV="false">
            <a:off x="762000" y="2413000"/>
            <a:ext cx="33020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717800"/>
            <a:ext cx="609600" cy="609600"/>
          </a:xfrm>
          <a:prstGeom prst="rect">
            <a:avLst/>
          </a:prstGeom>
        </p:spPr>
      </p:pic>
      <p:sp>
        <p:nvSpPr>
          <p:cNvPr name="AutoShape 7" id="7"/>
          <p:cNvSpPr/>
          <p:nvPr/>
        </p:nvSpPr>
        <p:spPr>
          <a:xfrm rot="0" flipH="false" flipV="false">
            <a:off x="1066800" y="3429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BM25 精确匹配</a:t>
            </a:r>
            <a:endParaRPr lang="en-US" sz="1100"/>
          </a:p>
        </p:txBody>
      </p:sp>
      <p:cxnSp>
        <p:nvCxnSpPr>
          <p:cNvPr name="Connector 8" id="8"/>
          <p:cNvCxnSpPr/>
          <p:nvPr/>
        </p:nvCxnSpPr>
        <p:spPr>
          <a:xfrm rot="-16215" flipH="false" flipV="false">
            <a:off x="1066815" y="3867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66800" y="4000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擅长处理结构化的关键词搜索，例如精确查找错误代码“E1001”或特定指令。</a:t>
            </a:r>
            <a:endParaRPr lang="en-US" sz="1100"/>
          </a:p>
        </p:txBody>
      </p:sp>
      <p:sp>
        <p:nvSpPr>
          <p:cNvPr name="AutoShape 10" id="10"/>
          <p:cNvSpPr/>
          <p:nvPr/>
        </p:nvSpPr>
        <p:spPr>
          <a:xfrm rot="0" flipH="false" flipV="false">
            <a:off x="4445000" y="2413000"/>
            <a:ext cx="33020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717800"/>
            <a:ext cx="609600" cy="609600"/>
          </a:xfrm>
          <a:prstGeom prst="rect">
            <a:avLst/>
          </a:prstGeom>
        </p:spPr>
      </p:pic>
      <p:sp>
        <p:nvSpPr>
          <p:cNvPr name="AutoShape 12" id="12"/>
          <p:cNvSpPr/>
          <p:nvPr/>
        </p:nvSpPr>
        <p:spPr>
          <a:xfrm rot="0" flipH="false" flipV="false">
            <a:off x="4749800" y="3429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向量语义理解</a:t>
            </a:r>
            <a:endParaRPr lang="en-US" sz="1100"/>
          </a:p>
        </p:txBody>
      </p:sp>
      <p:cxnSp>
        <p:nvCxnSpPr>
          <p:cNvPr name="Connector 13" id="13"/>
          <p:cNvCxnSpPr/>
          <p:nvPr/>
        </p:nvCxnSpPr>
        <p:spPr>
          <a:xfrm rot="-16215" flipH="false" flipV="false">
            <a:off x="4749815" y="3867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4749800" y="4000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捕捉用户查询的深层语义，例如理解“交易所密钥”背后的意图，实现模糊和关联搜索。</a:t>
            </a:r>
            <a:endParaRPr lang="en-US" sz="1100"/>
          </a:p>
        </p:txBody>
      </p:sp>
      <p:sp>
        <p:nvSpPr>
          <p:cNvPr name="AutoShape 15" id="15"/>
          <p:cNvSpPr/>
          <p:nvPr/>
        </p:nvSpPr>
        <p:spPr>
          <a:xfrm rot="0" flipH="false" flipV="false">
            <a:off x="8128000" y="2413000"/>
            <a:ext cx="33020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717800"/>
            <a:ext cx="609600" cy="609600"/>
          </a:xfrm>
          <a:prstGeom prst="rect">
            <a:avLst/>
          </a:prstGeom>
        </p:spPr>
      </p:pic>
      <p:sp>
        <p:nvSpPr>
          <p:cNvPr name="AutoShape 17" id="17"/>
          <p:cNvSpPr/>
          <p:nvPr/>
        </p:nvSpPr>
        <p:spPr>
          <a:xfrm rot="0" flipH="false" flipV="false">
            <a:off x="8432800" y="3429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RRF 融合排序</a:t>
            </a:r>
            <a:endParaRPr lang="en-US" sz="1100"/>
          </a:p>
        </p:txBody>
      </p:sp>
      <p:cxnSp>
        <p:nvCxnSpPr>
          <p:cNvPr name="Connector 18" id="18"/>
          <p:cNvCxnSpPr/>
          <p:nvPr/>
        </p:nvCxnSpPr>
        <p:spPr>
          <a:xfrm rot="-16215" flipH="false" flipV="false">
            <a:off x="8432815" y="3867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9" id="19"/>
          <p:cNvSpPr/>
          <p:nvPr/>
        </p:nvSpPr>
        <p:spPr>
          <a:xfrm rot="0" flipH="false" flipV="false">
            <a:off x="8432800" y="4000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利用RRF算法将前两者的结果进行融合，取长补短，确保检索结果的全面性与准确性。</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RRF融合算法</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算法原理与公式</a:t>
            </a:r>
            <a:endParaRPr lang="en-US" sz="1100"/>
          </a:p>
        </p:txBody>
      </p:sp>
      <p:sp>
        <p:nvSpPr>
          <p:cNvPr name="AutoShape 7" id="7"/>
          <p:cNvSpPr/>
          <p:nvPr/>
        </p:nvSpPr>
        <p:spPr>
          <a:xfrm rot="0" flipH="false" flipV="false">
            <a:off x="1016000" y="2794000"/>
            <a:ext cx="4572000" cy="1016000"/>
          </a:xfrm>
          <a:prstGeom prst="roundRect">
            <a:avLst>
              <a:gd name="adj" fmla="val 6250"/>
            </a:avLst>
          </a:prstGeom>
          <a:solidFill>
            <a:srgbClr val="000000">
              <a:alpha val="30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2921000"/>
            <a:ext cx="431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solidFill>
                <a:latin typeface="Noto Sans SC"/>
                <a:ea typeface="Noto Sans SC"/>
                <a:cs typeface="Noto Sans SC"/>
                <a:sym typeface="Noto Sans SC"/>
              </a:rPr>
              <a:t>RRF_score(d) = sum( 1 / (k + rank + 1) )</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其中 k 为常数，通常取值为 60</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000500"/>
            <a:ext cx="254000" cy="254000"/>
          </a:xfrm>
          <a:prstGeom prst="rect">
            <a:avLst/>
          </a:prstGeom>
        </p:spPr>
      </p:pic>
      <p:sp>
        <p:nvSpPr>
          <p:cNvPr name="AutoShape 10" id="10"/>
          <p:cNvSpPr/>
          <p:nvPr/>
        </p:nvSpPr>
        <p:spPr>
          <a:xfrm rot="0" flipH="false" flipV="false">
            <a:off x="1397000" y="3962400"/>
            <a:ext cx="431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00"/>
                </a:solidFill>
                <a:latin typeface="Noto Sans SC"/>
                <a:ea typeface="Noto Sans SC"/>
                <a:cs typeface="Noto Sans SC"/>
                <a:sym typeface="Noto Sans SC"/>
              </a:rPr>
              <a:t>核心思想：</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文档在不同搜索列表中的排名越靠前，最终得分越高。该算法能有效避免单一搜索方式的局限性，奖励那些在多个维度上表现稳定的文档。</a:t>
            </a:r>
          </a:p>
        </p:txBody>
      </p:sp>
      <p:sp>
        <p:nvSpPr>
          <p:cNvPr name="AutoShape 11" id="11"/>
          <p:cNvSpPr/>
          <p:nvPr/>
        </p:nvSpPr>
        <p:spPr>
          <a:xfrm rot="0" flipH="false" flipV="false">
            <a:off x="6096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2286000"/>
            <a:ext cx="304800" cy="304800"/>
          </a:xfrm>
          <a:prstGeom prst="rect">
            <a:avLst/>
          </a:prstGeom>
        </p:spPr>
      </p:pic>
      <p:sp>
        <p:nvSpPr>
          <p:cNvPr name="AutoShape 13" id="13"/>
          <p:cNvSpPr/>
          <p:nvPr/>
        </p:nvSpPr>
        <p:spPr>
          <a:xfrm rot="0" flipH="false" flipV="false">
            <a:off x="6731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计算示例与对比</a:t>
            </a:r>
            <a:endParaRPr lang="en-US" sz="1100"/>
          </a:p>
        </p:txBody>
      </p:sp>
      <p:sp>
        <p:nvSpPr>
          <p:cNvPr name="AutoShape 14" id="14"/>
          <p:cNvSpPr/>
          <p:nvPr/>
        </p:nvSpPr>
        <p:spPr>
          <a:xfrm rot="0" flipH="false" flipV="false">
            <a:off x="6350000" y="2794000"/>
            <a:ext cx="4572000" cy="762000"/>
          </a:xfrm>
          <a:prstGeom prst="roundRect">
            <a:avLst>
              <a:gd name="adj" fmla="val 8333"/>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2857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文档A：BM25排名第1 + 向量排名第3</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得分 = 1/61 + 1/63 = 0.03226</a:t>
            </a:r>
          </a:p>
        </p:txBody>
      </p:sp>
      <p:sp>
        <p:nvSpPr>
          <p:cNvPr name="AutoShape 16" id="16"/>
          <p:cNvSpPr/>
          <p:nvPr/>
        </p:nvSpPr>
        <p:spPr>
          <a:xfrm rot="0" flipH="false" flipV="false">
            <a:off x="6350000" y="3683000"/>
            <a:ext cx="4572000" cy="762000"/>
          </a:xfrm>
          <a:prstGeom prst="roundRect">
            <a:avLst>
              <a:gd name="adj" fmla="val 8333"/>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3746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文档C：BM25排名第2 + 向量排名第2</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得分 = 1/62 + 1/62 = 0.03226</a:t>
            </a:r>
          </a:p>
        </p:txBody>
      </p:sp>
      <p:sp>
        <p:nvSpPr>
          <p:cNvPr name="AutoShape 18" id="18"/>
          <p:cNvSpPr/>
          <p:nvPr/>
        </p:nvSpPr>
        <p:spPr>
          <a:xfrm rot="0" flipH="false" flipV="false">
            <a:off x="6350000" y="4572000"/>
            <a:ext cx="4572000" cy="762000"/>
          </a:xfrm>
          <a:prstGeom prst="roundRect">
            <a:avLst>
              <a:gd name="adj" fmla="val 8333"/>
            </a:avLst>
          </a:prstGeom>
          <a:solidFill>
            <a:srgbClr val="FFFF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635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00"/>
                </a:solidFill>
                <a:latin typeface="Noto Sans SC"/>
                <a:ea typeface="Noto Sans SC"/>
                <a:cs typeface="Noto Sans SC"/>
                <a:sym typeface="Noto Sans SC"/>
              </a:rPr>
              <a:t>文档D：仅BM25排名第1，向量未出现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得分 = 1/61 = 0.01639 (远低于双路出现的文档)</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RRF为什么用排名而不是分数融合？</a:t>
            </a:r>
            <a:endParaRPr lang="en-US" sz="1100"/>
          </a:p>
        </p:txBody>
      </p:sp>
      <p:sp>
        <p:nvSpPr>
          <p:cNvPr name="AutoShape 4" id="4"/>
          <p:cNvSpPr/>
          <p:nvPr/>
        </p:nvSpPr>
        <p:spPr>
          <a:xfrm rot="0" flipH="false" flipV="false">
            <a:off x="762000" y="2032000"/>
            <a:ext cx="10668000" cy="3302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609600" cy="609600"/>
          </a:xfrm>
          <a:prstGeom prst="rect">
            <a:avLst/>
          </a:prstGeom>
        </p:spPr>
      </p:pic>
      <p:sp>
        <p:nvSpPr>
          <p:cNvPr name="AutoShape 6" id="6"/>
          <p:cNvSpPr/>
          <p:nvPr/>
        </p:nvSpPr>
        <p:spPr>
          <a:xfrm rot="0" flipH="false" flipV="false">
            <a:off x="1905000" y="24638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Noto Sans SC"/>
                <a:ea typeface="Noto Sans SC"/>
                <a:cs typeface="Noto Sans SC"/>
                <a:sym typeface="Noto Sans SC"/>
              </a:rPr>
              <a:t>核心问题：量级差异导致无法直接融合</a:t>
            </a:r>
            <a:endParaRPr lang="en-US" sz="1100"/>
          </a:p>
        </p:txBody>
      </p:sp>
      <p:cxnSp>
        <p:nvCxnSpPr>
          <p:cNvPr name="Connector 7" id="7"/>
          <p:cNvCxnSpPr/>
          <p:nvPr/>
        </p:nvCxnSpPr>
        <p:spPr>
          <a:xfrm rot="-4407" flipH="false" flipV="false">
            <a:off x="1143004" y="3105150"/>
            <a:ext cx="990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143000" y="3302000"/>
            <a:ext cx="990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DCDCDC"/>
                </a:solidFill>
                <a:latin typeface="Noto Sans SC"/>
                <a:ea typeface="Noto Sans SC"/>
                <a:cs typeface="Noto Sans SC"/>
                <a:sym typeface="Noto Sans SC"/>
              </a:rPr>
              <a:t>BM25 分数和余弦相似度的量级完全不同，直接相加会怎样？</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B4B4B4"/>
              </a:buClr>
              <a:buChar char="•"/>
            </a:pPr>
            <a:r>
              <a:rPr lang="en-US" b="false" i="false" strike="noStrike" u="none" sz="1400">
                <a:solidFill>
                  <a:srgbClr val="B4B4B4"/>
                </a:solidFill>
                <a:latin typeface="Noto Sans SC"/>
                <a:ea typeface="Noto Sans SC"/>
                <a:cs typeface="Noto Sans SC"/>
                <a:sym typeface="Noto Sans SC"/>
              </a:rPr>
              <a:t>BM25 通常在 0 到 20 之间波动，而余弦相似度通常在 0 到 1 之间。</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B4B4B4"/>
              </a:buClr>
              <a:buChar char="•"/>
            </a:pPr>
            <a:r>
              <a:rPr lang="en-US" b="false" i="false" strike="noStrike" u="none" sz="1400">
                <a:solidFill>
                  <a:srgbClr val="B4B4B4"/>
                </a:solidFill>
                <a:latin typeface="Noto Sans SC"/>
                <a:ea typeface="Noto Sans SC"/>
                <a:cs typeface="Noto Sans SC"/>
                <a:sym typeface="Noto Sans SC"/>
              </a:rPr>
              <a:t>直接相加会导致结果被 BM25 主导，余弦相似度的贡献几乎被忽略。</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B4B4B4"/>
              </a:buClr>
              <a:buChar char="•"/>
            </a:pPr>
            <a:r>
              <a:rPr lang="en-US" b="false" i="false" strike="noStrike" u="none" sz="1400">
                <a:solidFill>
                  <a:srgbClr val="B4B4B4"/>
                </a:solidFill>
                <a:latin typeface="Noto Sans SC"/>
                <a:ea typeface="Noto Sans SC"/>
                <a:cs typeface="Noto Sans SC"/>
                <a:sym typeface="Noto Sans SC"/>
              </a:rPr>
              <a:t>排名（Rank）是相对值，消除了量级差异，实现了公平的融合。</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练习2：实现记忆收敛器</a:t>
            </a:r>
            <a:endParaRPr lang="en-US" sz="1100"/>
          </a:p>
        </p:txBody>
      </p:sp>
      <p:sp>
        <p:nvSpPr>
          <p:cNvPr name="AutoShape 4" id="4"/>
          <p:cNvSpPr/>
          <p:nvPr/>
        </p:nvSpPr>
        <p:spPr>
          <a:xfrm rot="0" flipH="false" flipV="false">
            <a:off x="762000" y="2032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406400" cy="406400"/>
          </a:xfrm>
          <a:prstGeom prst="rect">
            <a:avLst/>
          </a:prstGeom>
        </p:spPr>
      </p:pic>
      <p:sp>
        <p:nvSpPr>
          <p:cNvPr name="AutoShape 6" id="6"/>
          <p:cNvSpPr/>
          <p:nvPr/>
        </p:nvSpPr>
        <p:spPr>
          <a:xfrm rot="0" flipH="false" flipV="false">
            <a:off x="1574800" y="2336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限时任务</a:t>
            </a:r>
            <a:endParaRPr lang="en-US" sz="1100"/>
          </a:p>
        </p:txBody>
      </p:sp>
      <p:sp>
        <p:nvSpPr>
          <p:cNvPr name="AutoShape 7" id="7"/>
          <p:cNvSpPr/>
          <p:nvPr/>
        </p:nvSpPr>
        <p:spPr>
          <a:xfrm rot="0" flipH="false" flipV="false">
            <a:off x="1066800" y="2794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请在</a:t>
            </a:r>
            <a:r>
              <a:rPr lang="en-US" b="true" i="false" strike="noStrike" u="none" sz="1600">
                <a:solidFill>
                  <a:srgbClr val="00BFFF"/>
                </a:solidFill>
                <a:latin typeface="Noto Sans SC"/>
                <a:ea typeface="Noto Sans SC"/>
                <a:cs typeface="Noto Sans SC"/>
                <a:sym typeface="Noto Sans SC"/>
              </a:rPr>
              <a:t>25分钟</a:t>
            </a:r>
            <a:r>
              <a:rPr lang="en-US" b="false" i="false" strike="noStrike" u="none" sz="1400">
                <a:solidFill>
                  <a:srgbClr val="FFFFFF">
                    <a:alpha val="80000"/>
                  </a:srgbClr>
                </a:solidFill>
                <a:latin typeface="Noto Sans SC"/>
                <a:ea typeface="Noto Sans SC"/>
                <a:cs typeface="Noto Sans SC"/>
                <a:sym typeface="Noto Sans SC"/>
              </a:rPr>
              <a:t>内完成代码编写与测试。</a:t>
            </a:r>
            <a:endParaRPr lang="en-US" sz="1100"/>
          </a:p>
        </p:txBody>
      </p:sp>
      <p:sp>
        <p:nvSpPr>
          <p:cNvPr name="AutoShape 8" id="8"/>
          <p:cNvSpPr/>
          <p:nvPr/>
        </p:nvSpPr>
        <p:spPr>
          <a:xfrm rot="0" flipH="false" flipV="false">
            <a:off x="6223000" y="2032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2336800"/>
            <a:ext cx="406400" cy="406400"/>
          </a:xfrm>
          <a:prstGeom prst="rect">
            <a:avLst/>
          </a:prstGeom>
        </p:spPr>
      </p:pic>
      <p:sp>
        <p:nvSpPr>
          <p:cNvPr name="AutoShape 10" id="10"/>
          <p:cNvSpPr/>
          <p:nvPr/>
        </p:nvSpPr>
        <p:spPr>
          <a:xfrm rot="0" flipH="false" flipV="false">
            <a:off x="7035800" y="2336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核心目标</a:t>
            </a:r>
            <a:endParaRPr lang="en-US" sz="1100"/>
          </a:p>
        </p:txBody>
      </p:sp>
      <p:sp>
        <p:nvSpPr>
          <p:cNvPr name="AutoShape 11" id="11"/>
          <p:cNvSpPr/>
          <p:nvPr/>
        </p:nvSpPr>
        <p:spPr>
          <a:xfrm rot="0" flipH="false" flipV="false">
            <a:off x="6527800" y="2794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从日志中提取关键事件，并判断是否需要提升至长期记忆。</a:t>
            </a:r>
            <a:endParaRPr lang="en-US" sz="1100"/>
          </a:p>
        </p:txBody>
      </p:sp>
      <p:sp>
        <p:nvSpPr>
          <p:cNvPr name="AutoShape 12" id="12"/>
          <p:cNvSpPr/>
          <p:nvPr/>
        </p:nvSpPr>
        <p:spPr>
          <a:xfrm rot="0" flipH="false" flipV="false">
            <a:off x="762000" y="4191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66800" y="4495800"/>
            <a:ext cx="406400" cy="406400"/>
          </a:xfrm>
          <a:prstGeom prst="rect">
            <a:avLst/>
          </a:prstGeom>
        </p:spPr>
      </p:pic>
      <p:sp>
        <p:nvSpPr>
          <p:cNvPr name="AutoShape 14" id="14"/>
          <p:cNvSpPr/>
          <p:nvPr/>
        </p:nvSpPr>
        <p:spPr>
          <a:xfrm rot="0" flipH="false" flipV="false">
            <a:off x="1574800" y="4495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筛选规则</a:t>
            </a:r>
            <a:endParaRPr lang="en-US" sz="1100"/>
          </a:p>
        </p:txBody>
      </p:sp>
      <p:sp>
        <p:nvSpPr>
          <p:cNvPr name="AutoShape 15" id="15"/>
          <p:cNvSpPr/>
          <p:nvPr/>
        </p:nvSpPr>
        <p:spPr>
          <a:xfrm rot="0" flipH="false" flipV="false">
            <a:off x="1066800" y="4953000"/>
            <a:ext cx="4191000" cy="889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交易金额 &gt; $500</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所有里程碑事件</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包含“严重”关键词的错误</a:t>
            </a:r>
          </a:p>
        </p:txBody>
      </p:sp>
      <p:sp>
        <p:nvSpPr>
          <p:cNvPr name="AutoShape 16" id="16"/>
          <p:cNvSpPr/>
          <p:nvPr/>
        </p:nvSpPr>
        <p:spPr>
          <a:xfrm rot="0" flipH="false" flipV="false">
            <a:off x="6223000" y="4191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27800" y="4495800"/>
            <a:ext cx="406400" cy="406400"/>
          </a:xfrm>
          <a:prstGeom prst="rect">
            <a:avLst/>
          </a:prstGeom>
        </p:spPr>
      </p:pic>
      <p:sp>
        <p:nvSpPr>
          <p:cNvPr name="AutoShape 18" id="18"/>
          <p:cNvSpPr/>
          <p:nvPr/>
        </p:nvSpPr>
        <p:spPr>
          <a:xfrm rot="0" flipH="false" flipV="false">
            <a:off x="7035800" y="4495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文件与参考</a:t>
            </a:r>
            <a:endParaRPr lang="en-US" sz="1100"/>
          </a:p>
        </p:txBody>
      </p:sp>
      <p:sp>
        <p:nvSpPr>
          <p:cNvPr name="AutoShape 19" id="19"/>
          <p:cNvSpPr/>
          <p:nvPr/>
        </p:nvSpPr>
        <p:spPr>
          <a:xfrm rot="0" flipH="false" flipV="false">
            <a:off x="6527800" y="4953000"/>
            <a:ext cx="419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文件：exercise_02_memory_consolidator.py</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参考：讲义模块1.4 MemoryConsolidator完整代码</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第1课核心总结</a:t>
            </a:r>
            <a:endParaRPr lang="en-US" sz="1100"/>
          </a:p>
        </p:txBody>
      </p:sp>
      <p:sp>
        <p:nvSpPr>
          <p:cNvPr name="AutoShape 4" id="4"/>
          <p:cNvSpPr/>
          <p:nvPr/>
        </p:nvSpPr>
        <p:spPr>
          <a:xfrm rot="0" flipH="false" flipV="false">
            <a:off x="762000" y="19050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08200"/>
            <a:ext cx="406400" cy="406400"/>
          </a:xfrm>
          <a:prstGeom prst="rect">
            <a:avLst/>
          </a:prstGeom>
        </p:spPr>
      </p:pic>
      <p:sp>
        <p:nvSpPr>
          <p:cNvPr name="AutoShape 6" id="6"/>
          <p:cNvSpPr/>
          <p:nvPr/>
        </p:nvSpPr>
        <p:spPr>
          <a:xfrm rot="0" flipH="false" flipV="false">
            <a:off x="1574800" y="20574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AI Agent与ChatBot的区别 =</a:t>
            </a:r>
            <a:r>
              <a:rPr lang="en-US" b="true" i="false" strike="noStrike" u="none" sz="1600">
                <a:solidFill>
                  <a:srgbClr val="00BFFF"/>
                </a:solidFill>
                <a:latin typeface="Noto Sans SC"/>
                <a:ea typeface="Noto Sans SC"/>
                <a:cs typeface="Noto Sans SC"/>
                <a:sym typeface="Noto Sans SC"/>
              </a:rPr>
              <a:t>记忆的质量</a:t>
            </a:r>
            <a:endParaRPr lang="en-US" sz="1100"/>
          </a:p>
        </p:txBody>
      </p:sp>
      <p:sp>
        <p:nvSpPr>
          <p:cNvPr name="AutoShape 7" id="7"/>
          <p:cNvSpPr/>
          <p:nvPr/>
        </p:nvSpPr>
        <p:spPr>
          <a:xfrm rot="0" flipH="false" flipV="false">
            <a:off x="762000" y="28448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048000"/>
            <a:ext cx="406400" cy="406400"/>
          </a:xfrm>
          <a:prstGeom prst="rect">
            <a:avLst/>
          </a:prstGeom>
        </p:spPr>
      </p:pic>
      <p:sp>
        <p:nvSpPr>
          <p:cNvPr name="AutoShape 9" id="9"/>
          <p:cNvSpPr/>
          <p:nvPr/>
        </p:nvSpPr>
        <p:spPr>
          <a:xfrm rot="0" flipH="false" flipV="false">
            <a:off x="1574800" y="29972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向量Embedding让AI理解 "API密钥" ≈ "API key"</a:t>
            </a:r>
            <a:endParaRPr lang="en-US" sz="1100"/>
          </a:p>
        </p:txBody>
      </p:sp>
      <p:sp>
        <p:nvSpPr>
          <p:cNvPr name="AutoShape 10" id="10"/>
          <p:cNvSpPr/>
          <p:nvPr/>
        </p:nvSpPr>
        <p:spPr>
          <a:xfrm rot="0" flipH="false" flipV="false">
            <a:off x="762000" y="37846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987800"/>
            <a:ext cx="406400" cy="406400"/>
          </a:xfrm>
          <a:prstGeom prst="rect">
            <a:avLst/>
          </a:prstGeom>
        </p:spPr>
      </p:pic>
      <p:sp>
        <p:nvSpPr>
          <p:cNvPr name="AutoShape 12" id="12"/>
          <p:cNvSpPr/>
          <p:nvPr/>
        </p:nvSpPr>
        <p:spPr>
          <a:xfrm rot="0" flipH="false" flipV="false">
            <a:off x="1574800" y="3937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记忆必须</a:t>
            </a:r>
            <a:r>
              <a:rPr lang="en-US" b="true" i="false" strike="noStrike" u="none" sz="1600">
                <a:solidFill>
                  <a:srgbClr val="00BFFF"/>
                </a:solidFill>
                <a:latin typeface="Noto Sans SC"/>
                <a:ea typeface="Noto Sans SC"/>
                <a:cs typeface="Noto Sans SC"/>
                <a:sym typeface="Noto Sans SC"/>
              </a:rPr>
              <a:t>分层管理</a:t>
            </a:r>
            <a:r>
              <a:rPr lang="en-US" b="false" i="false" strike="noStrike" u="none" sz="1600">
                <a:solidFill>
                  <a:srgbClr val="FFFFFF"/>
                </a:solidFill>
                <a:latin typeface="Noto Sans SC"/>
                <a:ea typeface="Noto Sans SC"/>
                <a:cs typeface="Noto Sans SC"/>
                <a:sym typeface="Noto Sans SC"/>
              </a:rPr>
              <a:t>（工作/短期/长期/知识库）</a:t>
            </a:r>
            <a:endParaRPr lang="en-US" sz="1100"/>
          </a:p>
        </p:txBody>
      </p:sp>
      <p:sp>
        <p:nvSpPr>
          <p:cNvPr name="AutoShape 13" id="13"/>
          <p:cNvSpPr/>
          <p:nvPr/>
        </p:nvSpPr>
        <p:spPr>
          <a:xfrm rot="0" flipH="false" flipV="false">
            <a:off x="762000" y="47244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927600"/>
            <a:ext cx="406400" cy="406400"/>
          </a:xfrm>
          <a:prstGeom prst="rect">
            <a:avLst/>
          </a:prstGeom>
        </p:spPr>
      </p:pic>
      <p:sp>
        <p:nvSpPr>
          <p:cNvPr name="AutoShape 15" id="15"/>
          <p:cNvSpPr/>
          <p:nvPr/>
        </p:nvSpPr>
        <p:spPr>
          <a:xfrm rot="0" flipH="false" flipV="false">
            <a:off x="1574800" y="48768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记忆收敛 = 自动从短期提取关键信息到长期</a:t>
            </a:r>
            <a:endParaRPr lang="en-US" sz="1100"/>
          </a:p>
        </p:txBody>
      </p:sp>
      <p:sp>
        <p:nvSpPr>
          <p:cNvPr name="AutoShape 16" id="16"/>
          <p:cNvSpPr/>
          <p:nvPr/>
        </p:nvSpPr>
        <p:spPr>
          <a:xfrm rot="0" flipH="false" flipV="false">
            <a:off x="762000" y="56642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867400"/>
            <a:ext cx="406400" cy="406400"/>
          </a:xfrm>
          <a:prstGeom prst="rect">
            <a:avLst/>
          </a:prstGeom>
        </p:spPr>
      </p:pic>
      <p:sp>
        <p:nvSpPr>
          <p:cNvPr name="AutoShape 18" id="18"/>
          <p:cNvSpPr/>
          <p:nvPr/>
        </p:nvSpPr>
        <p:spPr>
          <a:xfrm rot="0" flipH="false" flipV="false">
            <a:off x="1574800" y="58166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混合搜索（BM25 + 向量 + RRF）比单一搜索更可靠</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下节课预告</a:t>
            </a:r>
            <a:endParaRPr lang="en-US" sz="1100"/>
          </a:p>
        </p:txBody>
      </p:sp>
      <p:sp>
        <p:nvSpPr>
          <p:cNvPr name="AutoShape 4" id="4"/>
          <p:cNvSpPr/>
          <p:nvPr/>
        </p:nvSpPr>
        <p:spPr>
          <a:xfrm rot="0" flipH="false" flipV="false">
            <a:off x="762000" y="2032000"/>
            <a:ext cx="50800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406400" cy="406400"/>
          </a:xfrm>
          <a:prstGeom prst="rect">
            <a:avLst/>
          </a:prstGeom>
        </p:spPr>
      </p:pic>
      <p:sp>
        <p:nvSpPr>
          <p:cNvPr name="AutoShape 6" id="6"/>
          <p:cNvSpPr/>
          <p:nvPr/>
        </p:nvSpPr>
        <p:spPr>
          <a:xfrm rot="0" flipH="false" flipV="false">
            <a:off x="1574800" y="2336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当前挑战：多任务处理</a:t>
            </a:r>
            <a:endParaRPr lang="en-US" sz="1100"/>
          </a:p>
        </p:txBody>
      </p:sp>
      <p:cxnSp>
        <p:nvCxnSpPr>
          <p:cNvPr name="Connector 7" id="7"/>
          <p:cNvCxnSpPr/>
          <p:nvPr/>
        </p:nvCxnSpPr>
        <p:spPr>
          <a:xfrm rot="-9766" flipH="false" flipV="false">
            <a:off x="1066809" y="28384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66800" y="2971800"/>
            <a:ext cx="44704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我们已经解决了“Agent知道什么”的记忆问题。但当Agent需要同时处理代码生成、问答、文档总结等复杂任务时，应该调用哪个模型？</a:t>
            </a:r>
            <a:endParaRPr lang="en-US" sz="1100"/>
          </a:p>
        </p:txBody>
      </p:sp>
      <p:sp>
        <p:nvSpPr>
          <p:cNvPr name="AutoShape 9" id="9"/>
          <p:cNvSpPr/>
          <p:nvPr/>
        </p:nvSpPr>
        <p:spPr>
          <a:xfrm rot="0" flipH="false" flipV="false">
            <a:off x="6096000" y="2032000"/>
            <a:ext cx="5080000" cy="3048000"/>
          </a:xfrm>
          <a:prstGeom prst="roundRect">
            <a:avLst>
              <a:gd name="adj" fmla="val 4166"/>
            </a:avLst>
          </a:prstGeom>
          <a:solidFill>
            <a:srgbClr val="00BFFF">
              <a:alpha val="10000"/>
            </a:srgbClr>
          </a:solidFill>
          <a:ln w="254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00800" y="2336800"/>
            <a:ext cx="406400" cy="406400"/>
          </a:xfrm>
          <a:prstGeom prst="rect">
            <a:avLst/>
          </a:prstGeom>
        </p:spPr>
      </p:pic>
      <p:sp>
        <p:nvSpPr>
          <p:cNvPr name="AutoShape 11" id="11"/>
          <p:cNvSpPr/>
          <p:nvPr/>
        </p:nvSpPr>
        <p:spPr>
          <a:xfrm rot="0" flipH="false" flipV="false">
            <a:off x="6908800" y="2336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下一课核心主题</a:t>
            </a:r>
            <a:endParaRPr lang="en-US" sz="1100"/>
          </a:p>
        </p:txBody>
      </p:sp>
      <p:cxnSp>
        <p:nvCxnSpPr>
          <p:cNvPr name="Connector 12" id="12"/>
          <p:cNvCxnSpPr/>
          <p:nvPr/>
        </p:nvCxnSpPr>
        <p:spPr>
          <a:xfrm rot="-9766" flipH="false" flipV="false">
            <a:off x="6400809" y="28384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6400800" y="2971800"/>
            <a:ext cx="44704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深入探讨多模型协作机制，学习如何构建智能路由系统，实现任务的最优分配。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800">
                <a:solidFill>
                  <a:srgbClr val="FFFF00"/>
                </a:solidFill>
                <a:latin typeface="Noto Sans SC"/>
                <a:ea typeface="Noto Sans SC"/>
                <a:cs typeface="Noto Sans SC"/>
                <a:sym typeface="Noto Sans SC"/>
              </a:rPr>
              <a:t>第2课：多模型调度与智能路由</a:t>
            </a:r>
          </a:p>
        </p:txBody>
      </p:sp>
      <p:pic>
        <p:nvPicPr>
          <p:cNvPr name="Picture 14" id="14"/>
          <p:cNvPicPr>
            <a:picLocks noChangeAspect="true"/>
          </p:cNvPicPr>
          <p:nvPr/>
        </p:nvPicPr>
        <p:blipFill>
          <a:blip r:embed="rId7"/>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