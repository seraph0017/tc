
<file path=[Content_Types].xml><?xml version="1.0" encoding="utf-8"?>
<Types xmlns="http://schemas.openxmlformats.org/package/2006/content-types">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slides/slide24.xml" Type="http://schemas.openxmlformats.org/officeDocument/2006/relationships/slide"/><Relationship Id="rId33" Target="slides/slide25.xml" Type="http://schemas.openxmlformats.org/officeDocument/2006/relationships/slide"/><Relationship Id="rId34" Target="slides/slide26.xml" Type="http://schemas.openxmlformats.org/officeDocument/2006/relationships/slide"/><Relationship Id="rId35" Target="slides/slide27.xml" Type="http://schemas.openxmlformats.org/officeDocument/2006/relationships/slide"/><Relationship Id="rId36" Target="slides/slide28.xml" Type="http://schemas.openxmlformats.org/officeDocument/2006/relationships/slide"/><Relationship Id="rId37" Target="slides/slide29.xml" Type="http://schemas.openxmlformats.org/officeDocument/2006/relationships/slide"/><Relationship Id="rId38" Target="slides/slide30.xml" Type="http://schemas.openxmlformats.org/officeDocument/2006/relationships/slide"/><Relationship Id="rId39" Target="slides/slide31.xml" Type="http://schemas.openxmlformats.org/officeDocument/2006/relationships/slide"/><Relationship Id="rId4" Target="slideMasters/slideMaster1.xml" Type="http://schemas.openxmlformats.org/officeDocument/2006/relationships/slideMaster"/><Relationship Id="rId40" Target="slides/slide32.xml" Type="http://schemas.openxmlformats.org/officeDocument/2006/relationships/slide"/><Relationship Id="rId41" Target="slides/slide33.xml" Type="http://schemas.openxmlformats.org/officeDocument/2006/relationships/slide"/><Relationship Id="rId42" Target="notesSlides/notesSlide1.xml" Type="http://schemas.openxmlformats.org/officeDocument/2006/relationships/notesSlide"/><Relationship Id="rId43" Target="notesSlides/notesSlide2.xml" Type="http://schemas.openxmlformats.org/officeDocument/2006/relationships/notesSlide"/><Relationship Id="rId44" Target="notesSlides/notesSlide3.xml" Type="http://schemas.openxmlformats.org/officeDocument/2006/relationships/notesSlide"/><Relationship Id="rId45" Target="notesSlides/notesSlide4.xml" Type="http://schemas.openxmlformats.org/officeDocument/2006/relationships/notesSlide"/><Relationship Id="rId46" Target="notesSlides/notesSlide5.xml" Type="http://schemas.openxmlformats.org/officeDocument/2006/relationships/notesSlide"/><Relationship Id="rId47" Target="notesSlides/notesSlide6.xml" Type="http://schemas.openxmlformats.org/officeDocument/2006/relationships/notesSlide"/><Relationship Id="rId48" Target="notesSlides/notesSlide7.xml" Type="http://schemas.openxmlformats.org/officeDocument/2006/relationships/notesSlide"/><Relationship Id="rId49" Target="notesSlides/notesSlide8.xml" Type="http://schemas.openxmlformats.org/officeDocument/2006/relationships/notesSlide"/><Relationship Id="rId50" Target="notesSlides/notesSlide9.xml" Type="http://schemas.openxmlformats.org/officeDocument/2006/relationships/notesSlide"/><Relationship Id="rId51" Target="notesSlides/notesSlide10.xml" Type="http://schemas.openxmlformats.org/officeDocument/2006/relationships/notesSlide"/><Relationship Id="rId52" Target="notesSlides/notesSlide11.xml" Type="http://schemas.openxmlformats.org/officeDocument/2006/relationships/notesSlide"/><Relationship Id="rId53" Target="notesSlides/notesSlide12.xml" Type="http://schemas.openxmlformats.org/officeDocument/2006/relationships/notesSlide"/><Relationship Id="rId54" Target="notesSlides/notesSlide13.xml" Type="http://schemas.openxmlformats.org/officeDocument/2006/relationships/notesSlide"/><Relationship Id="rId55" Target="notesSlides/notesSlide14.xml" Type="http://schemas.openxmlformats.org/officeDocument/2006/relationships/notesSlide"/><Relationship Id="rId56" Target="notesSlides/notesSlide15.xml" Type="http://schemas.openxmlformats.org/officeDocument/2006/relationships/notesSlide"/><Relationship Id="rId57" Target="notesSlides/notesSlide16.xml" Type="http://schemas.openxmlformats.org/officeDocument/2006/relationships/notesSlide"/><Relationship Id="rId58" Target="notesSlides/notesSlide17.xml" Type="http://schemas.openxmlformats.org/officeDocument/2006/relationships/notesSlide"/><Relationship Id="rId59" Target="notesSlides/notesSlide18.xml" Type="http://schemas.openxmlformats.org/officeDocument/2006/relationships/notesSlide"/><Relationship Id="rId6" Target="notesMasters/notesMaster1.xml" Type="http://schemas.openxmlformats.org/officeDocument/2006/relationships/notesMaster"/><Relationship Id="rId60" Target="notesSlides/notesSlide19.xml" Type="http://schemas.openxmlformats.org/officeDocument/2006/relationships/notesSlide"/><Relationship Id="rId61" Target="notesSlides/notesSlide20.xml" Type="http://schemas.openxmlformats.org/officeDocument/2006/relationships/notesSlide"/><Relationship Id="rId62" Target="notesSlides/notesSlide21.xml" Type="http://schemas.openxmlformats.org/officeDocument/2006/relationships/notesSlide"/><Relationship Id="rId63" Target="notesSlides/notesSlide22.xml" Type="http://schemas.openxmlformats.org/officeDocument/2006/relationships/notesSlide"/><Relationship Id="rId64" Target="notesSlides/notesSlide23.xml" Type="http://schemas.openxmlformats.org/officeDocument/2006/relationships/notesSlide"/><Relationship Id="rId65" Target="notesSlides/notesSlide24.xml" Type="http://schemas.openxmlformats.org/officeDocument/2006/relationships/notesSlide"/><Relationship Id="rId66" Target="notesSlides/notesSlide25.xml" Type="http://schemas.openxmlformats.org/officeDocument/2006/relationships/notesSlide"/><Relationship Id="rId67" Target="notesSlides/notesSlide26.xml" Type="http://schemas.openxmlformats.org/officeDocument/2006/relationships/notesSlide"/><Relationship Id="rId68" Target="notesSlides/notesSlide27.xml" Type="http://schemas.openxmlformats.org/officeDocument/2006/relationships/notesSlide"/><Relationship Id="rId69" Target="notesSlides/notesSlide28.xml" Type="http://schemas.openxmlformats.org/officeDocument/2006/relationships/notesSlide"/><Relationship Id="rId7" Target="theme/theme2.xml" Type="http://schemas.openxmlformats.org/officeDocument/2006/relationships/theme"/><Relationship Id="rId70" Target="notesSlides/notesSlide29.xml" Type="http://schemas.openxmlformats.org/officeDocument/2006/relationships/notesSlide"/><Relationship Id="rId71" Target="notesSlides/notesSlide30.xml" Type="http://schemas.openxmlformats.org/officeDocument/2006/relationships/notesSlide"/><Relationship Id="rId72" Target="notesSlides/notesSlide31.xml" Type="http://schemas.openxmlformats.org/officeDocument/2006/relationships/notesSlide"/><Relationship Id="rId73" Target="notesSlides/notesSlide32.xml" Type="http://schemas.openxmlformats.org/officeDocument/2006/relationships/notesSlide"/><Relationship Id="rId74" Target="notesSlides/notesSlide33.xml" Type="http://schemas.openxmlformats.org/officeDocument/2006/relationships/notesSlid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大家好，欢迎来到AI Agent系统工程实战课程的第五课，这是一门选修的进阶课程。在前几课中，我们学习了Agent的基础架构、模型路由、多Agent协作以及结构化代码生成。今天，我们将把这些知识应用到一个最具挑战性的实战场景中——构建一个AI驱动的量化交易系统。这不仅是对我们之前所学知识的综合运用，更是对AI自动化系统设计能力的一次全面检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我们今天课程的整体安排。我们将首先介绍量化交易系统的四层架构模型，然后深入数据层，讲解数据获取和特征工程。接着，我们会探讨两种核心策略：机器学习策略和网格策略。课程的重点将是风险管理，这是任何AI自动化系统都不可或缺的安全保障。最后，我们会有一个练习环节和总结。希望大家能跟上节奏，深入理解这个复杂系统的设计思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开始之前，我想问大家一个问题：如果AI可以自动花你的钱，比如进行自动交易、自动发送重要邮件或自动部署代码，你最担心什么？这引出了一个核心问题：在追求高效的完全自动化和保证安全的完全手动操作之间，我们应该如何找到平衡点？这正是我们今天要解决的核心问题之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首先来看量化交易系统的整体架构。与我们之前学过的三层架构类似，量化交易系统采用了一个清晰的四层模型：数据层、策略层、执行层和监控层。这个架构的核心设计原则是分层解耦，每层只与相邻的层进行交互，这意味着我们可以独立地替换或升级任何一层，而不会影响到其他层的功能。这种设计极大地提高了系统的灵活性和可维护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张图展示了四层架构的全景。数据层负责从交易所API获取市场数据，并在本地进行缓存和特征存储。策略层是系统的大脑，包含了我们将要学习的机器学习策略、网格策略以及至关重要的风控模块。执行层负责将策略生成的信号转化为实际的交易操作，包括订单管理、仓位跟踪和滑点控制。最后，监控层实时展示系统的运行状态，包括盈亏情况、策略性能和异常报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张表格进一步明确了各层的职责、核心组件和对外接口。数据层通过BinanceDataFetcher和SQLite数据库，为策略层提供标准化的DataFrame数据。策略层利用各种策略和风控模块分析数据，生成交易信号。执行层接收信号并执行交易，返回成交结果。监控层则接收所有组件的状态信息，进行实时展示和异常报警。清晰的接口定义保证了各层之间的顺畅通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我们来思考一个问题：如果我们想把策略层从现有的“ML策略+网格策略”替换为“规则策略+动量策略”，我们需要修改哪些层的代码？答案是：只需要修改策略层。这正是分层架构的价值所在。只要新的策略层能够提供与旧策略层相同的输出接口，数据层、执行层和监控层都不需要做任何改动。这大大降低了系统迭代和升级的成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更重要的是，这种四层架构的思想具有很强的通用性，可以迁移到任何AI自动化系统中。例如，一个AI内容发布系统，其数据层负责爬取热点信息，策略层负责选题和内容生成，执行层负责在多个平台发布，监控层则负责监控阅读量和互动数据。可以看到，虽然具体的组件和功能不同，但整体的架构模式是完全一致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现在，整体架构已经清晰了。接下来，我们将从上到下，逐层深入实现每个模块。首先，我们从最基础的数据层开始，解决第一个关键问题：我们的交易数据从哪里来？如何高效、可靠地获取和存储这些数据？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数据获取模块BinanceDataFetcher采用了一个核心设计策略：先检查本地缓存，如果缓存数据足够，就直接使用；只有在缓存不足时，才向交易所API请求增量数据。这种设计带来了三大好处：首先，大大减少了对API的调用次数，避免了因频繁请求而被限流甚至封禁IP；其次，历史数据是固定不变的，无需重复下载；最后，本地读取数据的速度比每次都请求API要快10倍以上，这对于需要大量历史数据进行回测的策略来说至关重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张图展示了数据获取的完整流程。当fetch_ohlcv函数被调用时，系统首先检查本地SQLite数据库中的缓存。如果缓存数据量达到了请求量的90%以上，就直接返回缓存数据。否则，系统会从币安API获取自上次缓存以来的增量数据，然后将新数据与缓存合并、去重，并保存回数据库，最后返回结果。设置90%的阈值是为了避免因为缺少最新的1-2条数据而触发不必要的全量请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缓存策略的核心代码实现。首先，函数会调用_get_cached_data从本地获取数据。如果缓存数据的长度大于等于请求limit的90%，就直接返回缓存。否则，系统会计算增量请求的起始时间（since），即缓存中最新一条数据的时间戳加1，然后调用交易所API获取从该时间点开始的增量数据。这样就保证了数据的完整性和获取效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获取到原始的OHLCV数据后，我们需要进行特征工程，从中提取出有价值的技术指标，作为机器学习模型的输入。这里展示了我们提取的12个技术指标，涵盖了价格变动、趋势、强弱、动量、通道、波动、量能和形态等多个维度。这些指标就像是模型的“感官输入”，帮助模型理解市场的状态和变化趋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张表格总结了几个核心技术指标的计算方法和它们在交易中的常见含义。例如，移动平均线（MA）用于判断趋势，相对强弱指数（RSI）用于判断超买超卖状态，MACD用于判断动量变化，布林带用于判断价格波动范围等。理解这些指标的含义是构建有效交易策略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我们已经准备好了12个技术指标作为特征。这些特征就像是机器学习模型的“感官输入”。接下来，我们要解决的核心问题是：如何让模型从这些数字中“学会”预测价格的未来走势？这就是我们接下来要探讨的机器学习策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选择的机器学习模型是随机森林。可以把随机森林想象成一个由200位专家组成的委员会。每个专家（决策树）基于不同的数据集和特征子集进行独立分析和预测。最终的预测结果由所有专家投票决定，投票的一致程度就是我们的置信度。例如，如果有180位专家投票买入，那么置信度就是90%。这种机制使得随机森林模型具有很强的抗过拟合能力和鲁棒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机器学习策略的完整工作流。首先，我们需要为历史数据定义标签：如果未来价格上涨超过1.5%，标签为1（买入）；下跌超过1.5%，标签为-1（卖出）；否则为0（持有）。设置1.5%的缓冲区是为了覆盖交易手续费和滑点成本。</a:t>
            </a:r>
          </a:p>
          <a:p>
            <a:pPr algn="l" indent="0">
              <a:lnSpc>
                <a:spcPct val="100000"/>
              </a:lnSpc>
            </a:pPr>
            <a:r>
              <a:rPr lang="en-US" b="false" i="false" strike="noStrike" u="none" sz="1400">
                <a:solidFill>
                  <a:srgbClr val="000000"/>
                </a:solidFill>
              </a:rPr>
              <a:t>接着，我们必须使用时间序列分割方法划分训练集和测试集，绝对不能随机分割，因为时间序列数据具有顺序性。</a:t>
            </a:r>
          </a:p>
          <a:p>
            <a:pPr algn="l" indent="0">
              <a:lnSpc>
                <a:spcPct val="100000"/>
              </a:lnSpc>
            </a:pPr>
            <a:r>
              <a:rPr lang="en-US" b="false" i="false" strike="noStrike" u="none" sz="1400">
                <a:solidFill>
                  <a:srgbClr val="000000"/>
                </a:solidFill>
              </a:rPr>
              <a:t>然后，我们训练一个包含200棵决策树的随机森林模型。最后，在预测时，只有当置信度大于等于0.6时，我们才执行交易，因为0.5的置信度只比随机猜测好一点，没有实际意义。</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里有一个非常关键的问题：我们能像处理普通数据一样，随机分割训练集和测试集吗？答案是绝对不能！因为时间序列数据是有顺序的，过去的数据影响未来，而未来的数据不能影响过去。随机分割相当于让模型用明天的数据来训练，去预测昨天的情况，这在现实中是不可能的。这会导致模型在测试集上表现极好，但在实盘中一败涂地。正确的做法是使用TimeSeriesSplit，确保训练集总是在测试集之前，永远只用过去的数据来预测未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标签定义和置信度过滤的核心代码。第一部分代码计算了未来的收益率，并根据1.5%的阈值将标签分为买入（1）、卖出（-1）和持有（0）三类。第二部分代码在预测时，会获取模型对预测结果的置信度，并设置一个置信度阈值（比如0.6），只有当置信度高于阈值且预测不是“持有”时，才会执行交易。这一步过滤可以有效减少低置信度的无效交易，提高策略的整体表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机器学习策略的核心是预测价格的未来方向，但市场并不总是有明确的趋势，很多时候价格会在一个区间内来回震荡。在这种情况下，预测方向的策略效果会大打折扣。那么，我们该怎么办呢？答案是引入网格策略，它不预测价格方向，而是通过在价格区间内设置网格，自动进行低买高卖，从而利用市场波动获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网格策略的核心思想非常简单：我们在一个预设的价格区间内设置若干条水平线，也就是“网格”。当价格下跌并触碰下方的网格线时，系统自动买入；当价格上涨并触碰上方的网格线时，系统自动卖出。这种策略不预测价格的未来走势，只要价格在我们设定的区间内来回波动，就能不断地低买高卖，赚取差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网格的设置方式有两种：等差网格和等比网格。等差网格的网格间距是固定的，比如每100美元一个网格。而等比网格的网格间距是按比例递增的，这使得在价格较低的区域，网格更加密集。这样做的好处是，当价格下跌时，我们可以更频繁地买入，从而降低平均持仓成本。这是一种更优的网格设置策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张图展示了网格策略的循环操作过程。假设当前价格是1150美元，我们在上下方设置了买单和卖单。当价格下跌到1072美元时，买单成交，系统会立即在上方一格（1149美元）挂一个卖单。当价格上涨到1149美元时，卖单成交，系统又会在下方一格（1072美元）挂一个买单。这样就形成了一个“买低卖高”的循环，不断赚取差价。这种策略在震荡行情中表现最佳，但在出现单边大趋势时可能会亏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我们已经有了两个核心策略：机器学习策略用于预测价格方向，网格策略用于在震荡行情中赚取差价。但是，我们必须考虑一个至关重要的问题：如果策略出错了怎么办？如果系统一天亏损500美元，或者连续亏损10笔交易，我们该如何应对？答案是：我们需要强大的风险管理模块。这也是我们本节课的核心内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要强调的是，风险管理的原则并不仅限于交易系统，它适用于任何AI自动化系统。例如，交易系统中的最大持仓限制，可以类比为通用AI系统中的API调用速率限制；日亏损上限可以类比为每日错误操作上限；熔断机制可以类比为异常检测后的自动暂停；风险评分可以类比为系统健康度评分；交易间隔限制可以类比为操作频率限制。理解这一点，能帮助我们将风控思想应用到更广泛的场景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我们设计的六重安全检查流程。任何交易信号在执行前，都必须通过这六道关卡。首先是熔断检查，如果系统已经触发熔断，则直接拒绝交易。接着是持仓检查、日亏损检查、交易次数检查、下单间隔检查和回撤检查。其中，日亏损和回撤检查是最高级别的安全线，如果超限，不仅会拒绝交易，还会触发熔断机制，停止当天的所有交易。只有当所有检查都通过时，交易才会被允许执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里有一个值得思考的问题：为什么只有日亏损和回撤检查能触发熔断，而持仓超限、交易次数超限等情况却不会？这是因为日亏损和回撤触及的是资金安全的底线，属于系统性风险，一旦发生，必须立即停止所有交易以防止损失进一步扩大。而持仓超限、交易次数超限等问题，更多的是操作规范层面的问题，只需要拒绝当前这一笔交易即可，不需要停止整个系统。这种分级处理体现了风控设计的精细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我们定义的风控限制参数，包含五项核心限制：最大持仓价值、日亏损上限、最大回撤比例、每日最大交易次数和最小下单间隔。这些参数是整个风控系统的基础。这里体现了一个重要的设计哲学：在构建任何自动化功能之前，首先要建立好安全防线。只有这样，我们才能放心地让AI去执行自动化操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更直观地评估系统的风险状况，我们设计了一个0到100分的风险评分算法。总分由回撤、日亏损、交易频率和持仓占比四个部分组成，其中回撤的权重最高（40分），因为它最能反映策略是否已经失效。日亏损占30分，反映当天的交易质量。交易频率占20分，反映策略的稳定性。持仓占比占10分，反映集中度风险。得分越低，风险越高，当得分低于30分时，系统处于危险状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让我们做一个练习，将风控思想迁移到其他场景。假设我们要为一个“AI自动发送营销邮件”的系统设计风控规则，对标我们刚才讲的六重检查思路，大家能想出哪些规则？比如，我们可以设置每日发送邮件的数量上限、每小时发送频率限制、邮件内容敏感词检查、以及当投诉率超过阈值时自动暂停发送等。这个练习能帮助我们更好地理解风控原则的通用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我们总结一下风险管理的五大通用原则。第一，先建防线再建功能，在实现自动化之前，一定要先设计好停止条件。第二，多重检查，层层设防，不要依赖单一的检查点。第三，熔断机制必须是不可逆的，需要手动恢复，防止系统在异常状态下反复尝试造成更大损失。第四，监控比策略更重要，策略可以赔钱，但你必须实时知道系统在赔钱。第五，用量化的分数来评估风险，这样便于设置自动化的阈值。这些原则适用于任何AI自动化系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是动手实践的时间。这个练习要求大家为我们的RiskManager类添加一个“连续亏损保护”功能。具体规则是：当系统连续亏损3笔交易时，将仓位减半；当连续亏损达到5笔时，触发熔断机制；如果中间有盈利交易，则重置连续亏损计数。大家需要实现一个新的检查函数，并将其集成到现有的检查流程中，同时编写测试用例来验证功能的正确性。现在开始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好了，我们来总结一下本节课的核心内容。首先，我们学习了量化交易系统的四层架构模型，强调了分层解耦的重要性。其次，我们探讨了数据获取和特征工程，为模型提供了必要的输入。接着，我们介绍了两种核心策略：机器学习策略和网格策略。最重要的是，我们深入学习了风险管理模块，包括六重安全检查、熔断机制和风险评分。最后，请大家记住，本节课最重要的一点是：这些风控原则适用于任何AI自动化系统，而不仅仅是交易系统。希望大家都能将这些知识应用到自己的项目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3.xml" Type="http://schemas.openxmlformats.org/officeDocument/2006/relationships/notesSlide"/><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notesSlides/notesSlide4.xml" Type="http://schemas.openxmlformats.org/officeDocument/2006/relationships/notesSlid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5.xml" Type="http://schemas.openxmlformats.org/officeDocument/2006/relationships/notesSlide"/><Relationship Id="rId2" Target="../media/image15.png" Type="http://schemas.openxmlformats.org/officeDocument/2006/relationships/image"/><Relationship Id="rId3" Target="../media/image16.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3.png" Type="http://schemas.openxmlformats.org/officeDocument/2006/relationships/image"/><Relationship Id="rId11" Target="../media/image34.svg" Type="http://schemas.openxmlformats.org/officeDocument/2006/relationships/image"/><Relationship Id="rId12" Target="../media/image35.png" Type="http://schemas.openxmlformats.org/officeDocument/2006/relationships/image"/><Relationship Id="rId13" Target="../media/image36.svg" Type="http://schemas.openxmlformats.org/officeDocument/2006/relationships/image"/><Relationship Id="rId14" Target="../notesSlides/notesSlide8.xml" Type="http://schemas.openxmlformats.org/officeDocument/2006/relationships/notesSlide"/><Relationship Id="rId2" Target="../media/image31.png" Type="http://schemas.openxmlformats.org/officeDocument/2006/relationships/image"/><Relationship Id="rId3" Target="../media/image32.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9.xml" Type="http://schemas.openxmlformats.org/officeDocument/2006/relationships/notesSlide"/><Relationship Id="rId2" Target="../media/image15.png" Type="http://schemas.openxmlformats.org/officeDocument/2006/relationships/image"/><Relationship Id="rId3" Target="../media/image16.svg" Type="http://schemas.openxmlformats.org/officeDocument/2006/relationships/image"/><Relationship Id="rId4" Target="../media/image37.png" Type="http://schemas.openxmlformats.org/officeDocument/2006/relationships/image"/><Relationship Id="rId5" Target="../media/image38.svg" Type="http://schemas.openxmlformats.org/officeDocument/2006/relationships/image"/><Relationship Id="rId6" Target="../media/image39.png" Type="http://schemas.openxmlformats.org/officeDocument/2006/relationships/image"/><Relationship Id="rId7" Target="../media/image40.svg" Type="http://schemas.openxmlformats.org/officeDocument/2006/relationships/image"/><Relationship Id="rId8" Target="../media/image41.png" Type="http://schemas.openxmlformats.org/officeDocument/2006/relationships/image"/><Relationship Id="rId9" Target="../media/image4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0.xml" Type="http://schemas.openxmlformats.org/officeDocument/2006/relationships/notesSlide"/><Relationship Id="rId2" Target="../media/image43.png" Type="http://schemas.openxmlformats.org/officeDocument/2006/relationships/image"/><Relationship Id="rId3" Target="../media/image44.svg" Type="http://schemas.openxmlformats.org/officeDocument/2006/relationships/image"/><Relationship Id="rId4" Target="../media/image45.png" Type="http://schemas.openxmlformats.org/officeDocument/2006/relationships/image"/><Relationship Id="rId5" Target="../media/image46.svg" Type="http://schemas.openxmlformats.org/officeDocument/2006/relationships/image"/><Relationship Id="rId6" Target="../media/image47.png" Type="http://schemas.openxmlformats.org/officeDocument/2006/relationships/image"/><Relationship Id="rId7" Target="../media/image48.svg" Type="http://schemas.openxmlformats.org/officeDocument/2006/relationships/image"/><Relationship Id="rId8" Target="../media/image49.png" Type="http://schemas.openxmlformats.org/officeDocument/2006/relationships/image"/><Relationship Id="rId9" Target="../media/image5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9.png" Type="http://schemas.openxmlformats.org/officeDocument/2006/relationships/image"/><Relationship Id="rId11" Target="../media/image60.svg" Type="http://schemas.openxmlformats.org/officeDocument/2006/relationships/image"/><Relationship Id="rId12" Target="../media/image61.png" Type="http://schemas.openxmlformats.org/officeDocument/2006/relationships/image"/><Relationship Id="rId13" Target="../media/image62.svg" Type="http://schemas.openxmlformats.org/officeDocument/2006/relationships/image"/><Relationship Id="rId14" Target="../media/image63.png" Type="http://schemas.openxmlformats.org/officeDocument/2006/relationships/image"/><Relationship Id="rId15" Target="../media/image64.svg" Type="http://schemas.openxmlformats.org/officeDocument/2006/relationships/image"/><Relationship Id="rId16" Target="../notesSlides/notesSlide11.xml" Type="http://schemas.openxmlformats.org/officeDocument/2006/relationships/notesSlide"/><Relationship Id="rId2" Target="../media/image51.png" Type="http://schemas.openxmlformats.org/officeDocument/2006/relationships/image"/><Relationship Id="rId3" Target="../media/image52.svg" Type="http://schemas.openxmlformats.org/officeDocument/2006/relationships/image"/><Relationship Id="rId4" Target="../media/image53.png" Type="http://schemas.openxmlformats.org/officeDocument/2006/relationships/image"/><Relationship Id="rId5" Target="../media/image54.svg" Type="http://schemas.openxmlformats.org/officeDocument/2006/relationships/image"/><Relationship Id="rId6" Target="../media/image55.png" Type="http://schemas.openxmlformats.org/officeDocument/2006/relationships/image"/><Relationship Id="rId7" Target="../media/image56.svg" Type="http://schemas.openxmlformats.org/officeDocument/2006/relationships/image"/><Relationship Id="rId8" Target="../media/image57.png" Type="http://schemas.openxmlformats.org/officeDocument/2006/relationships/image"/><Relationship Id="rId9" Target="../media/image5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1.png" Type="http://schemas.openxmlformats.org/officeDocument/2006/relationships/image"/><Relationship Id="rId3" Target="../media/image52.svg" Type="http://schemas.openxmlformats.org/officeDocument/2006/relationships/image"/><Relationship Id="rId4"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49.png" Type="http://schemas.openxmlformats.org/officeDocument/2006/relationships/image"/><Relationship Id="rId11" Target="../media/image50.svg" Type="http://schemas.openxmlformats.org/officeDocument/2006/relationships/image"/><Relationship Id="rId12" Target="../media/image31.png" Type="http://schemas.openxmlformats.org/officeDocument/2006/relationships/image"/><Relationship Id="rId13" Target="../media/image32.svg" Type="http://schemas.openxmlformats.org/officeDocument/2006/relationships/image"/><Relationship Id="rId14" Target="../media/image69.png" Type="http://schemas.openxmlformats.org/officeDocument/2006/relationships/image"/><Relationship Id="rId15" Target="../media/image70.svg" Type="http://schemas.openxmlformats.org/officeDocument/2006/relationships/image"/><Relationship Id="rId16" Target="../notesSlides/notesSlide13.xml" Type="http://schemas.openxmlformats.org/officeDocument/2006/relationships/notesSlid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65.png" Type="http://schemas.openxmlformats.org/officeDocument/2006/relationships/image"/><Relationship Id="rId7" Target="../media/image66.svg" Type="http://schemas.openxmlformats.org/officeDocument/2006/relationships/image"/><Relationship Id="rId8" Target="../media/image67.png" Type="http://schemas.openxmlformats.org/officeDocument/2006/relationships/image"/><Relationship Id="rId9" Target="../media/image68.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71.png" Type="http://schemas.openxmlformats.org/officeDocument/2006/relationships/image"/><Relationship Id="rId5" Target="../media/image72.svg" Type="http://schemas.openxmlformats.org/officeDocument/2006/relationships/image"/><Relationship Id="rId6"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73.png" Type="http://schemas.openxmlformats.org/officeDocument/2006/relationships/image"/><Relationship Id="rId3" Target="../media/image74.svg" Type="http://schemas.openxmlformats.org/officeDocument/2006/relationships/image"/><Relationship Id="rId4" Target="../media/image75.png" Type="http://schemas.openxmlformats.org/officeDocument/2006/relationships/image"/><Relationship Id="rId5" Target="../media/image76.svg" Type="http://schemas.openxmlformats.org/officeDocument/2006/relationships/image"/><Relationship Id="rId6" Target="../media/image77.png" Type="http://schemas.openxmlformats.org/officeDocument/2006/relationships/image"/><Relationship Id="rId7" Target="../media/image78.svg" Type="http://schemas.openxmlformats.org/officeDocument/2006/relationships/image"/><Relationship Id="rId8"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7.xml" Type="http://schemas.openxmlformats.org/officeDocument/2006/relationships/notesSlide"/><Relationship Id="rId2" Target="../media/image79.png" Type="http://schemas.openxmlformats.org/officeDocument/2006/relationships/image"/><Relationship Id="rId3" Target="../media/image80.svg" Type="http://schemas.openxmlformats.org/officeDocument/2006/relationships/image"/><Relationship Id="rId4" Target="../media/image81.png" Type="http://schemas.openxmlformats.org/officeDocument/2006/relationships/image"/><Relationship Id="rId5" Target="../media/image82.svg" Type="http://schemas.openxmlformats.org/officeDocument/2006/relationships/image"/><Relationship Id="rId6" Target="../media/image43.png" Type="http://schemas.openxmlformats.org/officeDocument/2006/relationships/image"/><Relationship Id="rId7" Target="../media/image44.svg" Type="http://schemas.openxmlformats.org/officeDocument/2006/relationships/image"/><Relationship Id="rId8" Target="../media/image83.png" Type="http://schemas.openxmlformats.org/officeDocument/2006/relationships/image"/><Relationship Id="rId9" Target="../media/image84.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85.png" Type="http://schemas.openxmlformats.org/officeDocument/2006/relationships/image"/><Relationship Id="rId5" Target="../media/image86.svg" Type="http://schemas.openxmlformats.org/officeDocument/2006/relationships/image"/><Relationship Id="rId6" Target="../media/image81.png" Type="http://schemas.openxmlformats.org/officeDocument/2006/relationships/image"/><Relationship Id="rId7" Target="../media/image82.svg" Type="http://schemas.openxmlformats.org/officeDocument/2006/relationships/image"/><Relationship Id="rId8"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45.png" Type="http://schemas.openxmlformats.org/officeDocument/2006/relationships/image"/><Relationship Id="rId5" Target="../media/image46.svg" Type="http://schemas.openxmlformats.org/officeDocument/2006/relationships/image"/><Relationship Id="rId6"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87.png" Type="http://schemas.openxmlformats.org/officeDocument/2006/relationships/image"/><Relationship Id="rId5" Target="../media/image88.svg" Type="http://schemas.openxmlformats.org/officeDocument/2006/relationships/image"/><Relationship Id="rId6" Target="../media/image75.png" Type="http://schemas.openxmlformats.org/officeDocument/2006/relationships/image"/><Relationship Id="rId7" Target="../media/image76.svg" Type="http://schemas.openxmlformats.org/officeDocument/2006/relationships/image"/><Relationship Id="rId8"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75.png" Type="http://schemas.openxmlformats.org/officeDocument/2006/relationships/image"/><Relationship Id="rId3" Target="../media/image7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89.png" Type="http://schemas.openxmlformats.org/officeDocument/2006/relationships/image"/><Relationship Id="rId7" Target="../media/image90.svg" Type="http://schemas.openxmlformats.org/officeDocument/2006/relationships/image"/><Relationship Id="rId8"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7.png" Type="http://schemas.openxmlformats.org/officeDocument/2006/relationships/image"/><Relationship Id="rId11" Target="../media/image98.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14" Target="../notesSlides/notesSlide23.xml" Type="http://schemas.openxmlformats.org/officeDocument/2006/relationships/notesSlide"/><Relationship Id="rId2" Target="../media/image91.png" Type="http://schemas.openxmlformats.org/officeDocument/2006/relationships/image"/><Relationship Id="rId3" Target="../media/image92.svg" Type="http://schemas.openxmlformats.org/officeDocument/2006/relationships/image"/><Relationship Id="rId4" Target="../media/image83.png" Type="http://schemas.openxmlformats.org/officeDocument/2006/relationships/image"/><Relationship Id="rId5" Target="../media/image84.svg" Type="http://schemas.openxmlformats.org/officeDocument/2006/relationships/image"/><Relationship Id="rId6" Target="../media/image93.png" Type="http://schemas.openxmlformats.org/officeDocument/2006/relationships/image"/><Relationship Id="rId7" Target="../media/image94.svg" Type="http://schemas.openxmlformats.org/officeDocument/2006/relationships/image"/><Relationship Id="rId8" Target="../media/image95.png" Type="http://schemas.openxmlformats.org/officeDocument/2006/relationships/image"/><Relationship Id="rId9" Target="../media/image96.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99.png" Type="http://schemas.openxmlformats.org/officeDocument/2006/relationships/image"/><Relationship Id="rId5" Target="../media/image100.svg" Type="http://schemas.openxmlformats.org/officeDocument/2006/relationships/image"/><Relationship Id="rId6" Target="../media/image45.png" Type="http://schemas.openxmlformats.org/officeDocument/2006/relationships/image"/><Relationship Id="rId7" Target="../media/image46.svg" Type="http://schemas.openxmlformats.org/officeDocument/2006/relationships/image"/><Relationship Id="rId8" Target="../notesSlides/notesSlide24.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notesSlides/notesSlide25.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12" Target="../media/image107.png" Type="http://schemas.openxmlformats.org/officeDocument/2006/relationships/image"/><Relationship Id="rId13" Target="../media/image108.svg" Type="http://schemas.openxmlformats.org/officeDocument/2006/relationships/image"/><Relationship Id="rId14" Target="../media/image109.png" Type="http://schemas.openxmlformats.org/officeDocument/2006/relationships/image"/><Relationship Id="rId15" Target="../media/image110.svg" Type="http://schemas.openxmlformats.org/officeDocument/2006/relationships/image"/><Relationship Id="rId16" Target="../notesSlides/notesSlide26.xml" Type="http://schemas.openxmlformats.org/officeDocument/2006/relationships/notesSlide"/><Relationship Id="rId2" Target="../media/image101.png" Type="http://schemas.openxmlformats.org/officeDocument/2006/relationships/image"/><Relationship Id="rId3" Target="../media/image102.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03.png" Type="http://schemas.openxmlformats.org/officeDocument/2006/relationships/image"/><Relationship Id="rId7" Target="../media/image104.svg" Type="http://schemas.openxmlformats.org/officeDocument/2006/relationships/image"/><Relationship Id="rId8" Target="../media/image105.png" Type="http://schemas.openxmlformats.org/officeDocument/2006/relationships/image"/><Relationship Id="rId9" Target="../media/image106.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11.png" Type="http://schemas.openxmlformats.org/officeDocument/2006/relationships/image"/><Relationship Id="rId5" Target="../media/image112.svg" Type="http://schemas.openxmlformats.org/officeDocument/2006/relationships/image"/><Relationship Id="rId6" Target="../media/image113.png" Type="http://schemas.openxmlformats.org/officeDocument/2006/relationships/image"/><Relationship Id="rId7" Target="../media/image114.svg" Type="http://schemas.openxmlformats.org/officeDocument/2006/relationships/image"/><Relationship Id="rId8" Target="../notesSlides/notesSlide27.xml" Type="http://schemas.openxmlformats.org/officeDocument/2006/relationships/notesSlide"/></Relationships>
</file>

<file path=ppt/slides/_rels/slide28.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28.xml" Type="http://schemas.openxmlformats.org/officeDocument/2006/relationships/notesSlide"/><Relationship Id="rId2" Target="../media/image115.png" Type="http://schemas.openxmlformats.org/officeDocument/2006/relationships/image"/><Relationship Id="rId3" Target="../media/image116.svg" Type="http://schemas.openxmlformats.org/officeDocument/2006/relationships/image"/><Relationship Id="rId4" Target="../media/image117.png" Type="http://schemas.openxmlformats.org/officeDocument/2006/relationships/image"/><Relationship Id="rId5" Target="../media/image118.svg" Type="http://schemas.openxmlformats.org/officeDocument/2006/relationships/image"/><Relationship Id="rId6" Target="../media/image119.png" Type="http://schemas.openxmlformats.org/officeDocument/2006/relationships/image"/><Relationship Id="rId7" Target="../media/image120.svg" Type="http://schemas.openxmlformats.org/officeDocument/2006/relationships/image"/><Relationship Id="rId8" Target="../media/image121.png" Type="http://schemas.openxmlformats.org/officeDocument/2006/relationships/image"/><Relationship Id="rId9" Target="../media/image122.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23.png" Type="http://schemas.openxmlformats.org/officeDocument/2006/relationships/image"/><Relationship Id="rId11" Target="../media/image124.svg" Type="http://schemas.openxmlformats.org/officeDocument/2006/relationships/image"/><Relationship Id="rId12" Target="../media/image125.png" Type="http://schemas.openxmlformats.org/officeDocument/2006/relationships/image"/><Relationship Id="rId13" Target="../media/image126.svg" Type="http://schemas.openxmlformats.org/officeDocument/2006/relationships/image"/><Relationship Id="rId14" Target="../media/image127.png" Type="http://schemas.openxmlformats.org/officeDocument/2006/relationships/image"/><Relationship Id="rId15" Target="../media/image128.svg" Type="http://schemas.openxmlformats.org/officeDocument/2006/relationships/image"/><Relationship Id="rId16" Target="../notesSlides/notesSlide29.xml" Type="http://schemas.openxmlformats.org/officeDocument/2006/relationships/notesSlide"/><Relationship Id="rId2" Target="../media/image17.png" Type="http://schemas.openxmlformats.org/officeDocument/2006/relationships/image"/><Relationship Id="rId3" Target="../media/image18.svg" Type="http://schemas.openxmlformats.org/officeDocument/2006/relationships/image"/><Relationship Id="rId4" Target="../media/image65.png" Type="http://schemas.openxmlformats.org/officeDocument/2006/relationships/image"/><Relationship Id="rId5" Target="../media/image66.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7.png" Type="http://schemas.openxmlformats.org/officeDocument/2006/relationships/image"/><Relationship Id="rId9" Target="../media/image78.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29.png" Type="http://schemas.openxmlformats.org/officeDocument/2006/relationships/image"/><Relationship Id="rId5" Target="../media/image130.svg" Type="http://schemas.openxmlformats.org/officeDocument/2006/relationships/image"/><Relationship Id="rId6" Target="../media/image131.png" Type="http://schemas.openxmlformats.org/officeDocument/2006/relationships/image"/><Relationship Id="rId7" Target="../media/image132.svg" Type="http://schemas.openxmlformats.org/officeDocument/2006/relationships/image"/><Relationship Id="rId8" Target="../notesSlides/notesSlide30.xml" Type="http://schemas.openxmlformats.org/officeDocument/2006/relationships/notesSlide"/></Relationships>
</file>

<file path=ppt/slides/_rels/slide31.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35.png" Type="http://schemas.openxmlformats.org/officeDocument/2006/relationships/image"/><Relationship Id="rId11" Target="../media/image136.svg" Type="http://schemas.openxmlformats.org/officeDocument/2006/relationships/image"/><Relationship Id="rId12" Target="../notesSlides/notesSlide31.xml" Type="http://schemas.openxmlformats.org/officeDocument/2006/relationships/notesSlide"/><Relationship Id="rId2" Target="../media/image45.png" Type="http://schemas.openxmlformats.org/officeDocument/2006/relationships/image"/><Relationship Id="rId3" Target="../media/image46.svg" Type="http://schemas.openxmlformats.org/officeDocument/2006/relationships/image"/><Relationship Id="rId4" Target="../media/image101.png" Type="http://schemas.openxmlformats.org/officeDocument/2006/relationships/image"/><Relationship Id="rId5" Target="../media/image102.svg" Type="http://schemas.openxmlformats.org/officeDocument/2006/relationships/image"/><Relationship Id="rId6" Target="../media/image133.png" Type="http://schemas.openxmlformats.org/officeDocument/2006/relationships/image"/><Relationship Id="rId7" Target="../media/image134.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32.xml" Type="http://schemas.openxmlformats.org/officeDocument/2006/relationships/notesSlide"/><Relationship Id="rId2" Target="../media/image45.png" Type="http://schemas.openxmlformats.org/officeDocument/2006/relationships/image"/><Relationship Id="rId3" Target="../media/image46.svg" Type="http://schemas.openxmlformats.org/officeDocument/2006/relationships/image"/><Relationship Id="rId4" Target="../media/image137.png" Type="http://schemas.openxmlformats.org/officeDocument/2006/relationships/image"/><Relationship Id="rId5" Target="../media/image138.svg" Type="http://schemas.openxmlformats.org/officeDocument/2006/relationships/image"/><Relationship Id="rId6" Target="../media/image139.png" Type="http://schemas.openxmlformats.org/officeDocument/2006/relationships/image"/><Relationship Id="rId7" Target="../media/image140.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43.png" Type="http://schemas.openxmlformats.org/officeDocument/2006/relationships/image"/><Relationship Id="rId11" Target="../media/image144.svg" Type="http://schemas.openxmlformats.org/officeDocument/2006/relationships/image"/><Relationship Id="rId12" Target="../notesSlides/notesSlide33.xml" Type="http://schemas.openxmlformats.org/officeDocument/2006/relationships/notesSlide"/><Relationship Id="rId13" Target="../media/image145.png" Type="http://schemas.openxmlformats.org/officeDocument/2006/relationships/image"/><Relationship Id="rId2" Target="../media/image141.png" Type="http://schemas.openxmlformats.org/officeDocument/2006/relationships/image"/><Relationship Id="rId3" Target="../media/image142.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1778000"/>
            <a:ext cx="10160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00BFFF"/>
                </a:solidFill>
                <a:latin typeface="Noto Sans SC"/>
                <a:ea typeface="Noto Sans SC"/>
                <a:cs typeface="Noto Sans SC"/>
                <a:sym typeface="Noto Sans SC"/>
              </a:rPr>
              <a:t>AI Agent系统工程实战</a:t>
            </a:r>
            <a:endParaRPr lang="en-US" sz="1100"/>
          </a:p>
        </p:txBody>
      </p:sp>
      <p:sp>
        <p:nvSpPr>
          <p:cNvPr name="AutoShape 4" id="4"/>
          <p:cNvSpPr/>
          <p:nvPr/>
        </p:nvSpPr>
        <p:spPr>
          <a:xfrm rot="0" flipH="false" flipV="false">
            <a:off x="1016000" y="2603500"/>
            <a:ext cx="10160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000">
                <a:solidFill>
                  <a:srgbClr val="FFFFFF"/>
                </a:solidFill>
                <a:latin typeface="Noto Sans SC"/>
                <a:ea typeface="Noto Sans SC"/>
                <a:cs typeface="Noto Sans SC"/>
                <a:sym typeface="Noto Sans SC"/>
              </a:rPr>
              <a:t>第5课（选修/进阶）：实战案例</a:t>
            </a:r>
            <a:endParaRPr lang="en-US" sz="1100"/>
          </a:p>
        </p:txBody>
      </p:sp>
      <p:sp>
        <p:nvSpPr>
          <p:cNvPr name="AutoShape 5" id="5"/>
          <p:cNvSpPr/>
          <p:nvPr/>
        </p:nvSpPr>
        <p:spPr>
          <a:xfrm rot="0" flipH="false" flipV="false">
            <a:off x="1016000" y="3111500"/>
            <a:ext cx="10160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AAAAAA"/>
                </a:solidFill>
                <a:latin typeface="Noto Sans SC"/>
                <a:ea typeface="Noto Sans SC"/>
                <a:cs typeface="Noto Sans SC"/>
                <a:sym typeface="Noto Sans SC"/>
              </a:rPr>
              <a:t>—— AI驱动的量化交易系统</a:t>
            </a:r>
            <a:endParaRPr lang="en-US" sz="1100"/>
          </a:p>
        </p:txBody>
      </p:sp>
      <p:cxnSp>
        <p:nvCxnSpPr>
          <p:cNvPr name="Connector 6" id="6"/>
          <p:cNvCxnSpPr/>
          <p:nvPr/>
        </p:nvCxnSpPr>
        <p:spPr>
          <a:xfrm rot="-34376" flipH="false" flipV="false">
            <a:off x="5461032" y="3676650"/>
            <a:ext cx="1270000" cy="12700"/>
          </a:xfrm>
          <a:prstGeom prst="straightConnector1">
            <a:avLst/>
          </a:prstGeom>
          <a:solidFill>
            <a:srgbClr val="DEE0E3">
              <a:alpha val="100000"/>
            </a:srgbClr>
          </a:solidFill>
          <a:ln w="25400" cmpd="sng" cap="flat">
            <a:solidFill>
              <a:srgbClr val="00BFFF">
                <a:alpha val="100000"/>
              </a:srgbClr>
            </a:solidFill>
            <a:prstDash val="solid"/>
            <a:round/>
            <a:headEnd type="none" w="lg" len="lg"/>
            <a:tailEnd type="none" w="lg" len="lg"/>
          </a:ln>
        </p:spPr>
      </p:cxnSp>
      <p:sp>
        <p:nvSpPr>
          <p:cNvPr name="AutoShape 7" id="7"/>
          <p:cNvSpPr/>
          <p:nvPr/>
        </p:nvSpPr>
        <p:spPr>
          <a:xfrm rot="0" flipH="false" flipV="false">
            <a:off x="2286000" y="4191000"/>
            <a:ext cx="7620000" cy="762000"/>
          </a:xfrm>
          <a:prstGeom prst="roundRect">
            <a:avLst>
              <a:gd name="adj" fmla="val 16666"/>
            </a:avLst>
          </a:prstGeom>
          <a:solidFill>
            <a:srgbClr val="FFFFFF">
              <a:alpha val="10000"/>
            </a:srgbClr>
          </a:solidFill>
          <a:ln w="12700" cmpd="sng" cap="flat">
            <a:solidFill>
              <a:srgbClr val="FFFFFF">
                <a:alpha val="2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2667000" y="4419600"/>
            <a:ext cx="304800" cy="304800"/>
          </a:xfrm>
          <a:prstGeom prst="rect">
            <a:avLst/>
          </a:prstGeom>
        </p:spPr>
      </p:pic>
      <p:sp>
        <p:nvSpPr>
          <p:cNvPr name="AutoShape 9" id="9"/>
          <p:cNvSpPr/>
          <p:nvPr/>
        </p:nvSpPr>
        <p:spPr>
          <a:xfrm rot="0" flipH="false" flipV="false">
            <a:off x="3048000" y="4381500"/>
            <a:ext cx="177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第5章 | 课程内容</a:t>
            </a:r>
            <a:endParaRPr lang="en-US" sz="1100"/>
          </a:p>
        </p:txBody>
      </p:sp>
      <p:cxnSp>
        <p:nvCxnSpPr>
          <p:cNvPr name="Connector 10" id="10"/>
          <p:cNvCxnSpPr/>
          <p:nvPr/>
        </p:nvCxnSpPr>
        <p:spPr>
          <a:xfrm rot="5285450" flipH="false" flipV="false">
            <a:off x="4635500" y="4565756"/>
            <a:ext cx="381000" cy="12700"/>
          </a:xfrm>
          <a:prstGeom prst="straightConnector1">
            <a:avLst/>
          </a:prstGeom>
          <a:solidFill>
            <a:srgbClr val="DEE0E3">
              <a:alpha val="100000"/>
            </a:srgbClr>
          </a:solidFill>
          <a:ln w="12700" cmpd="sng" cap="flat">
            <a:solidFill>
              <a:srgbClr val="FFFFFF">
                <a:alpha val="30000"/>
              </a:srgbClr>
            </a:solidFill>
            <a:prstDash val="solid"/>
            <a:round/>
            <a:headEnd type="none" w="med" len="med"/>
            <a:tailEnd type="none" w="med" len="med"/>
          </a:ln>
        </p:spPr>
      </p:cxn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080000" y="4419600"/>
            <a:ext cx="304800" cy="304800"/>
          </a:xfrm>
          <a:prstGeom prst="rect">
            <a:avLst/>
          </a:prstGeom>
        </p:spPr>
      </p:pic>
      <p:sp>
        <p:nvSpPr>
          <p:cNvPr name="AutoShape 12" id="12"/>
          <p:cNvSpPr/>
          <p:nvPr/>
        </p:nvSpPr>
        <p:spPr>
          <a:xfrm rot="0" flipH="false" flipV="false">
            <a:off x="5461000" y="4381500"/>
            <a:ext cx="152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难度：高级</a:t>
            </a:r>
            <a:endParaRPr lang="en-US" sz="1100"/>
          </a:p>
        </p:txBody>
      </p:sp>
      <p:cxnSp>
        <p:nvCxnSpPr>
          <p:cNvPr name="Connector 13" id="13"/>
          <p:cNvCxnSpPr/>
          <p:nvPr/>
        </p:nvCxnSpPr>
        <p:spPr>
          <a:xfrm rot="5285450" flipH="false" flipV="false">
            <a:off x="6794500" y="4565756"/>
            <a:ext cx="381000" cy="12700"/>
          </a:xfrm>
          <a:prstGeom prst="straightConnector1">
            <a:avLst/>
          </a:prstGeom>
          <a:solidFill>
            <a:srgbClr val="DEE0E3">
              <a:alpha val="100000"/>
            </a:srgbClr>
          </a:solidFill>
          <a:ln w="12700" cmpd="sng" cap="flat">
            <a:solidFill>
              <a:srgbClr val="FFFFFF">
                <a:alpha val="30000"/>
              </a:srgbClr>
            </a:solidFill>
            <a:prstDash val="solid"/>
            <a:round/>
            <a:headEnd type="none" w="med" len="med"/>
            <a:tailEnd type="none" w="med" len="med"/>
          </a:ln>
        </p:spPr>
      </p:cxn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239000" y="4419600"/>
            <a:ext cx="304800" cy="304800"/>
          </a:xfrm>
          <a:prstGeom prst="rect">
            <a:avLst/>
          </a:prstGeom>
        </p:spPr>
      </p:pic>
      <p:sp>
        <p:nvSpPr>
          <p:cNvPr name="AutoShape 15" id="15"/>
          <p:cNvSpPr/>
          <p:nvPr/>
        </p:nvSpPr>
        <p:spPr>
          <a:xfrm rot="0" flipH="false" flipV="false">
            <a:off x="7620000" y="4381500"/>
            <a:ext cx="152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时长：3小时</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今天的旅程</a:t>
            </a:r>
            <a:endParaRPr lang="en-US" sz="1100"/>
          </a:p>
        </p:txBody>
      </p:sp>
      <p:graphicFrame>
        <p:nvGraphicFramePr>
          <p:cNvPr name="Table 4" id="4"/>
          <p:cNvGraphicFramePr>
            <a:graphicFrameLocks noGrp="true"/>
          </p:cNvGraphicFramePr>
          <p:nvPr/>
        </p:nvGraphicFramePr>
        <p:xfrm>
          <a:off x="762000" y="2032000"/>
          <a:ext cx="10668000" cy="4165600"/>
        </p:xfrm>
        <a:graphic>
          <a:graphicData uri="http://schemas.openxmlformats.org/drawingml/2006/table">
            <a:tbl>
              <a:tblPr>
                <a:effectLst/>
              </a:tblPr>
              <a:tblGrid>
                <a:gridCol w="1270000"/>
                <a:gridCol w="7112000"/>
                <a:gridCol w="2286000"/>
              </a:tblGrid>
              <a:tr h="508000">
                <a:tc>
                  <a:txBody>
                    <a:bodyPr anchor="t" rtlCol="false"/>
                    <a:lstStyle/>
                    <a:p>
                      <a:pPr algn="ctr" indent="0">
                        <a:lnSpc>
                          <a:spcPct val="100000"/>
                        </a:lnSpc>
                        <a:defRPr/>
                      </a:pPr>
                      <a:r>
                        <a:rPr lang="en-US" b="true" i="false" strike="noStrike" u="none" sz="1600">
                          <a:solidFill>
                            <a:srgbClr val="00BFFF"/>
                          </a:solidFill>
                          <a:latin typeface="Noto Sans SC"/>
                          <a:ea typeface="Noto Sans SC"/>
                          <a:cs typeface="Noto Sans SC"/>
                          <a:sym typeface="Noto Sans SC"/>
                        </a:rPr>
                        <a:t>模块</a:t>
                      </a:r>
                      <a:endParaRPr lang="en-US" sz="1100"/>
                    </a:p>
                  </a:txBody>
                  <a:tcPr anchor="ctr" anchorCtr="false" marL="101600" marR="101600" marT="101600" marB="101600">
                    <a:lnL>
                      <a:noFill/>
                    </a:lnL>
                    <a:lnR>
                      <a:noFill/>
                    </a:lnR>
                    <a:lnT>
                      <a:noFill/>
                    </a:lnT>
                    <a:lnB cmpd="sng" algn="ctr" cap="flat" w="25400">
                      <a:solidFill>
                        <a:srgbClr val="00BFFF"/>
                      </a:solidFill>
                      <a:prstDash val="solid"/>
                      <a:round/>
                      <a:headEnd type="none" w="med" len="med"/>
                      <a:tailEnd type="none" w="med" len="med"/>
                    </a:lnB>
                    <a:solidFill>
                      <a:srgbClr val="00BFFF">
                        <a:alpha val="20000"/>
                      </a:srgbClr>
                    </a:solidFill>
                  </a:tcPr>
                </a:tc>
                <a:tc>
                  <a:txBody>
                    <a:bodyPr anchor="t" rtlCol="false"/>
                    <a:lstStyle/>
                    <a:p>
                      <a:pPr algn="l" indent="0">
                        <a:lnSpc>
                          <a:spcPct val="100000"/>
                        </a:lnSpc>
                        <a:defRPr/>
                      </a:pPr>
                      <a:r>
                        <a:rPr lang="en-US" b="true" i="false" strike="noStrike" u="none" sz="1600">
                          <a:solidFill>
                            <a:srgbClr val="00BFFF"/>
                          </a:solidFill>
                          <a:latin typeface="Noto Sans SC"/>
                          <a:ea typeface="Noto Sans SC"/>
                          <a:cs typeface="Noto Sans SC"/>
                          <a:sym typeface="Noto Sans SC"/>
                        </a:rPr>
                        <a:t>主题内容</a:t>
                      </a:r>
                      <a:endParaRPr lang="en-US" sz="1100"/>
                    </a:p>
                  </a:txBody>
                  <a:tcPr anchor="ctr" anchorCtr="false" marL="101600" marR="101600" marT="101600" marB="101600">
                    <a:lnL>
                      <a:noFill/>
                    </a:lnL>
                    <a:lnR>
                      <a:noFill/>
                    </a:lnR>
                    <a:lnT>
                      <a:noFill/>
                    </a:lnT>
                    <a:lnB cmpd="sng" algn="ctr" cap="flat" w="25400">
                      <a:solidFill>
                        <a:srgbClr val="00BFFF"/>
                      </a:solidFill>
                      <a:prstDash val="solid"/>
                      <a:round/>
                      <a:headEnd type="none" w="med" len="med"/>
                      <a:tailEnd type="none" w="med" len="med"/>
                    </a:lnB>
                    <a:solidFill>
                      <a:srgbClr val="00BFFF">
                        <a:alpha val="20000"/>
                      </a:srgbClr>
                    </a:solidFill>
                  </a:tcPr>
                </a:tc>
                <a:tc>
                  <a:txBody>
                    <a:bodyPr anchor="t" rtlCol="false"/>
                    <a:lstStyle/>
                    <a:p>
                      <a:pPr algn="ctr" indent="0">
                        <a:lnSpc>
                          <a:spcPct val="100000"/>
                        </a:lnSpc>
                        <a:defRPr/>
                      </a:pPr>
                      <a:r>
                        <a:rPr lang="en-US" b="true" i="false" strike="noStrike" u="none" sz="1600">
                          <a:solidFill>
                            <a:srgbClr val="00BFFF"/>
                          </a:solidFill>
                          <a:latin typeface="Noto Sans SC"/>
                          <a:ea typeface="Noto Sans SC"/>
                          <a:cs typeface="Noto Sans SC"/>
                          <a:sym typeface="Noto Sans SC"/>
                        </a:rPr>
                        <a:t>时间安排</a:t>
                      </a:r>
                      <a:endParaRPr lang="en-US" sz="1100"/>
                    </a:p>
                  </a:txBody>
                  <a:tcPr anchor="ctr" anchorCtr="false" marL="101600" marR="101600" marT="101600" marB="101600">
                    <a:lnL>
                      <a:noFill/>
                    </a:lnL>
                    <a:lnR>
                      <a:noFill/>
                    </a:lnR>
                    <a:lnT>
                      <a:noFill/>
                    </a:lnT>
                    <a:lnB cmpd="sng" algn="ctr" cap="flat" w="25400">
                      <a:solidFill>
                        <a:srgbClr val="00BFFF"/>
                      </a:solidFill>
                      <a:prstDash val="solid"/>
                      <a:round/>
                      <a:headEnd type="none" w="med" len="med"/>
                      <a:tailEnd type="none" w="med" len="med"/>
                    </a:lnB>
                    <a:solidFill>
                      <a:srgbClr val="00BFFF">
                        <a:alpha val="20000"/>
                      </a:srgbClr>
                    </a:solidFill>
                  </a:tcPr>
                </a:tc>
              </a:tr>
              <a:tr h="457200">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5.1</a:t>
                      </a:r>
                      <a:endParaRPr lang="en-US" sz="1100"/>
                    </a:p>
                  </a:txBody>
                  <a:tcPr anchor="ctr" anchorCtr="false" marL="101600" marR="101600" marT="101600" marB="101600">
                    <a:lnL>
                      <a:noFill/>
                    </a:lnL>
                    <a:lnR>
                      <a:noFill/>
                    </a:lnR>
                    <a:lnT cmpd="sng" algn="ctr" cap="flat" w="25400">
                      <a:solidFill>
                        <a:srgbClr val="00B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400">
                          <a:solidFill>
                            <a:srgbClr val="FFFFFF"/>
                          </a:solidFill>
                          <a:latin typeface="Noto Sans SC"/>
                          <a:ea typeface="Noto Sans SC"/>
                          <a:cs typeface="Noto Sans SC"/>
                          <a:sym typeface="Noto Sans SC"/>
                        </a:rPr>
                        <a:t>量化交易系统架构（四层模型）</a:t>
                      </a:r>
                      <a:endParaRPr lang="en-US" sz="1100"/>
                    </a:p>
                  </a:txBody>
                  <a:tcPr anchor="ctr" anchorCtr="false" marL="101600" marR="101600" marT="101600" marB="101600">
                    <a:lnL>
                      <a:noFill/>
                    </a:lnL>
                    <a:lnR>
                      <a:noFill/>
                    </a:lnR>
                    <a:lnT cmpd="sng" algn="ctr" cap="flat" w="25400">
                      <a:solidFill>
                        <a:srgbClr val="00B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AAAAAA"/>
                          </a:solidFill>
                          <a:latin typeface="Noto Sans SC"/>
                          <a:ea typeface="Noto Sans SC"/>
                          <a:cs typeface="Noto Sans SC"/>
                          <a:sym typeface="Noto Sans SC"/>
                        </a:rPr>
                        <a:t>0:00 - 0:20</a:t>
                      </a:r>
                      <a:endParaRPr lang="en-US" sz="1100"/>
                    </a:p>
                  </a:txBody>
                  <a:tcPr anchor="ctr" anchorCtr="false" marL="101600" marR="101600" marT="101600" marB="101600">
                    <a:lnL>
                      <a:noFill/>
                    </a:lnL>
                    <a:lnR>
                      <a:noFill/>
                    </a:lnR>
                    <a:lnT cmpd="sng" algn="ctr" cap="flat" w="25400">
                      <a:solidFill>
                        <a:srgbClr val="00B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r>
              <a:tr h="457200">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5.2</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400">
                          <a:solidFill>
                            <a:srgbClr val="FFFFFF"/>
                          </a:solidFill>
                          <a:latin typeface="Noto Sans SC"/>
                          <a:ea typeface="Noto Sans SC"/>
                          <a:cs typeface="Noto Sans SC"/>
                          <a:sym typeface="Noto Sans SC"/>
                        </a:rPr>
                        <a:t>数据获取与特征工程</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AAAAAA"/>
                          </a:solidFill>
                          <a:latin typeface="Noto Sans SC"/>
                          <a:ea typeface="Noto Sans SC"/>
                          <a:cs typeface="Noto Sans SC"/>
                          <a:sym typeface="Noto Sans SC"/>
                        </a:rPr>
                        <a:t>0:20 - 0:50</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r>
              <a:tr h="457200">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5.3</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400">
                          <a:solidFill>
                            <a:srgbClr val="FFFFFF"/>
                          </a:solidFill>
                          <a:latin typeface="Noto Sans SC"/>
                          <a:ea typeface="Noto Sans SC"/>
                          <a:cs typeface="Noto Sans SC"/>
                          <a:sym typeface="Noto Sans SC"/>
                        </a:rPr>
                        <a:t>ML策略</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AAAAAA"/>
                          </a:solidFill>
                          <a:latin typeface="Noto Sans SC"/>
                          <a:ea typeface="Noto Sans SC"/>
                          <a:cs typeface="Noto Sans SC"/>
                          <a:sym typeface="Noto Sans SC"/>
                        </a:rPr>
                        <a:t>0:50 - 1:15</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r>
              <a:tr h="457200">
                <a:tc>
                  <a:txBody>
                    <a:bodyPr anchor="t" rtlCol="false"/>
                    <a:lstStyle/>
                    <a:p>
                      <a:pPr algn="ctr" indent="0">
                        <a:lnSpc>
                          <a:spcPct val="100000"/>
                        </a:lnSpc>
                        <a:defRPr/>
                      </a:pPr>
                      <a:r>
                        <a:rPr lang="en-US" b="false" i="false" strike="noStrike" u="none" sz="1400">
                          <a:solidFill>
                            <a:srgbClr val="AAAAAA"/>
                          </a:solidFill>
                          <a:latin typeface="Noto Sans SC"/>
                          <a:ea typeface="Noto Sans SC"/>
                          <a:cs typeface="Noto Sans SC"/>
                          <a:sym typeface="Noto Sans SC"/>
                        </a:rPr>
                        <a:t>--</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400">
                          <a:solidFill>
                            <a:srgbClr val="AAAAAA"/>
                          </a:solidFill>
                          <a:latin typeface="Noto Sans SC"/>
                          <a:ea typeface="Noto Sans SC"/>
                          <a:cs typeface="Noto Sans SC"/>
                          <a:sym typeface="Noto Sans SC"/>
                        </a:rPr>
                        <a:t>休息</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AAAAAA"/>
                          </a:solidFill>
                          <a:latin typeface="Noto Sans SC"/>
                          <a:ea typeface="Noto Sans SC"/>
                          <a:cs typeface="Noto Sans SC"/>
                          <a:sym typeface="Noto Sans SC"/>
                        </a:rPr>
                        <a:t>1:15 - 1:25</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r>
              <a:tr h="457200">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5.4</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400">
                          <a:solidFill>
                            <a:srgbClr val="FFFFFF"/>
                          </a:solidFill>
                          <a:latin typeface="Noto Sans SC"/>
                          <a:ea typeface="Noto Sans SC"/>
                          <a:cs typeface="Noto Sans SC"/>
                          <a:sym typeface="Noto Sans SC"/>
                        </a:rPr>
                        <a:t>网格策略</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AAAAAA"/>
                          </a:solidFill>
                          <a:latin typeface="Noto Sans SC"/>
                          <a:ea typeface="Noto Sans SC"/>
                          <a:cs typeface="Noto Sans SC"/>
                          <a:sym typeface="Noto Sans SC"/>
                        </a:rPr>
                        <a:t>1:25 - 1:50</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r>
              <a:tr h="457200">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5.5</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400">
                          <a:solidFill>
                            <a:srgbClr val="FFFFFF"/>
                          </a:solidFill>
                          <a:latin typeface="Noto Sans SC"/>
                          <a:ea typeface="Noto Sans SC"/>
                          <a:cs typeface="Noto Sans SC"/>
                          <a:sym typeface="Noto Sans SC"/>
                        </a:rPr>
                        <a:t>风险管理（核心！）</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AAAAAA"/>
                          </a:solidFill>
                          <a:latin typeface="Noto Sans SC"/>
                          <a:ea typeface="Noto Sans SC"/>
                          <a:cs typeface="Noto Sans SC"/>
                          <a:sym typeface="Noto Sans SC"/>
                        </a:rPr>
                        <a:t>1:50 - 2:25</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r>
              <a:tr h="457200">
                <a:tc>
                  <a:txBody>
                    <a:bodyPr anchor="t" rtlCol="false"/>
                    <a:lstStyle/>
                    <a:p>
                      <a:pPr algn="ctr" indent="0">
                        <a:lnSpc>
                          <a:spcPct val="100000"/>
                        </a:lnSpc>
                        <a:defRPr/>
                      </a:pPr>
                      <a:r>
                        <a:rPr lang="en-US" b="false" i="false" strike="noStrike" u="none" sz="1400">
                          <a:solidFill>
                            <a:srgbClr val="AAAAAA"/>
                          </a:solidFill>
                          <a:latin typeface="Noto Sans SC"/>
                          <a:ea typeface="Noto Sans SC"/>
                          <a:cs typeface="Noto Sans SC"/>
                          <a:sym typeface="Noto Sans SC"/>
                        </a:rPr>
                        <a:t>--</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400">
                          <a:solidFill>
                            <a:srgbClr val="AAAAAA"/>
                          </a:solidFill>
                          <a:latin typeface="Noto Sans SC"/>
                          <a:ea typeface="Noto Sans SC"/>
                          <a:cs typeface="Noto Sans SC"/>
                          <a:sym typeface="Noto Sans SC"/>
                        </a:rPr>
                        <a:t>练习：添加连续亏损保护规则</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AAAAAA"/>
                          </a:solidFill>
                          <a:latin typeface="Noto Sans SC"/>
                          <a:ea typeface="Noto Sans SC"/>
                          <a:cs typeface="Noto Sans SC"/>
                          <a:sym typeface="Noto Sans SC"/>
                        </a:rPr>
                        <a:t>2:25 - 2:50</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r>
              <a:tr h="457200">
                <a:tc>
                  <a:txBody>
                    <a:bodyPr anchor="t" rtlCol="false"/>
                    <a:lstStyle/>
                    <a:p>
                      <a:pPr algn="ctr" indent="0">
                        <a:lnSpc>
                          <a:spcPct val="100000"/>
                        </a:lnSpc>
                        <a:defRPr/>
                      </a:pPr>
                      <a:r>
                        <a:rPr lang="en-US" b="false" i="false" strike="noStrike" u="none" sz="1400">
                          <a:solidFill>
                            <a:srgbClr val="AAAAAA"/>
                          </a:solidFill>
                          <a:latin typeface="Noto Sans SC"/>
                          <a:ea typeface="Noto Sans SC"/>
                          <a:cs typeface="Noto Sans SC"/>
                          <a:sym typeface="Noto Sans SC"/>
                        </a:rPr>
                        <a:t>--</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400">
                          <a:solidFill>
                            <a:srgbClr val="AAAAAA"/>
                          </a:solidFill>
                          <a:latin typeface="Noto Sans SC"/>
                          <a:ea typeface="Noto Sans SC"/>
                          <a:cs typeface="Noto Sans SC"/>
                          <a:sym typeface="Noto Sans SC"/>
                        </a:rPr>
                        <a:t>总结</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AAAAAA"/>
                          </a:solidFill>
                          <a:latin typeface="Noto Sans SC"/>
                          <a:ea typeface="Noto Sans SC"/>
                          <a:cs typeface="Noto Sans SC"/>
                          <a:sym typeface="Noto Sans SC"/>
                        </a:rPr>
                        <a:t>2:50 - 3:00</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r>
            </a:tbl>
          </a:graphicData>
        </a:graphic>
      </p:graphicFrame>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如果AI可以自动花你的钱...</a:t>
            </a:r>
            <a:endParaRPr lang="en-US" sz="1100"/>
          </a:p>
        </p:txBody>
      </p:sp>
      <p:sp>
        <p:nvSpPr>
          <p:cNvPr name="AutoShape 4" id="4"/>
          <p:cNvSpPr/>
          <p:nvPr/>
        </p:nvSpPr>
        <p:spPr>
          <a:xfrm rot="0" flipH="false" flipV="false">
            <a:off x="762000" y="18415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alpha val="80000"/>
                  </a:srgbClr>
                </a:solidFill>
                <a:latin typeface="Noto Sans SC"/>
                <a:ea typeface="Noto Sans SC"/>
                <a:cs typeface="Noto Sans SC"/>
                <a:sym typeface="Noto Sans SC"/>
              </a:rPr>
              <a:t>面对AI的自动决策能力，你最担心的场景是什么？</a:t>
            </a:r>
            <a:endParaRPr lang="en-US" sz="1100"/>
          </a:p>
        </p:txBody>
      </p:sp>
      <p:sp>
        <p:nvSpPr>
          <p:cNvPr name="AutoShape 5" id="5"/>
          <p:cNvSpPr/>
          <p:nvPr/>
        </p:nvSpPr>
        <p:spPr>
          <a:xfrm rot="0" flipH="false" flipV="false">
            <a:off x="762000" y="2413000"/>
            <a:ext cx="3302000" cy="2032000"/>
          </a:xfrm>
          <a:prstGeom prst="roundRect">
            <a:avLst>
              <a:gd name="adj" fmla="val 625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667000"/>
            <a:ext cx="609600" cy="609600"/>
          </a:xfrm>
          <a:prstGeom prst="rect">
            <a:avLst/>
          </a:prstGeom>
        </p:spPr>
      </p:pic>
      <p:sp>
        <p:nvSpPr>
          <p:cNvPr name="AutoShape 7" id="7"/>
          <p:cNvSpPr/>
          <p:nvPr/>
        </p:nvSpPr>
        <p:spPr>
          <a:xfrm rot="0" flipH="false" flipV="false">
            <a:off x="1016000" y="33655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自动交易</a:t>
            </a:r>
            <a:endParaRPr lang="en-US" sz="1100"/>
          </a:p>
        </p:txBody>
      </p:sp>
      <p:sp>
        <p:nvSpPr>
          <p:cNvPr name="AutoShape 8" id="8"/>
          <p:cNvSpPr/>
          <p:nvPr/>
        </p:nvSpPr>
        <p:spPr>
          <a:xfrm rot="0" flipH="false" flipV="false">
            <a:off x="1016000" y="3746500"/>
            <a:ext cx="279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60000"/>
                  </a:srgbClr>
                </a:solidFill>
                <a:latin typeface="Noto Sans SC"/>
                <a:ea typeface="Noto Sans SC"/>
                <a:cs typeface="Noto Sans SC"/>
                <a:sym typeface="Noto Sans SC"/>
              </a:rPr>
              <a:t>算法误判导致的资金损失风险</a:t>
            </a:r>
            <a:endParaRPr lang="en-US" sz="1100"/>
          </a:p>
        </p:txBody>
      </p:sp>
      <p:sp>
        <p:nvSpPr>
          <p:cNvPr name="AutoShape 9" id="9"/>
          <p:cNvSpPr/>
          <p:nvPr/>
        </p:nvSpPr>
        <p:spPr>
          <a:xfrm rot="0" flipH="false" flipV="false">
            <a:off x="4445000" y="2413000"/>
            <a:ext cx="3302000" cy="2032000"/>
          </a:xfrm>
          <a:prstGeom prst="roundRect">
            <a:avLst>
              <a:gd name="adj" fmla="val 625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99000" y="2667000"/>
            <a:ext cx="609600" cy="609600"/>
          </a:xfrm>
          <a:prstGeom prst="rect">
            <a:avLst/>
          </a:prstGeom>
        </p:spPr>
      </p:pic>
      <p:sp>
        <p:nvSpPr>
          <p:cNvPr name="AutoShape 11" id="11"/>
          <p:cNvSpPr/>
          <p:nvPr/>
        </p:nvSpPr>
        <p:spPr>
          <a:xfrm rot="0" flipH="false" flipV="false">
            <a:off x="4699000" y="33655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自动发邮件</a:t>
            </a:r>
            <a:endParaRPr lang="en-US" sz="1100"/>
          </a:p>
        </p:txBody>
      </p:sp>
      <p:sp>
        <p:nvSpPr>
          <p:cNvPr name="AutoShape 12" id="12"/>
          <p:cNvSpPr/>
          <p:nvPr/>
        </p:nvSpPr>
        <p:spPr>
          <a:xfrm rot="0" flipH="false" flipV="false">
            <a:off x="4699000" y="3746500"/>
            <a:ext cx="279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60000"/>
                  </a:srgbClr>
                </a:solidFill>
                <a:latin typeface="Noto Sans SC"/>
                <a:ea typeface="Noto Sans SC"/>
                <a:cs typeface="Noto Sans SC"/>
                <a:sym typeface="Noto Sans SC"/>
              </a:rPr>
              <a:t>隐私泄露或发送不当内容的风险</a:t>
            </a:r>
            <a:endParaRPr lang="en-US" sz="1100"/>
          </a:p>
        </p:txBody>
      </p:sp>
      <p:sp>
        <p:nvSpPr>
          <p:cNvPr name="AutoShape 13" id="13"/>
          <p:cNvSpPr/>
          <p:nvPr/>
        </p:nvSpPr>
        <p:spPr>
          <a:xfrm rot="0" flipH="false" flipV="false">
            <a:off x="8128000" y="2413000"/>
            <a:ext cx="3302000" cy="2032000"/>
          </a:xfrm>
          <a:prstGeom prst="roundRect">
            <a:avLst>
              <a:gd name="adj" fmla="val 625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82000" y="2667000"/>
            <a:ext cx="609600" cy="609600"/>
          </a:xfrm>
          <a:prstGeom prst="rect">
            <a:avLst/>
          </a:prstGeom>
        </p:spPr>
      </p:pic>
      <p:sp>
        <p:nvSpPr>
          <p:cNvPr name="AutoShape 15" id="15"/>
          <p:cNvSpPr/>
          <p:nvPr/>
        </p:nvSpPr>
        <p:spPr>
          <a:xfrm rot="0" flipH="false" flipV="false">
            <a:off x="8382000" y="33655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自动部署</a:t>
            </a:r>
            <a:endParaRPr lang="en-US" sz="1100"/>
          </a:p>
        </p:txBody>
      </p:sp>
      <p:sp>
        <p:nvSpPr>
          <p:cNvPr name="AutoShape 16" id="16"/>
          <p:cNvSpPr/>
          <p:nvPr/>
        </p:nvSpPr>
        <p:spPr>
          <a:xfrm rot="0" flipH="false" flipV="false">
            <a:off x="8382000" y="3746500"/>
            <a:ext cx="279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60000"/>
                  </a:srgbClr>
                </a:solidFill>
                <a:latin typeface="Noto Sans SC"/>
                <a:ea typeface="Noto Sans SC"/>
                <a:cs typeface="Noto Sans SC"/>
                <a:sym typeface="Noto Sans SC"/>
              </a:rPr>
              <a:t>程序Bug导致系统崩溃的风险</a:t>
            </a:r>
            <a:endParaRPr lang="en-US" sz="1100"/>
          </a:p>
        </p:txBody>
      </p:sp>
      <p:sp>
        <p:nvSpPr>
          <p:cNvPr name="AutoShape 17" id="17"/>
          <p:cNvSpPr/>
          <p:nvPr/>
        </p:nvSpPr>
        <p:spPr>
          <a:xfrm rot="0" flipH="false" flipV="false">
            <a:off x="762000" y="4826000"/>
            <a:ext cx="10668000" cy="1016000"/>
          </a:xfrm>
          <a:prstGeom prst="roundRect">
            <a:avLst>
              <a:gd name="adj" fmla="val 12500"/>
            </a:avLst>
          </a:prstGeom>
          <a:solidFill>
            <a:srgbClr val="00BFFF">
              <a:alpha val="15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16000" y="5130800"/>
            <a:ext cx="406400" cy="406400"/>
          </a:xfrm>
          <a:prstGeom prst="rect">
            <a:avLst/>
          </a:prstGeom>
        </p:spPr>
      </p:pic>
      <p:sp>
        <p:nvSpPr>
          <p:cNvPr name="AutoShape 19" id="19"/>
          <p:cNvSpPr/>
          <p:nvPr/>
        </p:nvSpPr>
        <p:spPr>
          <a:xfrm rot="0" flipH="false" flipV="false">
            <a:off x="1524000" y="5080000"/>
            <a:ext cx="965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核心思考：在完全自动化和完全手动之间，如何找到平衡点？</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F172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762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四层架构模型</a:t>
            </a:r>
            <a:endParaRPr lang="en-US" sz="1100"/>
          </a:p>
        </p:txBody>
      </p:sp>
      <p:sp>
        <p:nvSpPr>
          <p:cNvPr name="AutoShape 4" id="4"/>
          <p:cNvSpPr/>
          <p:nvPr/>
        </p:nvSpPr>
        <p:spPr>
          <a:xfrm rot="0" flipH="false" flipV="false">
            <a:off x="762000" y="14605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alpha val="80000"/>
                  </a:srgbClr>
                </a:solidFill>
                <a:latin typeface="Noto Sans SC"/>
                <a:ea typeface="Noto Sans SC"/>
                <a:cs typeface="Noto Sans SC"/>
                <a:sym typeface="Noto Sans SC"/>
              </a:rPr>
              <a:t>模块 5.1 -- 量化交易系统架构</a:t>
            </a:r>
            <a:endParaRPr lang="en-US" sz="1100"/>
          </a:p>
        </p:txBody>
      </p:sp>
      <p:sp>
        <p:nvSpPr>
          <p:cNvPr name="AutoShape 5" id="5"/>
          <p:cNvSpPr/>
          <p:nvPr/>
        </p:nvSpPr>
        <p:spPr>
          <a:xfrm rot="0" flipH="false" flipV="false">
            <a:off x="762000" y="2159000"/>
            <a:ext cx="2476500" cy="2794000"/>
          </a:xfrm>
          <a:prstGeom prst="roundRect">
            <a:avLst>
              <a:gd name="adj" fmla="val 5128"/>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689100" y="2413000"/>
            <a:ext cx="609600" cy="609600"/>
          </a:xfrm>
          <a:prstGeom prst="rect">
            <a:avLst/>
          </a:prstGeom>
        </p:spPr>
      </p:pic>
      <p:sp>
        <p:nvSpPr>
          <p:cNvPr name="AutoShape 7" id="7"/>
          <p:cNvSpPr/>
          <p:nvPr/>
        </p:nvSpPr>
        <p:spPr>
          <a:xfrm rot="0" flipH="false" flipV="false">
            <a:off x="889000" y="3111500"/>
            <a:ext cx="22225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FFFFFF"/>
                </a:solidFill>
                <a:latin typeface="Noto Sans SC"/>
                <a:ea typeface="Noto Sans SC"/>
                <a:cs typeface="Noto Sans SC"/>
                <a:sym typeface="Noto Sans SC"/>
              </a:rPr>
              <a:t>数据层</a:t>
            </a:r>
            <a:endParaRPr lang="en-US" sz="1100"/>
          </a:p>
        </p:txBody>
      </p:sp>
      <p:sp>
        <p:nvSpPr>
          <p:cNvPr name="AutoShape 8" id="8"/>
          <p:cNvSpPr/>
          <p:nvPr/>
        </p:nvSpPr>
        <p:spPr>
          <a:xfrm rot="0" flipH="false" flipV="false">
            <a:off x="889000" y="3556000"/>
            <a:ext cx="22225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400">
                <a:solidFill>
                  <a:srgbClr val="FFFFFF">
                    <a:alpha val="70196"/>
                  </a:srgbClr>
                </a:solidFill>
                <a:latin typeface="Noto Sans SC"/>
                <a:ea typeface="Noto Sans SC"/>
                <a:cs typeface="Noto Sans SC"/>
                <a:sym typeface="Noto Sans SC"/>
              </a:rPr>
              <a:t>负责市场数据的获取、清洗与存储，为策略提供高质量数据源。</a:t>
            </a:r>
            <a:endParaRPr lang="en-US" sz="1100"/>
          </a:p>
        </p:txBody>
      </p:sp>
      <p:sp>
        <p:nvSpPr>
          <p:cNvPr name="AutoShape 9" id="9"/>
          <p:cNvSpPr/>
          <p:nvPr/>
        </p:nvSpPr>
        <p:spPr>
          <a:xfrm rot="0" flipH="false" flipV="false">
            <a:off x="3492500" y="2159000"/>
            <a:ext cx="2476500" cy="2794000"/>
          </a:xfrm>
          <a:prstGeom prst="roundRect">
            <a:avLst>
              <a:gd name="adj" fmla="val 5128"/>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419600" y="2413000"/>
            <a:ext cx="609600" cy="609600"/>
          </a:xfrm>
          <a:prstGeom prst="rect">
            <a:avLst/>
          </a:prstGeom>
        </p:spPr>
      </p:pic>
      <p:sp>
        <p:nvSpPr>
          <p:cNvPr name="AutoShape 11" id="11"/>
          <p:cNvSpPr/>
          <p:nvPr/>
        </p:nvSpPr>
        <p:spPr>
          <a:xfrm rot="0" flipH="false" flipV="false">
            <a:off x="3619500" y="3111500"/>
            <a:ext cx="22225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FFFFFF"/>
                </a:solidFill>
                <a:latin typeface="Noto Sans SC"/>
                <a:ea typeface="Noto Sans SC"/>
                <a:cs typeface="Noto Sans SC"/>
                <a:sym typeface="Noto Sans SC"/>
              </a:rPr>
              <a:t>策略层</a:t>
            </a:r>
            <a:endParaRPr lang="en-US" sz="1100"/>
          </a:p>
        </p:txBody>
      </p:sp>
      <p:sp>
        <p:nvSpPr>
          <p:cNvPr name="AutoShape 12" id="12"/>
          <p:cNvSpPr/>
          <p:nvPr/>
        </p:nvSpPr>
        <p:spPr>
          <a:xfrm rot="0" flipH="false" flipV="false">
            <a:off x="3619500" y="3556000"/>
            <a:ext cx="22225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400">
                <a:solidFill>
                  <a:srgbClr val="FFFFFF">
                    <a:alpha val="70196"/>
                  </a:srgbClr>
                </a:solidFill>
                <a:latin typeface="Noto Sans SC"/>
                <a:ea typeface="Noto Sans SC"/>
                <a:cs typeface="Noto Sans SC"/>
                <a:sym typeface="Noto Sans SC"/>
              </a:rPr>
              <a:t>核心逻辑层，基于数据进行分析、回测与信号生成，输出交易指令。</a:t>
            </a:r>
            <a:endParaRPr lang="en-US" sz="1100"/>
          </a:p>
        </p:txBody>
      </p:sp>
      <p:sp>
        <p:nvSpPr>
          <p:cNvPr name="AutoShape 13" id="13"/>
          <p:cNvSpPr/>
          <p:nvPr/>
        </p:nvSpPr>
        <p:spPr>
          <a:xfrm rot="0" flipH="false" flipV="false">
            <a:off x="6223000" y="2159000"/>
            <a:ext cx="2476500" cy="2794000"/>
          </a:xfrm>
          <a:prstGeom prst="roundRect">
            <a:avLst>
              <a:gd name="adj" fmla="val 5128"/>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150100" y="2413000"/>
            <a:ext cx="609600" cy="609600"/>
          </a:xfrm>
          <a:prstGeom prst="rect">
            <a:avLst/>
          </a:prstGeom>
        </p:spPr>
      </p:pic>
      <p:sp>
        <p:nvSpPr>
          <p:cNvPr name="AutoShape 15" id="15"/>
          <p:cNvSpPr/>
          <p:nvPr/>
        </p:nvSpPr>
        <p:spPr>
          <a:xfrm rot="0" flipH="false" flipV="false">
            <a:off x="6350000" y="3111500"/>
            <a:ext cx="22225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FFFFFF"/>
                </a:solidFill>
                <a:latin typeface="Noto Sans SC"/>
                <a:ea typeface="Noto Sans SC"/>
                <a:cs typeface="Noto Sans SC"/>
                <a:sym typeface="Noto Sans SC"/>
              </a:rPr>
              <a:t>执行层</a:t>
            </a:r>
            <a:endParaRPr lang="en-US" sz="1100"/>
          </a:p>
        </p:txBody>
      </p:sp>
      <p:sp>
        <p:nvSpPr>
          <p:cNvPr name="AutoShape 16" id="16"/>
          <p:cNvSpPr/>
          <p:nvPr/>
        </p:nvSpPr>
        <p:spPr>
          <a:xfrm rot="0" flipH="false" flipV="false">
            <a:off x="6350000" y="3556000"/>
            <a:ext cx="22225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400">
                <a:solidFill>
                  <a:srgbClr val="FFFFFF">
                    <a:alpha val="70196"/>
                  </a:srgbClr>
                </a:solidFill>
                <a:latin typeface="Noto Sans SC"/>
                <a:ea typeface="Noto Sans SC"/>
                <a:cs typeface="Noto Sans SC"/>
                <a:sym typeface="Noto Sans SC"/>
              </a:rPr>
              <a:t>负责订单路由、算法交易执行及成交回报处理，确保交易精准落地。</a:t>
            </a:r>
            <a:endParaRPr lang="en-US" sz="1100"/>
          </a:p>
        </p:txBody>
      </p:sp>
      <p:sp>
        <p:nvSpPr>
          <p:cNvPr name="AutoShape 17" id="17"/>
          <p:cNvSpPr/>
          <p:nvPr/>
        </p:nvSpPr>
        <p:spPr>
          <a:xfrm rot="0" flipH="false" flipV="false">
            <a:off x="8953500" y="2159000"/>
            <a:ext cx="2476500" cy="2794000"/>
          </a:xfrm>
          <a:prstGeom prst="roundRect">
            <a:avLst>
              <a:gd name="adj" fmla="val 5128"/>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880600" y="2413000"/>
            <a:ext cx="609600" cy="609600"/>
          </a:xfrm>
          <a:prstGeom prst="rect">
            <a:avLst/>
          </a:prstGeom>
        </p:spPr>
      </p:pic>
      <p:sp>
        <p:nvSpPr>
          <p:cNvPr name="AutoShape 19" id="19"/>
          <p:cNvSpPr/>
          <p:nvPr/>
        </p:nvSpPr>
        <p:spPr>
          <a:xfrm rot="0" flipH="false" flipV="false">
            <a:off x="9080500" y="3111500"/>
            <a:ext cx="22225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FFFFFF"/>
                </a:solidFill>
                <a:latin typeface="Noto Sans SC"/>
                <a:ea typeface="Noto Sans SC"/>
                <a:cs typeface="Noto Sans SC"/>
                <a:sym typeface="Noto Sans SC"/>
              </a:rPr>
              <a:t>监控层</a:t>
            </a:r>
            <a:endParaRPr lang="en-US" sz="1100"/>
          </a:p>
        </p:txBody>
      </p:sp>
      <p:sp>
        <p:nvSpPr>
          <p:cNvPr name="AutoShape 20" id="20"/>
          <p:cNvSpPr/>
          <p:nvPr/>
        </p:nvSpPr>
        <p:spPr>
          <a:xfrm rot="0" flipH="false" flipV="false">
            <a:off x="9080500" y="3556000"/>
            <a:ext cx="22225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400">
                <a:solidFill>
                  <a:srgbClr val="FFFFFF">
                    <a:alpha val="70196"/>
                  </a:srgbClr>
                </a:solidFill>
                <a:latin typeface="Noto Sans SC"/>
                <a:ea typeface="Noto Sans SC"/>
                <a:cs typeface="Noto Sans SC"/>
                <a:sym typeface="Noto Sans SC"/>
              </a:rPr>
              <a:t>全链路实时监控，包括策略表现、风险指标及系统健康状态。</a:t>
            </a:r>
            <a:endParaRPr lang="en-US" sz="1100"/>
          </a:p>
        </p:txBody>
      </p:sp>
      <p:sp>
        <p:nvSpPr>
          <p:cNvPr name="AutoShape 21" id="21"/>
          <p:cNvSpPr/>
          <p:nvPr/>
        </p:nvSpPr>
        <p:spPr>
          <a:xfrm rot="0" flipH="false" flipV="false">
            <a:off x="762000" y="5207000"/>
            <a:ext cx="10668000" cy="762000"/>
          </a:xfrm>
          <a:prstGeom prst="roundRect">
            <a:avLst>
              <a:gd name="adj" fmla="val 16666"/>
            </a:avLst>
          </a:prstGeom>
          <a:solidFill>
            <a:srgbClr val="00BFFF">
              <a:alpha val="10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1016000" y="5435600"/>
            <a:ext cx="304800" cy="304800"/>
          </a:xfrm>
          <a:prstGeom prst="rect">
            <a:avLst/>
          </a:prstGeom>
        </p:spPr>
      </p:pic>
      <p:sp>
        <p:nvSpPr>
          <p:cNvPr name="AutoShape 23" id="23"/>
          <p:cNvSpPr/>
          <p:nvPr/>
        </p:nvSpPr>
        <p:spPr>
          <a:xfrm rot="0" flipH="false" flipV="false">
            <a:off x="1397000" y="5359400"/>
            <a:ext cx="965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BFFF"/>
                </a:solidFill>
                <a:latin typeface="Noto Sans SC"/>
                <a:ea typeface="Noto Sans SC"/>
                <a:cs typeface="Noto Sans SC"/>
                <a:sym typeface="Noto Sans SC"/>
              </a:rPr>
              <a:t>设计原则：</a:t>
            </a:r>
            <a:r>
              <a:rPr lang="en-US" b="false" i="false" strike="noStrike" u="none" sz="1600">
                <a:solidFill>
                  <a:srgbClr val="FFFFFF"/>
                </a:solidFill>
                <a:latin typeface="Noto Sans SC"/>
                <a:ea typeface="Noto Sans SC"/>
                <a:cs typeface="Noto Sans SC"/>
                <a:sym typeface="Noto Sans SC"/>
              </a:rPr>
              <a:t>分层解耦，每层只与相邻层交互，确保系统的灵活性与可维护性。</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F172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F17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四层架构全景图</a:t>
            </a:r>
            <a:endParaRPr lang="en-US" sz="1100"/>
          </a:p>
        </p:txBody>
      </p:sp>
      <p:sp>
        <p:nvSpPr>
          <p:cNvPr name="AutoShape 4" id="4"/>
          <p:cNvSpPr/>
          <p:nvPr/>
        </p:nvSpPr>
        <p:spPr>
          <a:xfrm rot="0" flipH="false" flipV="false">
            <a:off x="762000" y="1524000"/>
            <a:ext cx="10668000" cy="1143000"/>
          </a:xfrm>
          <a:prstGeom prst="roundRect">
            <a:avLst>
              <a:gd name="adj" fmla="val 11111"/>
            </a:avLst>
          </a:prstGeom>
          <a:solidFill>
            <a:srgbClr val="1E293B">
              <a:alpha val="6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714500"/>
            <a:ext cx="406400" cy="406400"/>
          </a:xfrm>
          <a:prstGeom prst="rect">
            <a:avLst/>
          </a:prstGeom>
        </p:spPr>
      </p:pic>
      <p:sp>
        <p:nvSpPr>
          <p:cNvPr name="AutoShape 6" id="6"/>
          <p:cNvSpPr/>
          <p:nvPr/>
        </p:nvSpPr>
        <p:spPr>
          <a:xfrm rot="0" flipH="false" flipV="false">
            <a:off x="1524000" y="1714500"/>
            <a:ext cx="190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数据层 Data Layer</a:t>
            </a:r>
            <a:endParaRPr lang="en-US" sz="1100"/>
          </a:p>
        </p:txBody>
      </p:sp>
      <p:sp>
        <p:nvSpPr>
          <p:cNvPr name="AutoShape 7" id="7"/>
          <p:cNvSpPr/>
          <p:nvPr/>
        </p:nvSpPr>
        <p:spPr>
          <a:xfrm rot="0" flipH="false" flipV="false">
            <a:off x="1524000" y="20955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E2E8F0">
                    <a:alpha val="80000"/>
                  </a:srgbClr>
                </a:solidFill>
                <a:latin typeface="Noto Sans SC"/>
                <a:ea typeface="Noto Sans SC"/>
                <a:cs typeface="Noto Sans SC"/>
                <a:sym typeface="Noto Sans SC"/>
              </a:rPr>
              <a:t>核心组件：币安API接口（行情/账户/订单） | 本地数据缓存（SQLite） | 特征存储</a:t>
            </a:r>
            <a:endParaRPr lang="en-US" sz="1100"/>
          </a:p>
        </p:txBody>
      </p:sp>
      <p:sp>
        <p:nvSpPr>
          <p:cNvPr name="AutoShape 8" id="8"/>
          <p:cNvSpPr/>
          <p:nvPr/>
        </p:nvSpPr>
        <p:spPr>
          <a:xfrm rot="0" flipH="false" flipV="false">
            <a:off x="762000" y="2794000"/>
            <a:ext cx="10668000" cy="1143000"/>
          </a:xfrm>
          <a:prstGeom prst="roundRect">
            <a:avLst>
              <a:gd name="adj" fmla="val 11111"/>
            </a:avLst>
          </a:prstGeom>
          <a:solidFill>
            <a:srgbClr val="1E293B">
              <a:alpha val="6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2984500"/>
            <a:ext cx="406400" cy="406400"/>
          </a:xfrm>
          <a:prstGeom prst="rect">
            <a:avLst/>
          </a:prstGeom>
        </p:spPr>
      </p:pic>
      <p:sp>
        <p:nvSpPr>
          <p:cNvPr name="AutoShape 10" id="10"/>
          <p:cNvSpPr/>
          <p:nvPr/>
        </p:nvSpPr>
        <p:spPr>
          <a:xfrm rot="0" flipH="false" flipV="false">
            <a:off x="1524000" y="2984500"/>
            <a:ext cx="190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策略层 Strategy Layer</a:t>
            </a:r>
            <a:endParaRPr lang="en-US" sz="1100"/>
          </a:p>
        </p:txBody>
      </p:sp>
      <p:sp>
        <p:nvSpPr>
          <p:cNvPr name="AutoShape 11" id="11"/>
          <p:cNvSpPr/>
          <p:nvPr/>
        </p:nvSpPr>
        <p:spPr>
          <a:xfrm rot="0" flipH="false" flipV="false">
            <a:off x="1524000" y="3365500"/>
            <a:ext cx="2286000" cy="457200"/>
          </a:xfrm>
          <a:prstGeom prst="roundRect">
            <a:avLst>
              <a:gd name="adj" fmla="val 13888"/>
            </a:avLst>
          </a:prstGeom>
          <a:solidFill>
            <a:srgbClr val="00BFFF">
              <a:alpha val="15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solidFill>
                <a:latin typeface="Noto Sans SC"/>
                <a:ea typeface="Noto Sans SC"/>
                <a:cs typeface="Noto Sans SC"/>
                <a:sym typeface="Noto Sans SC"/>
              </a:rPr>
              <a:t>ML策略 (随机森林)</a:t>
            </a:r>
            <a:endParaRPr lang="en-US" sz="1100"/>
          </a:p>
        </p:txBody>
      </p:sp>
      <p:sp>
        <p:nvSpPr>
          <p:cNvPr name="AutoShape 12" id="12"/>
          <p:cNvSpPr/>
          <p:nvPr/>
        </p:nvSpPr>
        <p:spPr>
          <a:xfrm rot="0" flipH="false" flipV="false">
            <a:off x="3937000" y="3365500"/>
            <a:ext cx="2286000" cy="457200"/>
          </a:xfrm>
          <a:prstGeom prst="roundRect">
            <a:avLst>
              <a:gd name="adj" fmla="val 13888"/>
            </a:avLst>
          </a:prstGeom>
          <a:solidFill>
            <a:srgbClr val="00BFFF">
              <a:alpha val="15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solidFill>
                <a:latin typeface="Noto Sans SC"/>
                <a:ea typeface="Noto Sans SC"/>
                <a:cs typeface="Noto Sans SC"/>
                <a:sym typeface="Noto Sans SC"/>
              </a:rPr>
              <a:t>网格策略 (动态挂单)</a:t>
            </a:r>
            <a:endParaRPr lang="en-US" sz="1100"/>
          </a:p>
        </p:txBody>
      </p:sp>
      <p:sp>
        <p:nvSpPr>
          <p:cNvPr name="AutoShape 13" id="13"/>
          <p:cNvSpPr/>
          <p:nvPr/>
        </p:nvSpPr>
        <p:spPr>
          <a:xfrm rot="0" flipH="false" flipV="false">
            <a:off x="6350000" y="3365500"/>
            <a:ext cx="2286000" cy="457200"/>
          </a:xfrm>
          <a:prstGeom prst="roundRect">
            <a:avLst>
              <a:gd name="adj" fmla="val 13888"/>
            </a:avLst>
          </a:prstGeom>
          <a:solidFill>
            <a:srgbClr val="00BFFF">
              <a:alpha val="15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solidFill>
                <a:latin typeface="Noto Sans SC"/>
                <a:ea typeface="Noto Sans SC"/>
                <a:cs typeface="Noto Sans SC"/>
                <a:sym typeface="Noto Sans SC"/>
              </a:rPr>
              <a:t>风控模块 (熔断机制)</a:t>
            </a:r>
            <a:endParaRPr lang="en-US" sz="1100"/>
          </a:p>
        </p:txBody>
      </p:sp>
      <p:sp>
        <p:nvSpPr>
          <p:cNvPr name="AutoShape 14" id="14"/>
          <p:cNvSpPr/>
          <p:nvPr/>
        </p:nvSpPr>
        <p:spPr>
          <a:xfrm rot="0" flipH="false" flipV="false">
            <a:off x="762000" y="4064000"/>
            <a:ext cx="10668000" cy="1143000"/>
          </a:xfrm>
          <a:prstGeom prst="roundRect">
            <a:avLst>
              <a:gd name="adj" fmla="val 11111"/>
            </a:avLst>
          </a:prstGeom>
          <a:solidFill>
            <a:srgbClr val="1E293B">
              <a:alpha val="6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4254500"/>
            <a:ext cx="406400" cy="406400"/>
          </a:xfrm>
          <a:prstGeom prst="rect">
            <a:avLst/>
          </a:prstGeom>
        </p:spPr>
      </p:pic>
      <p:sp>
        <p:nvSpPr>
          <p:cNvPr name="AutoShape 16" id="16"/>
          <p:cNvSpPr/>
          <p:nvPr/>
        </p:nvSpPr>
        <p:spPr>
          <a:xfrm rot="0" flipH="false" flipV="false">
            <a:off x="1524000" y="4254500"/>
            <a:ext cx="190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执行层 Execution Layer</a:t>
            </a:r>
            <a:endParaRPr lang="en-US" sz="1100"/>
          </a:p>
        </p:txBody>
      </p:sp>
      <p:sp>
        <p:nvSpPr>
          <p:cNvPr name="AutoShape 17" id="17"/>
          <p:cNvSpPr/>
          <p:nvPr/>
        </p:nvSpPr>
        <p:spPr>
          <a:xfrm rot="0" flipH="false" flipV="false">
            <a:off x="1524000" y="46355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E2E8F0">
                    <a:alpha val="80000"/>
                  </a:srgbClr>
                </a:solidFill>
                <a:latin typeface="Noto Sans SC"/>
                <a:ea typeface="Noto Sans SC"/>
                <a:cs typeface="Noto Sans SC"/>
                <a:sym typeface="Noto Sans SC"/>
              </a:rPr>
              <a:t>核心功能：订单全生命周期管理 | 实时仓位跟踪 | 智能滑点控制</a:t>
            </a:r>
            <a:endParaRPr lang="en-US" sz="1100"/>
          </a:p>
        </p:txBody>
      </p:sp>
      <p:sp>
        <p:nvSpPr>
          <p:cNvPr name="AutoShape 18" id="18"/>
          <p:cNvSpPr/>
          <p:nvPr/>
        </p:nvSpPr>
        <p:spPr>
          <a:xfrm rot="0" flipH="false" flipV="false">
            <a:off x="762000" y="5334000"/>
            <a:ext cx="10668000" cy="1143000"/>
          </a:xfrm>
          <a:prstGeom prst="roundRect">
            <a:avLst>
              <a:gd name="adj" fmla="val 11111"/>
            </a:avLst>
          </a:prstGeom>
          <a:solidFill>
            <a:srgbClr val="1E293B">
              <a:alpha val="6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16000" y="5524500"/>
            <a:ext cx="406400" cy="406400"/>
          </a:xfrm>
          <a:prstGeom prst="rect">
            <a:avLst/>
          </a:prstGeom>
        </p:spPr>
      </p:pic>
      <p:sp>
        <p:nvSpPr>
          <p:cNvPr name="AutoShape 20" id="20"/>
          <p:cNvSpPr/>
          <p:nvPr/>
        </p:nvSpPr>
        <p:spPr>
          <a:xfrm rot="0" flipH="false" flipV="false">
            <a:off x="1524000" y="5524500"/>
            <a:ext cx="190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监控层 Monitoring Layer</a:t>
            </a:r>
            <a:endParaRPr lang="en-US" sz="1100"/>
          </a:p>
        </p:txBody>
      </p:sp>
      <p:sp>
        <p:nvSpPr>
          <p:cNvPr name="AutoShape 21" id="21"/>
          <p:cNvSpPr/>
          <p:nvPr/>
        </p:nvSpPr>
        <p:spPr>
          <a:xfrm rot="0" flipH="false" flipV="false">
            <a:off x="1524000" y="59055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E2E8F0">
                    <a:alpha val="80000"/>
                  </a:srgbClr>
                </a:solidFill>
                <a:latin typeface="Noto Sans SC"/>
                <a:ea typeface="Noto Sans SC"/>
                <a:cs typeface="Noto Sans SC"/>
                <a:sym typeface="Noto Sans SC"/>
              </a:rPr>
              <a:t>监控指标：实时盈亏统计 | 策略性能分析 | 异常自动报警</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0F172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762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各层职责与接口</a:t>
            </a:r>
            <a:endParaRPr lang="en-US" sz="1100"/>
          </a:p>
        </p:txBody>
      </p:sp>
      <p:sp>
        <p:nvSpPr>
          <p:cNvPr name="AutoShape 4" id="4"/>
          <p:cNvSpPr/>
          <p:nvPr/>
        </p:nvSpPr>
        <p:spPr>
          <a:xfrm rot="0" flipH="false" flipV="false">
            <a:off x="762000" y="1778000"/>
            <a:ext cx="10668000" cy="4572000"/>
          </a:xfrm>
          <a:prstGeom prst="roundRect">
            <a:avLst>
              <a:gd name="adj" fmla="val 2777"/>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graphicFrame>
        <p:nvGraphicFramePr>
          <p:cNvPr name="Table 5" id="5"/>
          <p:cNvGraphicFramePr>
            <a:graphicFrameLocks noGrp="true"/>
          </p:cNvGraphicFramePr>
          <p:nvPr/>
        </p:nvGraphicFramePr>
        <p:xfrm>
          <a:off x="889000" y="1905000"/>
          <a:ext cx="10160000" cy="3937000"/>
        </p:xfrm>
        <a:graphic>
          <a:graphicData uri="http://schemas.openxmlformats.org/drawingml/2006/table">
            <a:tbl>
              <a:tblPr>
                <a:effectLst/>
              </a:tblPr>
              <a:tblGrid>
                <a:gridCol w="1778000"/>
                <a:gridCol w="3048000"/>
                <a:gridCol w="3048000"/>
                <a:gridCol w="2286000"/>
              </a:tblGrid>
              <a:tr h="635000">
                <a:tc>
                  <a:txBody>
                    <a:bodyPr anchor="t" rtlCol="false"/>
                    <a:lstStyle/>
                    <a:p>
                      <a:pPr algn="ctr" indent="0">
                        <a:lnSpc>
                          <a:spcPct val="100000"/>
                        </a:lnSpc>
                        <a:defRPr/>
                      </a:pPr>
                      <a:r>
                        <a:rPr lang="en-US" b="true" i="false" strike="noStrike" u="none" sz="1600">
                          <a:solidFill>
                            <a:srgbClr val="00BFFF"/>
                          </a:solidFill>
                          <a:latin typeface="Noto Sans SC"/>
                          <a:ea typeface="Noto Sans SC"/>
                          <a:cs typeface="Noto Sans SC"/>
                          <a:sym typeface="Noto Sans SC"/>
                        </a:rPr>
                        <a:t>层级</a:t>
                      </a:r>
                      <a:endParaRPr lang="en-US" sz="1100"/>
                    </a:p>
                  </a:txBody>
                  <a:tcPr anchor="ctr" anchorCtr="false" marL="101600" marR="101600" marT="101600" marB="101600">
                    <a:lnL>
                      <a:noFill/>
                    </a:lnL>
                    <a:lnR>
                      <a:noFill/>
                    </a:lnR>
                    <a:lnT>
                      <a:noFill/>
                    </a:lnT>
                    <a:lnB>
                      <a:noFill/>
                    </a:lnB>
                    <a:solidFill>
                      <a:srgbClr val="00BFFF">
                        <a:alpha val="20000"/>
                      </a:srgbClr>
                    </a:solidFill>
                  </a:tcPr>
                </a:tc>
                <a:tc>
                  <a:txBody>
                    <a:bodyPr anchor="t" rtlCol="false"/>
                    <a:lstStyle/>
                    <a:p>
                      <a:pPr algn="ctr" indent="0">
                        <a:lnSpc>
                          <a:spcPct val="100000"/>
                        </a:lnSpc>
                        <a:defRPr/>
                      </a:pPr>
                      <a:r>
                        <a:rPr lang="en-US" b="true" i="false" strike="noStrike" u="none" sz="1600">
                          <a:solidFill>
                            <a:srgbClr val="00BFFF"/>
                          </a:solidFill>
                          <a:latin typeface="Noto Sans SC"/>
                          <a:ea typeface="Noto Sans SC"/>
                          <a:cs typeface="Noto Sans SC"/>
                          <a:sym typeface="Noto Sans SC"/>
                        </a:rPr>
                        <a:t>核心职责</a:t>
                      </a:r>
                      <a:endParaRPr lang="en-US" sz="1100"/>
                    </a:p>
                  </a:txBody>
                  <a:tcPr anchor="ctr" anchorCtr="false" marL="101600" marR="101600" marT="101600" marB="101600">
                    <a:lnL>
                      <a:noFill/>
                    </a:lnL>
                    <a:lnR>
                      <a:noFill/>
                    </a:lnR>
                    <a:lnT>
                      <a:noFill/>
                    </a:lnT>
                    <a:lnB>
                      <a:noFill/>
                    </a:lnB>
                    <a:solidFill>
                      <a:srgbClr val="00BFFF">
                        <a:alpha val="20000"/>
                      </a:srgbClr>
                    </a:solidFill>
                  </a:tcPr>
                </a:tc>
                <a:tc>
                  <a:txBody>
                    <a:bodyPr anchor="t" rtlCol="false"/>
                    <a:lstStyle/>
                    <a:p>
                      <a:pPr algn="ctr" indent="0">
                        <a:lnSpc>
                          <a:spcPct val="100000"/>
                        </a:lnSpc>
                        <a:defRPr/>
                      </a:pPr>
                      <a:r>
                        <a:rPr lang="en-US" b="true" i="false" strike="noStrike" u="none" sz="1600">
                          <a:solidFill>
                            <a:srgbClr val="00BFFF"/>
                          </a:solidFill>
                          <a:latin typeface="Noto Sans SC"/>
                          <a:ea typeface="Noto Sans SC"/>
                          <a:cs typeface="Noto Sans SC"/>
                          <a:sym typeface="Noto Sans SC"/>
                        </a:rPr>
                        <a:t>核心组件</a:t>
                      </a:r>
                      <a:endParaRPr lang="en-US" sz="1100"/>
                    </a:p>
                  </a:txBody>
                  <a:tcPr anchor="ctr" anchorCtr="false" marL="101600" marR="101600" marT="101600" marB="101600">
                    <a:lnL>
                      <a:noFill/>
                    </a:lnL>
                    <a:lnR>
                      <a:noFill/>
                    </a:lnR>
                    <a:lnT>
                      <a:noFill/>
                    </a:lnT>
                    <a:lnB>
                      <a:noFill/>
                    </a:lnB>
                    <a:solidFill>
                      <a:srgbClr val="00BFFF">
                        <a:alpha val="20000"/>
                      </a:srgbClr>
                    </a:solidFill>
                  </a:tcPr>
                </a:tc>
                <a:tc>
                  <a:txBody>
                    <a:bodyPr anchor="t" rtlCol="false"/>
                    <a:lstStyle/>
                    <a:p>
                      <a:pPr algn="ctr" indent="0">
                        <a:lnSpc>
                          <a:spcPct val="100000"/>
                        </a:lnSpc>
                        <a:defRPr/>
                      </a:pPr>
                      <a:r>
                        <a:rPr lang="en-US" b="true" i="false" strike="noStrike" u="none" sz="1600">
                          <a:solidFill>
                            <a:srgbClr val="00BFFF"/>
                          </a:solidFill>
                          <a:latin typeface="Noto Sans SC"/>
                          <a:ea typeface="Noto Sans SC"/>
                          <a:cs typeface="Noto Sans SC"/>
                          <a:sym typeface="Noto Sans SC"/>
                        </a:rPr>
                        <a:t>对外接口</a:t>
                      </a:r>
                      <a:endParaRPr lang="en-US" sz="1100"/>
                    </a:p>
                  </a:txBody>
                  <a:tcPr anchor="ctr" anchorCtr="false" marL="101600" marR="101600" marT="101600" marB="101600">
                    <a:lnL>
                      <a:noFill/>
                    </a:lnL>
                    <a:lnR>
                      <a:noFill/>
                    </a:lnR>
                    <a:lnT>
                      <a:noFill/>
                    </a:lnT>
                    <a:lnB>
                      <a:noFill/>
                    </a:lnB>
                    <a:solidFill>
                      <a:srgbClr val="00BFFF">
                        <a:alpha val="20000"/>
                      </a:srgbClr>
                    </a:solidFill>
                  </a:tcPr>
                </a:tc>
              </a:tr>
              <a:tr h="825500">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数据层</a:t>
                      </a:r>
                      <a:endParaRPr lang="en-US" sz="1100"/>
                    </a:p>
                  </a:txBody>
                  <a:tcPr anchor="ctr" anchorCtr="false" marL="101600" marR="101600" marT="101600" marB="101600">
                    <a:lnL>
                      <a:noFill/>
                    </a:lnL>
                    <a:lnR>
                      <a:noFill/>
                    </a:lnR>
                    <a:lnT>
                      <a:noFill/>
                    </a:lnT>
                    <a:lnB cmpd="sng" algn="ctr" cap="flat" w="12700">
                      <a:solidFill>
                        <a:srgbClr val="FFFFF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400">
                          <a:solidFill>
                            <a:srgbClr val="E5E7EB"/>
                          </a:solidFill>
                          <a:latin typeface="Noto Sans SC"/>
                          <a:ea typeface="Noto Sans SC"/>
                          <a:cs typeface="Noto Sans SC"/>
                          <a:sym typeface="Noto Sans SC"/>
                        </a:rPr>
                        <a:t>获取和存储市场数据，清洗与标准化</a:t>
                      </a:r>
                      <a:endParaRPr lang="en-US" sz="1100"/>
                    </a:p>
                  </a:txBody>
                  <a:tcPr anchor="ctr" anchorCtr="false" marL="101600" marR="101600" marT="101600" marB="101600">
                    <a:lnL>
                      <a:noFill/>
                    </a:lnL>
                    <a:lnR>
                      <a:noFill/>
                    </a:lnR>
                    <a:lnT>
                      <a:noFill/>
                    </a:lnT>
                    <a:lnB cmpd="sng" algn="ctr" cap="flat" w="12700">
                      <a:solidFill>
                        <a:srgbClr val="FFFFF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400">
                          <a:solidFill>
                            <a:srgbClr val="E5E7EB"/>
                          </a:solidFill>
                          <a:latin typeface="Noto Sans SC"/>
                          <a:ea typeface="Noto Sans SC"/>
                          <a:cs typeface="Noto Sans SC"/>
                          <a:sym typeface="Noto Sans SC"/>
                        </a:rPr>
                        <a:t>BinanceDataFetcher, SQLite</a:t>
                      </a:r>
                      <a:endParaRPr lang="en-US" sz="1100"/>
                    </a:p>
                  </a:txBody>
                  <a:tcPr anchor="ctr" anchorCtr="false" marL="101600" marR="101600" marT="101600" marB="101600">
                    <a:lnL>
                      <a:noFill/>
                    </a:lnL>
                    <a:lnR>
                      <a:noFill/>
                    </a:lnR>
                    <a:lnT>
                      <a:noFill/>
                    </a:lnT>
                    <a:lnB cmpd="sng" algn="ctr" cap="flat" w="12700">
                      <a:solidFill>
                        <a:srgbClr val="FFFFF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400">
                          <a:solidFill>
                            <a:srgbClr val="E5E7EB"/>
                          </a:solidFill>
                          <a:latin typeface="Noto Sans SC"/>
                          <a:ea typeface="Noto Sans SC"/>
                          <a:cs typeface="Noto Sans SC"/>
                          <a:sym typeface="Noto Sans SC"/>
                        </a:rPr>
                        <a:t>向策略层提供标准化 DataFrame</a:t>
                      </a:r>
                      <a:endParaRPr lang="en-US" sz="1100"/>
                    </a:p>
                  </a:txBody>
                  <a:tcPr anchor="ctr" anchorCtr="false" marL="101600" marR="101600" marT="101600" marB="101600">
                    <a:lnL>
                      <a:noFill/>
                    </a:lnL>
                    <a:lnR>
                      <a:noFill/>
                    </a:lnR>
                    <a:lnT>
                      <a:noFill/>
                    </a:lnT>
                    <a:lnB cmpd="sng" algn="ctr" cap="flat" w="12700">
                      <a:solidFill>
                        <a:srgbClr val="FFFFFF"/>
                      </a:solidFill>
                      <a:prstDash val="solid"/>
                      <a:round/>
                      <a:headEnd type="none" w="med" len="med"/>
                      <a:tailEnd type="none" w="med" len="med"/>
                    </a:lnB>
                    <a:noFill/>
                  </a:tcPr>
                </a:tc>
              </a:tr>
              <a:tr h="825500">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策略层</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400">
                          <a:solidFill>
                            <a:srgbClr val="E5E7EB"/>
                          </a:solidFill>
                          <a:latin typeface="Noto Sans SC"/>
                          <a:ea typeface="Noto Sans SC"/>
                          <a:cs typeface="Noto Sans SC"/>
                          <a:sym typeface="Noto Sans SC"/>
                        </a:rPr>
                        <a:t>分析数据、生成交易信号、风控校验</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400">
                          <a:solidFill>
                            <a:srgbClr val="E5E7EB"/>
                          </a:solidFill>
                          <a:latin typeface="Noto Sans SC"/>
                          <a:ea typeface="Noto Sans SC"/>
                          <a:cs typeface="Noto Sans SC"/>
                          <a:sym typeface="Noto Sans SC"/>
                        </a:rPr>
                        <a:t>ML策略, 网格策略, RiskManager</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400">
                          <a:solidFill>
                            <a:srgbClr val="E5E7EB"/>
                          </a:solidFill>
                          <a:latin typeface="Noto Sans SC"/>
                          <a:ea typeface="Noto Sans SC"/>
                          <a:cs typeface="Noto Sans SC"/>
                          <a:sym typeface="Noto Sans SC"/>
                        </a:rPr>
                        <a:t>向执行层输出买卖信号</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r>
              <a:tr h="825500">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执行层</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400">
                          <a:solidFill>
                            <a:srgbClr val="E5E7EB"/>
                          </a:solidFill>
                          <a:latin typeface="Noto Sans SC"/>
                          <a:ea typeface="Noto Sans SC"/>
                          <a:cs typeface="Noto Sans SC"/>
                          <a:sym typeface="Noto Sans SC"/>
                        </a:rPr>
                        <a:t>执行下单指令、管理仓位与订单状态</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400">
                          <a:solidFill>
                            <a:srgbClr val="E5E7EB"/>
                          </a:solidFill>
                          <a:latin typeface="Noto Sans SC"/>
                          <a:ea typeface="Noto Sans SC"/>
                          <a:cs typeface="Noto Sans SC"/>
                          <a:sym typeface="Noto Sans SC"/>
                        </a:rPr>
                        <a:t>OrderManager, PositionTracker</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400">
                          <a:solidFill>
                            <a:srgbClr val="E5E7EB"/>
                          </a:solidFill>
                          <a:latin typeface="Noto Sans SC"/>
                          <a:ea typeface="Noto Sans SC"/>
                          <a:cs typeface="Noto Sans SC"/>
                          <a:sym typeface="Noto Sans SC"/>
                        </a:rPr>
                        <a:t>接收信号，返回成交结果</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r>
              <a:tr h="825500">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监控层</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a:noFill/>
                    </a:lnB>
                    <a:noFill/>
                  </a:tcPr>
                </a:tc>
                <a:tc>
                  <a:txBody>
                    <a:bodyPr anchor="t" rtlCol="false"/>
                    <a:lstStyle/>
                    <a:p>
                      <a:pPr algn="l" indent="0">
                        <a:lnSpc>
                          <a:spcPct val="100000"/>
                        </a:lnSpc>
                        <a:defRPr/>
                      </a:pPr>
                      <a:r>
                        <a:rPr lang="en-US" b="false" i="false" strike="noStrike" u="none" sz="1400">
                          <a:solidFill>
                            <a:srgbClr val="E5E7EB"/>
                          </a:solidFill>
                          <a:latin typeface="Noto Sans SC"/>
                          <a:ea typeface="Noto Sans SC"/>
                          <a:cs typeface="Noto Sans SC"/>
                          <a:sym typeface="Noto Sans SC"/>
                        </a:rPr>
                        <a:t>实时展示系统状态、触发异常报警</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a:noFill/>
                    </a:lnB>
                    <a:noFill/>
                  </a:tcPr>
                </a:tc>
                <a:tc>
                  <a:txBody>
                    <a:bodyPr anchor="t" rtlCol="false"/>
                    <a:lstStyle/>
                    <a:p>
                      <a:pPr algn="l" indent="0">
                        <a:lnSpc>
                          <a:spcPct val="100000"/>
                        </a:lnSpc>
                        <a:defRPr/>
                      </a:pPr>
                      <a:r>
                        <a:rPr lang="en-US" b="false" i="false" strike="noStrike" u="none" sz="1400">
                          <a:solidFill>
                            <a:srgbClr val="E5E7EB"/>
                          </a:solidFill>
                          <a:latin typeface="Noto Sans SC"/>
                          <a:ea typeface="Noto Sans SC"/>
                          <a:cs typeface="Noto Sans SC"/>
                          <a:sym typeface="Noto Sans SC"/>
                        </a:rPr>
                        <a:t>TradingDashboard, AlertSystem</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a:noFill/>
                    </a:lnB>
                    <a:noFill/>
                  </a:tcPr>
                </a:tc>
                <a:tc>
                  <a:txBody>
                    <a:bodyPr anchor="t" rtlCol="false"/>
                    <a:lstStyle/>
                    <a:p>
                      <a:pPr algn="l" indent="0">
                        <a:lnSpc>
                          <a:spcPct val="100000"/>
                        </a:lnSpc>
                        <a:defRPr/>
                      </a:pPr>
                      <a:r>
                        <a:rPr lang="en-US" b="false" i="false" strike="noStrike" u="none" sz="1400">
                          <a:solidFill>
                            <a:srgbClr val="E5E7EB"/>
                          </a:solidFill>
                          <a:latin typeface="Noto Sans SC"/>
                          <a:ea typeface="Noto Sans SC"/>
                          <a:cs typeface="Noto Sans SC"/>
                          <a:sym typeface="Noto Sans SC"/>
                        </a:rPr>
                        <a:t>接收全部组件状态信息</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a:noFill/>
                    </a:lnB>
                    <a:noFill/>
                  </a:tcPr>
                </a:tc>
              </a:tr>
            </a:tbl>
          </a:graphicData>
        </a:graphic>
      </p:graphicFrame>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换策略，改几层？</a:t>
            </a:r>
            <a:endParaRPr lang="en-US" sz="1100"/>
          </a:p>
        </p:txBody>
      </p:sp>
      <p:sp>
        <p:nvSpPr>
          <p:cNvPr name="AutoShape 4" id="4"/>
          <p:cNvSpPr/>
          <p:nvPr/>
        </p:nvSpPr>
        <p:spPr>
          <a:xfrm rot="0" flipH="false" flipV="false">
            <a:off x="762000" y="1905000"/>
            <a:ext cx="10668000" cy="1524000"/>
          </a:xfrm>
          <a:prstGeom prst="roundRect">
            <a:avLst>
              <a:gd name="adj" fmla="val 8333"/>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095500"/>
            <a:ext cx="406400" cy="406400"/>
          </a:xfrm>
          <a:prstGeom prst="rect">
            <a:avLst/>
          </a:prstGeom>
        </p:spPr>
      </p:pic>
      <p:sp>
        <p:nvSpPr>
          <p:cNvPr name="AutoShape 6" id="6"/>
          <p:cNvSpPr/>
          <p:nvPr/>
        </p:nvSpPr>
        <p:spPr>
          <a:xfrm rot="0" flipH="false" flipV="false">
            <a:off x="1524000" y="2095500"/>
            <a:ext cx="952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思考问题：策略替换场景</a:t>
            </a:r>
            <a:endParaRPr lang="en-US" sz="1100"/>
          </a:p>
        </p:txBody>
      </p:sp>
      <p:sp>
        <p:nvSpPr>
          <p:cNvPr name="AutoShape 7" id="7"/>
          <p:cNvSpPr/>
          <p:nvPr/>
        </p:nvSpPr>
        <p:spPr>
          <a:xfrm rot="0" flipH="false" flipV="false">
            <a:off x="1016000" y="2476500"/>
            <a:ext cx="990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如果我们想把策略层从现有的“ML策略 + 网格策略”替换为“规则策略 + 动量策略”，我们需要修改哪些层的代码？</a:t>
            </a:r>
            <a:endParaRPr lang="en-US" sz="1100"/>
          </a:p>
        </p:txBody>
      </p:sp>
      <p:sp>
        <p:nvSpPr>
          <p:cNvPr name="AutoShape 8" id="8"/>
          <p:cNvSpPr/>
          <p:nvPr/>
        </p:nvSpPr>
        <p:spPr>
          <a:xfrm rot="0" flipH="false" flipV="false">
            <a:off x="762000" y="3683000"/>
            <a:ext cx="10668000" cy="1778000"/>
          </a:xfrm>
          <a:prstGeom prst="roundRect">
            <a:avLst>
              <a:gd name="adj" fmla="val 7142"/>
            </a:avLst>
          </a:prstGeom>
          <a:solidFill>
            <a:srgbClr val="00BFFF">
              <a:alpha val="10000"/>
            </a:srgbClr>
          </a:solidFill>
          <a:ln w="12700" cmpd="sng" cap="flat">
            <a:solidFill>
              <a:srgbClr val="00BFFF">
                <a:alpha val="10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3937000"/>
            <a:ext cx="406400" cy="406400"/>
          </a:xfrm>
          <a:prstGeom prst="rect">
            <a:avLst/>
          </a:prstGeom>
        </p:spPr>
      </p:pic>
      <p:sp>
        <p:nvSpPr>
          <p:cNvPr name="AutoShape 10" id="10"/>
          <p:cNvSpPr/>
          <p:nvPr/>
        </p:nvSpPr>
        <p:spPr>
          <a:xfrm rot="0" flipH="false" flipV="false">
            <a:off x="1524000" y="3937000"/>
            <a:ext cx="952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答案与核心价值</a:t>
            </a:r>
            <a:endParaRPr lang="en-US" sz="1100"/>
          </a:p>
        </p:txBody>
      </p:sp>
      <p:sp>
        <p:nvSpPr>
          <p:cNvPr name="AutoShape 11" id="11"/>
          <p:cNvSpPr/>
          <p:nvPr/>
        </p:nvSpPr>
        <p:spPr>
          <a:xfrm rot="0" flipH="false" flipV="false">
            <a:off x="1016000" y="4381500"/>
            <a:ext cx="9906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90196"/>
                  </a:srgbClr>
                </a:solidFill>
                <a:latin typeface="Noto Sans SC"/>
                <a:ea typeface="Noto Sans SC"/>
                <a:cs typeface="Noto Sans SC"/>
                <a:sym typeface="Noto Sans SC"/>
              </a:rPr>
              <a:t>答案是：</a:t>
            </a:r>
            <a:r>
              <a:rPr lang="en-US" b="true" i="false" strike="noStrike" u="none" sz="1600">
                <a:solidFill>
                  <a:srgbClr val="FFFF00"/>
                </a:solidFill>
                <a:latin typeface="Noto Sans SC"/>
                <a:ea typeface="Noto Sans SC"/>
                <a:cs typeface="Noto Sans SC"/>
                <a:sym typeface="Noto Sans SC"/>
              </a:rPr>
              <a:t>只需修改策略层</a:t>
            </a:r>
            <a:r>
              <a:rPr lang="en-US" b="false" i="false" strike="noStrike" u="none" sz="1400">
                <a:solidFill>
                  <a:srgbClr val="FFFFFF">
                    <a:alpha val="90196"/>
                  </a:srgbClr>
                </a:solidFill>
                <a:latin typeface="Noto Sans SC"/>
                <a:ea typeface="Noto Sans SC"/>
                <a:cs typeface="Noto Sans SC"/>
                <a:sym typeface="Noto Sans SC"/>
              </a:rPr>
              <a:t>。只要新策略层保持接口一致，数据层、执行层和监控层均无需改动。这体现了分层架构降低系统迭代成本的核心价值。</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762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四层架构的通用性</a:t>
            </a:r>
            <a:endParaRPr lang="en-US" sz="1100"/>
          </a:p>
        </p:txBody>
      </p:sp>
      <p:sp>
        <p:nvSpPr>
          <p:cNvPr name="AutoShape 4" id="4"/>
          <p:cNvSpPr/>
          <p:nvPr/>
        </p:nvSpPr>
        <p:spPr>
          <a:xfrm rot="0" flipH="false" flipV="false">
            <a:off x="762000" y="1778000"/>
            <a:ext cx="4826000" cy="4064000"/>
          </a:xfrm>
          <a:prstGeom prst="roundRect">
            <a:avLst>
              <a:gd name="adj" fmla="val 312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968500"/>
            <a:ext cx="304800" cy="304800"/>
          </a:xfrm>
          <a:prstGeom prst="rect">
            <a:avLst/>
          </a:prstGeom>
        </p:spPr>
      </p:pic>
      <p:sp>
        <p:nvSpPr>
          <p:cNvPr name="AutoShape 6" id="6"/>
          <p:cNvSpPr/>
          <p:nvPr/>
        </p:nvSpPr>
        <p:spPr>
          <a:xfrm rot="0" flipH="false" flipV="false">
            <a:off x="1397000" y="19304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量化交易系统</a:t>
            </a:r>
            <a:endParaRPr lang="en-US" sz="1100"/>
          </a:p>
        </p:txBody>
      </p:sp>
      <p:cxnSp>
        <p:nvCxnSpPr>
          <p:cNvPr name="Connector 7" id="7"/>
          <p:cNvCxnSpPr/>
          <p:nvPr/>
        </p:nvCxnSpPr>
        <p:spPr>
          <a:xfrm rot="-10110" flipH="false" flipV="false">
            <a:off x="1016009" y="2343150"/>
            <a:ext cx="4318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2603500"/>
            <a:ext cx="254000" cy="254000"/>
          </a:xfrm>
          <a:prstGeom prst="rect">
            <a:avLst/>
          </a:prstGeom>
        </p:spPr>
      </p:pic>
      <p:sp>
        <p:nvSpPr>
          <p:cNvPr name="AutoShape 9" id="9"/>
          <p:cNvSpPr/>
          <p:nvPr/>
        </p:nvSpPr>
        <p:spPr>
          <a:xfrm rot="0" flipH="false" flipV="false">
            <a:off x="1397000" y="25781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数据层：</a:t>
            </a:r>
            <a:r>
              <a:rPr lang="en-US" b="false" i="false" strike="noStrike" u="none" sz="1400">
                <a:solidFill>
                  <a:srgbClr val="FFFFFF"/>
                </a:solidFill>
                <a:latin typeface="Noto Sans SC"/>
                <a:ea typeface="Noto Sans SC"/>
                <a:cs typeface="Noto Sans SC"/>
                <a:sym typeface="Noto Sans SC"/>
              </a:rPr>
              <a:t>币安API 数据接入</a:t>
            </a:r>
            <a:endParaRPr lang="en-US" sz="1100"/>
          </a:p>
        </p:txBody>
      </p:sp>
      <p:pic>
        <p:nvPicPr>
          <p:cNvPr name="Picture 10" id="1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3111500"/>
            <a:ext cx="254000" cy="254000"/>
          </a:xfrm>
          <a:prstGeom prst="rect">
            <a:avLst/>
          </a:prstGeom>
        </p:spPr>
      </p:pic>
      <p:sp>
        <p:nvSpPr>
          <p:cNvPr name="AutoShape 11" id="11"/>
          <p:cNvSpPr/>
          <p:nvPr/>
        </p:nvSpPr>
        <p:spPr>
          <a:xfrm rot="0" flipH="false" flipV="false">
            <a:off x="1397000" y="30861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策略层：</a:t>
            </a:r>
            <a:r>
              <a:rPr lang="en-US" b="false" i="false" strike="noStrike" u="none" sz="1400">
                <a:solidFill>
                  <a:srgbClr val="FFFFFF"/>
                </a:solidFill>
                <a:latin typeface="Noto Sans SC"/>
                <a:ea typeface="Noto Sans SC"/>
                <a:cs typeface="Noto Sans SC"/>
                <a:sym typeface="Noto Sans SC"/>
              </a:rPr>
              <a:t>机器学习模型 + 网格策略</a:t>
            </a:r>
            <a:endParaRPr lang="en-US" sz="1100"/>
          </a:p>
        </p:txBody>
      </p:sp>
      <p:pic>
        <p:nvPicPr>
          <p:cNvPr name="Picture 12" id="12"/>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16000" y="3619500"/>
            <a:ext cx="254000" cy="254000"/>
          </a:xfrm>
          <a:prstGeom prst="rect">
            <a:avLst/>
          </a:prstGeom>
        </p:spPr>
      </p:pic>
      <p:sp>
        <p:nvSpPr>
          <p:cNvPr name="AutoShape 13" id="13"/>
          <p:cNvSpPr/>
          <p:nvPr/>
        </p:nvSpPr>
        <p:spPr>
          <a:xfrm rot="0" flipH="false" flipV="false">
            <a:off x="1397000" y="35941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执行层：</a:t>
            </a:r>
            <a:r>
              <a:rPr lang="en-US" b="false" i="false" strike="noStrike" u="none" sz="1400">
                <a:solidFill>
                  <a:srgbClr val="FFFFFF"/>
                </a:solidFill>
                <a:latin typeface="Noto Sans SC"/>
                <a:ea typeface="Noto Sans SC"/>
                <a:cs typeface="Noto Sans SC"/>
                <a:sym typeface="Noto Sans SC"/>
              </a:rPr>
              <a:t>自动化下单与订单管理</a:t>
            </a:r>
            <a:endParaRPr lang="en-US" sz="1100"/>
          </a:p>
        </p:txBody>
      </p:sp>
      <p:pic>
        <p:nvPicPr>
          <p:cNvPr name="Picture 14" id="14"/>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1016000" y="4127500"/>
            <a:ext cx="254000" cy="254000"/>
          </a:xfrm>
          <a:prstGeom prst="rect">
            <a:avLst/>
          </a:prstGeom>
        </p:spPr>
      </p:pic>
      <p:sp>
        <p:nvSpPr>
          <p:cNvPr name="AutoShape 15" id="15"/>
          <p:cNvSpPr/>
          <p:nvPr/>
        </p:nvSpPr>
        <p:spPr>
          <a:xfrm rot="0" flipH="false" flipV="false">
            <a:off x="1397000" y="41021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监控层：</a:t>
            </a:r>
            <a:r>
              <a:rPr lang="en-US" b="false" i="false" strike="noStrike" u="none" sz="1400">
                <a:solidFill>
                  <a:srgbClr val="FFFFFF"/>
                </a:solidFill>
                <a:latin typeface="Noto Sans SC"/>
                <a:ea typeface="Noto Sans SC"/>
                <a:cs typeface="Noto Sans SC"/>
                <a:sym typeface="Noto Sans SC"/>
              </a:rPr>
              <a:t>实时盈亏计算与异常报警</a:t>
            </a:r>
            <a:endParaRPr lang="en-US" sz="1100"/>
          </a:p>
        </p:txBody>
      </p:sp>
      <p:sp>
        <p:nvSpPr>
          <p:cNvPr name="AutoShape 16" id="16"/>
          <p:cNvSpPr/>
          <p:nvPr/>
        </p:nvSpPr>
        <p:spPr>
          <a:xfrm rot="0" flipH="false" flipV="false">
            <a:off x="6604000" y="1778000"/>
            <a:ext cx="4826000" cy="4064000"/>
          </a:xfrm>
          <a:prstGeom prst="roundRect">
            <a:avLst>
              <a:gd name="adj" fmla="val 312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6858000" y="1968500"/>
            <a:ext cx="304800" cy="304800"/>
          </a:xfrm>
          <a:prstGeom prst="rect">
            <a:avLst/>
          </a:prstGeom>
        </p:spPr>
      </p:pic>
      <p:sp>
        <p:nvSpPr>
          <p:cNvPr name="AutoShape 18" id="18"/>
          <p:cNvSpPr/>
          <p:nvPr/>
        </p:nvSpPr>
        <p:spPr>
          <a:xfrm rot="0" flipH="false" flipV="false">
            <a:off x="7239000" y="19304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AI内容发布系统</a:t>
            </a:r>
            <a:endParaRPr lang="en-US" sz="1100"/>
          </a:p>
        </p:txBody>
      </p:sp>
      <p:cxnSp>
        <p:nvCxnSpPr>
          <p:cNvPr name="Connector 19" id="19"/>
          <p:cNvCxnSpPr/>
          <p:nvPr/>
        </p:nvCxnSpPr>
        <p:spPr>
          <a:xfrm rot="-10110" flipH="false" flipV="false">
            <a:off x="6858009" y="2343150"/>
            <a:ext cx="4318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20" id="2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858000" y="2603500"/>
            <a:ext cx="254000" cy="254000"/>
          </a:xfrm>
          <a:prstGeom prst="rect">
            <a:avLst/>
          </a:prstGeom>
        </p:spPr>
      </p:pic>
      <p:sp>
        <p:nvSpPr>
          <p:cNvPr name="AutoShape 21" id="21"/>
          <p:cNvSpPr/>
          <p:nvPr/>
        </p:nvSpPr>
        <p:spPr>
          <a:xfrm rot="0" flipH="false" flipV="false">
            <a:off x="7239000" y="25781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数据层：</a:t>
            </a:r>
            <a:r>
              <a:rPr lang="en-US" b="false" i="false" strike="noStrike" u="none" sz="1400">
                <a:solidFill>
                  <a:srgbClr val="FFFFFF"/>
                </a:solidFill>
                <a:latin typeface="Noto Sans SC"/>
                <a:ea typeface="Noto Sans SC"/>
                <a:cs typeface="Noto Sans SC"/>
                <a:sym typeface="Noto Sans SC"/>
              </a:rPr>
              <a:t>全网热点信息爬取</a:t>
            </a:r>
            <a:endParaRPr lang="en-US" sz="1100"/>
          </a:p>
        </p:txBody>
      </p:sp>
      <p:pic>
        <p:nvPicPr>
          <p:cNvPr name="Picture 22" id="2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858000" y="3111500"/>
            <a:ext cx="254000" cy="254000"/>
          </a:xfrm>
          <a:prstGeom prst="rect">
            <a:avLst/>
          </a:prstGeom>
        </p:spPr>
      </p:pic>
      <p:sp>
        <p:nvSpPr>
          <p:cNvPr name="AutoShape 23" id="23"/>
          <p:cNvSpPr/>
          <p:nvPr/>
        </p:nvSpPr>
        <p:spPr>
          <a:xfrm rot="0" flipH="false" flipV="false">
            <a:off x="7239000" y="30861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策略层：</a:t>
            </a:r>
            <a:r>
              <a:rPr lang="en-US" b="false" i="false" strike="noStrike" u="none" sz="1400">
                <a:solidFill>
                  <a:srgbClr val="FFFFFF"/>
                </a:solidFill>
                <a:latin typeface="Noto Sans SC"/>
                <a:ea typeface="Noto Sans SC"/>
                <a:cs typeface="Noto Sans SC"/>
                <a:sym typeface="Noto Sans SC"/>
              </a:rPr>
              <a:t>智能选题决策 + 内容生成</a:t>
            </a:r>
            <a:endParaRPr lang="en-US" sz="1100"/>
          </a:p>
        </p:txBody>
      </p:sp>
      <p:pic>
        <p:nvPicPr>
          <p:cNvPr name="Picture 24" id="24"/>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858000" y="3619500"/>
            <a:ext cx="254000" cy="254000"/>
          </a:xfrm>
          <a:prstGeom prst="rect">
            <a:avLst/>
          </a:prstGeom>
        </p:spPr>
      </p:pic>
      <p:sp>
        <p:nvSpPr>
          <p:cNvPr name="AutoShape 25" id="25"/>
          <p:cNvSpPr/>
          <p:nvPr/>
        </p:nvSpPr>
        <p:spPr>
          <a:xfrm rot="0" flipH="false" flipV="false">
            <a:off x="7239000" y="35941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执行层：</a:t>
            </a:r>
            <a:r>
              <a:rPr lang="en-US" b="false" i="false" strike="noStrike" u="none" sz="1400">
                <a:solidFill>
                  <a:srgbClr val="FFFFFF"/>
                </a:solidFill>
                <a:latin typeface="Noto Sans SC"/>
                <a:ea typeface="Noto Sans SC"/>
                <a:cs typeface="Noto Sans SC"/>
                <a:sym typeface="Noto Sans SC"/>
              </a:rPr>
              <a:t>多平台自动分发与排版</a:t>
            </a:r>
            <a:endParaRPr lang="en-US" sz="1100"/>
          </a:p>
        </p:txBody>
      </p:sp>
      <p:pic>
        <p:nvPicPr>
          <p:cNvPr name="Picture 26" id="26"/>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858000" y="4127500"/>
            <a:ext cx="254000" cy="254000"/>
          </a:xfrm>
          <a:prstGeom prst="rect">
            <a:avLst/>
          </a:prstGeom>
        </p:spPr>
      </p:pic>
      <p:sp>
        <p:nvSpPr>
          <p:cNvPr name="AutoShape 27" id="27"/>
          <p:cNvSpPr/>
          <p:nvPr/>
        </p:nvSpPr>
        <p:spPr>
          <a:xfrm rot="0" flipH="false" flipV="false">
            <a:off x="7239000" y="41021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监控层：</a:t>
            </a:r>
            <a:r>
              <a:rPr lang="en-US" b="false" i="false" strike="noStrike" u="none" sz="1400">
                <a:solidFill>
                  <a:srgbClr val="FFFFFF"/>
                </a:solidFill>
                <a:latin typeface="Noto Sans SC"/>
                <a:ea typeface="Noto Sans SC"/>
                <a:cs typeface="Noto Sans SC"/>
                <a:sym typeface="Noto Sans SC"/>
              </a:rPr>
              <a:t>阅读量、互动数据实时监控</a:t>
            </a:r>
            <a:endParaRPr lang="en-US" sz="1100"/>
          </a:p>
        </p:txBody>
      </p:sp>
      <p:sp>
        <p:nvSpPr>
          <p:cNvPr name="AutoShape 28" id="28"/>
          <p:cNvSpPr/>
          <p:nvPr/>
        </p:nvSpPr>
        <p:spPr>
          <a:xfrm rot="0" flipH="false" flipV="false">
            <a:off x="762000" y="5969000"/>
            <a:ext cx="10668000" cy="508000"/>
          </a:xfrm>
          <a:prstGeom prst="roundRect">
            <a:avLst>
              <a:gd name="adj" fmla="val 25000"/>
            </a:avLst>
          </a:prstGeom>
          <a:solidFill>
            <a:srgbClr val="00BFFF">
              <a:alpha val="15000"/>
            </a:srgbClr>
          </a:solidFill>
          <a:ln w="12700" cmpd="sng" cap="flat">
            <a:solidFill>
              <a:srgbClr val="00BFFF">
                <a:alpha val="40000"/>
              </a:srgbClr>
            </a:solid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1016000" y="6070600"/>
            <a:ext cx="101600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solidFill>
                <a:latin typeface="Noto Sans SC"/>
                <a:ea typeface="Noto Sans SC"/>
                <a:cs typeface="Noto Sans SC"/>
                <a:sym typeface="Noto Sans SC"/>
              </a:rPr>
              <a:t>核心洞察：架构思想可迁移到任何 AI 自动化系统，实现逻辑复用与快速迭代</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架构已就位</a:t>
            </a:r>
            <a:endParaRPr lang="en-US" sz="1100"/>
          </a:p>
        </p:txBody>
      </p:sp>
      <p:sp>
        <p:nvSpPr>
          <p:cNvPr name="AutoShape 4" id="4"/>
          <p:cNvSpPr/>
          <p:nvPr/>
        </p:nvSpPr>
        <p:spPr>
          <a:xfrm rot="0" flipH="false" flipV="false">
            <a:off x="762000" y="2286000"/>
            <a:ext cx="2413000" cy="2286000"/>
          </a:xfrm>
          <a:prstGeom prst="roundRect">
            <a:avLst>
              <a:gd name="adj" fmla="val 5555"/>
            </a:avLst>
          </a:prstGeom>
          <a:solidFill>
            <a:srgbClr val="00BFFF">
              <a:alpha val="15000"/>
            </a:srgbClr>
          </a:solidFill>
          <a:ln w="25400" cmpd="sng" cap="flat">
            <a:solidFill>
              <a:srgbClr val="00BFFF">
                <a:alpha val="10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663700" y="2540000"/>
            <a:ext cx="609600" cy="609600"/>
          </a:xfrm>
          <a:prstGeom prst="rect">
            <a:avLst/>
          </a:prstGeom>
        </p:spPr>
      </p:pic>
      <p:sp>
        <p:nvSpPr>
          <p:cNvPr name="AutoShape 6" id="6"/>
          <p:cNvSpPr/>
          <p:nvPr/>
        </p:nvSpPr>
        <p:spPr>
          <a:xfrm rot="0" flipH="false" flipV="false">
            <a:off x="889000" y="3238500"/>
            <a:ext cx="2159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FFFFFF"/>
                </a:solidFill>
                <a:latin typeface="Noto Sans SC"/>
                <a:ea typeface="Noto Sans SC"/>
                <a:cs typeface="Noto Sans SC"/>
                <a:sym typeface="Noto Sans SC"/>
              </a:rPr>
              <a:t>数据层</a:t>
            </a:r>
            <a:endParaRPr lang="en-US" sz="1100"/>
          </a:p>
        </p:txBody>
      </p:sp>
      <p:sp>
        <p:nvSpPr>
          <p:cNvPr name="AutoShape 7" id="7"/>
          <p:cNvSpPr/>
          <p:nvPr/>
        </p:nvSpPr>
        <p:spPr>
          <a:xfrm rot="0" flipH="false" flipV="false">
            <a:off x="889000" y="3619500"/>
            <a:ext cx="2159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00"/>
                </a:solidFill>
                <a:latin typeface="Noto Sans SC"/>
                <a:ea typeface="Noto Sans SC"/>
                <a:cs typeface="Noto Sans SC"/>
                <a:sym typeface="Noto Sans SC"/>
              </a:rPr>
              <a:t>核心问题：数据从哪来？</a:t>
            </a:r>
            <a:endParaRPr lang="en-US" sz="1100"/>
          </a:p>
        </p:txBody>
      </p:sp>
      <p:sp>
        <p:nvSpPr>
          <p:cNvPr name="AutoShape 8" id="8"/>
          <p:cNvSpPr/>
          <p:nvPr/>
        </p:nvSpPr>
        <p:spPr>
          <a:xfrm rot="0" flipH="false" flipV="false">
            <a:off x="3429000" y="2286000"/>
            <a:ext cx="2413000" cy="2286000"/>
          </a:xfrm>
          <a:prstGeom prst="roundRect">
            <a:avLst>
              <a:gd name="adj" fmla="val 5555"/>
            </a:avLst>
          </a:prstGeom>
          <a:solidFill>
            <a:srgbClr val="FFFFFF">
              <a:alpha val="5000"/>
            </a:srgbClr>
          </a:solidFill>
          <a:ln w="12700" cmpd="sng" cap="flat">
            <a:solidFill>
              <a:srgbClr val="FFFFFF">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330700" y="2540000"/>
            <a:ext cx="609600" cy="609600"/>
          </a:xfrm>
          <a:prstGeom prst="rect">
            <a:avLst/>
          </a:prstGeom>
        </p:spPr>
      </p:pic>
      <p:sp>
        <p:nvSpPr>
          <p:cNvPr name="AutoShape 10" id="10"/>
          <p:cNvSpPr/>
          <p:nvPr/>
        </p:nvSpPr>
        <p:spPr>
          <a:xfrm rot="0" flipH="false" flipV="false">
            <a:off x="3556000" y="3238500"/>
            <a:ext cx="2159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FFFFFF">
                    <a:alpha val="80000"/>
                  </a:srgbClr>
                </a:solidFill>
                <a:latin typeface="Noto Sans SC"/>
                <a:ea typeface="Noto Sans SC"/>
                <a:cs typeface="Noto Sans SC"/>
                <a:sym typeface="Noto Sans SC"/>
              </a:rPr>
              <a:t>策略层</a:t>
            </a:r>
            <a:endParaRPr lang="en-US" sz="1100"/>
          </a:p>
        </p:txBody>
      </p:sp>
      <p:sp>
        <p:nvSpPr>
          <p:cNvPr name="AutoShape 11" id="11"/>
          <p:cNvSpPr/>
          <p:nvPr/>
        </p:nvSpPr>
        <p:spPr>
          <a:xfrm rot="0" flipH="false" flipV="false">
            <a:off x="3556000" y="3619500"/>
            <a:ext cx="2159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50196"/>
                  </a:srgbClr>
                </a:solidFill>
                <a:latin typeface="Noto Sans SC"/>
                <a:ea typeface="Noto Sans SC"/>
                <a:cs typeface="Noto Sans SC"/>
                <a:sym typeface="Noto Sans SC"/>
              </a:rPr>
              <a:t>业务逻辑与算法</a:t>
            </a:r>
            <a:endParaRPr lang="en-US" sz="1100"/>
          </a:p>
        </p:txBody>
      </p:sp>
      <p:sp>
        <p:nvSpPr>
          <p:cNvPr name="AutoShape 12" id="12"/>
          <p:cNvSpPr/>
          <p:nvPr/>
        </p:nvSpPr>
        <p:spPr>
          <a:xfrm rot="0" flipH="false" flipV="false">
            <a:off x="6096000" y="2286000"/>
            <a:ext cx="2413000" cy="2286000"/>
          </a:xfrm>
          <a:prstGeom prst="roundRect">
            <a:avLst>
              <a:gd name="adj" fmla="val 5555"/>
            </a:avLst>
          </a:prstGeom>
          <a:solidFill>
            <a:srgbClr val="FFFFFF">
              <a:alpha val="5000"/>
            </a:srgbClr>
          </a:solidFill>
          <a:ln w="12700" cmpd="sng" cap="flat">
            <a:solidFill>
              <a:srgbClr val="FFFFFF">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997700" y="2540000"/>
            <a:ext cx="609600" cy="609600"/>
          </a:xfrm>
          <a:prstGeom prst="rect">
            <a:avLst/>
          </a:prstGeom>
        </p:spPr>
      </p:pic>
      <p:sp>
        <p:nvSpPr>
          <p:cNvPr name="AutoShape 14" id="14"/>
          <p:cNvSpPr/>
          <p:nvPr/>
        </p:nvSpPr>
        <p:spPr>
          <a:xfrm rot="0" flipH="false" flipV="false">
            <a:off x="6223000" y="3238500"/>
            <a:ext cx="2159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FFFFFF">
                    <a:alpha val="80000"/>
                  </a:srgbClr>
                </a:solidFill>
                <a:latin typeface="Noto Sans SC"/>
                <a:ea typeface="Noto Sans SC"/>
                <a:cs typeface="Noto Sans SC"/>
                <a:sym typeface="Noto Sans SC"/>
              </a:rPr>
              <a:t>执行层</a:t>
            </a:r>
            <a:endParaRPr lang="en-US" sz="1100"/>
          </a:p>
        </p:txBody>
      </p:sp>
      <p:sp>
        <p:nvSpPr>
          <p:cNvPr name="AutoShape 15" id="15"/>
          <p:cNvSpPr/>
          <p:nvPr/>
        </p:nvSpPr>
        <p:spPr>
          <a:xfrm rot="0" flipH="false" flipV="false">
            <a:off x="6223000" y="3619500"/>
            <a:ext cx="2159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50196"/>
                  </a:srgbClr>
                </a:solidFill>
                <a:latin typeface="Noto Sans SC"/>
                <a:ea typeface="Noto Sans SC"/>
                <a:cs typeface="Noto Sans SC"/>
                <a:sym typeface="Noto Sans SC"/>
              </a:rPr>
              <a:t>任务调度与执行</a:t>
            </a:r>
            <a:endParaRPr lang="en-US" sz="1100"/>
          </a:p>
        </p:txBody>
      </p:sp>
      <p:sp>
        <p:nvSpPr>
          <p:cNvPr name="AutoShape 16" id="16"/>
          <p:cNvSpPr/>
          <p:nvPr/>
        </p:nvSpPr>
        <p:spPr>
          <a:xfrm rot="0" flipH="false" flipV="false">
            <a:off x="8763000" y="2286000"/>
            <a:ext cx="2413000" cy="2286000"/>
          </a:xfrm>
          <a:prstGeom prst="roundRect">
            <a:avLst>
              <a:gd name="adj" fmla="val 5555"/>
            </a:avLst>
          </a:prstGeom>
          <a:solidFill>
            <a:srgbClr val="FFFFFF">
              <a:alpha val="5000"/>
            </a:srgbClr>
          </a:solidFill>
          <a:ln w="12700" cmpd="sng" cap="flat">
            <a:solidFill>
              <a:srgbClr val="FFFFFF">
                <a:alpha val="3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664700" y="2540000"/>
            <a:ext cx="609600" cy="609600"/>
          </a:xfrm>
          <a:prstGeom prst="rect">
            <a:avLst/>
          </a:prstGeom>
        </p:spPr>
      </p:pic>
      <p:sp>
        <p:nvSpPr>
          <p:cNvPr name="AutoShape 18" id="18"/>
          <p:cNvSpPr/>
          <p:nvPr/>
        </p:nvSpPr>
        <p:spPr>
          <a:xfrm rot="0" flipH="false" flipV="false">
            <a:off x="8890000" y="3238500"/>
            <a:ext cx="2159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FFFFFF">
                    <a:alpha val="80000"/>
                  </a:srgbClr>
                </a:solidFill>
                <a:latin typeface="Noto Sans SC"/>
                <a:ea typeface="Noto Sans SC"/>
                <a:cs typeface="Noto Sans SC"/>
                <a:sym typeface="Noto Sans SC"/>
              </a:rPr>
              <a:t>监控层</a:t>
            </a:r>
            <a:endParaRPr lang="en-US" sz="1100"/>
          </a:p>
        </p:txBody>
      </p:sp>
      <p:sp>
        <p:nvSpPr>
          <p:cNvPr name="AutoShape 19" id="19"/>
          <p:cNvSpPr/>
          <p:nvPr/>
        </p:nvSpPr>
        <p:spPr>
          <a:xfrm rot="0" flipH="false" flipV="false">
            <a:off x="8890000" y="3619500"/>
            <a:ext cx="2159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50196"/>
                  </a:srgbClr>
                </a:solidFill>
                <a:latin typeface="Noto Sans SC"/>
                <a:ea typeface="Noto Sans SC"/>
                <a:cs typeface="Noto Sans SC"/>
                <a:sym typeface="Noto Sans SC"/>
              </a:rPr>
              <a:t>实时监控与告警</a:t>
            </a:r>
            <a:endParaRPr lang="en-US" sz="1100"/>
          </a:p>
        </p:txBody>
      </p:sp>
      <p:cxnSp>
        <p:nvCxnSpPr>
          <p:cNvPr name="Connector 20" id="20"/>
          <p:cNvCxnSpPr/>
          <p:nvPr/>
        </p:nvCxnSpPr>
        <p:spPr>
          <a:xfrm rot="-4092" flipH="false" flipV="false">
            <a:off x="762004" y="5073650"/>
            <a:ext cx="10668000" cy="12700"/>
          </a:xfrm>
          <a:prstGeom prst="straightConnector1">
            <a:avLst/>
          </a:prstGeom>
          <a:solidFill>
            <a:srgbClr val="DEE0E3">
              <a:alpha val="100000"/>
            </a:srgbClr>
          </a:solidFill>
          <a:ln w="12700" cmpd="sng" cap="flat">
            <a:solidFill>
              <a:srgbClr val="00BFFF">
                <a:alpha val="30000"/>
              </a:srgbClr>
            </a:solidFill>
            <a:prstDash val="solid"/>
            <a:round/>
            <a:headEnd type="none" w="med" len="med"/>
            <a:tailEnd type="none" w="med" len="med"/>
          </a:ln>
        </p:spPr>
      </p:cxnSp>
      <p:sp>
        <p:nvSpPr>
          <p:cNvPr name="AutoShape 21" id="21"/>
          <p:cNvSpPr/>
          <p:nvPr/>
        </p:nvSpPr>
        <p:spPr>
          <a:xfrm rot="0" flipH="false" flipV="false">
            <a:off x="762000" y="5270500"/>
            <a:ext cx="10668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C8C8C8"/>
                </a:solidFill>
                <a:latin typeface="Noto Sans SC"/>
                <a:ea typeface="Noto Sans SC"/>
                <a:cs typeface="Noto Sans SC"/>
                <a:sym typeface="Noto Sans SC"/>
              </a:rPr>
              <a:t>接下来，我们将从最基础的</a:t>
            </a:r>
            <a:r>
              <a:rPr lang="en-US" b="true" i="false" strike="noStrike" u="none" sz="1600">
                <a:solidFill>
                  <a:srgbClr val="00BFFF"/>
                </a:solidFill>
                <a:latin typeface="Noto Sans SC"/>
                <a:ea typeface="Noto Sans SC"/>
                <a:cs typeface="Noto Sans SC"/>
                <a:sym typeface="Noto Sans SC"/>
              </a:rPr>
              <a:t>数据层</a:t>
            </a:r>
            <a:r>
              <a:rPr lang="en-US" b="false" i="false" strike="noStrike" u="none" sz="1600">
                <a:solidFill>
                  <a:srgbClr val="C8C8C8"/>
                </a:solidFill>
                <a:latin typeface="Noto Sans SC"/>
                <a:ea typeface="Noto Sans SC"/>
                <a:cs typeface="Noto Sans SC"/>
                <a:sym typeface="Noto Sans SC"/>
              </a:rPr>
              <a:t>开始，逐层深入实现</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0F1E">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BinanceDataFetcher 设计策略</a:t>
            </a:r>
            <a:endParaRPr lang="en-US" sz="1100"/>
          </a:p>
        </p:txBody>
      </p:sp>
      <p:sp>
        <p:nvSpPr>
          <p:cNvPr name="AutoShape 4" id="4"/>
          <p:cNvSpPr/>
          <p:nvPr/>
        </p:nvSpPr>
        <p:spPr>
          <a:xfrm rot="0" flipH="false" flipV="false">
            <a:off x="762000" y="17145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alpha val="70196"/>
                  </a:srgbClr>
                </a:solidFill>
                <a:latin typeface="Noto Sans SC"/>
                <a:ea typeface="Noto Sans SC"/>
                <a:cs typeface="Noto Sans SC"/>
                <a:sym typeface="Noto Sans SC"/>
              </a:rPr>
              <a:t>模块 5.2 -- 数据获取与特征工程</a:t>
            </a:r>
            <a:endParaRPr lang="en-US" sz="1100"/>
          </a:p>
        </p:txBody>
      </p:sp>
      <p:sp>
        <p:nvSpPr>
          <p:cNvPr name="AutoShape 5" id="5"/>
          <p:cNvSpPr/>
          <p:nvPr/>
        </p:nvSpPr>
        <p:spPr>
          <a:xfrm rot="0" flipH="false" flipV="false">
            <a:off x="762000" y="2286000"/>
            <a:ext cx="10668000" cy="1270000"/>
          </a:xfrm>
          <a:prstGeom prst="roundRect">
            <a:avLst>
              <a:gd name="adj" fmla="val 10000"/>
            </a:avLst>
          </a:prstGeom>
          <a:solidFill>
            <a:srgbClr val="00BFFF">
              <a:alpha val="15000"/>
            </a:srgbClr>
          </a:solidFill>
          <a:ln w="12700" cmpd="sng" cap="flat">
            <a:solidFill>
              <a:srgbClr val="00BFFF">
                <a:alpha val="10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616200"/>
            <a:ext cx="609600" cy="609600"/>
          </a:xfrm>
          <a:prstGeom prst="rect">
            <a:avLst/>
          </a:prstGeom>
        </p:spPr>
      </p:pic>
      <p:sp>
        <p:nvSpPr>
          <p:cNvPr name="AutoShape 7" id="7"/>
          <p:cNvSpPr/>
          <p:nvPr/>
        </p:nvSpPr>
        <p:spPr>
          <a:xfrm rot="0" flipH="false" flipV="false">
            <a:off x="1778000" y="2540000"/>
            <a:ext cx="889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核心策略：先查本地缓存，不足时才请求API</a:t>
            </a:r>
            <a:endParaRPr lang="en-US" sz="1100"/>
          </a:p>
        </p:txBody>
      </p:sp>
      <p:sp>
        <p:nvSpPr>
          <p:cNvPr name="AutoShape 8" id="8"/>
          <p:cNvSpPr/>
          <p:nvPr/>
        </p:nvSpPr>
        <p:spPr>
          <a:xfrm rot="0" flipH="false" flipV="false">
            <a:off x="762000" y="3810000"/>
            <a:ext cx="3302000" cy="2286000"/>
          </a:xfrm>
          <a:prstGeom prst="roundRect">
            <a:avLst>
              <a:gd name="adj" fmla="val 5555"/>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4064000"/>
            <a:ext cx="508000" cy="508000"/>
          </a:xfrm>
          <a:prstGeom prst="rect">
            <a:avLst/>
          </a:prstGeom>
        </p:spPr>
      </p:pic>
      <p:sp>
        <p:nvSpPr>
          <p:cNvPr name="AutoShape 10" id="10"/>
          <p:cNvSpPr/>
          <p:nvPr/>
        </p:nvSpPr>
        <p:spPr>
          <a:xfrm rot="0" flipH="false" flipV="false">
            <a:off x="1016000" y="46355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减少API调用</a:t>
            </a:r>
            <a:endParaRPr lang="en-US" sz="1100"/>
          </a:p>
        </p:txBody>
      </p:sp>
      <p:sp>
        <p:nvSpPr>
          <p:cNvPr name="AutoShape 11" id="11"/>
          <p:cNvSpPr/>
          <p:nvPr/>
        </p:nvSpPr>
        <p:spPr>
          <a:xfrm rot="0" flipH="false" flipV="false">
            <a:off x="1016000" y="5016500"/>
            <a:ext cx="279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FFFFFF">
                    <a:alpha val="70196"/>
                  </a:srgbClr>
                </a:solidFill>
                <a:latin typeface="Noto Sans SC"/>
                <a:ea typeface="Noto Sans SC"/>
                <a:cs typeface="Noto Sans SC"/>
                <a:sym typeface="Noto Sans SC"/>
              </a:rPr>
              <a:t>避免因频繁请求导致的限流或IP封禁风险，保障服务稳定性。</a:t>
            </a:r>
            <a:endParaRPr lang="en-US" sz="1100"/>
          </a:p>
        </p:txBody>
      </p:sp>
      <p:sp>
        <p:nvSpPr>
          <p:cNvPr name="AutoShape 12" id="12"/>
          <p:cNvSpPr/>
          <p:nvPr/>
        </p:nvSpPr>
        <p:spPr>
          <a:xfrm rot="0" flipH="false" flipV="false">
            <a:off x="4445000" y="3810000"/>
            <a:ext cx="3302000" cy="2286000"/>
          </a:xfrm>
          <a:prstGeom prst="roundRect">
            <a:avLst>
              <a:gd name="adj" fmla="val 5555"/>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4699000" y="4064000"/>
            <a:ext cx="508000" cy="508000"/>
          </a:xfrm>
          <a:prstGeom prst="rect">
            <a:avLst/>
          </a:prstGeom>
        </p:spPr>
      </p:pic>
      <p:sp>
        <p:nvSpPr>
          <p:cNvPr name="AutoShape 14" id="14"/>
          <p:cNvSpPr/>
          <p:nvPr/>
        </p:nvSpPr>
        <p:spPr>
          <a:xfrm rot="0" flipH="false" flipV="false">
            <a:off x="4699000" y="46355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历史数据不变</a:t>
            </a:r>
            <a:endParaRPr lang="en-US" sz="1100"/>
          </a:p>
        </p:txBody>
      </p:sp>
      <p:sp>
        <p:nvSpPr>
          <p:cNvPr name="AutoShape 15" id="15"/>
          <p:cNvSpPr/>
          <p:nvPr/>
        </p:nvSpPr>
        <p:spPr>
          <a:xfrm rot="0" flipH="false" flipV="false">
            <a:off x="4699000" y="5016500"/>
            <a:ext cx="279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FFFFFF">
                    <a:alpha val="70196"/>
                  </a:srgbClr>
                </a:solidFill>
                <a:latin typeface="Noto Sans SC"/>
                <a:ea typeface="Noto Sans SC"/>
                <a:cs typeface="Noto Sans SC"/>
                <a:sym typeface="Noto Sans SC"/>
              </a:rPr>
              <a:t>确保历史数据的一致性，无需重复下载，节省存储空间和带宽。</a:t>
            </a:r>
            <a:endParaRPr lang="en-US" sz="1100"/>
          </a:p>
        </p:txBody>
      </p:sp>
      <p:sp>
        <p:nvSpPr>
          <p:cNvPr name="AutoShape 16" id="16"/>
          <p:cNvSpPr/>
          <p:nvPr/>
        </p:nvSpPr>
        <p:spPr>
          <a:xfrm rot="0" flipH="false" flipV="false">
            <a:off x="8128000" y="3810000"/>
            <a:ext cx="3302000" cy="2286000"/>
          </a:xfrm>
          <a:prstGeom prst="roundRect">
            <a:avLst>
              <a:gd name="adj" fmla="val 5555"/>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8382000" y="4064000"/>
            <a:ext cx="508000" cy="508000"/>
          </a:xfrm>
          <a:prstGeom prst="rect">
            <a:avLst/>
          </a:prstGeom>
        </p:spPr>
      </p:pic>
      <p:sp>
        <p:nvSpPr>
          <p:cNvPr name="AutoShape 18" id="18"/>
          <p:cNvSpPr/>
          <p:nvPr/>
        </p:nvSpPr>
        <p:spPr>
          <a:xfrm rot="0" flipH="false" flipV="false">
            <a:off x="8382000" y="46355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回测速度提升</a:t>
            </a:r>
            <a:endParaRPr lang="en-US" sz="1100"/>
          </a:p>
        </p:txBody>
      </p:sp>
      <p:sp>
        <p:nvSpPr>
          <p:cNvPr name="AutoShape 19" id="19"/>
          <p:cNvSpPr/>
          <p:nvPr/>
        </p:nvSpPr>
        <p:spPr>
          <a:xfrm rot="0" flipH="false" flipV="false">
            <a:off x="8382000" y="5016500"/>
            <a:ext cx="279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FFFFFF">
                    <a:alpha val="70196"/>
                  </a:srgbClr>
                </a:solidFill>
                <a:latin typeface="Noto Sans SC"/>
                <a:ea typeface="Noto Sans SC"/>
                <a:cs typeface="Noto Sans SC"/>
                <a:sym typeface="Noto Sans SC"/>
              </a:rPr>
              <a:t>本地读取速度比网络请求快10倍以上，大幅提升策略回测效率。</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F172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F17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762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数据获取流程</a:t>
            </a:r>
            <a:endParaRPr lang="en-US" sz="1100"/>
          </a:p>
        </p:txBody>
      </p:sp>
      <p:sp>
        <p:nvSpPr>
          <p:cNvPr name="AutoShape 4" id="4"/>
          <p:cNvSpPr/>
          <p:nvPr/>
        </p:nvSpPr>
        <p:spPr>
          <a:xfrm rot="0" flipH="false" flipV="false">
            <a:off x="762000" y="2032000"/>
            <a:ext cx="3048000" cy="762000"/>
          </a:xfrm>
          <a:prstGeom prst="roundRect">
            <a:avLst>
              <a:gd name="adj" fmla="val 16666"/>
            </a:avLst>
          </a:prstGeom>
          <a:solidFill>
            <a:srgbClr val="1E293B">
              <a:alpha val="80000"/>
            </a:srgbClr>
          </a:solidFill>
          <a:ln w="12700" cmpd="sng" cap="flat">
            <a:solidFill>
              <a:srgbClr val="00BFFF">
                <a:alpha val="10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952500" y="2260600"/>
            <a:ext cx="304800" cy="304800"/>
          </a:xfrm>
          <a:prstGeom prst="rect">
            <a:avLst/>
          </a:prstGeom>
        </p:spPr>
      </p:pic>
      <p:sp>
        <p:nvSpPr>
          <p:cNvPr name="AutoShape 6" id="6"/>
          <p:cNvSpPr/>
          <p:nvPr/>
        </p:nvSpPr>
        <p:spPr>
          <a:xfrm rot="0" flipH="false" flipV="false">
            <a:off x="1333500" y="2159000"/>
            <a:ext cx="228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solidFill>
                <a:latin typeface="Noto Sans SC"/>
                <a:ea typeface="Noto Sans SC"/>
                <a:cs typeface="Noto Sans SC"/>
                <a:sym typeface="Noto Sans SC"/>
              </a:rPr>
              <a:t>fetch_ohlcv() 被调用</a:t>
            </a:r>
            <a:endParaRPr lang="en-US" sz="1100"/>
          </a:p>
        </p:txBody>
      </p:sp>
      <p:cxnSp>
        <p:nvCxnSpPr>
          <p:cNvPr name="Connector 7" id="7"/>
          <p:cNvCxnSpPr/>
          <p:nvPr/>
        </p:nvCxnSpPr>
        <p:spPr>
          <a:xfrm rot="5285450" flipH="false" flipV="false">
            <a:off x="2095500" y="2978256"/>
            <a:ext cx="381000" cy="12700"/>
          </a:xfrm>
          <a:prstGeom prst="straightConnector1">
            <a:avLst/>
          </a:prstGeom>
          <a:solidFill>
            <a:srgbClr val="DEE0E3">
              <a:alpha val="100000"/>
            </a:srgbClr>
          </a:solidFill>
          <a:ln w="25400" cmpd="sng" cap="flat">
            <a:solidFill>
              <a:srgbClr val="FFFFFF">
                <a:alpha val="60000"/>
              </a:srgbClr>
            </a:solidFill>
            <a:prstDash val="solid"/>
            <a:round/>
            <a:headEnd type="none" w="lg" len="lg"/>
            <a:tailEnd type="arrow" w="sm" len="sm"/>
          </a:ln>
        </p:spPr>
      </p:cxnSp>
      <p:sp>
        <p:nvSpPr>
          <p:cNvPr name="AutoShape 8" id="8"/>
          <p:cNvSpPr/>
          <p:nvPr/>
        </p:nvSpPr>
        <p:spPr>
          <a:xfrm rot="0" flipH="false" flipV="false">
            <a:off x="762000" y="3175000"/>
            <a:ext cx="3048000" cy="762000"/>
          </a:xfrm>
          <a:prstGeom prst="roundRect">
            <a:avLst>
              <a:gd name="adj" fmla="val 16666"/>
            </a:avLst>
          </a:prstGeom>
          <a:solidFill>
            <a:srgbClr val="1E293B">
              <a:alpha val="80000"/>
            </a:srgbClr>
          </a:solidFill>
          <a:ln w="12700" cmpd="sng" cap="flat">
            <a:solidFill>
              <a:srgbClr val="00BFFF">
                <a:alpha val="10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952500" y="3403600"/>
            <a:ext cx="304800" cy="304800"/>
          </a:xfrm>
          <a:prstGeom prst="rect">
            <a:avLst/>
          </a:prstGeom>
        </p:spPr>
      </p:pic>
      <p:sp>
        <p:nvSpPr>
          <p:cNvPr name="AutoShape 10" id="10"/>
          <p:cNvSpPr/>
          <p:nvPr/>
        </p:nvSpPr>
        <p:spPr>
          <a:xfrm rot="0" flipH="false" flipV="false">
            <a:off x="1333500" y="3302000"/>
            <a:ext cx="228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solidFill>
                <a:latin typeface="Noto Sans SC"/>
                <a:ea typeface="Noto Sans SC"/>
                <a:cs typeface="Noto Sans SC"/>
                <a:sym typeface="Noto Sans SC"/>
              </a:rPr>
              <a:t>检查本地 SQLite 缓存</a:t>
            </a:r>
            <a:endParaRPr lang="en-US" sz="1100"/>
          </a:p>
        </p:txBody>
      </p:sp>
      <p:cxnSp>
        <p:nvCxnSpPr>
          <p:cNvPr name="Connector 11" id="11"/>
          <p:cNvCxnSpPr/>
          <p:nvPr/>
        </p:nvCxnSpPr>
        <p:spPr>
          <a:xfrm rot="5285450" flipH="false" flipV="false">
            <a:off x="2095500" y="4121256"/>
            <a:ext cx="381000" cy="12700"/>
          </a:xfrm>
          <a:prstGeom prst="straightConnector1">
            <a:avLst/>
          </a:prstGeom>
          <a:solidFill>
            <a:srgbClr val="DEE0E3">
              <a:alpha val="100000"/>
            </a:srgbClr>
          </a:solidFill>
          <a:ln w="25400" cmpd="sng" cap="flat">
            <a:solidFill>
              <a:srgbClr val="FFFFFF">
                <a:alpha val="60000"/>
              </a:srgbClr>
            </a:solidFill>
            <a:prstDash val="solid"/>
            <a:round/>
            <a:headEnd type="none" w="lg" len="lg"/>
            <a:tailEnd type="arrow" w="sm" len="sm"/>
          </a:ln>
        </p:spPr>
      </p:cxnSp>
      <p:sp>
        <p:nvSpPr>
          <p:cNvPr name="AutoShape 12" id="12"/>
          <p:cNvSpPr/>
          <p:nvPr/>
        </p:nvSpPr>
        <p:spPr>
          <a:xfrm rot="0" flipH="false" flipV="false">
            <a:off x="762000" y="4318000"/>
            <a:ext cx="3048000" cy="762000"/>
          </a:xfrm>
          <a:prstGeom prst="roundRect">
            <a:avLst>
              <a:gd name="adj" fmla="val 16666"/>
            </a:avLst>
          </a:prstGeom>
          <a:solidFill>
            <a:srgbClr val="1E293B">
              <a:alpha val="80000"/>
            </a:srgbClr>
          </a:solidFill>
          <a:ln w="12700" cmpd="sng" cap="flat">
            <a:solidFill>
              <a:srgbClr val="00BFFF">
                <a:alpha val="10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52500" y="4546600"/>
            <a:ext cx="304800" cy="304800"/>
          </a:xfrm>
          <a:prstGeom prst="rect">
            <a:avLst/>
          </a:prstGeom>
        </p:spPr>
      </p:pic>
      <p:sp>
        <p:nvSpPr>
          <p:cNvPr name="AutoShape 14" id="14"/>
          <p:cNvSpPr/>
          <p:nvPr/>
        </p:nvSpPr>
        <p:spPr>
          <a:xfrm rot="0" flipH="false" flipV="false">
            <a:off x="1333500" y="4445000"/>
            <a:ext cx="228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solidFill>
                <a:latin typeface="Noto Sans SC"/>
                <a:ea typeface="Noto Sans SC"/>
                <a:cs typeface="Noto Sans SC"/>
                <a:sym typeface="Noto Sans SC"/>
              </a:rPr>
              <a:t>缓存数据是否 ≥ 90%？</a:t>
            </a:r>
            <a:endParaRPr lang="en-US" sz="1100"/>
          </a:p>
        </p:txBody>
      </p:sp>
      <p:cxnSp>
        <p:nvCxnSpPr>
          <p:cNvPr name="Connector 15" id="15"/>
          <p:cNvCxnSpPr/>
          <p:nvPr/>
        </p:nvCxnSpPr>
        <p:spPr>
          <a:xfrm rot="-57290" flipH="false" flipV="false">
            <a:off x="3810053" y="4692650"/>
            <a:ext cx="762000" cy="12700"/>
          </a:xfrm>
          <a:prstGeom prst="straightConnector1">
            <a:avLst/>
          </a:prstGeom>
          <a:solidFill>
            <a:srgbClr val="DEE0E3">
              <a:alpha val="100000"/>
            </a:srgbClr>
          </a:solidFill>
          <a:ln w="25400" cmpd="sng" cap="flat">
            <a:solidFill>
              <a:srgbClr val="FFFFFF">
                <a:alpha val="60000"/>
              </a:srgbClr>
            </a:solidFill>
            <a:prstDash val="solid"/>
            <a:round/>
            <a:headEnd type="none" w="lg" len="lg"/>
            <a:tailEnd type="arrow" w="sm" len="sm"/>
          </a:ln>
        </p:spPr>
      </p:cxnSp>
      <p:sp>
        <p:nvSpPr>
          <p:cNvPr name="AutoShape 16" id="16"/>
          <p:cNvSpPr/>
          <p:nvPr/>
        </p:nvSpPr>
        <p:spPr>
          <a:xfrm rot="0" flipH="false" flipV="false">
            <a:off x="4572000" y="4318000"/>
            <a:ext cx="3048000" cy="762000"/>
          </a:xfrm>
          <a:prstGeom prst="roundRect">
            <a:avLst>
              <a:gd name="adj" fmla="val 16666"/>
            </a:avLst>
          </a:prstGeom>
          <a:solidFill>
            <a:srgbClr val="1E293B">
              <a:alpha val="80000"/>
            </a:srgbClr>
          </a:solidFill>
          <a:ln w="12700" cmpd="sng" cap="flat">
            <a:solidFill>
              <a:srgbClr val="00BFFF">
                <a:alpha val="10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4762500" y="4546600"/>
            <a:ext cx="304800" cy="304800"/>
          </a:xfrm>
          <a:prstGeom prst="rect">
            <a:avLst/>
          </a:prstGeom>
        </p:spPr>
      </p:pic>
      <p:sp>
        <p:nvSpPr>
          <p:cNvPr name="AutoShape 18" id="18"/>
          <p:cNvSpPr/>
          <p:nvPr/>
        </p:nvSpPr>
        <p:spPr>
          <a:xfrm rot="0" flipH="false" flipV="false">
            <a:off x="5143500" y="4445000"/>
            <a:ext cx="228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solidFill>
                <a:latin typeface="Noto Sans SC"/>
                <a:ea typeface="Noto Sans SC"/>
                <a:cs typeface="Noto Sans SC"/>
                <a:sym typeface="Noto Sans SC"/>
              </a:rPr>
              <a:t>是：直接返回缓存数据</a:t>
            </a:r>
            <a:endParaRPr lang="en-US" sz="1100"/>
          </a:p>
        </p:txBody>
      </p:sp>
      <p:cxnSp>
        <p:nvCxnSpPr>
          <p:cNvPr name="Connector 19" id="19"/>
          <p:cNvCxnSpPr/>
          <p:nvPr/>
        </p:nvCxnSpPr>
        <p:spPr>
          <a:xfrm rot="5285450" flipH="false" flipV="false">
            <a:off x="2095500" y="5264256"/>
            <a:ext cx="381000" cy="12700"/>
          </a:xfrm>
          <a:prstGeom prst="straightConnector1">
            <a:avLst/>
          </a:prstGeom>
          <a:solidFill>
            <a:srgbClr val="DEE0E3">
              <a:alpha val="100000"/>
            </a:srgbClr>
          </a:solidFill>
          <a:ln w="25400" cmpd="sng" cap="flat">
            <a:solidFill>
              <a:srgbClr val="FFFFFF">
                <a:alpha val="60000"/>
              </a:srgbClr>
            </a:solidFill>
            <a:prstDash val="solid"/>
            <a:round/>
            <a:headEnd type="none" w="lg" len="lg"/>
            <a:tailEnd type="arrow" w="sm" len="sm"/>
          </a:ln>
        </p:spPr>
      </p:cxnSp>
      <p:sp>
        <p:nvSpPr>
          <p:cNvPr name="AutoShape 20" id="20"/>
          <p:cNvSpPr/>
          <p:nvPr/>
        </p:nvSpPr>
        <p:spPr>
          <a:xfrm rot="0" flipH="false" flipV="false">
            <a:off x="762000" y="5461000"/>
            <a:ext cx="3048000" cy="762000"/>
          </a:xfrm>
          <a:prstGeom prst="roundRect">
            <a:avLst>
              <a:gd name="adj" fmla="val 16666"/>
            </a:avLst>
          </a:prstGeom>
          <a:solidFill>
            <a:srgbClr val="1E293B">
              <a:alpha val="80000"/>
            </a:srgbClr>
          </a:solidFill>
          <a:ln w="12700" cmpd="sng" cap="flat">
            <a:solidFill>
              <a:srgbClr val="00BFFF">
                <a:alpha val="100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952500" y="5689600"/>
            <a:ext cx="304800" cy="304800"/>
          </a:xfrm>
          <a:prstGeom prst="rect">
            <a:avLst/>
          </a:prstGeom>
        </p:spPr>
      </p:pic>
      <p:sp>
        <p:nvSpPr>
          <p:cNvPr name="AutoShape 22" id="22"/>
          <p:cNvSpPr/>
          <p:nvPr/>
        </p:nvSpPr>
        <p:spPr>
          <a:xfrm rot="0" flipH="false" flipV="false">
            <a:off x="1333500" y="5588000"/>
            <a:ext cx="228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solidFill>
                <a:latin typeface="Noto Sans SC"/>
                <a:ea typeface="Noto Sans SC"/>
                <a:cs typeface="Noto Sans SC"/>
                <a:sym typeface="Noto Sans SC"/>
              </a:rPr>
              <a:t>否：从币安API获取增量数据</a:t>
            </a:r>
            <a:endParaRPr lang="en-US" sz="1100"/>
          </a:p>
        </p:txBody>
      </p:sp>
      <p:cxnSp>
        <p:nvCxnSpPr>
          <p:cNvPr name="Connector 23" id="23"/>
          <p:cNvCxnSpPr/>
          <p:nvPr/>
        </p:nvCxnSpPr>
        <p:spPr>
          <a:xfrm rot="-57290" flipH="false" flipV="false">
            <a:off x="3810053" y="5835650"/>
            <a:ext cx="762000" cy="12700"/>
          </a:xfrm>
          <a:prstGeom prst="straightConnector1">
            <a:avLst/>
          </a:prstGeom>
          <a:solidFill>
            <a:srgbClr val="DEE0E3">
              <a:alpha val="100000"/>
            </a:srgbClr>
          </a:solidFill>
          <a:ln w="25400" cmpd="sng" cap="flat">
            <a:solidFill>
              <a:srgbClr val="FFFFFF">
                <a:alpha val="60000"/>
              </a:srgbClr>
            </a:solidFill>
            <a:prstDash val="solid"/>
            <a:round/>
            <a:headEnd type="none" w="lg" len="lg"/>
            <a:tailEnd type="arrow" w="sm" len="sm"/>
          </a:ln>
        </p:spPr>
      </p:cxnSp>
      <p:sp>
        <p:nvSpPr>
          <p:cNvPr name="AutoShape 24" id="24"/>
          <p:cNvSpPr/>
          <p:nvPr/>
        </p:nvSpPr>
        <p:spPr>
          <a:xfrm rot="0" flipH="false" flipV="false">
            <a:off x="4572000" y="5461000"/>
            <a:ext cx="3048000" cy="762000"/>
          </a:xfrm>
          <a:prstGeom prst="roundRect">
            <a:avLst>
              <a:gd name="adj" fmla="val 16666"/>
            </a:avLst>
          </a:prstGeom>
          <a:solidFill>
            <a:srgbClr val="1E293B">
              <a:alpha val="80000"/>
            </a:srgbClr>
          </a:solidFill>
          <a:ln w="12700" cmpd="sng" cap="flat">
            <a:solidFill>
              <a:srgbClr val="00BFFF">
                <a:alpha val="100000"/>
              </a:srgbClr>
            </a:solid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4762500" y="5689600"/>
            <a:ext cx="304800" cy="304800"/>
          </a:xfrm>
          <a:prstGeom prst="rect">
            <a:avLst/>
          </a:prstGeom>
        </p:spPr>
      </p:pic>
      <p:sp>
        <p:nvSpPr>
          <p:cNvPr name="AutoShape 26" id="26"/>
          <p:cNvSpPr/>
          <p:nvPr/>
        </p:nvSpPr>
        <p:spPr>
          <a:xfrm rot="0" flipH="false" flipV="false">
            <a:off x="5143500" y="5588000"/>
            <a:ext cx="228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solidFill>
                <a:latin typeface="Noto Sans SC"/>
                <a:ea typeface="Noto Sans SC"/>
                <a:cs typeface="Noto Sans SC"/>
                <a:sym typeface="Noto Sans SC"/>
              </a:rPr>
              <a:t>合并 + 去重 + 保存</a:t>
            </a:r>
            <a:endParaRPr lang="en-US" sz="1100"/>
          </a:p>
        </p:txBody>
      </p:sp>
      <p:cxnSp>
        <p:nvCxnSpPr>
          <p:cNvPr name="Connector 27" id="27"/>
          <p:cNvCxnSpPr/>
          <p:nvPr/>
        </p:nvCxnSpPr>
        <p:spPr>
          <a:xfrm rot="-57290" flipH="false" flipV="false">
            <a:off x="7620053" y="5835650"/>
            <a:ext cx="762000" cy="12700"/>
          </a:xfrm>
          <a:prstGeom prst="straightConnector1">
            <a:avLst/>
          </a:prstGeom>
          <a:solidFill>
            <a:srgbClr val="DEE0E3">
              <a:alpha val="100000"/>
            </a:srgbClr>
          </a:solidFill>
          <a:ln w="25400" cmpd="sng" cap="flat">
            <a:solidFill>
              <a:srgbClr val="FFFFFF">
                <a:alpha val="60000"/>
              </a:srgbClr>
            </a:solidFill>
            <a:prstDash val="solid"/>
            <a:round/>
            <a:headEnd type="none" w="lg" len="lg"/>
            <a:tailEnd type="arrow" w="sm" len="sm"/>
          </a:ln>
        </p:spPr>
      </p:cxnSp>
      <p:sp>
        <p:nvSpPr>
          <p:cNvPr name="AutoShape 28" id="28"/>
          <p:cNvSpPr/>
          <p:nvPr/>
        </p:nvSpPr>
        <p:spPr>
          <a:xfrm rot="0" flipH="false" flipV="false">
            <a:off x="8382000" y="5461000"/>
            <a:ext cx="3048000" cy="762000"/>
          </a:xfrm>
          <a:prstGeom prst="roundRect">
            <a:avLst>
              <a:gd name="adj" fmla="val 16666"/>
            </a:avLst>
          </a:prstGeom>
          <a:solidFill>
            <a:srgbClr val="1E293B">
              <a:alpha val="80000"/>
            </a:srgbClr>
          </a:solidFill>
          <a:ln w="12700" cmpd="sng" cap="flat">
            <a:solidFill>
              <a:srgbClr val="00BFFF">
                <a:alpha val="100000"/>
              </a:srgbClr>
            </a:solidFill>
            <a:prstDash val="solid"/>
            <a:round/>
          </a:ln>
        </p:spPr>
        <p:txBody>
          <a:bodyPr anchor="ctr" rtlCol="false" vert="horz" wrap="square" lIns="63500" rIns="63500" tIns="63500" bIns="63500"/>
          <a:lstStyle/>
          <a:p>
            <a:pPr algn="ctr">
              <a:defRPr/>
            </a:pPr>
            <a:endParaRPr/>
          </a:p>
        </p:txBody>
      </p:sp>
      <p:pic>
        <p:nvPicPr>
          <p:cNvPr name="Picture 29" id="29"/>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8572500" y="5689600"/>
            <a:ext cx="304800" cy="304800"/>
          </a:xfrm>
          <a:prstGeom prst="rect">
            <a:avLst/>
          </a:prstGeom>
        </p:spPr>
      </p:pic>
      <p:sp>
        <p:nvSpPr>
          <p:cNvPr name="AutoShape 30" id="30"/>
          <p:cNvSpPr/>
          <p:nvPr/>
        </p:nvSpPr>
        <p:spPr>
          <a:xfrm rot="0" flipH="false" flipV="false">
            <a:off x="8953500" y="5588000"/>
            <a:ext cx="228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solidFill>
                <a:latin typeface="Noto Sans SC"/>
                <a:ea typeface="Noto Sans SC"/>
                <a:cs typeface="Noto Sans SC"/>
                <a:sym typeface="Noto Sans SC"/>
              </a:rPr>
              <a:t>返回最终结果</a:t>
            </a:r>
            <a:endParaRPr lang="en-US" sz="1100"/>
          </a:p>
        </p:txBody>
      </p:sp>
      <p:sp>
        <p:nvSpPr>
          <p:cNvPr name="AutoShape 31" id="31"/>
          <p:cNvSpPr/>
          <p:nvPr/>
        </p:nvSpPr>
        <p:spPr>
          <a:xfrm rot="0" flipH="false" flipV="false">
            <a:off x="4572000" y="4889500"/>
            <a:ext cx="685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FFFF">
                    <a:alpha val="60000"/>
                  </a:srgbClr>
                </a:solidFill>
                <a:latin typeface="Noto Sans SC"/>
                <a:ea typeface="Noto Sans SC"/>
                <a:cs typeface="Noto Sans SC"/>
                <a:sym typeface="Noto Sans SC"/>
              </a:rPr>
              <a:t> 设置90%阈值是为了避免因缺少最新1-2条数据而触发全量请求</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缓存策略核心代码</a:t>
            </a:r>
            <a:endParaRPr lang="en-US" sz="1100"/>
          </a:p>
        </p:txBody>
      </p:sp>
      <p:sp>
        <p:nvSpPr>
          <p:cNvPr name="AutoShape 4" id="4"/>
          <p:cNvSpPr/>
          <p:nvPr/>
        </p:nvSpPr>
        <p:spPr>
          <a:xfrm rot="0" flipH="false" flipV="false">
            <a:off x="762000" y="2032000"/>
            <a:ext cx="10668000" cy="4064000"/>
          </a:xfrm>
          <a:prstGeom prst="roundRect">
            <a:avLst>
              <a:gd name="adj" fmla="val 3125"/>
            </a:avLst>
          </a:prstGeom>
          <a:solidFill>
            <a:srgbClr val="141E30">
              <a:alpha val="9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2286000"/>
            <a:ext cx="10160000" cy="3556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64748B"/>
                </a:solidFill>
                <a:latin typeface="Source Code Pro"/>
                <a:ea typeface="Source Code Pro"/>
                <a:cs typeface="Source Code Pro"/>
                <a:sym typeface="Source Code Pro"/>
              </a:rPr>
              <a:t>def</a:t>
            </a:r>
            <a:r>
              <a:rPr lang="en-US" b="false" i="false" strike="noStrike" u="none" sz="1400">
                <a:solidFill>
                  <a:srgbClr val="00BFFF"/>
                </a:solidFill>
                <a:latin typeface="Source Code Pro"/>
                <a:ea typeface="Source Code Pro"/>
                <a:cs typeface="Source Code Pro"/>
                <a:sym typeface="Source Code Pro"/>
              </a:rPr>
              <a:t>fetch_ohlcv</a:t>
            </a:r>
            <a:r>
              <a:rPr lang="en-US" b="false" i="false" strike="noStrike" u="none" sz="1400">
                <a:solidFill>
                  <a:srgbClr val="E2E8F0"/>
                </a:solidFill>
                <a:latin typeface="Source Code Pro"/>
                <a:ea typeface="Source Code Pro"/>
                <a:cs typeface="Source Code Pro"/>
                <a:sym typeface="Source Code Pro"/>
              </a:rPr>
              <a:t>(self, symbol: str = 'ETH/USDT', timeframe: str = '4h', limit: int = 500) -&gt; pd.DataFrame:</a:t>
            </a:r>
            <a:r>
              <a:rPr lang="en-US" b="false" i="false" strike="noStrike" u="none" sz="1400">
                <a:solidFill>
                  <a:srgbClr val="1F2329"/>
                </a:solidFill>
                <a:latin typeface="Source Code Pro"/>
                <a:ea typeface="Source Code Pro"/>
                <a:cs typeface="Source Code Pro"/>
                <a:sym typeface="Source Code Pro"/>
              </a:rPr>
              <a:t/>
            </a:r>
            <a:endParaRPr lang="en-US" sz="1100"/>
          </a:p>
          <a:p>
            <a:pPr algn="l" indent="0">
              <a:lnSpc>
                <a:spcPct val="108333"/>
              </a:lnSpc>
            </a:pPr>
            <a:r>
              <a:rPr lang="en-US" b="false" i="false" strike="noStrike" u="none" sz="1400">
                <a:solidFill>
                  <a:srgbClr val="64748B"/>
                </a:solidFill>
                <a:latin typeface="Source Code Pro"/>
                <a:ea typeface="Source Code Pro"/>
                <a:cs typeface="Source Code Pro"/>
                <a:sym typeface="Source Code Pro"/>
              </a:rPr>
              <a:t># 先检查本地缓存</a:t>
            </a:r>
            <a:r>
              <a:rPr lang="en-US" b="false" i="false" strike="noStrike" u="none" sz="1400">
                <a:solidFill>
                  <a:srgbClr val="1F2329"/>
                </a:solidFill>
                <a:latin typeface="Source Code Pro"/>
                <a:ea typeface="Source Code Pro"/>
                <a:cs typeface="Source Code Pro"/>
                <a:sym typeface="Source Code Pro"/>
              </a:rPr>
              <a:t/>
            </a:r>
          </a:p>
          <a:p>
            <a:pPr algn="l" indent="0">
              <a:lnSpc>
                <a:spcPct val="108333"/>
              </a:lnSpc>
            </a:pPr>
            <a:r>
              <a:rPr lang="en-US" b="false" i="false" strike="noStrike" u="none" sz="1400">
                <a:solidFill>
                  <a:srgbClr val="E2E8F0"/>
                </a:solidFill>
                <a:latin typeface="Source Code Pro"/>
                <a:ea typeface="Source Code Pro"/>
                <a:cs typeface="Source Code Pro"/>
                <a:sym typeface="Source Code Pro"/>
              </a:rPr>
              <a:t>cached_data = self._get_cached_data(symbol, timeframe, limit)</a:t>
            </a:r>
            <a:r>
              <a:rPr lang="en-US" b="false" i="false" strike="noStrike" u="none" sz="1400">
                <a:solidFill>
                  <a:srgbClr val="1F2329"/>
                </a:solidFill>
                <a:latin typeface="Source Code Pro"/>
                <a:ea typeface="Source Code Pro"/>
                <a:cs typeface="Source Code Pro"/>
                <a:sym typeface="Source Code Pro"/>
              </a:rPr>
              <a:t/>
            </a:r>
          </a:p>
          <a:p>
            <a:pPr algn="l" indent="0">
              <a:lnSpc>
                <a:spcPct val="108333"/>
              </a:lnSpc>
            </a:pPr>
            <a:r>
              <a:rPr lang="en-US" b="false" i="false" strike="noStrike" u="none" sz="1400">
                <a:solidFill>
                  <a:srgbClr val="64748B"/>
                </a:solidFill>
                <a:latin typeface="Source Code Pro"/>
                <a:ea typeface="Source Code Pro"/>
                <a:cs typeface="Source Code Pro"/>
                <a:sym typeface="Source Code Pro"/>
              </a:rPr>
              <a:t>if</a:t>
            </a:r>
            <a:r>
              <a:rPr lang="en-US" b="false" i="false" strike="noStrike" u="none" sz="1400">
                <a:solidFill>
                  <a:srgbClr val="E2E8F0"/>
                </a:solidFill>
                <a:latin typeface="Source Code Pro"/>
                <a:ea typeface="Source Code Pro"/>
                <a:cs typeface="Source Code Pro"/>
                <a:sym typeface="Source Code Pro"/>
              </a:rPr>
              <a:t>len(cached_data) &gt;= limit * 0.9:</a:t>
            </a:r>
            <a:r>
              <a:rPr lang="en-US" b="false" i="false" strike="noStrike" u="none" sz="1400">
                <a:solidFill>
                  <a:srgbClr val="64748B"/>
                </a:solidFill>
                <a:latin typeface="Source Code Pro"/>
                <a:ea typeface="Source Code Pro"/>
                <a:cs typeface="Source Code Pro"/>
                <a:sym typeface="Source Code Pro"/>
              </a:rPr>
              <a:t># 核心逻辑：缓存充足则直接返回</a:t>
            </a:r>
            <a:r>
              <a:rPr lang="en-US" b="false" i="false" strike="noStrike" u="none" sz="1400">
                <a:solidFill>
                  <a:srgbClr val="1F2329"/>
                </a:solidFill>
                <a:latin typeface="Source Code Pro"/>
                <a:ea typeface="Source Code Pro"/>
                <a:cs typeface="Source Code Pro"/>
                <a:sym typeface="Source Code Pro"/>
              </a:rPr>
              <a:t/>
            </a:r>
          </a:p>
          <a:p>
            <a:pPr algn="l" indent="0">
              <a:lnSpc>
                <a:spcPct val="108333"/>
              </a:lnSpc>
            </a:pPr>
            <a:r>
              <a:rPr lang="en-US" b="false" i="false" strike="noStrike" u="none" sz="1400">
                <a:solidFill>
                  <a:srgbClr val="64748B"/>
                </a:solidFill>
                <a:latin typeface="Source Code Pro"/>
                <a:ea typeface="Source Code Pro"/>
                <a:cs typeface="Source Code Pro"/>
                <a:sym typeface="Source Code Pro"/>
              </a:rPr>
              <a:t>return</a:t>
            </a:r>
            <a:r>
              <a:rPr lang="en-US" b="false" i="false" strike="noStrike" u="none" sz="1400">
                <a:solidFill>
                  <a:srgbClr val="E2E8F0"/>
                </a:solidFill>
                <a:latin typeface="Source Code Pro"/>
                <a:ea typeface="Source Code Pro"/>
                <a:cs typeface="Source Code Pro"/>
                <a:sym typeface="Source Code Pro"/>
              </a:rPr>
              <a:t>cached_data</a:t>
            </a:r>
            <a:r>
              <a:rPr lang="en-US" b="false" i="false" strike="noStrike" u="none" sz="1400">
                <a:solidFill>
                  <a:srgbClr val="1F2329"/>
                </a:solidFill>
                <a:latin typeface="Source Code Pro"/>
                <a:ea typeface="Source Code Pro"/>
                <a:cs typeface="Source Code Pro"/>
                <a:sym typeface="Source Code Pro"/>
              </a:rPr>
              <a:t/>
            </a:r>
          </a:p>
          <a:p>
            <a:pPr algn="l" indent="0">
              <a:lnSpc>
                <a:spcPct val="108333"/>
              </a:lnSpc>
            </a:pPr>
            <a:r>
              <a:rPr lang="en-US" b="false" i="false" strike="noStrike" u="none" sz="1400">
                <a:solidFill>
                  <a:srgbClr val="64748B"/>
                </a:solidFill>
                <a:latin typeface="Source Code Pro"/>
                <a:ea typeface="Source Code Pro"/>
                <a:cs typeface="Source Code Pro"/>
                <a:sym typeface="Source Code Pro"/>
              </a:rPr>
              <a:t># 从交易所获取增量数据</a:t>
            </a:r>
            <a:r>
              <a:rPr lang="en-US" b="false" i="false" strike="noStrike" u="none" sz="1400">
                <a:solidFill>
                  <a:srgbClr val="1F2329"/>
                </a:solidFill>
                <a:latin typeface="Source Code Pro"/>
                <a:ea typeface="Source Code Pro"/>
                <a:cs typeface="Source Code Pro"/>
                <a:sym typeface="Source Code Pro"/>
              </a:rPr>
              <a:t/>
            </a:r>
          </a:p>
          <a:p>
            <a:pPr algn="l" indent="0">
              <a:lnSpc>
                <a:spcPct val="108333"/>
              </a:lnSpc>
            </a:pPr>
            <a:r>
              <a:rPr lang="en-US" b="false" i="false" strike="noStrike" u="none" sz="1400">
                <a:solidFill>
                  <a:srgbClr val="E2E8F0"/>
                </a:solidFill>
                <a:latin typeface="Source Code Pro"/>
                <a:ea typeface="Source Code Pro"/>
                <a:cs typeface="Source Code Pro"/>
                <a:sym typeface="Source Code Pro"/>
              </a:rPr>
              <a:t>since = None</a:t>
            </a:r>
            <a:r>
              <a:rPr lang="en-US" b="false" i="false" strike="noStrike" u="none" sz="1400">
                <a:solidFill>
                  <a:srgbClr val="1F2329"/>
                </a:solidFill>
                <a:latin typeface="Source Code Pro"/>
                <a:ea typeface="Source Code Pro"/>
                <a:cs typeface="Source Code Pro"/>
                <a:sym typeface="Source Code Pro"/>
              </a:rPr>
              <a:t/>
            </a:r>
          </a:p>
          <a:p>
            <a:pPr algn="l" indent="0">
              <a:lnSpc>
                <a:spcPct val="108333"/>
              </a:lnSpc>
            </a:pPr>
            <a:r>
              <a:rPr lang="en-US" b="false" i="false" strike="noStrike" u="none" sz="1400">
                <a:solidFill>
                  <a:srgbClr val="64748B"/>
                </a:solidFill>
                <a:latin typeface="Source Code Pro"/>
                <a:ea typeface="Source Code Pro"/>
                <a:cs typeface="Source Code Pro"/>
                <a:sym typeface="Source Code Pro"/>
              </a:rPr>
              <a:t>if</a:t>
            </a:r>
            <a:r>
              <a:rPr lang="en-US" b="false" i="false" strike="noStrike" u="none" sz="1400">
                <a:solidFill>
                  <a:srgbClr val="E2E8F0"/>
                </a:solidFill>
                <a:latin typeface="Source Code Pro"/>
                <a:ea typeface="Source Code Pro"/>
                <a:cs typeface="Source Code Pro"/>
                <a:sym typeface="Source Code Pro"/>
              </a:rPr>
              <a:t>len(cached_data) &gt; 0:</a:t>
            </a:r>
            <a:r>
              <a:rPr lang="en-US" b="false" i="false" strike="noStrike" u="none" sz="1400">
                <a:solidFill>
                  <a:srgbClr val="1F2329"/>
                </a:solidFill>
                <a:latin typeface="Source Code Pro"/>
                <a:ea typeface="Source Code Pro"/>
                <a:cs typeface="Source Code Pro"/>
                <a:sym typeface="Source Code Pro"/>
              </a:rPr>
              <a:t/>
            </a:r>
          </a:p>
          <a:p>
            <a:pPr algn="l" indent="0">
              <a:lnSpc>
                <a:spcPct val="108333"/>
              </a:lnSpc>
            </a:pPr>
            <a:r>
              <a:rPr lang="en-US" b="false" i="false" strike="noStrike" u="none" sz="1400">
                <a:solidFill>
                  <a:srgbClr val="E2E8F0"/>
                </a:solidFill>
                <a:latin typeface="Source Code Pro"/>
                <a:ea typeface="Source Code Pro"/>
                <a:cs typeface="Source Code Pro"/>
                <a:sym typeface="Source Code Pro"/>
              </a:rPr>
              <a:t>since = int(cached_data['timestamp'].max()) + 1</a:t>
            </a:r>
            <a:r>
              <a:rPr lang="en-US" b="false" i="false" strike="noStrike" u="none" sz="1400">
                <a:solidFill>
                  <a:srgbClr val="64748B"/>
                </a:solidFill>
                <a:latin typeface="Source Code Pro"/>
                <a:ea typeface="Source Code Pro"/>
                <a:cs typeface="Source Code Pro"/>
                <a:sym typeface="Source Code Pro"/>
              </a:rPr>
              <a:t># 核心逻辑：计算增量起始时间</a:t>
            </a:r>
            <a:r>
              <a:rPr lang="en-US" b="false" i="false" strike="noStrike" u="none" sz="1400">
                <a:solidFill>
                  <a:srgbClr val="1F2329"/>
                </a:solidFill>
                <a:latin typeface="Source Code Pro"/>
                <a:ea typeface="Source Code Pro"/>
                <a:cs typeface="Source Code Pro"/>
                <a:sym typeface="Source Code Pro"/>
              </a:rPr>
              <a:t/>
            </a:r>
          </a:p>
          <a:p>
            <a:pPr algn="l" indent="0">
              <a:lnSpc>
                <a:spcPct val="108333"/>
              </a:lnSpc>
            </a:pPr>
            <a:r>
              <a:rPr lang="en-US" b="false" i="false" strike="noStrike" u="none" sz="1400">
                <a:solidFill>
                  <a:srgbClr val="E2E8F0"/>
                </a:solidFill>
                <a:latin typeface="Source Code Pro"/>
                <a:ea typeface="Source Code Pro"/>
                <a:cs typeface="Source Code Pro"/>
                <a:sym typeface="Source Code Pro"/>
              </a:rPr>
              <a:t>ohlcv = self.exchange.fetch_ohlcv(symbol, timeframe, since=since, limit=limit)</a:t>
            </a: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62000" y="1651000"/>
            <a:ext cx="406400" cy="406400"/>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762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12个技术指标 -- 特征工程全景</a:t>
            </a:r>
            <a:endParaRPr lang="en-US" sz="1100"/>
          </a:p>
        </p:txBody>
      </p:sp>
      <p:sp>
        <p:nvSpPr>
          <p:cNvPr name="AutoShape 4" id="4"/>
          <p:cNvSpPr/>
          <p:nvPr/>
        </p:nvSpPr>
        <p:spPr>
          <a:xfrm rot="0" flipH="false" flipV="false">
            <a:off x="762000" y="1778000"/>
            <a:ext cx="2540000" cy="4572000"/>
          </a:xfrm>
          <a:prstGeom prst="roundRect">
            <a:avLst>
              <a:gd name="adj" fmla="val 5000"/>
            </a:avLst>
          </a:prstGeom>
          <a:solidFill>
            <a:srgbClr val="00BFFF">
              <a:alpha val="15000"/>
            </a:srgbClr>
          </a:solidFill>
          <a:ln w="25400" cmpd="sng" cap="flat">
            <a:solidFill>
              <a:srgbClr val="00BFFF">
                <a:alpha val="10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727200" y="2032000"/>
            <a:ext cx="609600" cy="609600"/>
          </a:xfrm>
          <a:prstGeom prst="rect">
            <a:avLst/>
          </a:prstGeom>
        </p:spPr>
      </p:pic>
      <p:sp>
        <p:nvSpPr>
          <p:cNvPr name="AutoShape 6" id="6"/>
          <p:cNvSpPr/>
          <p:nvPr/>
        </p:nvSpPr>
        <p:spPr>
          <a:xfrm rot="0" flipH="false" flipV="false">
            <a:off x="889000" y="2730500"/>
            <a:ext cx="2286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原始数据源 (OHLCV)</a:t>
            </a:r>
            <a:endParaRPr lang="en-US" sz="1100"/>
          </a:p>
        </p:txBody>
      </p:sp>
      <p:cxnSp>
        <p:nvCxnSpPr>
          <p:cNvPr name="Connector 7" id="7"/>
          <p:cNvCxnSpPr/>
          <p:nvPr/>
        </p:nvCxnSpPr>
        <p:spPr>
          <a:xfrm rot="-21485" flipH="false" flipV="false">
            <a:off x="1016020" y="3168650"/>
            <a:ext cx="2032000" cy="12700"/>
          </a:xfrm>
          <a:prstGeom prst="straightConnector1">
            <a:avLst/>
          </a:prstGeom>
          <a:solidFill>
            <a:srgbClr val="DEE0E3">
              <a:alpha val="100000"/>
            </a:srgbClr>
          </a:solidFill>
          <a:ln w="12700" cmpd="sng" cap="flat">
            <a:solidFill>
              <a:srgbClr val="FFFFFF">
                <a:alpha val="30000"/>
              </a:srgbClr>
            </a:solidFill>
            <a:prstDash val="solid"/>
            <a:round/>
            <a:headEnd type="none" w="med" len="med"/>
            <a:tailEnd type="none" w="med" len="med"/>
          </a:ln>
        </p:spPr>
      </p:cxnSp>
      <p:sp>
        <p:nvSpPr>
          <p:cNvPr name="AutoShape 8" id="8"/>
          <p:cNvSpPr/>
          <p:nvPr/>
        </p:nvSpPr>
        <p:spPr>
          <a:xfrm rot="0" flipH="false" flipV="false">
            <a:off x="889000" y="3302000"/>
            <a:ext cx="2286000" cy="190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Open (开盘价)</a:t>
            </a:r>
            <a:r>
              <a:rPr lang="en-US" b="false" i="false" strike="noStrike" u="none" sz="1400">
                <a:solidFill>
                  <a:srgbClr val="FFFFFF">
                    <a:alpha val="80000"/>
                  </a:srgbClr>
                </a:solidFill>
                <a:latin typeface="Noto Sans SC"/>
                <a:ea typeface="Noto Sans SC"/>
                <a:cs typeface="Noto Sans SC"/>
                <a:sym typeface="Noto Sans SC"/>
              </a:rPr>
              <a:t/>
            </a:r>
            <a:endParaRPr lang="en-US" sz="1100"/>
          </a:p>
          <a:p>
            <a:pPr algn="ctr" indent="0">
              <a:lnSpc>
                <a:spcPct val="125000"/>
              </a:lnSpc>
            </a:pPr>
            <a:r>
              <a:rPr lang="en-US" b="false" i="false" strike="noStrike" u="none" sz="1400">
                <a:solidFill>
                  <a:srgbClr val="FFFFFF">
                    <a:alpha val="80000"/>
                  </a:srgbClr>
                </a:solidFill>
                <a:latin typeface="Noto Sans SC"/>
                <a:ea typeface="Noto Sans SC"/>
                <a:cs typeface="Noto Sans SC"/>
                <a:sym typeface="Noto Sans SC"/>
              </a:rPr>
              <a:t>High (最高价)</a:t>
            </a:r>
            <a:r>
              <a:rPr lang="en-US" b="false" i="false" strike="noStrike" u="none" sz="1400">
                <a:solidFill>
                  <a:srgbClr val="FFFFFF">
                    <a:alpha val="80000"/>
                  </a:srgbClr>
                </a:solidFill>
                <a:latin typeface="Noto Sans SC"/>
                <a:ea typeface="Noto Sans SC"/>
                <a:cs typeface="Noto Sans SC"/>
                <a:sym typeface="Noto Sans SC"/>
              </a:rPr>
              <a:t/>
            </a:r>
          </a:p>
          <a:p>
            <a:pPr algn="ctr" indent="0">
              <a:lnSpc>
                <a:spcPct val="125000"/>
              </a:lnSpc>
            </a:pPr>
            <a:r>
              <a:rPr lang="en-US" b="false" i="false" strike="noStrike" u="none" sz="1400">
                <a:solidFill>
                  <a:srgbClr val="FFFFFF">
                    <a:alpha val="80000"/>
                  </a:srgbClr>
                </a:solidFill>
                <a:latin typeface="Noto Sans SC"/>
                <a:ea typeface="Noto Sans SC"/>
                <a:cs typeface="Noto Sans SC"/>
                <a:sym typeface="Noto Sans SC"/>
              </a:rPr>
              <a:t>Low (最低价)</a:t>
            </a:r>
            <a:r>
              <a:rPr lang="en-US" b="false" i="false" strike="noStrike" u="none" sz="1400">
                <a:solidFill>
                  <a:srgbClr val="FFFFFF">
                    <a:alpha val="80000"/>
                  </a:srgbClr>
                </a:solidFill>
                <a:latin typeface="Noto Sans SC"/>
                <a:ea typeface="Noto Sans SC"/>
                <a:cs typeface="Noto Sans SC"/>
                <a:sym typeface="Noto Sans SC"/>
              </a:rPr>
              <a:t/>
            </a:r>
          </a:p>
          <a:p>
            <a:pPr algn="ctr" indent="0">
              <a:lnSpc>
                <a:spcPct val="125000"/>
              </a:lnSpc>
            </a:pPr>
            <a:r>
              <a:rPr lang="en-US" b="false" i="false" strike="noStrike" u="none" sz="1400">
                <a:solidFill>
                  <a:srgbClr val="FFFFFF">
                    <a:alpha val="80000"/>
                  </a:srgbClr>
                </a:solidFill>
                <a:latin typeface="Noto Sans SC"/>
                <a:ea typeface="Noto Sans SC"/>
                <a:cs typeface="Noto Sans SC"/>
                <a:sym typeface="Noto Sans SC"/>
              </a:rPr>
              <a:t>Close (收盘价)</a:t>
            </a:r>
            <a:r>
              <a:rPr lang="en-US" b="false" i="false" strike="noStrike" u="none" sz="1400">
                <a:solidFill>
                  <a:srgbClr val="FFFFFF">
                    <a:alpha val="80000"/>
                  </a:srgbClr>
                </a:solidFill>
                <a:latin typeface="Noto Sans SC"/>
                <a:ea typeface="Noto Sans SC"/>
                <a:cs typeface="Noto Sans SC"/>
                <a:sym typeface="Noto Sans SC"/>
              </a:rPr>
              <a:t/>
            </a:r>
          </a:p>
          <a:p>
            <a:pPr algn="ctr" indent="0">
              <a:lnSpc>
                <a:spcPct val="125000"/>
              </a:lnSpc>
            </a:pPr>
            <a:r>
              <a:rPr lang="en-US" b="false" i="false" strike="noStrike" u="none" sz="1400">
                <a:solidFill>
                  <a:srgbClr val="FFFFFF">
                    <a:alpha val="80000"/>
                  </a:srgbClr>
                </a:solidFill>
                <a:latin typeface="Noto Sans SC"/>
                <a:ea typeface="Noto Sans SC"/>
                <a:cs typeface="Noto Sans SC"/>
                <a:sym typeface="Noto Sans SC"/>
              </a:rPr>
              <a:t>Volume (成交量)</a:t>
            </a:r>
          </a:p>
        </p:txBody>
      </p:sp>
      <p:sp>
        <p:nvSpPr>
          <p:cNvPr name="AutoShape 9" id="9"/>
          <p:cNvSpPr/>
          <p:nvPr/>
        </p:nvSpPr>
        <p:spPr>
          <a:xfrm rot="0" flipH="false" flipV="false">
            <a:off x="3556000" y="1778000"/>
            <a:ext cx="3683000" cy="1270000"/>
          </a:xfrm>
          <a:prstGeom prst="roundRect">
            <a:avLst>
              <a:gd name="adj" fmla="val 10000"/>
            </a:avLst>
          </a:prstGeom>
          <a:solidFill>
            <a:srgbClr val="FFFFFF">
              <a:alpha val="8000"/>
            </a:srgbClr>
          </a:solidFill>
          <a:ln w="12700" cmpd="sng" cap="flat">
            <a:solidFill>
              <a:srgbClr val="FFFFFF">
                <a:alpha val="2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3746500" y="1968500"/>
            <a:ext cx="406400" cy="406400"/>
          </a:xfrm>
          <a:prstGeom prst="rect">
            <a:avLst/>
          </a:prstGeom>
        </p:spPr>
      </p:pic>
      <p:sp>
        <p:nvSpPr>
          <p:cNvPr name="AutoShape 11" id="11"/>
          <p:cNvSpPr/>
          <p:nvPr/>
        </p:nvSpPr>
        <p:spPr>
          <a:xfrm rot="0" flipH="false" flipV="false">
            <a:off x="4191000" y="1968500"/>
            <a:ext cx="292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价格变动指标</a:t>
            </a:r>
            <a:endParaRPr lang="en-US" sz="1100"/>
          </a:p>
        </p:txBody>
      </p:sp>
      <p:sp>
        <p:nvSpPr>
          <p:cNvPr name="AutoShape 12" id="12"/>
          <p:cNvSpPr/>
          <p:nvPr/>
        </p:nvSpPr>
        <p:spPr>
          <a:xfrm rot="0" flipH="false" flipV="false">
            <a:off x="4191000" y="2311400"/>
            <a:ext cx="292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FFFFFF">
                    <a:alpha val="70196"/>
                  </a:srgbClr>
                </a:solidFill>
                <a:latin typeface="Noto Sans SC"/>
                <a:ea typeface="Noto Sans SC"/>
                <a:cs typeface="Noto Sans SC"/>
                <a:sym typeface="Noto Sans SC"/>
              </a:rPr>
              <a:t>returns_1 / returns_4 / returns_12</a:t>
            </a:r>
            <a:endParaRPr lang="en-US" sz="1100"/>
          </a:p>
        </p:txBody>
      </p:sp>
      <p:sp>
        <p:nvSpPr>
          <p:cNvPr name="AutoShape 13" id="13"/>
          <p:cNvSpPr/>
          <p:nvPr/>
        </p:nvSpPr>
        <p:spPr>
          <a:xfrm rot="0" flipH="false" flipV="false">
            <a:off x="7493000" y="1778000"/>
            <a:ext cx="3683000" cy="1270000"/>
          </a:xfrm>
          <a:prstGeom prst="roundRect">
            <a:avLst>
              <a:gd name="adj" fmla="val 10000"/>
            </a:avLst>
          </a:prstGeom>
          <a:solidFill>
            <a:srgbClr val="FFFFFF">
              <a:alpha val="8000"/>
            </a:srgbClr>
          </a:solidFill>
          <a:ln w="12700" cmpd="sng" cap="flat">
            <a:solidFill>
              <a:srgbClr val="FFFFFF">
                <a:alpha val="2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683500" y="1968500"/>
            <a:ext cx="406400" cy="406400"/>
          </a:xfrm>
          <a:prstGeom prst="rect">
            <a:avLst/>
          </a:prstGeom>
        </p:spPr>
      </p:pic>
      <p:sp>
        <p:nvSpPr>
          <p:cNvPr name="AutoShape 15" id="15"/>
          <p:cNvSpPr/>
          <p:nvPr/>
        </p:nvSpPr>
        <p:spPr>
          <a:xfrm rot="0" flipH="false" flipV="false">
            <a:off x="8128000" y="1968500"/>
            <a:ext cx="292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趋势指标</a:t>
            </a:r>
            <a:endParaRPr lang="en-US" sz="1100"/>
          </a:p>
        </p:txBody>
      </p:sp>
      <p:sp>
        <p:nvSpPr>
          <p:cNvPr name="AutoShape 16" id="16"/>
          <p:cNvSpPr/>
          <p:nvPr/>
        </p:nvSpPr>
        <p:spPr>
          <a:xfrm rot="0" flipH="false" flipV="false">
            <a:off x="8128000" y="2311400"/>
            <a:ext cx="292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FFFFFF">
                    <a:alpha val="70196"/>
                  </a:srgbClr>
                </a:solidFill>
                <a:latin typeface="Noto Sans SC"/>
                <a:ea typeface="Noto Sans SC"/>
                <a:cs typeface="Noto Sans SC"/>
                <a:sym typeface="Noto Sans SC"/>
              </a:rPr>
              <a:t>MA(5,10,20,30,60) + 偏离度</a:t>
            </a:r>
            <a:endParaRPr lang="en-US" sz="1100"/>
          </a:p>
        </p:txBody>
      </p:sp>
      <p:sp>
        <p:nvSpPr>
          <p:cNvPr name="AutoShape 17" id="17"/>
          <p:cNvSpPr/>
          <p:nvPr/>
        </p:nvSpPr>
        <p:spPr>
          <a:xfrm rot="0" flipH="false" flipV="false">
            <a:off x="3556000" y="3238500"/>
            <a:ext cx="3683000" cy="1270000"/>
          </a:xfrm>
          <a:prstGeom prst="roundRect">
            <a:avLst>
              <a:gd name="adj" fmla="val 10000"/>
            </a:avLst>
          </a:prstGeom>
          <a:solidFill>
            <a:srgbClr val="FFFFFF">
              <a:alpha val="8000"/>
            </a:srgbClr>
          </a:solidFill>
          <a:ln w="12700" cmpd="sng" cap="flat">
            <a:solidFill>
              <a:srgbClr val="FFFFFF">
                <a:alpha val="2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3746500" y="3429000"/>
            <a:ext cx="406400" cy="406400"/>
          </a:xfrm>
          <a:prstGeom prst="rect">
            <a:avLst/>
          </a:prstGeom>
        </p:spPr>
      </p:pic>
      <p:sp>
        <p:nvSpPr>
          <p:cNvPr name="AutoShape 19" id="19"/>
          <p:cNvSpPr/>
          <p:nvPr/>
        </p:nvSpPr>
        <p:spPr>
          <a:xfrm rot="0" flipH="false" flipV="false">
            <a:off x="4191000" y="3429000"/>
            <a:ext cx="292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强弱指标</a:t>
            </a:r>
            <a:endParaRPr lang="en-US" sz="1100"/>
          </a:p>
        </p:txBody>
      </p:sp>
      <p:sp>
        <p:nvSpPr>
          <p:cNvPr name="AutoShape 20" id="20"/>
          <p:cNvSpPr/>
          <p:nvPr/>
        </p:nvSpPr>
        <p:spPr>
          <a:xfrm rot="0" flipH="false" flipV="false">
            <a:off x="4191000" y="3771900"/>
            <a:ext cx="292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FFFFFF">
                    <a:alpha val="70196"/>
                  </a:srgbClr>
                </a:solidFill>
                <a:latin typeface="Noto Sans SC"/>
                <a:ea typeface="Noto Sans SC"/>
                <a:cs typeface="Noto Sans SC"/>
                <a:sym typeface="Noto Sans SC"/>
              </a:rPr>
              <a:t>RSI(14)</a:t>
            </a:r>
            <a:endParaRPr lang="en-US" sz="1100"/>
          </a:p>
        </p:txBody>
      </p:sp>
      <p:sp>
        <p:nvSpPr>
          <p:cNvPr name="AutoShape 21" id="21"/>
          <p:cNvSpPr/>
          <p:nvPr/>
        </p:nvSpPr>
        <p:spPr>
          <a:xfrm rot="0" flipH="false" flipV="false">
            <a:off x="7493000" y="3238500"/>
            <a:ext cx="3683000" cy="1270000"/>
          </a:xfrm>
          <a:prstGeom prst="roundRect">
            <a:avLst>
              <a:gd name="adj" fmla="val 10000"/>
            </a:avLst>
          </a:prstGeom>
          <a:solidFill>
            <a:srgbClr val="FFFFFF">
              <a:alpha val="8000"/>
            </a:srgbClr>
          </a:solidFill>
          <a:ln w="12700" cmpd="sng" cap="flat">
            <a:solidFill>
              <a:srgbClr val="FFFFFF">
                <a:alpha val="2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7683500" y="3429000"/>
            <a:ext cx="406400" cy="406400"/>
          </a:xfrm>
          <a:prstGeom prst="rect">
            <a:avLst/>
          </a:prstGeom>
        </p:spPr>
      </p:pic>
      <p:sp>
        <p:nvSpPr>
          <p:cNvPr name="AutoShape 23" id="23"/>
          <p:cNvSpPr/>
          <p:nvPr/>
        </p:nvSpPr>
        <p:spPr>
          <a:xfrm rot="0" flipH="false" flipV="false">
            <a:off x="8128000" y="3429000"/>
            <a:ext cx="292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动量指标</a:t>
            </a:r>
            <a:endParaRPr lang="en-US" sz="1100"/>
          </a:p>
        </p:txBody>
      </p:sp>
      <p:sp>
        <p:nvSpPr>
          <p:cNvPr name="AutoShape 24" id="24"/>
          <p:cNvSpPr/>
          <p:nvPr/>
        </p:nvSpPr>
        <p:spPr>
          <a:xfrm rot="0" flipH="false" flipV="false">
            <a:off x="8128000" y="3771900"/>
            <a:ext cx="292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FFFFFF">
                    <a:alpha val="70196"/>
                  </a:srgbClr>
                </a:solidFill>
                <a:latin typeface="Noto Sans SC"/>
                <a:ea typeface="Noto Sans SC"/>
                <a:cs typeface="Noto Sans SC"/>
                <a:sym typeface="Noto Sans SC"/>
              </a:rPr>
              <a:t>MACD + 信号线 + 柱状图</a:t>
            </a:r>
            <a:endParaRPr lang="en-US" sz="1100"/>
          </a:p>
        </p:txBody>
      </p:sp>
      <p:sp>
        <p:nvSpPr>
          <p:cNvPr name="AutoShape 25" id="25"/>
          <p:cNvSpPr/>
          <p:nvPr/>
        </p:nvSpPr>
        <p:spPr>
          <a:xfrm rot="0" flipH="false" flipV="false">
            <a:off x="3556000" y="4699000"/>
            <a:ext cx="3683000" cy="1270000"/>
          </a:xfrm>
          <a:prstGeom prst="roundRect">
            <a:avLst>
              <a:gd name="adj" fmla="val 10000"/>
            </a:avLst>
          </a:prstGeom>
          <a:solidFill>
            <a:srgbClr val="FFFFFF">
              <a:alpha val="8000"/>
            </a:srgbClr>
          </a:solidFill>
          <a:ln w="12700" cmpd="sng" cap="flat">
            <a:solidFill>
              <a:srgbClr val="FFFFFF">
                <a:alpha val="20000"/>
              </a:srgbClr>
            </a:solid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3746500" y="4889500"/>
            <a:ext cx="406400" cy="406400"/>
          </a:xfrm>
          <a:prstGeom prst="rect">
            <a:avLst/>
          </a:prstGeom>
        </p:spPr>
      </p:pic>
      <p:sp>
        <p:nvSpPr>
          <p:cNvPr name="AutoShape 27" id="27"/>
          <p:cNvSpPr/>
          <p:nvPr/>
        </p:nvSpPr>
        <p:spPr>
          <a:xfrm rot="0" flipH="false" flipV="false">
            <a:off x="4191000" y="4889500"/>
            <a:ext cx="292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通道指标</a:t>
            </a:r>
            <a:endParaRPr lang="en-US" sz="1100"/>
          </a:p>
        </p:txBody>
      </p:sp>
      <p:sp>
        <p:nvSpPr>
          <p:cNvPr name="AutoShape 28" id="28"/>
          <p:cNvSpPr/>
          <p:nvPr/>
        </p:nvSpPr>
        <p:spPr>
          <a:xfrm rot="0" flipH="false" flipV="false">
            <a:off x="4191000" y="5232400"/>
            <a:ext cx="292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FFFFFF">
                    <a:alpha val="70196"/>
                  </a:srgbClr>
                </a:solidFill>
                <a:latin typeface="Noto Sans SC"/>
                <a:ea typeface="Noto Sans SC"/>
                <a:cs typeface="Noto Sans SC"/>
                <a:sym typeface="Noto Sans SC"/>
              </a:rPr>
              <a:t>布林带(上/中/下轨) + 位置</a:t>
            </a:r>
            <a:endParaRPr lang="en-US" sz="1100"/>
          </a:p>
        </p:txBody>
      </p:sp>
      <p:sp>
        <p:nvSpPr>
          <p:cNvPr name="AutoShape 29" id="29"/>
          <p:cNvSpPr/>
          <p:nvPr/>
        </p:nvSpPr>
        <p:spPr>
          <a:xfrm rot="0" flipH="false" flipV="false">
            <a:off x="7493000" y="4699000"/>
            <a:ext cx="3683000" cy="1270000"/>
          </a:xfrm>
          <a:prstGeom prst="roundRect">
            <a:avLst>
              <a:gd name="adj" fmla="val 10000"/>
            </a:avLst>
          </a:prstGeom>
          <a:solidFill>
            <a:srgbClr val="FFFFFF">
              <a:alpha val="8000"/>
            </a:srgbClr>
          </a:solidFill>
          <a:ln w="12700" cmpd="sng" cap="flat">
            <a:solidFill>
              <a:srgbClr val="FFFFFF">
                <a:alpha val="20000"/>
              </a:srgbClr>
            </a:solidFill>
            <a:prstDash val="solid"/>
            <a:round/>
          </a:ln>
        </p:spPr>
        <p:txBody>
          <a:bodyPr anchor="ctr" rtlCol="false" vert="horz" wrap="square" lIns="63500" rIns="63500" tIns="63500" bIns="63500"/>
          <a:lstStyle/>
          <a:p>
            <a:pPr algn="ctr">
              <a:defRPr/>
            </a:pPr>
            <a:endParaRPr/>
          </a:p>
        </p:txBody>
      </p:sp>
      <p:pic>
        <p:nvPicPr>
          <p:cNvPr name="Picture 30" id="30"/>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7683500" y="4889500"/>
            <a:ext cx="406400" cy="406400"/>
          </a:xfrm>
          <a:prstGeom prst="rect">
            <a:avLst/>
          </a:prstGeom>
        </p:spPr>
      </p:pic>
      <p:sp>
        <p:nvSpPr>
          <p:cNvPr name="AutoShape 31" id="31"/>
          <p:cNvSpPr/>
          <p:nvPr/>
        </p:nvSpPr>
        <p:spPr>
          <a:xfrm rot="0" flipH="false" flipV="false">
            <a:off x="8128000" y="4889500"/>
            <a:ext cx="292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波动指标</a:t>
            </a:r>
            <a:endParaRPr lang="en-US" sz="1100"/>
          </a:p>
        </p:txBody>
      </p:sp>
      <p:sp>
        <p:nvSpPr>
          <p:cNvPr name="AutoShape 32" id="32"/>
          <p:cNvSpPr/>
          <p:nvPr/>
        </p:nvSpPr>
        <p:spPr>
          <a:xfrm rot="0" flipH="false" flipV="false">
            <a:off x="8128000" y="5232400"/>
            <a:ext cx="292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FFFFFF">
                    <a:alpha val="70196"/>
                  </a:srgbClr>
                </a:solidFill>
                <a:latin typeface="Noto Sans SC"/>
                <a:ea typeface="Noto Sans SC"/>
                <a:cs typeface="Noto Sans SC"/>
                <a:sym typeface="Noto Sans SC"/>
              </a:rPr>
              <a:t>年化波动率</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762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核心技术指标速查表</a:t>
            </a:r>
            <a:endParaRPr lang="en-US" sz="1100"/>
          </a:p>
        </p:txBody>
      </p:sp>
      <p:sp>
        <p:nvSpPr>
          <p:cNvPr name="AutoShape 4" id="4"/>
          <p:cNvSpPr/>
          <p:nvPr/>
        </p:nvSpPr>
        <p:spPr>
          <a:xfrm rot="0" flipH="false" flipV="false">
            <a:off x="762000" y="1778000"/>
            <a:ext cx="10668000" cy="4572000"/>
          </a:xfrm>
          <a:prstGeom prst="roundRect">
            <a:avLst>
              <a:gd name="adj" fmla="val 2777"/>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graphicFrame>
        <p:nvGraphicFramePr>
          <p:cNvPr name="Table 5" id="5"/>
          <p:cNvGraphicFramePr>
            <a:graphicFrameLocks noGrp="true"/>
          </p:cNvGraphicFramePr>
          <p:nvPr/>
        </p:nvGraphicFramePr>
        <p:xfrm>
          <a:off x="1016000" y="2032000"/>
          <a:ext cx="9906000" cy="4064000"/>
        </p:xfrm>
        <a:graphic>
          <a:graphicData uri="http://schemas.openxmlformats.org/drawingml/2006/table">
            <a:tbl>
              <a:tblPr>
                <a:effectLst/>
              </a:tblPr>
              <a:tblGrid>
                <a:gridCol w="1778000"/>
                <a:gridCol w="3810000"/>
                <a:gridCol w="4318000"/>
              </a:tblGrid>
              <a:tr h="635000">
                <a:tc>
                  <a:txBody>
                    <a:bodyPr anchor="t" rtlCol="false"/>
                    <a:lstStyle/>
                    <a:p>
                      <a:pPr algn="ctr" indent="0">
                        <a:lnSpc>
                          <a:spcPct val="100000"/>
                        </a:lnSpc>
                        <a:defRPr/>
                      </a:pPr>
                      <a:r>
                        <a:rPr lang="en-US" b="true" i="false" strike="noStrike" u="none" sz="1600">
                          <a:solidFill>
                            <a:srgbClr val="00BFFF"/>
                          </a:solidFill>
                          <a:latin typeface="Noto Sans SC"/>
                          <a:ea typeface="Noto Sans SC"/>
                          <a:cs typeface="Noto Sans SC"/>
                          <a:sym typeface="Noto Sans SC"/>
                        </a:rPr>
                        <a:t>技术指标</a:t>
                      </a:r>
                      <a:endParaRPr lang="en-US" sz="1100"/>
                    </a:p>
                  </a:txBody>
                  <a:tcPr anchor="ctr" anchorCtr="false" marL="101600" marR="101600" marT="101600" marB="101600">
                    <a:lnL>
                      <a:noFill/>
                    </a:lnL>
                    <a:lnR>
                      <a:noFill/>
                    </a:lnR>
                    <a:lnT>
                      <a:noFill/>
                    </a:lnT>
                    <a:lnB cmpd="sng" algn="ctr" cap="flat" w="12700">
                      <a:solidFill>
                        <a:srgbClr val="00BFFF"/>
                      </a:solidFill>
                      <a:prstDash val="solid"/>
                      <a:round/>
                      <a:headEnd type="none" w="med" len="med"/>
                      <a:tailEnd type="none" w="med" len="med"/>
                    </a:lnB>
                    <a:solidFill>
                      <a:srgbClr val="00BFFF">
                        <a:alpha val="20000"/>
                      </a:srgbClr>
                    </a:solidFill>
                  </a:tcPr>
                </a:tc>
                <a:tc>
                  <a:txBody>
                    <a:bodyPr anchor="t" rtlCol="false"/>
                    <a:lstStyle/>
                    <a:p>
                      <a:pPr algn="ctr" indent="0">
                        <a:lnSpc>
                          <a:spcPct val="100000"/>
                        </a:lnSpc>
                        <a:defRPr/>
                      </a:pPr>
                      <a:r>
                        <a:rPr lang="en-US" b="true" i="false" strike="noStrike" u="none" sz="1600">
                          <a:solidFill>
                            <a:srgbClr val="00BFFF"/>
                          </a:solidFill>
                          <a:latin typeface="Noto Sans SC"/>
                          <a:ea typeface="Noto Sans SC"/>
                          <a:cs typeface="Noto Sans SC"/>
                          <a:sym typeface="Noto Sans SC"/>
                        </a:rPr>
                        <a:t>计算方法</a:t>
                      </a:r>
                      <a:endParaRPr lang="en-US" sz="1100"/>
                    </a:p>
                  </a:txBody>
                  <a:tcPr anchor="ctr" anchorCtr="false" marL="101600" marR="101600" marT="101600" marB="101600">
                    <a:lnL>
                      <a:noFill/>
                    </a:lnL>
                    <a:lnR>
                      <a:noFill/>
                    </a:lnR>
                    <a:lnT>
                      <a:noFill/>
                    </a:lnT>
                    <a:lnB cmpd="sng" algn="ctr" cap="flat" w="12700">
                      <a:solidFill>
                        <a:srgbClr val="00BFFF"/>
                      </a:solidFill>
                      <a:prstDash val="solid"/>
                      <a:round/>
                      <a:headEnd type="none" w="med" len="med"/>
                      <a:tailEnd type="none" w="med" len="med"/>
                    </a:lnB>
                    <a:solidFill>
                      <a:srgbClr val="00BFFF">
                        <a:alpha val="20000"/>
                      </a:srgbClr>
                    </a:solidFill>
                  </a:tcPr>
                </a:tc>
                <a:tc>
                  <a:txBody>
                    <a:bodyPr anchor="t" rtlCol="false"/>
                    <a:lstStyle/>
                    <a:p>
                      <a:pPr algn="ctr" indent="0">
                        <a:lnSpc>
                          <a:spcPct val="100000"/>
                        </a:lnSpc>
                        <a:defRPr/>
                      </a:pPr>
                      <a:r>
                        <a:rPr lang="en-US" b="true" i="false" strike="noStrike" u="none" sz="1600">
                          <a:solidFill>
                            <a:srgbClr val="00BFFF"/>
                          </a:solidFill>
                          <a:latin typeface="Noto Sans SC"/>
                          <a:ea typeface="Noto Sans SC"/>
                          <a:cs typeface="Noto Sans SC"/>
                          <a:sym typeface="Noto Sans SC"/>
                        </a:rPr>
                        <a:t>交易含义</a:t>
                      </a:r>
                      <a:endParaRPr lang="en-US" sz="1100"/>
                    </a:p>
                  </a:txBody>
                  <a:tcPr anchor="ctr" anchorCtr="false" marL="101600" marR="101600" marT="101600" marB="101600">
                    <a:lnL>
                      <a:noFill/>
                    </a:lnL>
                    <a:lnR>
                      <a:noFill/>
                    </a:lnR>
                    <a:lnT>
                      <a:noFill/>
                    </a:lnT>
                    <a:lnB cmpd="sng" algn="ctr" cap="flat" w="12700">
                      <a:solidFill>
                        <a:srgbClr val="00BFFF"/>
                      </a:solidFill>
                      <a:prstDash val="solid"/>
                      <a:round/>
                      <a:headEnd type="none" w="med" len="med"/>
                      <a:tailEnd type="none" w="med" len="med"/>
                    </a:lnB>
                    <a:solidFill>
                      <a:srgbClr val="00BFFF">
                        <a:alpha val="20000"/>
                      </a:srgbClr>
                    </a:solidFill>
                  </a:tcPr>
                </a:tc>
              </a:tr>
              <a:tr h="571500">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MA (均线)</a:t>
                      </a:r>
                      <a:endParaRPr lang="en-US" sz="1100"/>
                    </a:p>
                  </a:txBody>
                  <a:tcPr anchor="ctr" anchorCtr="false" marL="101600" marR="101600" marT="101600" marB="101600">
                    <a:lnL>
                      <a:noFill/>
                    </a:lnL>
                    <a:lnR>
                      <a:noFill/>
                    </a:lnR>
                    <a:lnT cmpd="sng" algn="ctr" cap="flat" w="12700">
                      <a:solidFill>
                        <a:srgbClr val="00B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C8C8C8"/>
                          </a:solidFill>
                          <a:latin typeface="Noto Sans SC"/>
                          <a:ea typeface="Noto Sans SC"/>
                          <a:cs typeface="Noto Sans SC"/>
                          <a:sym typeface="Noto Sans SC"/>
                        </a:rPr>
                        <a:t>N周期收盘价的算术平均值</a:t>
                      </a:r>
                      <a:endParaRPr lang="en-US" sz="1100"/>
                    </a:p>
                  </a:txBody>
                  <a:tcPr anchor="ctr" anchorCtr="false" marL="101600" marR="101600" marT="101600" marB="101600">
                    <a:lnL>
                      <a:noFill/>
                    </a:lnL>
                    <a:lnR>
                      <a:noFill/>
                    </a:lnR>
                    <a:lnT cmpd="sng" algn="ctr" cap="flat" w="12700">
                      <a:solidFill>
                        <a:srgbClr val="00B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400">
                          <a:solidFill>
                            <a:srgbClr val="C8C8C8"/>
                          </a:solidFill>
                          <a:latin typeface="Noto Sans SC"/>
                          <a:ea typeface="Noto Sans SC"/>
                          <a:cs typeface="Noto Sans SC"/>
                          <a:sym typeface="Noto Sans SC"/>
                        </a:rPr>
                        <a:t>价格在MA上方表示上升趋势，下方表示下降趋势</a:t>
                      </a:r>
                      <a:endParaRPr lang="en-US" sz="1100"/>
                    </a:p>
                  </a:txBody>
                  <a:tcPr anchor="ctr" anchorCtr="false" marL="101600" marR="101600" marT="101600" marB="101600">
                    <a:lnL>
                      <a:noFill/>
                    </a:lnL>
                    <a:lnR>
                      <a:noFill/>
                    </a:lnR>
                    <a:lnT cmpd="sng" algn="ctr" cap="flat" w="12700">
                      <a:solidFill>
                        <a:srgbClr val="00B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r>
              <a:tr h="571500">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RSI (强弱指标)</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C8C8C8"/>
                          </a:solidFill>
                          <a:latin typeface="Noto Sans SC"/>
                          <a:ea typeface="Noto Sans SC"/>
                          <a:cs typeface="Noto Sans SC"/>
                          <a:sym typeface="Noto Sans SC"/>
                        </a:rPr>
                        <a:t>平均涨幅 / (平均涨幅 + 平均跌幅)</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400">
                          <a:solidFill>
                            <a:srgbClr val="C8C8C8"/>
                          </a:solidFill>
                          <a:latin typeface="Noto Sans SC"/>
                          <a:ea typeface="Noto Sans SC"/>
                          <a:cs typeface="Noto Sans SC"/>
                          <a:sym typeface="Noto Sans SC"/>
                        </a:rPr>
                        <a:t>数值 &gt; 70 视为超买，&lt; 30 视为超卖</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r>
              <a:tr h="571500">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MACD (异同移动平均)</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C8C8C8"/>
                          </a:solidFill>
                          <a:latin typeface="Noto Sans SC"/>
                          <a:ea typeface="Noto Sans SC"/>
                          <a:cs typeface="Noto Sans SC"/>
                          <a:sym typeface="Noto Sans SC"/>
                        </a:rPr>
                        <a:t>EMA(12) - EMA(26) 计算差值</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400">
                          <a:solidFill>
                            <a:srgbClr val="C8C8C8"/>
                          </a:solidFill>
                          <a:latin typeface="Noto Sans SC"/>
                          <a:ea typeface="Noto Sans SC"/>
                          <a:cs typeface="Noto Sans SC"/>
                          <a:sym typeface="Noto Sans SC"/>
                        </a:rPr>
                        <a:t>柱状图大于0表示多头动量，小于0表示空头动量</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r>
              <a:tr h="571500">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布林带 (Bollinger)</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C8C8C8"/>
                          </a:solidFill>
                          <a:latin typeface="Noto Sans SC"/>
                          <a:ea typeface="Noto Sans SC"/>
                          <a:cs typeface="Noto Sans SC"/>
                          <a:sym typeface="Noto Sans SC"/>
                        </a:rPr>
                        <a:t>中轨MA20 ± 2倍标准差(STD)</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400">
                          <a:solidFill>
                            <a:srgbClr val="C8C8C8"/>
                          </a:solidFill>
                          <a:latin typeface="Noto Sans SC"/>
                          <a:ea typeface="Noto Sans SC"/>
                          <a:cs typeface="Noto Sans SC"/>
                          <a:sym typeface="Noto Sans SC"/>
                        </a:rPr>
                        <a:t>价格触碰上下轨通常有回归中轨的倾向</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r>
              <a:tr h="571500">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波动率 (Volatility)</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C8C8C8"/>
                          </a:solidFill>
                          <a:latin typeface="Noto Sans SC"/>
                          <a:ea typeface="Noto Sans SC"/>
                          <a:cs typeface="Noto Sans SC"/>
                          <a:sym typeface="Noto Sans SC"/>
                        </a:rPr>
                        <a:t>日标准差 × √365 (年化波动率)</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400">
                          <a:solidFill>
                            <a:srgbClr val="C8C8C8"/>
                          </a:solidFill>
                          <a:latin typeface="Noto Sans SC"/>
                          <a:ea typeface="Noto Sans SC"/>
                          <a:cs typeface="Noto Sans SC"/>
                          <a:sym typeface="Noto Sans SC"/>
                        </a:rPr>
                        <a:t>数值越高代表风险越大，潜在收益机会也越大</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r>
              <a:tr h="571500">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成交量比 (Volume Ratio)</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a:noFill/>
                    </a:lnB>
                    <a:noFill/>
                  </a:tcPr>
                </a:tc>
                <a:tc>
                  <a:txBody>
                    <a:bodyPr anchor="t" rtlCol="false"/>
                    <a:lstStyle/>
                    <a:p>
                      <a:pPr algn="ctr" indent="0">
                        <a:lnSpc>
                          <a:spcPct val="100000"/>
                        </a:lnSpc>
                        <a:defRPr/>
                      </a:pPr>
                      <a:r>
                        <a:rPr lang="en-US" b="false" i="false" strike="noStrike" u="none" sz="1400">
                          <a:solidFill>
                            <a:srgbClr val="C8C8C8"/>
                          </a:solidFill>
                          <a:latin typeface="Noto Sans SC"/>
                          <a:ea typeface="Noto Sans SC"/>
                          <a:cs typeface="Noto Sans SC"/>
                          <a:sym typeface="Noto Sans SC"/>
                        </a:rPr>
                        <a:t>当前成交量 / 成交量移动平均线</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a:noFill/>
                    </a:lnB>
                    <a:noFill/>
                  </a:tcPr>
                </a:tc>
                <a:tc>
                  <a:txBody>
                    <a:bodyPr anchor="t" rtlCol="false"/>
                    <a:lstStyle/>
                    <a:p>
                      <a:pPr algn="l" indent="0">
                        <a:lnSpc>
                          <a:spcPct val="100000"/>
                        </a:lnSpc>
                        <a:defRPr/>
                      </a:pPr>
                      <a:r>
                        <a:rPr lang="en-US" b="false" i="false" strike="noStrike" u="none" sz="1400">
                          <a:solidFill>
                            <a:srgbClr val="C8C8C8"/>
                          </a:solidFill>
                          <a:latin typeface="Noto Sans SC"/>
                          <a:ea typeface="Noto Sans SC"/>
                          <a:cs typeface="Noto Sans SC"/>
                          <a:sym typeface="Noto Sans SC"/>
                        </a:rPr>
                        <a:t>比值 &gt; 1 为放量上涨/下跌，&lt; 1 为缩量</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a:noFill/>
                    </a:lnB>
                    <a:noFill/>
                  </a:tcPr>
                </a:tc>
              </a:tr>
            </a:tbl>
          </a:graphicData>
        </a:graphic>
      </p:graphicFrame>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特征准备好了</a:t>
            </a:r>
            <a:endParaRPr lang="en-US" sz="1100"/>
          </a:p>
        </p:txBody>
      </p:sp>
      <p:cxnSp>
        <p:nvCxnSpPr>
          <p:cNvPr name="Connector 4" id="4"/>
          <p:cNvCxnSpPr/>
          <p:nvPr/>
        </p:nvCxnSpPr>
        <p:spPr>
          <a:xfrm rot="-42969" flipH="false" flipV="false">
            <a:off x="762040" y="1771650"/>
            <a:ext cx="1016000" cy="12700"/>
          </a:xfrm>
          <a:prstGeom prst="straightConnector1">
            <a:avLst/>
          </a:prstGeom>
          <a:solidFill>
            <a:srgbClr val="DEE0E3">
              <a:alpha val="100000"/>
            </a:srgbClr>
          </a:solidFill>
          <a:ln w="38100" cmpd="sng" cap="flat">
            <a:solidFill>
              <a:srgbClr val="00BFFF">
                <a:alpha val="100000"/>
              </a:srgbClr>
            </a:solidFill>
            <a:prstDash val="solid"/>
            <a:round/>
            <a:headEnd type="none" w="lg" len="lg"/>
            <a:tailEnd type="none" w="lg" len="lg"/>
          </a:ln>
        </p:spPr>
      </p:cxnSp>
      <p:sp>
        <p:nvSpPr>
          <p:cNvPr name="AutoShape 5" id="5"/>
          <p:cNvSpPr/>
          <p:nvPr/>
        </p:nvSpPr>
        <p:spPr>
          <a:xfrm rot="0" flipH="false" flipV="false">
            <a:off x="762000" y="2159000"/>
            <a:ext cx="10668000" cy="1524000"/>
          </a:xfrm>
          <a:prstGeom prst="roundRect">
            <a:avLst>
              <a:gd name="adj" fmla="val 8333"/>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43000" y="2616200"/>
            <a:ext cx="609600" cy="609600"/>
          </a:xfrm>
          <a:prstGeom prst="rect">
            <a:avLst/>
          </a:prstGeom>
        </p:spPr>
      </p:pic>
      <p:sp>
        <p:nvSpPr>
          <p:cNvPr name="AutoShape 7" id="7"/>
          <p:cNvSpPr/>
          <p:nvPr/>
        </p:nvSpPr>
        <p:spPr>
          <a:xfrm rot="0" flipH="false" flipV="false">
            <a:off x="2032000" y="2413000"/>
            <a:ext cx="8890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12个技术指标就绪</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这些精心挑选的特征就像是机器学习模型的“感官输入”，为后续的学习过程提供了坚实的数据基础。</a:t>
            </a:r>
          </a:p>
        </p:txBody>
      </p:sp>
      <p:sp>
        <p:nvSpPr>
          <p:cNvPr name="AutoShape 8" id="8"/>
          <p:cNvSpPr/>
          <p:nvPr/>
        </p:nvSpPr>
        <p:spPr>
          <a:xfrm rot="0" flipH="false" flipV="false">
            <a:off x="762000" y="3937000"/>
            <a:ext cx="10668000" cy="1524000"/>
          </a:xfrm>
          <a:prstGeom prst="roundRect">
            <a:avLst>
              <a:gd name="adj" fmla="val 8333"/>
            </a:avLst>
          </a:prstGeom>
          <a:solidFill>
            <a:srgbClr val="FFFFFF">
              <a:alpha val="5000"/>
            </a:srgbClr>
          </a:solidFill>
          <a:ln w="12700" cmpd="sng" cap="flat">
            <a:solidFill>
              <a:srgbClr val="FFFF00">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143000" y="4394200"/>
            <a:ext cx="609600" cy="609600"/>
          </a:xfrm>
          <a:prstGeom prst="rect">
            <a:avLst/>
          </a:prstGeom>
        </p:spPr>
      </p:pic>
      <p:sp>
        <p:nvSpPr>
          <p:cNvPr name="AutoShape 10" id="10"/>
          <p:cNvSpPr/>
          <p:nvPr/>
        </p:nvSpPr>
        <p:spPr>
          <a:xfrm rot="0" flipH="false" flipV="false">
            <a:off x="2032000" y="4191000"/>
            <a:ext cx="8890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00"/>
                </a:solidFill>
                <a:latin typeface="Noto Sans SC"/>
                <a:ea typeface="Noto Sans SC"/>
                <a:cs typeface="Noto Sans SC"/>
                <a:sym typeface="Noto Sans SC"/>
              </a:rPr>
              <a:t>核心挑战：如何让模型“学会”预测？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接下来的关键问题是：如何构建算法，让模型从这些数字中挖掘规律，从而准确预测价格的未来走势？</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F172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F17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762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随机森林 = "专家委员会投票"</a:t>
            </a:r>
            <a:endParaRPr lang="en-US" sz="1100"/>
          </a:p>
        </p:txBody>
      </p:sp>
      <p:sp>
        <p:nvSpPr>
          <p:cNvPr name="AutoShape 4" id="4"/>
          <p:cNvSpPr/>
          <p:nvPr/>
        </p:nvSpPr>
        <p:spPr>
          <a:xfrm rot="0" flipH="false" flipV="false">
            <a:off x="762000" y="14605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alpha val="70196"/>
                  </a:srgbClr>
                </a:solidFill>
                <a:latin typeface="Noto Sans SC"/>
                <a:ea typeface="Noto Sans SC"/>
                <a:cs typeface="Noto Sans SC"/>
                <a:sym typeface="Noto Sans SC"/>
              </a:rPr>
              <a:t>模块 5.3 -- ML策略</a:t>
            </a:r>
            <a:endParaRPr lang="en-US" sz="1100"/>
          </a:p>
        </p:txBody>
      </p:sp>
      <p:sp>
        <p:nvSpPr>
          <p:cNvPr name="AutoShape 5" id="5"/>
          <p:cNvSpPr/>
          <p:nvPr/>
        </p:nvSpPr>
        <p:spPr>
          <a:xfrm rot="0" flipH="false" flipV="false">
            <a:off x="762000" y="2159000"/>
            <a:ext cx="3302000" cy="3302000"/>
          </a:xfrm>
          <a:prstGeom prst="roundRect">
            <a:avLst>
              <a:gd name="adj" fmla="val 384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413000"/>
            <a:ext cx="609600" cy="609600"/>
          </a:xfrm>
          <a:prstGeom prst="rect">
            <a:avLst/>
          </a:prstGeom>
        </p:spPr>
      </p:pic>
      <p:sp>
        <p:nvSpPr>
          <p:cNvPr name="AutoShape 7" id="7"/>
          <p:cNvSpPr/>
          <p:nvPr/>
        </p:nvSpPr>
        <p:spPr>
          <a:xfrm rot="0" flipH="false" flipV="false">
            <a:off x="1016000" y="31115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专家构成机制</a:t>
            </a:r>
            <a:endParaRPr lang="en-US" sz="1100"/>
          </a:p>
        </p:txBody>
      </p:sp>
      <p:sp>
        <p:nvSpPr>
          <p:cNvPr name="AutoShape 8" id="8"/>
          <p:cNvSpPr/>
          <p:nvPr/>
        </p:nvSpPr>
        <p:spPr>
          <a:xfrm rot="0" flipH="false" flipV="false">
            <a:off x="1016000" y="3556000"/>
            <a:ext cx="2794000" cy="1270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FFFFFF"/>
              </a:buClr>
              <a:buChar char="•"/>
              <a:defRPr/>
            </a:pPr>
            <a:r>
              <a:rPr lang="en-US" b="false" i="false" strike="noStrike" u="none" sz="1400">
                <a:solidFill>
                  <a:srgbClr val="FFFFFF">
                    <a:alpha val="80000"/>
                  </a:srgbClr>
                </a:solidFill>
                <a:latin typeface="Noto Sans SC"/>
                <a:ea typeface="Noto Sans SC"/>
                <a:cs typeface="Noto Sans SC"/>
                <a:sym typeface="Noto Sans SC"/>
              </a:rPr>
              <a:t>200棵决策树 = 200位专家</a:t>
            </a:r>
            <a:r>
              <a:rPr lang="en-US" b="false" i="false" strike="noStrike" u="none" sz="1400">
                <a:solidFill>
                  <a:srgbClr val="FFFFFF">
                    <a:alpha val="80000"/>
                  </a:srgbClr>
                </a:solidFill>
                <a:latin typeface="Noto Sans SC"/>
                <a:ea typeface="Noto Sans SC"/>
                <a:cs typeface="Noto Sans SC"/>
                <a:sym typeface="Noto Sans SC"/>
              </a:rPr>
              <a:t/>
            </a:r>
            <a:endParaRPr lang="en-US" sz="1100"/>
          </a:p>
          <a:p>
            <a:pPr algn="l" indent="-177800" marL="177800">
              <a:lnSpc>
                <a:spcPct val="125000"/>
              </a:lnSpc>
              <a:buClr>
                <a:srgbClr val="FFFFFF"/>
              </a:buClr>
              <a:buChar char="•"/>
            </a:pPr>
            <a:r>
              <a:rPr lang="en-US" b="false" i="false" strike="noStrike" u="none" sz="1400">
                <a:solidFill>
                  <a:srgbClr val="FFFFFF">
                    <a:alpha val="80000"/>
                  </a:srgbClr>
                </a:solidFill>
                <a:latin typeface="Noto Sans SC"/>
                <a:ea typeface="Noto Sans SC"/>
                <a:cs typeface="Noto Sans SC"/>
                <a:sym typeface="Noto Sans SC"/>
              </a:rPr>
              <a:t>每位专家仅分析部分数据与特征</a:t>
            </a:r>
            <a:r>
              <a:rPr lang="en-US" b="false" i="false" strike="noStrike" u="none" sz="1400">
                <a:solidFill>
                  <a:srgbClr val="FFFFFF">
                    <a:alpha val="80000"/>
                  </a:srgbClr>
                </a:solidFill>
                <a:latin typeface="Noto Sans SC"/>
                <a:ea typeface="Noto Sans SC"/>
                <a:cs typeface="Noto Sans SC"/>
                <a:sym typeface="Noto Sans SC"/>
              </a:rPr>
              <a:t/>
            </a:r>
          </a:p>
          <a:p>
            <a:pPr algn="l" indent="-177800" marL="177800">
              <a:lnSpc>
                <a:spcPct val="125000"/>
              </a:lnSpc>
              <a:buClr>
                <a:srgbClr val="FFFFFF"/>
              </a:buClr>
              <a:buChar char="•"/>
            </a:pPr>
            <a:r>
              <a:rPr lang="en-US" b="false" i="false" strike="noStrike" u="none" sz="1400">
                <a:solidFill>
                  <a:srgbClr val="FFFFFF">
                    <a:alpha val="80000"/>
                  </a:srgbClr>
                </a:solidFill>
                <a:latin typeface="Noto Sans SC"/>
                <a:ea typeface="Noto Sans SC"/>
                <a:cs typeface="Noto Sans SC"/>
                <a:sym typeface="Noto Sans SC"/>
              </a:rPr>
              <a:t>有效防止模型“死记硬背”过拟合</a:t>
            </a:r>
          </a:p>
        </p:txBody>
      </p:sp>
      <p:sp>
        <p:nvSpPr>
          <p:cNvPr name="AutoShape 9" id="9"/>
          <p:cNvSpPr/>
          <p:nvPr/>
        </p:nvSpPr>
        <p:spPr>
          <a:xfrm rot="0" flipH="false" flipV="false">
            <a:off x="4445000" y="2159000"/>
            <a:ext cx="3302000" cy="3302000"/>
          </a:xfrm>
          <a:prstGeom prst="roundRect">
            <a:avLst>
              <a:gd name="adj" fmla="val 384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99000" y="2413000"/>
            <a:ext cx="609600" cy="609600"/>
          </a:xfrm>
          <a:prstGeom prst="rect">
            <a:avLst/>
          </a:prstGeom>
        </p:spPr>
      </p:pic>
      <p:sp>
        <p:nvSpPr>
          <p:cNvPr name="AutoShape 11" id="11"/>
          <p:cNvSpPr/>
          <p:nvPr/>
        </p:nvSpPr>
        <p:spPr>
          <a:xfrm rot="0" flipH="false" flipV="false">
            <a:off x="4699000" y="31115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投票决策逻辑</a:t>
            </a:r>
            <a:endParaRPr lang="en-US" sz="1100"/>
          </a:p>
        </p:txBody>
      </p:sp>
      <p:sp>
        <p:nvSpPr>
          <p:cNvPr name="AutoShape 12" id="12"/>
          <p:cNvSpPr/>
          <p:nvPr/>
        </p:nvSpPr>
        <p:spPr>
          <a:xfrm rot="0" flipH="false" flipV="false">
            <a:off x="4699000" y="3556000"/>
            <a:ext cx="2794000" cy="1270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FFFFFF"/>
              </a:buClr>
              <a:buChar char="•"/>
              <a:defRPr/>
            </a:pPr>
            <a:r>
              <a:rPr lang="en-US" b="false" i="false" strike="noStrike" u="none" sz="1400">
                <a:solidFill>
                  <a:srgbClr val="FFFFFF">
                    <a:alpha val="80000"/>
                  </a:srgbClr>
                </a:solidFill>
                <a:latin typeface="Noto Sans SC"/>
                <a:ea typeface="Noto Sans SC"/>
                <a:cs typeface="Noto Sans SC"/>
                <a:sym typeface="Noto Sans SC"/>
              </a:rPr>
              <a:t>最终预测结果 = 多数投票</a:t>
            </a:r>
            <a:r>
              <a:rPr lang="en-US" b="false" i="false" strike="noStrike" u="none" sz="1400">
                <a:solidFill>
                  <a:srgbClr val="FFFFFF">
                    <a:alpha val="80000"/>
                  </a:srgbClr>
                </a:solidFill>
                <a:latin typeface="Noto Sans SC"/>
                <a:ea typeface="Noto Sans SC"/>
                <a:cs typeface="Noto Sans SC"/>
                <a:sym typeface="Noto Sans SC"/>
              </a:rPr>
              <a:t/>
            </a:r>
            <a:endParaRPr lang="en-US" sz="1100"/>
          </a:p>
          <a:p>
            <a:pPr algn="l" indent="-177800" marL="177800">
              <a:lnSpc>
                <a:spcPct val="125000"/>
              </a:lnSpc>
              <a:buClr>
                <a:srgbClr val="FFFFFF"/>
              </a:buClr>
              <a:buChar char="•"/>
            </a:pPr>
            <a:r>
              <a:rPr lang="en-US" b="false" i="false" strike="noStrike" u="none" sz="1400">
                <a:solidFill>
                  <a:srgbClr val="FFFFFF">
                    <a:alpha val="80000"/>
                  </a:srgbClr>
                </a:solidFill>
                <a:latin typeface="Noto Sans SC"/>
                <a:ea typeface="Noto Sans SC"/>
                <a:cs typeface="Noto Sans SC"/>
                <a:sym typeface="Noto Sans SC"/>
              </a:rPr>
              <a:t>置信度 = 投票一致程度</a:t>
            </a:r>
            <a:r>
              <a:rPr lang="en-US" b="false" i="false" strike="noStrike" u="none" sz="1400">
                <a:solidFill>
                  <a:srgbClr val="FFFFFF">
                    <a:alpha val="80000"/>
                  </a:srgbClr>
                </a:solidFill>
                <a:latin typeface="Noto Sans SC"/>
                <a:ea typeface="Noto Sans SC"/>
                <a:cs typeface="Noto Sans SC"/>
                <a:sym typeface="Noto Sans SC"/>
              </a:rPr>
              <a:t/>
            </a:r>
          </a:p>
          <a:p>
            <a:pPr algn="l" indent="-177800" marL="177800">
              <a:lnSpc>
                <a:spcPct val="125000"/>
              </a:lnSpc>
              <a:buClr>
                <a:srgbClr val="FFFFFF"/>
              </a:buClr>
              <a:buChar char="•"/>
            </a:pPr>
            <a:r>
              <a:rPr lang="en-US" b="false" i="false" strike="noStrike" u="none" sz="1400">
                <a:solidFill>
                  <a:srgbClr val="FFFFFF">
                    <a:alpha val="80000"/>
                  </a:srgbClr>
                </a:solidFill>
                <a:latin typeface="Noto Sans SC"/>
                <a:ea typeface="Noto Sans SC"/>
                <a:cs typeface="Noto Sans SC"/>
                <a:sym typeface="Noto Sans SC"/>
              </a:rPr>
              <a:t>集成学习提升模型鲁棒性</a:t>
            </a:r>
          </a:p>
        </p:txBody>
      </p:sp>
      <p:sp>
        <p:nvSpPr>
          <p:cNvPr name="AutoShape 13" id="13"/>
          <p:cNvSpPr/>
          <p:nvPr/>
        </p:nvSpPr>
        <p:spPr>
          <a:xfrm rot="0" flipH="false" flipV="false">
            <a:off x="8128000" y="2159000"/>
            <a:ext cx="3302000" cy="3302000"/>
          </a:xfrm>
          <a:prstGeom prst="roundRect">
            <a:avLst>
              <a:gd name="adj" fmla="val 384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82000" y="2413000"/>
            <a:ext cx="609600" cy="609600"/>
          </a:xfrm>
          <a:prstGeom prst="rect">
            <a:avLst/>
          </a:prstGeom>
        </p:spPr>
      </p:pic>
      <p:sp>
        <p:nvSpPr>
          <p:cNvPr name="AutoShape 15" id="15"/>
          <p:cNvSpPr/>
          <p:nvPr/>
        </p:nvSpPr>
        <p:spPr>
          <a:xfrm rot="0" flipH="false" flipV="false">
            <a:off x="8382000" y="31115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实战案例演示</a:t>
            </a:r>
            <a:endParaRPr lang="en-US" sz="1100"/>
          </a:p>
        </p:txBody>
      </p:sp>
      <p:sp>
        <p:nvSpPr>
          <p:cNvPr name="AutoShape 16" id="16"/>
          <p:cNvSpPr/>
          <p:nvPr/>
        </p:nvSpPr>
        <p:spPr>
          <a:xfrm rot="0" flipH="false" flipV="false">
            <a:off x="8382000" y="3556000"/>
            <a:ext cx="2794000" cy="1270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FFFFFF"/>
              </a:buClr>
              <a:buChar char="•"/>
              <a:defRPr/>
            </a:pPr>
            <a:r>
              <a:rPr lang="en-US" b="false" i="false" strike="noStrike" u="none" sz="1400">
                <a:solidFill>
                  <a:srgbClr val="FFFFFF">
                    <a:alpha val="80000"/>
                  </a:srgbClr>
                </a:solidFill>
                <a:latin typeface="Noto Sans SC"/>
                <a:ea typeface="Noto Sans SC"/>
                <a:cs typeface="Noto Sans SC"/>
                <a:sym typeface="Noto Sans SC"/>
              </a:rPr>
              <a:t>场景：股票交易预测</a:t>
            </a:r>
            <a:r>
              <a:rPr lang="en-US" b="false" i="false" strike="noStrike" u="none" sz="1400">
                <a:solidFill>
                  <a:srgbClr val="FFFFFF">
                    <a:alpha val="80000"/>
                  </a:srgbClr>
                </a:solidFill>
                <a:latin typeface="Noto Sans SC"/>
                <a:ea typeface="Noto Sans SC"/>
                <a:cs typeface="Noto Sans SC"/>
                <a:sym typeface="Noto Sans SC"/>
              </a:rPr>
              <a:t/>
            </a:r>
            <a:endParaRPr lang="en-US" sz="1100"/>
          </a:p>
          <a:p>
            <a:pPr algn="l" indent="-177800" marL="177800">
              <a:lnSpc>
                <a:spcPct val="125000"/>
              </a:lnSpc>
              <a:buClr>
                <a:srgbClr val="FFFFFF"/>
              </a:buClr>
              <a:buChar char="•"/>
            </a:pPr>
            <a:r>
              <a:rPr lang="en-US" b="false" i="false" strike="noStrike" u="none" sz="1400">
                <a:solidFill>
                  <a:srgbClr val="FFFFFF">
                    <a:alpha val="80000"/>
                  </a:srgbClr>
                </a:solidFill>
                <a:latin typeface="Noto Sans SC"/>
                <a:ea typeface="Noto Sans SC"/>
                <a:cs typeface="Noto Sans SC"/>
                <a:sym typeface="Noto Sans SC"/>
              </a:rPr>
              <a:t>结果：180/200 投买入</a:t>
            </a:r>
            <a:r>
              <a:rPr lang="en-US" b="false" i="false" strike="noStrike" u="none" sz="1400">
                <a:solidFill>
                  <a:srgbClr val="FFFFFF">
                    <a:alpha val="80000"/>
                  </a:srgbClr>
                </a:solidFill>
                <a:latin typeface="Noto Sans SC"/>
                <a:ea typeface="Noto Sans SC"/>
                <a:cs typeface="Noto Sans SC"/>
                <a:sym typeface="Noto Sans SC"/>
              </a:rPr>
              <a:t/>
            </a:r>
          </a:p>
          <a:p>
            <a:pPr algn="l" indent="-177800" marL="177800">
              <a:lnSpc>
                <a:spcPct val="125000"/>
              </a:lnSpc>
              <a:buClr>
                <a:srgbClr val="FFFFFF"/>
              </a:buClr>
              <a:buChar char="•"/>
            </a:pPr>
            <a:r>
              <a:rPr lang="en-US" b="false" i="false" strike="noStrike" u="none" sz="1400">
                <a:solidFill>
                  <a:srgbClr val="FFFFFF">
                    <a:alpha val="80000"/>
                  </a:srgbClr>
                </a:solidFill>
                <a:latin typeface="Noto Sans SC"/>
                <a:ea typeface="Noto Sans SC"/>
                <a:cs typeface="Noto Sans SC"/>
                <a:sym typeface="Noto Sans SC"/>
              </a:rPr>
              <a:t>结论：置信度高达 90%</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ML策略完整工作流</a:t>
            </a:r>
            <a:endParaRPr lang="en-US" sz="1100"/>
          </a:p>
        </p:txBody>
      </p:sp>
      <p:sp>
        <p:nvSpPr>
          <p:cNvPr name="AutoShape 4" id="4"/>
          <p:cNvSpPr/>
          <p:nvPr/>
        </p:nvSpPr>
        <p:spPr>
          <a:xfrm rot="0" flipH="false" flipV="false">
            <a:off x="762000" y="2032000"/>
            <a:ext cx="3302000" cy="2286000"/>
          </a:xfrm>
          <a:prstGeom prst="roundRect">
            <a:avLst>
              <a:gd name="adj" fmla="val 555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86000"/>
            <a:ext cx="406400" cy="406400"/>
          </a:xfrm>
          <a:prstGeom prst="rect">
            <a:avLst/>
          </a:prstGeom>
        </p:spPr>
      </p:pic>
      <p:sp>
        <p:nvSpPr>
          <p:cNvPr name="AutoShape 6" id="6"/>
          <p:cNvSpPr/>
          <p:nvPr/>
        </p:nvSpPr>
        <p:spPr>
          <a:xfrm rot="0" flipH="false" flipV="false">
            <a:off x="1524000" y="2286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数据准备与标签定义</a:t>
            </a:r>
            <a:endParaRPr lang="en-US" sz="1100"/>
          </a:p>
        </p:txBody>
      </p:sp>
      <p:cxnSp>
        <p:nvCxnSpPr>
          <p:cNvPr name="Connector 7" id="7"/>
          <p:cNvCxnSpPr/>
          <p:nvPr/>
        </p:nvCxnSpPr>
        <p:spPr>
          <a:xfrm rot="-15626" flipH="false" flipV="false">
            <a:off x="1016014" y="2724150"/>
            <a:ext cx="2794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8" id="8"/>
          <p:cNvSpPr/>
          <p:nvPr/>
        </p:nvSpPr>
        <p:spPr>
          <a:xfrm rot="0" flipH="false" flipV="false">
            <a:off x="1016000" y="2857500"/>
            <a:ext cx="2794000" cy="1270000"/>
          </a:xfrm>
          <a:prstGeom prst="rect">
            <a:avLst/>
          </a:prstGeom>
          <a:noFill/>
          <a:ln w="12700" cmpd="sng" cap="flat">
            <a:noFill/>
            <a:prstDash val="solid"/>
            <a:round/>
          </a:ln>
        </p:spPr>
        <p:txBody>
          <a:bodyPr anchor="ctr" rtlCol="false" anchorCtr="false" vert="horz" wrap="square" lIns="0" rIns="0" tIns="0" bIns="0"/>
          <a:lstStyle/>
          <a:p>
            <a:pPr algn="l" indent="-165100" marL="165100">
              <a:lnSpc>
                <a:spcPct val="125000"/>
              </a:lnSpc>
              <a:buClr>
                <a:srgbClr val="FFFFFF"/>
              </a:buClr>
              <a:buChar char="•"/>
              <a:defRPr/>
            </a:pPr>
            <a:r>
              <a:rPr lang="en-US" b="false" i="false" strike="noStrike" u="none" sz="1300">
                <a:solidFill>
                  <a:srgbClr val="FFFFFF">
                    <a:alpha val="80000"/>
                  </a:srgbClr>
                </a:solidFill>
                <a:latin typeface="Noto Sans SC"/>
                <a:ea typeface="Noto Sans SC"/>
                <a:cs typeface="Noto Sans SC"/>
                <a:sym typeface="Noto Sans SC"/>
              </a:rPr>
              <a:t>数据源：历史K线 + 12个技术指标</a:t>
            </a:r>
            <a:r>
              <a:rPr lang="en-US" b="false" i="false" strike="noStrike" u="none" sz="1300">
                <a:solidFill>
                  <a:srgbClr val="1F2329"/>
                </a:solidFill>
                <a:latin typeface="Noto Sans SC"/>
                <a:ea typeface="Noto Sans SC"/>
                <a:cs typeface="Noto Sans SC"/>
                <a:sym typeface="Noto Sans SC"/>
              </a:rPr>
              <a:t/>
            </a:r>
            <a:endParaRPr lang="en-US" sz="1100"/>
          </a:p>
          <a:p>
            <a:pPr algn="l" indent="-165100" marL="165100">
              <a:lnSpc>
                <a:spcPct val="125000"/>
              </a:lnSpc>
              <a:buClr>
                <a:srgbClr val="FFFFFF"/>
              </a:buClr>
              <a:buChar char="•"/>
            </a:pPr>
            <a:r>
              <a:rPr lang="en-US" b="false" i="false" strike="noStrike" u="none" sz="1300">
                <a:solidFill>
                  <a:srgbClr val="FFFFFF">
                    <a:alpha val="80000"/>
                  </a:srgbClr>
                </a:solidFill>
                <a:latin typeface="Noto Sans SC"/>
                <a:ea typeface="Noto Sans SC"/>
                <a:cs typeface="Noto Sans SC"/>
                <a:sym typeface="Noto Sans SC"/>
              </a:rPr>
              <a:t>标签规则：涨&gt;1.5%为买入，跌&gt;1.5%为卖出</a:t>
            </a:r>
            <a:r>
              <a:rPr lang="en-US" b="false" i="false" strike="noStrike" u="none" sz="1300">
                <a:solidFill>
                  <a:srgbClr val="1F2329"/>
                </a:solidFill>
                <a:latin typeface="Noto Sans SC"/>
                <a:ea typeface="Noto Sans SC"/>
                <a:cs typeface="Noto Sans SC"/>
                <a:sym typeface="Noto Sans SC"/>
              </a:rPr>
              <a:t/>
            </a:r>
          </a:p>
          <a:p>
            <a:pPr algn="l" indent="-165100" marL="165100">
              <a:lnSpc>
                <a:spcPct val="125000"/>
              </a:lnSpc>
              <a:buClr>
                <a:srgbClr val="FFFFFF"/>
              </a:buClr>
              <a:buChar char="•"/>
            </a:pPr>
            <a:r>
              <a:rPr lang="en-US" b="false" i="false" strike="noStrike" u="none" sz="1300">
                <a:solidFill>
                  <a:srgbClr val="FFFFFF">
                    <a:alpha val="60000"/>
                  </a:srgbClr>
                </a:solidFill>
                <a:latin typeface="Noto Sans SC"/>
                <a:ea typeface="Noto Sans SC"/>
                <a:cs typeface="Noto Sans SC"/>
                <a:sym typeface="Noto Sans SC"/>
              </a:rPr>
              <a:t>注：1.5%缓冲覆盖手续费与滑点</a:t>
            </a:r>
          </a:p>
        </p:txBody>
      </p:sp>
      <p:sp>
        <p:nvSpPr>
          <p:cNvPr name="AutoShape 9" id="9"/>
          <p:cNvSpPr/>
          <p:nvPr/>
        </p:nvSpPr>
        <p:spPr>
          <a:xfrm rot="0" flipH="false" flipV="false">
            <a:off x="4445000" y="2032000"/>
            <a:ext cx="3302000" cy="2286000"/>
          </a:xfrm>
          <a:prstGeom prst="roundRect">
            <a:avLst>
              <a:gd name="adj" fmla="val 555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99000" y="2286000"/>
            <a:ext cx="406400" cy="406400"/>
          </a:xfrm>
          <a:prstGeom prst="rect">
            <a:avLst/>
          </a:prstGeom>
        </p:spPr>
      </p:pic>
      <p:sp>
        <p:nvSpPr>
          <p:cNvPr name="AutoShape 11" id="11"/>
          <p:cNvSpPr/>
          <p:nvPr/>
        </p:nvSpPr>
        <p:spPr>
          <a:xfrm rot="0" flipH="false" flipV="false">
            <a:off x="5207000" y="2286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时间序列分割</a:t>
            </a:r>
            <a:endParaRPr lang="en-US" sz="1100"/>
          </a:p>
        </p:txBody>
      </p:sp>
      <p:cxnSp>
        <p:nvCxnSpPr>
          <p:cNvPr name="Connector 12" id="12"/>
          <p:cNvCxnSpPr/>
          <p:nvPr/>
        </p:nvCxnSpPr>
        <p:spPr>
          <a:xfrm rot="-15626" flipH="false" flipV="false">
            <a:off x="4699014" y="2724150"/>
            <a:ext cx="2794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3" id="13"/>
          <p:cNvSpPr/>
          <p:nvPr/>
        </p:nvSpPr>
        <p:spPr>
          <a:xfrm rot="0" flipH="false" flipV="false">
            <a:off x="4699000" y="2857500"/>
            <a:ext cx="2794000" cy="1270000"/>
          </a:xfrm>
          <a:prstGeom prst="rect">
            <a:avLst/>
          </a:prstGeom>
          <a:noFill/>
          <a:ln w="12700" cmpd="sng" cap="flat">
            <a:noFill/>
            <a:prstDash val="solid"/>
            <a:round/>
          </a:ln>
        </p:spPr>
        <p:txBody>
          <a:bodyPr anchor="ctr" rtlCol="false" anchorCtr="false" vert="horz" wrap="square" lIns="0" rIns="0" tIns="0" bIns="0"/>
          <a:lstStyle/>
          <a:p>
            <a:pPr algn="l" indent="-165100" marL="165100">
              <a:lnSpc>
                <a:spcPct val="125000"/>
              </a:lnSpc>
              <a:buClr>
                <a:srgbClr val="FFFFFF"/>
              </a:buClr>
              <a:buChar char="•"/>
              <a:defRPr/>
            </a:pPr>
            <a:r>
              <a:rPr lang="en-US" b="false" i="false" strike="noStrike" u="none" sz="1300">
                <a:solidFill>
                  <a:srgbClr val="FFFFFF">
                    <a:alpha val="80000"/>
                  </a:srgbClr>
                </a:solidFill>
                <a:latin typeface="Noto Sans SC"/>
                <a:ea typeface="Noto Sans SC"/>
                <a:cs typeface="Noto Sans SC"/>
                <a:sym typeface="Noto Sans SC"/>
              </a:rPr>
              <a:t>策略：前80%训练集 / 后20%测试集</a:t>
            </a:r>
            <a:r>
              <a:rPr lang="en-US" b="false" i="false" strike="noStrike" u="none" sz="1300">
                <a:solidFill>
                  <a:srgbClr val="1F2329"/>
                </a:solidFill>
                <a:latin typeface="Noto Sans SC"/>
                <a:ea typeface="Noto Sans SC"/>
                <a:cs typeface="Noto Sans SC"/>
                <a:sym typeface="Noto Sans SC"/>
              </a:rPr>
              <a:t/>
            </a:r>
            <a:endParaRPr lang="en-US" sz="1100"/>
          </a:p>
          <a:p>
            <a:pPr algn="l" indent="-165100" marL="165100">
              <a:lnSpc>
                <a:spcPct val="125000"/>
              </a:lnSpc>
              <a:buClr>
                <a:srgbClr val="FFFFFF"/>
              </a:buClr>
              <a:buChar char="•"/>
            </a:pPr>
            <a:r>
              <a:rPr lang="en-US" b="false" i="false" strike="noStrike" u="none" sz="1300">
                <a:solidFill>
                  <a:srgbClr val="FFFFFF">
                    <a:alpha val="80000"/>
                  </a:srgbClr>
                </a:solidFill>
                <a:latin typeface="Noto Sans SC"/>
                <a:ea typeface="Noto Sans SC"/>
                <a:cs typeface="Noto Sans SC"/>
                <a:sym typeface="Noto Sans SC"/>
              </a:rPr>
              <a:t>核心原则：严禁随机分割，保持时间顺序</a:t>
            </a:r>
            <a:r>
              <a:rPr lang="en-US" b="false" i="false" strike="noStrike" u="none" sz="1300">
                <a:solidFill>
                  <a:srgbClr val="1F2329"/>
                </a:solidFill>
                <a:latin typeface="Noto Sans SC"/>
                <a:ea typeface="Noto Sans SC"/>
                <a:cs typeface="Noto Sans SC"/>
                <a:sym typeface="Noto Sans SC"/>
              </a:rPr>
              <a:t/>
            </a:r>
          </a:p>
          <a:p>
            <a:pPr algn="l" indent="-165100" marL="165100">
              <a:lnSpc>
                <a:spcPct val="125000"/>
              </a:lnSpc>
              <a:buClr>
                <a:srgbClr val="FFFFFF"/>
              </a:buClr>
              <a:buChar char="•"/>
            </a:pPr>
            <a:r>
              <a:rPr lang="en-US" b="false" i="false" strike="noStrike" u="none" sz="1300">
                <a:solidFill>
                  <a:srgbClr val="FFFFFF">
                    <a:alpha val="60000"/>
                  </a:srgbClr>
                </a:solidFill>
                <a:latin typeface="Noto Sans SC"/>
                <a:ea typeface="Noto Sans SC"/>
                <a:cs typeface="Noto Sans SC"/>
                <a:sym typeface="Noto Sans SC"/>
              </a:rPr>
              <a:t>目的：避免未来信息泄露，确保真实回测</a:t>
            </a:r>
          </a:p>
        </p:txBody>
      </p:sp>
      <p:sp>
        <p:nvSpPr>
          <p:cNvPr name="AutoShape 14" id="14"/>
          <p:cNvSpPr/>
          <p:nvPr/>
        </p:nvSpPr>
        <p:spPr>
          <a:xfrm rot="0" flipH="false" flipV="false">
            <a:off x="8128000" y="2032000"/>
            <a:ext cx="3302000" cy="2286000"/>
          </a:xfrm>
          <a:prstGeom prst="roundRect">
            <a:avLst>
              <a:gd name="adj" fmla="val 555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82000" y="2286000"/>
            <a:ext cx="406400" cy="406400"/>
          </a:xfrm>
          <a:prstGeom prst="rect">
            <a:avLst/>
          </a:prstGeom>
        </p:spPr>
      </p:pic>
      <p:sp>
        <p:nvSpPr>
          <p:cNvPr name="AutoShape 16" id="16"/>
          <p:cNvSpPr/>
          <p:nvPr/>
        </p:nvSpPr>
        <p:spPr>
          <a:xfrm rot="0" flipH="false" flipV="false">
            <a:off x="8890000" y="2286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模型训练 (RandomForest)</a:t>
            </a:r>
            <a:endParaRPr lang="en-US" sz="1100"/>
          </a:p>
        </p:txBody>
      </p:sp>
      <p:cxnSp>
        <p:nvCxnSpPr>
          <p:cNvPr name="Connector 17" id="17"/>
          <p:cNvCxnSpPr/>
          <p:nvPr/>
        </p:nvCxnSpPr>
        <p:spPr>
          <a:xfrm rot="-15626" flipH="false" flipV="false">
            <a:off x="8382014" y="2724150"/>
            <a:ext cx="2794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8" id="18"/>
          <p:cNvSpPr/>
          <p:nvPr/>
        </p:nvSpPr>
        <p:spPr>
          <a:xfrm rot="0" flipH="false" flipV="false">
            <a:off x="8382000" y="2857500"/>
            <a:ext cx="2794000" cy="1270000"/>
          </a:xfrm>
          <a:prstGeom prst="rect">
            <a:avLst/>
          </a:prstGeom>
          <a:noFill/>
          <a:ln w="12700" cmpd="sng" cap="flat">
            <a:noFill/>
            <a:prstDash val="solid"/>
            <a:round/>
          </a:ln>
        </p:spPr>
        <p:txBody>
          <a:bodyPr anchor="ctr" rtlCol="false" anchorCtr="false" vert="horz" wrap="square" lIns="0" rIns="0" tIns="0" bIns="0"/>
          <a:lstStyle/>
          <a:p>
            <a:pPr algn="l" indent="-165100" marL="165100">
              <a:lnSpc>
                <a:spcPct val="125000"/>
              </a:lnSpc>
              <a:buClr>
                <a:srgbClr val="FFFFFF"/>
              </a:buClr>
              <a:buChar char="•"/>
              <a:defRPr/>
            </a:pPr>
            <a:r>
              <a:rPr lang="en-US" b="false" i="false" strike="noStrike" u="none" sz="1300">
                <a:solidFill>
                  <a:srgbClr val="FFFFFF">
                    <a:alpha val="80000"/>
                  </a:srgbClr>
                </a:solidFill>
                <a:latin typeface="Noto Sans SC"/>
                <a:ea typeface="Noto Sans SC"/>
                <a:cs typeface="Noto Sans SC"/>
                <a:sym typeface="Noto Sans SC"/>
              </a:rPr>
              <a:t>算法：随机森林分类器</a:t>
            </a:r>
            <a:r>
              <a:rPr lang="en-US" b="false" i="false" strike="noStrike" u="none" sz="1300">
                <a:solidFill>
                  <a:srgbClr val="1F2329"/>
                </a:solidFill>
                <a:latin typeface="Noto Sans SC"/>
                <a:ea typeface="Noto Sans SC"/>
                <a:cs typeface="Noto Sans SC"/>
                <a:sym typeface="Noto Sans SC"/>
              </a:rPr>
              <a:t/>
            </a:r>
            <a:endParaRPr lang="en-US" sz="1100"/>
          </a:p>
          <a:p>
            <a:pPr algn="l" indent="-165100" marL="165100">
              <a:lnSpc>
                <a:spcPct val="125000"/>
              </a:lnSpc>
              <a:buClr>
                <a:srgbClr val="FFFFFF"/>
              </a:buClr>
              <a:buChar char="•"/>
            </a:pPr>
            <a:r>
              <a:rPr lang="en-US" b="false" i="false" strike="noStrike" u="none" sz="1300">
                <a:solidFill>
                  <a:srgbClr val="FFFFFF">
                    <a:alpha val="80000"/>
                  </a:srgbClr>
                </a:solidFill>
                <a:latin typeface="Noto Sans SC"/>
                <a:ea typeface="Noto Sans SC"/>
                <a:cs typeface="Noto Sans SC"/>
                <a:sym typeface="Noto Sans SC"/>
              </a:rPr>
              <a:t>参数：200棵决策树，最大深度10</a:t>
            </a:r>
            <a:r>
              <a:rPr lang="en-US" b="false" i="false" strike="noStrike" u="none" sz="1300">
                <a:solidFill>
                  <a:srgbClr val="1F2329"/>
                </a:solidFill>
                <a:latin typeface="Noto Sans SC"/>
                <a:ea typeface="Noto Sans SC"/>
                <a:cs typeface="Noto Sans SC"/>
                <a:sym typeface="Noto Sans SC"/>
              </a:rPr>
              <a:t/>
            </a:r>
          </a:p>
          <a:p>
            <a:pPr algn="l" indent="-165100" marL="165100">
              <a:lnSpc>
                <a:spcPct val="125000"/>
              </a:lnSpc>
              <a:buClr>
                <a:srgbClr val="FFFFFF"/>
              </a:buClr>
              <a:buChar char="•"/>
            </a:pPr>
            <a:r>
              <a:rPr lang="en-US" b="false" i="false" strike="noStrike" u="none" sz="1300">
                <a:solidFill>
                  <a:srgbClr val="FFFFFF">
                    <a:alpha val="60000"/>
                  </a:srgbClr>
                </a:solidFill>
                <a:latin typeface="Noto Sans SC"/>
                <a:ea typeface="Noto Sans SC"/>
                <a:cs typeface="Noto Sans SC"/>
                <a:sym typeface="Noto Sans SC"/>
              </a:rPr>
              <a:t>优势：处理非线性特征，抗过拟合能力强</a:t>
            </a:r>
          </a:p>
        </p:txBody>
      </p:sp>
      <p:sp>
        <p:nvSpPr>
          <p:cNvPr name="AutoShape 19" id="19"/>
          <p:cNvSpPr/>
          <p:nvPr/>
        </p:nvSpPr>
        <p:spPr>
          <a:xfrm rot="0" flipH="false" flipV="false">
            <a:off x="762000" y="4572000"/>
            <a:ext cx="10668000" cy="1524000"/>
          </a:xfrm>
          <a:prstGeom prst="roundRect">
            <a:avLst>
              <a:gd name="adj" fmla="val 8333"/>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16000" y="4826000"/>
            <a:ext cx="406400" cy="406400"/>
          </a:xfrm>
          <a:prstGeom prst="rect">
            <a:avLst/>
          </a:prstGeom>
        </p:spPr>
      </p:pic>
      <p:sp>
        <p:nvSpPr>
          <p:cNvPr name="AutoShape 21" id="21"/>
          <p:cNvSpPr/>
          <p:nvPr/>
        </p:nvSpPr>
        <p:spPr>
          <a:xfrm rot="0" flipH="false" flipV="false">
            <a:off x="1524000" y="4826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信号预测与置信度过滤</a:t>
            </a:r>
            <a:endParaRPr lang="en-US" sz="1100"/>
          </a:p>
        </p:txBody>
      </p:sp>
      <p:cxnSp>
        <p:nvCxnSpPr>
          <p:cNvPr name="Connector 22" id="22"/>
          <p:cNvCxnSpPr/>
          <p:nvPr/>
        </p:nvCxnSpPr>
        <p:spPr>
          <a:xfrm rot="-4297" flipH="false" flipV="false">
            <a:off x="1016004" y="5264150"/>
            <a:ext cx="10160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23" id="23"/>
          <p:cNvSpPr/>
          <p:nvPr/>
        </p:nvSpPr>
        <p:spPr>
          <a:xfrm rot="0" flipH="false" flipV="false">
            <a:off x="1016000" y="5397500"/>
            <a:ext cx="9906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执行条件：仅当模型预测置信度 ≥ 0.6 时才执行交易。</a:t>
            </a:r>
            <a:r>
              <a:rPr lang="en-US" b="false" i="false" strike="noStrike" u="none" sz="1400">
                <a:solidFill>
                  <a:srgbClr val="FFFFFF">
                    <a:alpha val="60000"/>
                  </a:srgbClr>
                </a:solidFill>
                <a:latin typeface="Noto Sans SC"/>
                <a:ea typeface="Noto Sans SC"/>
                <a:cs typeface="Noto Sans SC"/>
                <a:sym typeface="Noto Sans SC"/>
              </a:rPr>
              <a:t>（原因：0.5置信度仅略优于随机猜测，无法覆盖交易成本）</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F17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为什么不能随机分割？</a:t>
            </a:r>
            <a:endParaRPr lang="en-US" sz="1100"/>
          </a:p>
        </p:txBody>
      </p:sp>
      <p:sp>
        <p:nvSpPr>
          <p:cNvPr name="AutoShape 4" id="4"/>
          <p:cNvSpPr/>
          <p:nvPr/>
        </p:nvSpPr>
        <p:spPr>
          <a:xfrm rot="0" flipH="false" flipV="false">
            <a:off x="762000" y="2032000"/>
            <a:ext cx="3302000" cy="3556000"/>
          </a:xfrm>
          <a:prstGeom prst="roundRect">
            <a:avLst>
              <a:gd name="adj" fmla="val 384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86000"/>
            <a:ext cx="609600" cy="609600"/>
          </a:xfrm>
          <a:prstGeom prst="rect">
            <a:avLst/>
          </a:prstGeom>
        </p:spPr>
      </p:pic>
      <p:sp>
        <p:nvSpPr>
          <p:cNvPr name="AutoShape 6" id="6"/>
          <p:cNvSpPr/>
          <p:nvPr/>
        </p:nvSpPr>
        <p:spPr>
          <a:xfrm rot="0" flipH="false" flipV="false">
            <a:off x="1016000" y="29845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核心问题</a:t>
            </a:r>
            <a:endParaRPr lang="en-US" sz="1100"/>
          </a:p>
        </p:txBody>
      </p:sp>
      <p:cxnSp>
        <p:nvCxnSpPr>
          <p:cNvPr name="Connector 7" id="7"/>
          <p:cNvCxnSpPr/>
          <p:nvPr/>
        </p:nvCxnSpPr>
        <p:spPr>
          <a:xfrm rot="-17188" flipH="false" flipV="false">
            <a:off x="1016016" y="3422650"/>
            <a:ext cx="2540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8" id="8"/>
          <p:cNvSpPr/>
          <p:nvPr/>
        </p:nvSpPr>
        <p:spPr>
          <a:xfrm rot="0" flipH="false" flipV="false">
            <a:off x="1016000" y="3556000"/>
            <a:ext cx="2794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训练集和测试集能像处理普通数据那样随机划分吗？</a:t>
            </a:r>
            <a:endParaRPr lang="en-US" sz="1100"/>
          </a:p>
        </p:txBody>
      </p:sp>
      <p:sp>
        <p:nvSpPr>
          <p:cNvPr name="AutoShape 9" id="9"/>
          <p:cNvSpPr/>
          <p:nvPr/>
        </p:nvSpPr>
        <p:spPr>
          <a:xfrm rot="0" flipH="false" flipV="false">
            <a:off x="4445000" y="2032000"/>
            <a:ext cx="3302000" cy="3556000"/>
          </a:xfrm>
          <a:prstGeom prst="roundRect">
            <a:avLst>
              <a:gd name="adj" fmla="val 3846"/>
            </a:avLst>
          </a:prstGeom>
          <a:solidFill>
            <a:srgbClr val="FFFFFF">
              <a:alpha val="5000"/>
            </a:srgbClr>
          </a:solidFill>
          <a:ln w="12700" cmpd="sng" cap="flat">
            <a:solidFill>
              <a:srgbClr val="FFFF00">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99000" y="2286000"/>
            <a:ext cx="609600" cy="609600"/>
          </a:xfrm>
          <a:prstGeom prst="rect">
            <a:avLst/>
          </a:prstGeom>
        </p:spPr>
      </p:pic>
      <p:sp>
        <p:nvSpPr>
          <p:cNvPr name="AutoShape 11" id="11"/>
          <p:cNvSpPr/>
          <p:nvPr/>
        </p:nvSpPr>
        <p:spPr>
          <a:xfrm rot="0" flipH="false" flipV="false">
            <a:off x="4699000" y="29845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错误后果</a:t>
            </a:r>
            <a:endParaRPr lang="en-US" sz="1100"/>
          </a:p>
        </p:txBody>
      </p:sp>
      <p:cxnSp>
        <p:nvCxnSpPr>
          <p:cNvPr name="Connector 12" id="12"/>
          <p:cNvCxnSpPr/>
          <p:nvPr/>
        </p:nvCxnSpPr>
        <p:spPr>
          <a:xfrm rot="-17188" flipH="false" flipV="false">
            <a:off x="4699016" y="3422650"/>
            <a:ext cx="2540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3" id="13"/>
          <p:cNvSpPr/>
          <p:nvPr/>
        </p:nvSpPr>
        <p:spPr>
          <a:xfrm rot="0" flipH="false" flipV="false">
            <a:off x="4699000" y="3556000"/>
            <a:ext cx="2794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随机分割等于“用明天的数据训练，预测昨天”。这是典型的</a:t>
            </a:r>
            <a:r>
              <a:rPr lang="en-US" b="true" i="false" strike="noStrike" u="none" sz="1400">
                <a:solidFill>
                  <a:srgbClr val="FFFF00"/>
                </a:solidFill>
                <a:latin typeface="Noto Sans SC"/>
                <a:ea typeface="Noto Sans SC"/>
                <a:cs typeface="Noto Sans SC"/>
                <a:sym typeface="Noto Sans SC"/>
              </a:rPr>
              <a:t>数据泄露</a:t>
            </a:r>
            <a:r>
              <a:rPr lang="en-US" b="false" i="false" strike="noStrike" u="none" sz="1400">
                <a:solidFill>
                  <a:srgbClr val="D1D5DB"/>
                </a:solidFill>
                <a:latin typeface="Noto Sans SC"/>
                <a:ea typeface="Noto Sans SC"/>
                <a:cs typeface="Noto Sans SC"/>
                <a:sym typeface="Noto Sans SC"/>
              </a:rPr>
              <a:t>，会导致模型准确率虚高。</a:t>
            </a:r>
            <a:endParaRPr lang="en-US" sz="1100"/>
          </a:p>
        </p:txBody>
      </p:sp>
      <p:sp>
        <p:nvSpPr>
          <p:cNvPr name="AutoShape 14" id="14"/>
          <p:cNvSpPr/>
          <p:nvPr/>
        </p:nvSpPr>
        <p:spPr>
          <a:xfrm rot="0" flipH="false" flipV="false">
            <a:off x="8128000" y="2032000"/>
            <a:ext cx="3302000" cy="3556000"/>
          </a:xfrm>
          <a:prstGeom prst="roundRect">
            <a:avLst>
              <a:gd name="adj" fmla="val 384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82000" y="2286000"/>
            <a:ext cx="609600" cy="609600"/>
          </a:xfrm>
          <a:prstGeom prst="rect">
            <a:avLst/>
          </a:prstGeom>
        </p:spPr>
      </p:pic>
      <p:sp>
        <p:nvSpPr>
          <p:cNvPr name="AutoShape 16" id="16"/>
          <p:cNvSpPr/>
          <p:nvPr/>
        </p:nvSpPr>
        <p:spPr>
          <a:xfrm rot="0" flipH="false" flipV="false">
            <a:off x="8382000" y="29845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正确方法</a:t>
            </a:r>
            <a:endParaRPr lang="en-US" sz="1100"/>
          </a:p>
        </p:txBody>
      </p:sp>
      <p:cxnSp>
        <p:nvCxnSpPr>
          <p:cNvPr name="Connector 17" id="17"/>
          <p:cNvCxnSpPr/>
          <p:nvPr/>
        </p:nvCxnSpPr>
        <p:spPr>
          <a:xfrm rot="-17188" flipH="false" flipV="false">
            <a:off x="8382016" y="3422650"/>
            <a:ext cx="2540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8" id="18"/>
          <p:cNvSpPr/>
          <p:nvPr/>
        </p:nvSpPr>
        <p:spPr>
          <a:xfrm rot="0" flipH="false" flipV="false">
            <a:off x="8382000" y="3556000"/>
            <a:ext cx="2794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使用</a:t>
            </a:r>
            <a:r>
              <a:rPr lang="en-US" b="true" i="false" strike="noStrike" u="none" sz="1400">
                <a:solidFill>
                  <a:srgbClr val="00BFFF"/>
                </a:solidFill>
                <a:latin typeface="Noto Sans SC"/>
                <a:ea typeface="Noto Sans SC"/>
                <a:cs typeface="Noto Sans SC"/>
                <a:sym typeface="Noto Sans SC"/>
              </a:rPr>
              <a:t>TimeSeriesSplit</a:t>
            </a:r>
            <a:r>
              <a:rPr lang="en-US" b="false" i="false" strike="noStrike" u="none" sz="1400">
                <a:solidFill>
                  <a:srgbClr val="D1D5DB"/>
                </a:solidFill>
                <a:latin typeface="Noto Sans SC"/>
                <a:ea typeface="Noto Sans SC"/>
                <a:cs typeface="Noto Sans SC"/>
                <a:sym typeface="Noto Sans SC"/>
              </a:rPr>
              <a:t>，确保训练集总是在测试集之前，永远只用过去预测未来。</a:t>
            </a:r>
            <a:endParaRPr lang="en-US" sz="1100"/>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标签定义 + 置信度过滤</a:t>
            </a:r>
            <a:endParaRPr lang="en-US" sz="1100"/>
          </a:p>
        </p:txBody>
      </p:sp>
      <p:sp>
        <p:nvSpPr>
          <p:cNvPr name="AutoShape 4" id="4"/>
          <p:cNvSpPr/>
          <p:nvPr/>
        </p:nvSpPr>
        <p:spPr>
          <a:xfrm rot="0" flipH="false" flipV="false">
            <a:off x="762000" y="2032000"/>
            <a:ext cx="5080000" cy="4064000"/>
          </a:xfrm>
          <a:prstGeom prst="roundRect">
            <a:avLst>
              <a:gd name="adj" fmla="val 3125"/>
            </a:avLst>
          </a:prstGeom>
          <a:solidFill>
            <a:srgbClr val="1E293B">
              <a:alpha val="6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86000"/>
            <a:ext cx="304800" cy="304800"/>
          </a:xfrm>
          <a:prstGeom prst="rect">
            <a:avLst/>
          </a:prstGeom>
        </p:spPr>
      </p:pic>
      <p:sp>
        <p:nvSpPr>
          <p:cNvPr name="AutoShape 6" id="6"/>
          <p:cNvSpPr/>
          <p:nvPr/>
        </p:nvSpPr>
        <p:spPr>
          <a:xfrm rot="0" flipH="false" flipV="false">
            <a:off x="1397000" y="2260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核心逻辑：三分类标签定义</a:t>
            </a:r>
            <a:endParaRPr lang="en-US" sz="1100"/>
          </a:p>
        </p:txBody>
      </p:sp>
      <p:cxnSp>
        <p:nvCxnSpPr>
          <p:cNvPr name="Connector 7" id="7"/>
          <p:cNvCxnSpPr/>
          <p:nvPr/>
        </p:nvCxnSpPr>
        <p:spPr>
          <a:xfrm rot="-9549" flipH="false" flipV="false">
            <a:off x="1016009" y="2660650"/>
            <a:ext cx="4572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8" id="8"/>
          <p:cNvSpPr/>
          <p:nvPr/>
        </p:nvSpPr>
        <p:spPr>
          <a:xfrm rot="0" flipH="false" flipV="false">
            <a:off x="1016000" y="2794000"/>
            <a:ext cx="4572000" cy="3048000"/>
          </a:xfrm>
          <a:prstGeom prst="roundRect">
            <a:avLst>
              <a:gd name="adj" fmla="val 2083"/>
            </a:avLst>
          </a:prstGeom>
          <a:solidFill>
            <a:srgbClr val="000000">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143000" y="2921000"/>
            <a:ext cx="4318000" cy="2794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300">
                <a:solidFill>
                  <a:srgbClr val="808080"/>
                </a:solidFill>
                <a:latin typeface="Noto Sans SC"/>
                <a:ea typeface="Noto Sans SC"/>
                <a:cs typeface="Noto Sans SC"/>
                <a:sym typeface="Noto Sans SC"/>
              </a:rPr>
              <a:t># 计算未来收益率与标签</a:t>
            </a:r>
            <a:r>
              <a:rPr lang="en-US" b="false" i="false" strike="noStrike" u="none" sz="1300">
                <a:solidFill>
                  <a:srgbClr val="1F2329"/>
                </a:solidFill>
                <a:latin typeface="Noto Sans SC"/>
                <a:ea typeface="Noto Sans SC"/>
                <a:cs typeface="Noto Sans SC"/>
                <a:sym typeface="Noto Sans SC"/>
              </a:rPr>
              <a:t/>
            </a:r>
            <a:endParaRPr lang="en-US" sz="1100"/>
          </a:p>
          <a:p>
            <a:pPr algn="l" indent="0">
              <a:lnSpc>
                <a:spcPct val="108333"/>
              </a:lnSpc>
            </a:pPr>
            <a:r>
              <a:rPr lang="en-US" b="false" i="false" strike="noStrike" u="none" sz="1300">
                <a:solidFill>
                  <a:srgbClr val="C8C8C8"/>
                </a:solidFill>
                <a:latin typeface="Noto Sans SC"/>
                <a:ea typeface="Noto Sans SC"/>
                <a:cs typeface="Noto Sans SC"/>
                <a:sym typeface="Noto Sans SC"/>
              </a:rPr>
              <a:t>df['future_return'] = (df['close'].shift(-p) / df['close'] - 1)</a:t>
            </a:r>
            <a:r>
              <a:rPr lang="en-US" b="false" i="false" strike="noStrike" u="none" sz="1300">
                <a:solidFill>
                  <a:srgbClr val="1F2329"/>
                </a:solidFill>
                <a:latin typeface="Noto Sans SC"/>
                <a:ea typeface="Noto Sans SC"/>
                <a:cs typeface="Noto Sans SC"/>
                <a:sym typeface="Noto Sans SC"/>
              </a:rPr>
              <a:t/>
            </a:r>
          </a:p>
          <a:p>
            <a:pPr algn="l" indent="0">
              <a:lnSpc>
                <a:spcPct val="108333"/>
              </a:lnSpc>
            </a:pPr>
            <a:r>
              <a:rPr lang="en-US" b="false" i="false" strike="noStrike" u="none" sz="1300">
                <a:solidFill>
                  <a:srgbClr val="C8C8C8"/>
                </a:solidFill>
                <a:latin typeface="Noto Sans SC"/>
                <a:ea typeface="Noto Sans SC"/>
                <a:cs typeface="Noto Sans SC"/>
                <a:sym typeface="Noto Sans SC"/>
              </a:rPr>
              <a:t>df['label'] = 0</a:t>
            </a:r>
            <a:r>
              <a:rPr lang="en-US" b="false" i="false" strike="noStrike" u="none" sz="1300">
                <a:solidFill>
                  <a:srgbClr val="1F2329"/>
                </a:solidFill>
                <a:latin typeface="Noto Sans SC"/>
                <a:ea typeface="Noto Sans SC"/>
                <a:cs typeface="Noto Sans SC"/>
                <a:sym typeface="Noto Sans SC"/>
              </a:rPr>
              <a:t/>
            </a:r>
          </a:p>
          <a:p>
            <a:pPr algn="l" indent="0">
              <a:lnSpc>
                <a:spcPct val="108333"/>
              </a:lnSpc>
            </a:pPr>
            <a:r>
              <a:rPr lang="en-US" b="false" i="false" strike="noStrike" u="none" sz="1300">
                <a:solidFill>
                  <a:srgbClr val="FFFF00"/>
                </a:solidFill>
                <a:latin typeface="Noto Sans SC"/>
                <a:ea typeface="Noto Sans SC"/>
                <a:cs typeface="Noto Sans SC"/>
                <a:sym typeface="Noto Sans SC"/>
              </a:rPr>
              <a:t>df.loc[df['future_return'] &gt; 0.015, 'label'] = 1</a:t>
            </a:r>
            <a:r>
              <a:rPr lang="en-US" b="false" i="false" strike="noStrike" u="none" sz="1300">
                <a:solidFill>
                  <a:srgbClr val="1F2329"/>
                </a:solidFill>
                <a:latin typeface="Noto Sans SC"/>
                <a:ea typeface="Noto Sans SC"/>
                <a:cs typeface="Noto Sans SC"/>
                <a:sym typeface="Noto Sans SC"/>
              </a:rPr>
              <a:t/>
            </a:r>
          </a:p>
          <a:p>
            <a:pPr algn="l" indent="0">
              <a:lnSpc>
                <a:spcPct val="108333"/>
              </a:lnSpc>
            </a:pPr>
            <a:r>
              <a:rPr lang="en-US" b="false" i="false" strike="noStrike" u="none" sz="1300">
                <a:solidFill>
                  <a:srgbClr val="FFFF00"/>
                </a:solidFill>
                <a:latin typeface="Noto Sans SC"/>
                <a:ea typeface="Noto Sans SC"/>
                <a:cs typeface="Noto Sans SC"/>
                <a:sym typeface="Noto Sans SC"/>
              </a:rPr>
              <a:t>df.loc[df['future_return'] &lt; -0.015, 'label'] = -1</a:t>
            </a:r>
          </a:p>
        </p:txBody>
      </p:sp>
      <p:sp>
        <p:nvSpPr>
          <p:cNvPr name="AutoShape 10" id="10"/>
          <p:cNvSpPr/>
          <p:nvPr/>
        </p:nvSpPr>
        <p:spPr>
          <a:xfrm rot="0" flipH="false" flipV="false">
            <a:off x="6350000" y="2032000"/>
            <a:ext cx="5080000" cy="4064000"/>
          </a:xfrm>
          <a:prstGeom prst="roundRect">
            <a:avLst>
              <a:gd name="adj" fmla="val 3125"/>
            </a:avLst>
          </a:prstGeom>
          <a:solidFill>
            <a:srgbClr val="1E293B">
              <a:alpha val="6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604000" y="2286000"/>
            <a:ext cx="304800" cy="304800"/>
          </a:xfrm>
          <a:prstGeom prst="rect">
            <a:avLst/>
          </a:prstGeom>
        </p:spPr>
      </p:pic>
      <p:sp>
        <p:nvSpPr>
          <p:cNvPr name="AutoShape 12" id="12"/>
          <p:cNvSpPr/>
          <p:nvPr/>
        </p:nvSpPr>
        <p:spPr>
          <a:xfrm rot="0" flipH="false" flipV="false">
            <a:off x="6985000" y="2260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风控机制：置信度过滤</a:t>
            </a:r>
            <a:endParaRPr lang="en-US" sz="1100"/>
          </a:p>
        </p:txBody>
      </p:sp>
      <p:cxnSp>
        <p:nvCxnSpPr>
          <p:cNvPr name="Connector 13" id="13"/>
          <p:cNvCxnSpPr/>
          <p:nvPr/>
        </p:nvCxnSpPr>
        <p:spPr>
          <a:xfrm rot="-9549" flipH="false" flipV="false">
            <a:off x="6604009" y="2660650"/>
            <a:ext cx="4572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4" id="14"/>
          <p:cNvSpPr/>
          <p:nvPr/>
        </p:nvSpPr>
        <p:spPr>
          <a:xfrm rot="0" flipH="false" flipV="false">
            <a:off x="6604000" y="2794000"/>
            <a:ext cx="4572000" cy="3048000"/>
          </a:xfrm>
          <a:prstGeom prst="roundRect">
            <a:avLst>
              <a:gd name="adj" fmla="val 2083"/>
            </a:avLst>
          </a:prstGeom>
          <a:solidFill>
            <a:srgbClr val="000000">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731000" y="2921000"/>
            <a:ext cx="4318000" cy="2794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300">
                <a:solidFill>
                  <a:srgbClr val="808080"/>
                </a:solidFill>
                <a:latin typeface="Noto Sans SC"/>
                <a:ea typeface="Noto Sans SC"/>
                <a:cs typeface="Noto Sans SC"/>
                <a:sym typeface="Noto Sans SC"/>
              </a:rPr>
              <a:t># 获取预测置信度并过滤</a:t>
            </a:r>
            <a:r>
              <a:rPr lang="en-US" b="false" i="false" strike="noStrike" u="none" sz="1300">
                <a:solidFill>
                  <a:srgbClr val="1F2329"/>
                </a:solidFill>
                <a:latin typeface="Noto Sans SC"/>
                <a:ea typeface="Noto Sans SC"/>
                <a:cs typeface="Noto Sans SC"/>
                <a:sym typeface="Noto Sans SC"/>
              </a:rPr>
              <a:t/>
            </a:r>
            <a:endParaRPr lang="en-US" sz="1100"/>
          </a:p>
          <a:p>
            <a:pPr algn="l" indent="0">
              <a:lnSpc>
                <a:spcPct val="108333"/>
              </a:lnSpc>
            </a:pPr>
            <a:r>
              <a:rPr lang="en-US" b="false" i="false" strike="noStrike" u="none" sz="1300">
                <a:solidFill>
                  <a:srgbClr val="C8C8C8"/>
                </a:solidFill>
                <a:latin typeface="Noto Sans SC"/>
                <a:ea typeface="Noto Sans SC"/>
                <a:cs typeface="Noto Sans SC"/>
                <a:sym typeface="Noto Sans SC"/>
              </a:rPr>
              <a:t>confidence = proba[class_idx]</a:t>
            </a:r>
            <a:r>
              <a:rPr lang="en-US" b="false" i="false" strike="noStrike" u="none" sz="1300">
                <a:solidFill>
                  <a:srgbClr val="1F2329"/>
                </a:solidFill>
                <a:latin typeface="Noto Sans SC"/>
                <a:ea typeface="Noto Sans SC"/>
                <a:cs typeface="Noto Sans SC"/>
                <a:sym typeface="Noto Sans SC"/>
              </a:rPr>
              <a:t/>
            </a:r>
          </a:p>
          <a:p>
            <a:pPr algn="l" indent="0">
              <a:lnSpc>
                <a:spcPct val="108333"/>
              </a:lnSpc>
            </a:pPr>
            <a:r>
              <a:rPr lang="en-US" b="false" i="false" strike="noStrike" u="none" sz="1300">
                <a:solidFill>
                  <a:srgbClr val="C8C8C8"/>
                </a:solidFill>
                <a:latin typeface="Noto Sans SC"/>
                <a:ea typeface="Noto Sans SC"/>
                <a:cs typeface="Noto Sans SC"/>
                <a:sym typeface="Noto Sans SC"/>
              </a:rPr>
              <a:t>return {</a:t>
            </a:r>
            <a:r>
              <a:rPr lang="en-US" b="false" i="false" strike="noStrike" u="none" sz="1300">
                <a:solidFill>
                  <a:srgbClr val="1F2329"/>
                </a:solidFill>
                <a:latin typeface="Noto Sans SC"/>
                <a:ea typeface="Noto Sans SC"/>
                <a:cs typeface="Noto Sans SC"/>
                <a:sym typeface="Noto Sans SC"/>
              </a:rPr>
              <a:t/>
            </a:r>
          </a:p>
          <a:p>
            <a:pPr algn="l" indent="0">
              <a:lnSpc>
                <a:spcPct val="108333"/>
              </a:lnSpc>
            </a:pPr>
            <a:r>
              <a:rPr lang="en-US" b="false" i="false" strike="noStrike" u="none" sz="1300">
                <a:solidFill>
                  <a:srgbClr val="C8C8C8"/>
                </a:solidFill>
                <a:latin typeface="Noto Sans SC"/>
                <a:ea typeface="Noto Sans SC"/>
                <a:cs typeface="Noto Sans SC"/>
                <a:sym typeface="Noto Sans SC"/>
              </a:rPr>
              <a:t>'action': action,</a:t>
            </a:r>
            <a:r>
              <a:rPr lang="en-US" b="false" i="false" strike="noStrike" u="none" sz="1300">
                <a:solidFill>
                  <a:srgbClr val="1F2329"/>
                </a:solidFill>
                <a:latin typeface="Noto Sans SC"/>
                <a:ea typeface="Noto Sans SC"/>
                <a:cs typeface="Noto Sans SC"/>
                <a:sym typeface="Noto Sans SC"/>
              </a:rPr>
              <a:t/>
            </a:r>
          </a:p>
          <a:p>
            <a:pPr algn="l" indent="0">
              <a:lnSpc>
                <a:spcPct val="108333"/>
              </a:lnSpc>
            </a:pPr>
            <a:r>
              <a:rPr lang="en-US" b="false" i="false" strike="noStrike" u="none" sz="1300">
                <a:solidFill>
                  <a:srgbClr val="FFFF00"/>
                </a:solidFill>
                <a:latin typeface="Noto Sans SC"/>
                <a:ea typeface="Noto Sans SC"/>
                <a:cs typeface="Noto Sans SC"/>
                <a:sym typeface="Noto Sans SC"/>
              </a:rPr>
              <a:t>'should_execute': confidence &gt;= threshold and action != 'HOLD'</a:t>
            </a:r>
            <a:r>
              <a:rPr lang="en-US" b="false" i="false" strike="noStrike" u="none" sz="1300">
                <a:solidFill>
                  <a:srgbClr val="1F2329"/>
                </a:solidFill>
                <a:latin typeface="Noto Sans SC"/>
                <a:ea typeface="Noto Sans SC"/>
                <a:cs typeface="Noto Sans SC"/>
                <a:sym typeface="Noto Sans SC"/>
              </a:rPr>
              <a:t/>
            </a:r>
          </a:p>
          <a:p>
            <a:pPr algn="l" indent="0">
              <a:lnSpc>
                <a:spcPct val="108333"/>
              </a:lnSpc>
            </a:pPr>
            <a:r>
              <a:rPr lang="en-US" b="false" i="false" strike="noStrike" u="none" sz="1300">
                <a:solidFill>
                  <a:srgbClr val="C8C8C8"/>
                </a:solidFill>
                <a:latin typeface="Noto Sans SC"/>
                <a:ea typeface="Noto Sans SC"/>
                <a:cs typeface="Noto Sans SC"/>
                <a:sym typeface="Noto Sans SC"/>
              </a:rPr>
              <a:t>}</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D">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ML策略 = 方向预测</a:t>
            </a:r>
            <a:endParaRPr lang="en-US" sz="1100"/>
          </a:p>
        </p:txBody>
      </p:sp>
      <p:sp>
        <p:nvSpPr>
          <p:cNvPr name="AutoShape 4" id="4"/>
          <p:cNvSpPr/>
          <p:nvPr/>
        </p:nvSpPr>
        <p:spPr>
          <a:xfrm rot="0" flipH="false" flipV="false">
            <a:off x="762000" y="2286000"/>
            <a:ext cx="3302000" cy="3048000"/>
          </a:xfrm>
          <a:prstGeom prst="roundRect">
            <a:avLst>
              <a:gd name="adj" fmla="val 416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2590800"/>
            <a:ext cx="609600" cy="609600"/>
          </a:xfrm>
          <a:prstGeom prst="rect">
            <a:avLst/>
          </a:prstGeom>
        </p:spPr>
      </p:pic>
      <p:sp>
        <p:nvSpPr>
          <p:cNvPr name="AutoShape 6" id="6"/>
          <p:cNvSpPr/>
          <p:nvPr/>
        </p:nvSpPr>
        <p:spPr>
          <a:xfrm rot="0" flipH="false" flipV="false">
            <a:off x="1066800" y="3302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核心逻辑：预测方向</a:t>
            </a:r>
            <a:endParaRPr lang="en-US" sz="1100"/>
          </a:p>
        </p:txBody>
      </p:sp>
      <p:sp>
        <p:nvSpPr>
          <p:cNvPr name="AutoShape 7" id="7"/>
          <p:cNvSpPr/>
          <p:nvPr/>
        </p:nvSpPr>
        <p:spPr>
          <a:xfrm rot="0" flipH="false" flipV="false">
            <a:off x="1066800" y="3746500"/>
            <a:ext cx="26924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机器学习策略试图捕捉市场趋势，通过模型预测资产价格的未来走向。</a:t>
            </a:r>
            <a:endParaRPr lang="en-US" sz="1100"/>
          </a:p>
        </p:txBody>
      </p:sp>
      <p:sp>
        <p:nvSpPr>
          <p:cNvPr name="AutoShape 8" id="8"/>
          <p:cNvSpPr/>
          <p:nvPr/>
        </p:nvSpPr>
        <p:spPr>
          <a:xfrm rot="0" flipH="false" flipV="false">
            <a:off x="4445000" y="2286000"/>
            <a:ext cx="3302000" cy="3048000"/>
          </a:xfrm>
          <a:prstGeom prst="roundRect">
            <a:avLst>
              <a:gd name="adj" fmla="val 4166"/>
            </a:avLst>
          </a:prstGeom>
          <a:solidFill>
            <a:srgbClr val="FFFFFF">
              <a:alpha val="5000"/>
            </a:srgbClr>
          </a:solidFill>
          <a:ln w="12700" cmpd="sng" cap="flat">
            <a:solidFill>
              <a:srgbClr val="FFFF00">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749800" y="2590800"/>
            <a:ext cx="609600" cy="609600"/>
          </a:xfrm>
          <a:prstGeom prst="rect">
            <a:avLst/>
          </a:prstGeom>
        </p:spPr>
      </p:pic>
      <p:sp>
        <p:nvSpPr>
          <p:cNvPr name="AutoShape 10" id="10"/>
          <p:cNvSpPr/>
          <p:nvPr/>
        </p:nvSpPr>
        <p:spPr>
          <a:xfrm rot="0" flipH="false" flipV="false">
            <a:off x="4749800" y="3302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现实挑战：区间震荡</a:t>
            </a:r>
            <a:endParaRPr lang="en-US" sz="1100"/>
          </a:p>
        </p:txBody>
      </p:sp>
      <p:sp>
        <p:nvSpPr>
          <p:cNvPr name="AutoShape 11" id="11"/>
          <p:cNvSpPr/>
          <p:nvPr/>
        </p:nvSpPr>
        <p:spPr>
          <a:xfrm rot="0" flipH="false" flipV="false">
            <a:off x="4749800" y="3746500"/>
            <a:ext cx="26924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市场并非总是单边行情。当价格在区间内来回震荡时，方向预测策略往往失效。</a:t>
            </a:r>
            <a:endParaRPr lang="en-US" sz="1100"/>
          </a:p>
        </p:txBody>
      </p:sp>
      <p:sp>
        <p:nvSpPr>
          <p:cNvPr name="AutoShape 12" id="12"/>
          <p:cNvSpPr/>
          <p:nvPr/>
        </p:nvSpPr>
        <p:spPr>
          <a:xfrm rot="0" flipH="false" flipV="false">
            <a:off x="8128000" y="2286000"/>
            <a:ext cx="3302000" cy="3048000"/>
          </a:xfrm>
          <a:prstGeom prst="roundRect">
            <a:avLst>
              <a:gd name="adj" fmla="val 416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432800" y="2590800"/>
            <a:ext cx="609600" cy="609600"/>
          </a:xfrm>
          <a:prstGeom prst="rect">
            <a:avLst/>
          </a:prstGeom>
        </p:spPr>
      </p:pic>
      <p:sp>
        <p:nvSpPr>
          <p:cNvPr name="AutoShape 14" id="14"/>
          <p:cNvSpPr/>
          <p:nvPr/>
        </p:nvSpPr>
        <p:spPr>
          <a:xfrm rot="0" flipH="false" flipV="false">
            <a:off x="8432800" y="3302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解决方案：网格策略</a:t>
            </a:r>
            <a:endParaRPr lang="en-US" sz="1100"/>
          </a:p>
        </p:txBody>
      </p:sp>
      <p:sp>
        <p:nvSpPr>
          <p:cNvPr name="AutoShape 15" id="15"/>
          <p:cNvSpPr/>
          <p:nvPr/>
        </p:nvSpPr>
        <p:spPr>
          <a:xfrm rot="0" flipH="false" flipV="false">
            <a:off x="8432800" y="3746500"/>
            <a:ext cx="26924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放弃对方向的预测，转而利用波动。通过设置网格，自动进行低买高卖，实现震荡市盈利。</a:t>
            </a:r>
            <a:endParaRPr lang="en-US" sz="1100"/>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核心思想：画网格，自动低买高卖</a:t>
            </a:r>
            <a:endParaRPr lang="en-US" sz="1100"/>
          </a:p>
        </p:txBody>
      </p:sp>
      <p:sp>
        <p:nvSpPr>
          <p:cNvPr name="AutoShape 4" id="4"/>
          <p:cNvSpPr/>
          <p:nvPr/>
        </p:nvSpPr>
        <p:spPr>
          <a:xfrm rot="0" flipH="false" flipV="false">
            <a:off x="762000" y="17780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alpha val="70196"/>
                  </a:srgbClr>
                </a:solidFill>
                <a:latin typeface="Noto Sans SC"/>
                <a:ea typeface="Noto Sans SC"/>
                <a:cs typeface="Noto Sans SC"/>
                <a:sym typeface="Noto Sans SC"/>
              </a:rPr>
              <a:t>模块 5.4 -- 网格策略原理解析</a:t>
            </a:r>
            <a:endParaRPr lang="en-US" sz="1100"/>
          </a:p>
        </p:txBody>
      </p:sp>
      <p:sp>
        <p:nvSpPr>
          <p:cNvPr name="AutoShape 5" id="5"/>
          <p:cNvSpPr/>
          <p:nvPr/>
        </p:nvSpPr>
        <p:spPr>
          <a:xfrm rot="0" flipH="false" flipV="false">
            <a:off x="762000" y="2413000"/>
            <a:ext cx="5207000" cy="2286000"/>
          </a:xfrm>
          <a:prstGeom prst="roundRect">
            <a:avLst>
              <a:gd name="adj" fmla="val 555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667000"/>
            <a:ext cx="406400" cy="406400"/>
          </a:xfrm>
          <a:prstGeom prst="rect">
            <a:avLst/>
          </a:prstGeom>
        </p:spPr>
      </p:pic>
      <p:sp>
        <p:nvSpPr>
          <p:cNvPr name="AutoShape 7" id="7"/>
          <p:cNvSpPr/>
          <p:nvPr/>
        </p:nvSpPr>
        <p:spPr>
          <a:xfrm rot="0" flipH="false" flipV="false">
            <a:off x="1524000" y="26670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自动交易机制</a:t>
            </a:r>
            <a:endParaRPr lang="en-US" sz="1100"/>
          </a:p>
        </p:txBody>
      </p:sp>
      <p:sp>
        <p:nvSpPr>
          <p:cNvPr name="AutoShape 8" id="8"/>
          <p:cNvSpPr/>
          <p:nvPr/>
        </p:nvSpPr>
        <p:spPr>
          <a:xfrm rot="0" flipH="false" flipV="false">
            <a:off x="1016000" y="3175000"/>
            <a:ext cx="4699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在预设价格区间内设置若干水平线。当价格下跌触碰网格线时自动买入，价格上涨触碰网格线时自动卖出，实现程序化交易。</a:t>
            </a:r>
            <a:endParaRPr lang="en-US" sz="1100"/>
          </a:p>
        </p:txBody>
      </p:sp>
      <p:sp>
        <p:nvSpPr>
          <p:cNvPr name="AutoShape 9" id="9"/>
          <p:cNvSpPr/>
          <p:nvPr/>
        </p:nvSpPr>
        <p:spPr>
          <a:xfrm rot="0" flipH="false" flipV="false">
            <a:off x="6223000" y="2413000"/>
            <a:ext cx="5207000" cy="2286000"/>
          </a:xfrm>
          <a:prstGeom prst="roundRect">
            <a:avLst>
              <a:gd name="adj" fmla="val 555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77000" y="2667000"/>
            <a:ext cx="406400" cy="406400"/>
          </a:xfrm>
          <a:prstGeom prst="rect">
            <a:avLst/>
          </a:prstGeom>
        </p:spPr>
      </p:pic>
      <p:sp>
        <p:nvSpPr>
          <p:cNvPr name="AutoShape 11" id="11"/>
          <p:cNvSpPr/>
          <p:nvPr/>
        </p:nvSpPr>
        <p:spPr>
          <a:xfrm rot="0" flipH="false" flipV="false">
            <a:off x="6985000" y="26670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核心优势与逻辑</a:t>
            </a:r>
            <a:endParaRPr lang="en-US" sz="1100"/>
          </a:p>
        </p:txBody>
      </p:sp>
      <p:sp>
        <p:nvSpPr>
          <p:cNvPr name="AutoShape 12" id="12"/>
          <p:cNvSpPr/>
          <p:nvPr/>
        </p:nvSpPr>
        <p:spPr>
          <a:xfrm rot="0" flipH="false" flipV="false">
            <a:off x="6477000" y="3175000"/>
            <a:ext cx="4699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摒弃主观预测，不依赖方向判断。只要价格在区间内持续波动，就能通过高抛低吸不断累积收益，适合震荡市行情。</a:t>
            </a:r>
            <a:endParaRPr lang="en-US" sz="1100"/>
          </a:p>
        </p:txBody>
      </p:sp>
      <p:sp>
        <p:nvSpPr>
          <p:cNvPr name="AutoShape 13" id="13"/>
          <p:cNvSpPr/>
          <p:nvPr/>
        </p:nvSpPr>
        <p:spPr>
          <a:xfrm rot="0" flipH="false" flipV="false">
            <a:off x="762000" y="4953000"/>
            <a:ext cx="10668000" cy="762000"/>
          </a:xfrm>
          <a:prstGeom prst="roundRect">
            <a:avLst>
              <a:gd name="adj" fmla="val 16666"/>
            </a:avLst>
          </a:prstGeom>
          <a:solidFill>
            <a:srgbClr val="00BFFF">
              <a:alpha val="10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5181600"/>
            <a:ext cx="304800" cy="304800"/>
          </a:xfrm>
          <a:prstGeom prst="rect">
            <a:avLst/>
          </a:prstGeom>
        </p:spPr>
      </p:pic>
      <p:sp>
        <p:nvSpPr>
          <p:cNvPr name="AutoShape 15" id="15"/>
          <p:cNvSpPr/>
          <p:nvPr/>
        </p:nvSpPr>
        <p:spPr>
          <a:xfrm rot="0" flipH="false" flipV="false">
            <a:off x="1460500" y="5143500"/>
            <a:ext cx="965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solidFill>
                <a:latin typeface="Noto Sans SC"/>
                <a:ea typeface="Noto Sans SC"/>
                <a:cs typeface="Noto Sans SC"/>
                <a:sym typeface="Noto Sans SC"/>
              </a:rPr>
              <a:t>核心结论：不预测方向，只要价格在区间内波动就能获利。</a:t>
            </a:r>
            <a:endParaRPr lang="en-US" sz="1100"/>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等比网格 vs 等差网格</a:t>
            </a:r>
            <a:endParaRPr lang="en-US" sz="1100"/>
          </a:p>
        </p:txBody>
      </p:sp>
      <p:sp>
        <p:nvSpPr>
          <p:cNvPr name="AutoShape 4" id="4"/>
          <p:cNvSpPr/>
          <p:nvPr/>
        </p:nvSpPr>
        <p:spPr>
          <a:xfrm rot="0" flipH="false" flipV="false">
            <a:off x="762000" y="2032000"/>
            <a:ext cx="5080000" cy="4064000"/>
          </a:xfrm>
          <a:prstGeom prst="roundRect">
            <a:avLst>
              <a:gd name="adj" fmla="val 312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86000"/>
            <a:ext cx="304800" cy="304800"/>
          </a:xfrm>
          <a:prstGeom prst="rect">
            <a:avLst/>
          </a:prstGeom>
        </p:spPr>
      </p:pic>
      <p:sp>
        <p:nvSpPr>
          <p:cNvPr name="AutoShape 6" id="6"/>
          <p:cNvSpPr/>
          <p:nvPr/>
        </p:nvSpPr>
        <p:spPr>
          <a:xfrm rot="0" flipH="false" flipV="false">
            <a:off x="1397000" y="2260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等差网格 (固定间距)</a:t>
            </a:r>
            <a:endParaRPr lang="en-US" sz="1100"/>
          </a:p>
        </p:txBody>
      </p:sp>
      <p:cxnSp>
        <p:nvCxnSpPr>
          <p:cNvPr name="Connector 7" id="7"/>
          <p:cNvCxnSpPr/>
          <p:nvPr/>
        </p:nvCxnSpPr>
        <p:spPr>
          <a:xfrm rot="-9549" flipH="false" flipV="false">
            <a:off x="1016009" y="2724150"/>
            <a:ext cx="4572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8" id="8"/>
          <p:cNvSpPr/>
          <p:nvPr/>
        </p:nvSpPr>
        <p:spPr>
          <a:xfrm rot="0" flipH="false" flipV="false">
            <a:off x="1016000" y="2921000"/>
            <a:ext cx="762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$1300</a:t>
            </a:r>
            <a:endParaRPr lang="en-US" sz="1100"/>
          </a:p>
        </p:txBody>
      </p:sp>
      <p:cxnSp>
        <p:nvCxnSpPr>
          <p:cNvPr name="Connector 9" id="9"/>
          <p:cNvCxnSpPr/>
          <p:nvPr/>
        </p:nvCxnSpPr>
        <p:spPr>
          <a:xfrm rot="-12732" flipH="false" flipV="false">
            <a:off x="1905012" y="3041650"/>
            <a:ext cx="3429000" cy="12700"/>
          </a:xfrm>
          <a:prstGeom prst="straightConnector1">
            <a:avLst/>
          </a:prstGeom>
          <a:solidFill>
            <a:srgbClr val="DEE0E3">
              <a:alpha val="100000"/>
            </a:srgbClr>
          </a:solidFill>
          <a:ln w="12700" cmpd="sng" cap="flat">
            <a:solidFill>
              <a:srgbClr val="FFFFFF">
                <a:alpha val="50000"/>
              </a:srgbClr>
            </a:solidFill>
            <a:prstDash val="solid"/>
            <a:round/>
            <a:headEnd type="none" w="med" len="med"/>
            <a:tailEnd type="none" w="med" len="med"/>
          </a:ln>
        </p:spPr>
      </p:cxnSp>
      <p:sp>
        <p:nvSpPr>
          <p:cNvPr name="AutoShape 10" id="10"/>
          <p:cNvSpPr/>
          <p:nvPr/>
        </p:nvSpPr>
        <p:spPr>
          <a:xfrm rot="0" flipH="false" flipV="false">
            <a:off x="1016000" y="3365500"/>
            <a:ext cx="762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$1200</a:t>
            </a:r>
            <a:endParaRPr lang="en-US" sz="1100"/>
          </a:p>
        </p:txBody>
      </p:sp>
      <p:cxnSp>
        <p:nvCxnSpPr>
          <p:cNvPr name="Connector 11" id="11"/>
          <p:cNvCxnSpPr/>
          <p:nvPr/>
        </p:nvCxnSpPr>
        <p:spPr>
          <a:xfrm rot="-12732" flipH="false" flipV="false">
            <a:off x="1905012" y="3486150"/>
            <a:ext cx="3429000" cy="12700"/>
          </a:xfrm>
          <a:prstGeom prst="straightConnector1">
            <a:avLst/>
          </a:prstGeom>
          <a:solidFill>
            <a:srgbClr val="DEE0E3">
              <a:alpha val="100000"/>
            </a:srgbClr>
          </a:solidFill>
          <a:ln w="12700" cmpd="sng" cap="flat">
            <a:solidFill>
              <a:srgbClr val="FFFFFF">
                <a:alpha val="50000"/>
              </a:srgbClr>
            </a:solidFill>
            <a:prstDash val="solid"/>
            <a:round/>
            <a:headEnd type="none" w="med" len="med"/>
            <a:tailEnd type="none" w="med" len="med"/>
          </a:ln>
        </p:spPr>
      </p:cxnSp>
      <p:sp>
        <p:nvSpPr>
          <p:cNvPr name="AutoShape 12" id="12"/>
          <p:cNvSpPr/>
          <p:nvPr/>
        </p:nvSpPr>
        <p:spPr>
          <a:xfrm rot="0" flipH="false" flipV="false">
            <a:off x="1016000" y="3810000"/>
            <a:ext cx="762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$1100</a:t>
            </a:r>
            <a:endParaRPr lang="en-US" sz="1100"/>
          </a:p>
        </p:txBody>
      </p:sp>
      <p:cxnSp>
        <p:nvCxnSpPr>
          <p:cNvPr name="Connector 13" id="13"/>
          <p:cNvCxnSpPr/>
          <p:nvPr/>
        </p:nvCxnSpPr>
        <p:spPr>
          <a:xfrm rot="-12732" flipH="false" flipV="false">
            <a:off x="1905012" y="3930650"/>
            <a:ext cx="3429000" cy="12700"/>
          </a:xfrm>
          <a:prstGeom prst="straightConnector1">
            <a:avLst/>
          </a:prstGeom>
          <a:solidFill>
            <a:srgbClr val="DEE0E3">
              <a:alpha val="100000"/>
            </a:srgbClr>
          </a:solidFill>
          <a:ln w="12700" cmpd="sng" cap="flat">
            <a:solidFill>
              <a:srgbClr val="FFFFFF">
                <a:alpha val="50000"/>
              </a:srgbClr>
            </a:solidFill>
            <a:prstDash val="solid"/>
            <a:round/>
            <a:headEnd type="none" w="med" len="med"/>
            <a:tailEnd type="none" w="med" len="med"/>
          </a:ln>
        </p:spPr>
      </p:cxnSp>
      <p:sp>
        <p:nvSpPr>
          <p:cNvPr name="AutoShape 14" id="14"/>
          <p:cNvSpPr/>
          <p:nvPr/>
        </p:nvSpPr>
        <p:spPr>
          <a:xfrm rot="0" flipH="false" flipV="false">
            <a:off x="1016000" y="4254500"/>
            <a:ext cx="762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$1000</a:t>
            </a:r>
            <a:endParaRPr lang="en-US" sz="1100"/>
          </a:p>
        </p:txBody>
      </p:sp>
      <p:cxnSp>
        <p:nvCxnSpPr>
          <p:cNvPr name="Connector 15" id="15"/>
          <p:cNvCxnSpPr/>
          <p:nvPr/>
        </p:nvCxnSpPr>
        <p:spPr>
          <a:xfrm rot="-12732" flipH="false" flipV="false">
            <a:off x="1905012" y="4375150"/>
            <a:ext cx="3429000" cy="12700"/>
          </a:xfrm>
          <a:prstGeom prst="straightConnector1">
            <a:avLst/>
          </a:prstGeom>
          <a:solidFill>
            <a:srgbClr val="DEE0E3">
              <a:alpha val="100000"/>
            </a:srgbClr>
          </a:solidFill>
          <a:ln w="12700" cmpd="sng" cap="flat">
            <a:solidFill>
              <a:srgbClr val="FFFFFF">
                <a:alpha val="50000"/>
              </a:srgbClr>
            </a:solidFill>
            <a:prstDash val="solid"/>
            <a:round/>
            <a:headEnd type="none" w="med" len="med"/>
            <a:tailEnd type="none" w="med" len="med"/>
          </a:ln>
        </p:spPr>
      </p:cxnSp>
      <p:sp>
        <p:nvSpPr>
          <p:cNvPr name="AutoShape 16" id="16"/>
          <p:cNvSpPr/>
          <p:nvPr/>
        </p:nvSpPr>
        <p:spPr>
          <a:xfrm rot="0" flipH="false" flipV="false">
            <a:off x="1016000" y="4826000"/>
            <a:ext cx="457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60000"/>
                  </a:srgbClr>
                </a:solidFill>
                <a:latin typeface="Noto Sans SC"/>
                <a:ea typeface="Noto Sans SC"/>
                <a:cs typeface="Noto Sans SC"/>
                <a:sym typeface="Noto Sans SC"/>
              </a:rPr>
              <a:t>特点：网格间距固定，无论价格高低，买入频率一致。</a:t>
            </a:r>
            <a:endParaRPr lang="en-US" sz="1100"/>
          </a:p>
        </p:txBody>
      </p:sp>
      <p:sp>
        <p:nvSpPr>
          <p:cNvPr name="AutoShape 17" id="17"/>
          <p:cNvSpPr/>
          <p:nvPr/>
        </p:nvSpPr>
        <p:spPr>
          <a:xfrm rot="0" flipH="false" flipV="false">
            <a:off x="6350000" y="2032000"/>
            <a:ext cx="5080000" cy="4064000"/>
          </a:xfrm>
          <a:prstGeom prst="roundRect">
            <a:avLst>
              <a:gd name="adj" fmla="val 3125"/>
            </a:avLst>
          </a:prstGeom>
          <a:solidFill>
            <a:srgbClr val="00BFFF">
              <a:alpha val="10000"/>
            </a:srgbClr>
          </a:solidFill>
          <a:ln w="12700" cmpd="sng" cap="flat">
            <a:solidFill>
              <a:srgbClr val="00BFFF">
                <a:alpha val="10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604000" y="2286000"/>
            <a:ext cx="304800" cy="304800"/>
          </a:xfrm>
          <a:prstGeom prst="rect">
            <a:avLst/>
          </a:prstGeom>
        </p:spPr>
      </p:pic>
      <p:sp>
        <p:nvSpPr>
          <p:cNvPr name="AutoShape 19" id="19"/>
          <p:cNvSpPr/>
          <p:nvPr/>
        </p:nvSpPr>
        <p:spPr>
          <a:xfrm rot="0" flipH="false" flipV="false">
            <a:off x="6985000" y="2260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等比网格 (间距递增)</a:t>
            </a:r>
            <a:endParaRPr lang="en-US" sz="1100"/>
          </a:p>
        </p:txBody>
      </p:sp>
      <p:cxnSp>
        <p:nvCxnSpPr>
          <p:cNvPr name="Connector 20" id="20"/>
          <p:cNvCxnSpPr/>
          <p:nvPr/>
        </p:nvCxnSpPr>
        <p:spPr>
          <a:xfrm rot="-9549" flipH="false" flipV="false">
            <a:off x="6604009" y="2724150"/>
            <a:ext cx="4572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21" id="21"/>
          <p:cNvSpPr/>
          <p:nvPr/>
        </p:nvSpPr>
        <p:spPr>
          <a:xfrm rot="0" flipH="false" flipV="false">
            <a:off x="6604000" y="2921000"/>
            <a:ext cx="762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$1300</a:t>
            </a:r>
            <a:endParaRPr lang="en-US" sz="1100"/>
          </a:p>
        </p:txBody>
      </p:sp>
      <p:cxnSp>
        <p:nvCxnSpPr>
          <p:cNvPr name="Connector 22" id="22"/>
          <p:cNvCxnSpPr/>
          <p:nvPr/>
        </p:nvCxnSpPr>
        <p:spPr>
          <a:xfrm rot="-12732" flipH="false" flipV="false">
            <a:off x="7493012" y="3041650"/>
            <a:ext cx="3429000" cy="12700"/>
          </a:xfrm>
          <a:prstGeom prst="straightConnector1">
            <a:avLst/>
          </a:prstGeom>
          <a:solidFill>
            <a:srgbClr val="DEE0E3">
              <a:alpha val="100000"/>
            </a:srgbClr>
          </a:solidFill>
          <a:ln w="12700" cmpd="sng" cap="flat">
            <a:solidFill>
              <a:srgbClr val="00BFFF">
                <a:alpha val="100000"/>
              </a:srgbClr>
            </a:solidFill>
            <a:prstDash val="solid"/>
            <a:round/>
            <a:headEnd type="none" w="med" len="med"/>
            <a:tailEnd type="none" w="med" len="med"/>
          </a:ln>
        </p:spPr>
      </p:cxnSp>
      <p:sp>
        <p:nvSpPr>
          <p:cNvPr name="AutoShape 23" id="23"/>
          <p:cNvSpPr/>
          <p:nvPr/>
        </p:nvSpPr>
        <p:spPr>
          <a:xfrm rot="0" flipH="false" flipV="false">
            <a:off x="6604000" y="3302000"/>
            <a:ext cx="762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$1232</a:t>
            </a:r>
            <a:endParaRPr lang="en-US" sz="1100"/>
          </a:p>
        </p:txBody>
      </p:sp>
      <p:cxnSp>
        <p:nvCxnSpPr>
          <p:cNvPr name="Connector 24" id="24"/>
          <p:cNvCxnSpPr/>
          <p:nvPr/>
        </p:nvCxnSpPr>
        <p:spPr>
          <a:xfrm rot="-12732" flipH="false" flipV="false">
            <a:off x="7493012" y="3422650"/>
            <a:ext cx="3429000" cy="12700"/>
          </a:xfrm>
          <a:prstGeom prst="straightConnector1">
            <a:avLst/>
          </a:prstGeom>
          <a:solidFill>
            <a:srgbClr val="DEE0E3">
              <a:alpha val="100000"/>
            </a:srgbClr>
          </a:solidFill>
          <a:ln w="12700" cmpd="sng" cap="flat">
            <a:solidFill>
              <a:srgbClr val="00BFFF">
                <a:alpha val="100000"/>
              </a:srgbClr>
            </a:solidFill>
            <a:prstDash val="solid"/>
            <a:round/>
            <a:headEnd type="none" w="med" len="med"/>
            <a:tailEnd type="none" w="med" len="med"/>
          </a:ln>
        </p:spPr>
      </p:cxnSp>
      <p:sp>
        <p:nvSpPr>
          <p:cNvPr name="AutoShape 25" id="25"/>
          <p:cNvSpPr/>
          <p:nvPr/>
        </p:nvSpPr>
        <p:spPr>
          <a:xfrm rot="0" flipH="false" flipV="false">
            <a:off x="6604000" y="3683000"/>
            <a:ext cx="762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$1149</a:t>
            </a:r>
            <a:endParaRPr lang="en-US" sz="1100"/>
          </a:p>
        </p:txBody>
      </p:sp>
      <p:cxnSp>
        <p:nvCxnSpPr>
          <p:cNvPr name="Connector 26" id="26"/>
          <p:cNvCxnSpPr/>
          <p:nvPr/>
        </p:nvCxnSpPr>
        <p:spPr>
          <a:xfrm rot="-12732" flipH="false" flipV="false">
            <a:off x="7493012" y="3803650"/>
            <a:ext cx="3429000" cy="12700"/>
          </a:xfrm>
          <a:prstGeom prst="straightConnector1">
            <a:avLst/>
          </a:prstGeom>
          <a:solidFill>
            <a:srgbClr val="DEE0E3">
              <a:alpha val="100000"/>
            </a:srgbClr>
          </a:solidFill>
          <a:ln w="12700" cmpd="sng" cap="flat">
            <a:solidFill>
              <a:srgbClr val="00BFFF">
                <a:alpha val="100000"/>
              </a:srgbClr>
            </a:solidFill>
            <a:prstDash val="solid"/>
            <a:round/>
            <a:headEnd type="none" w="med" len="med"/>
            <a:tailEnd type="none" w="med" len="med"/>
          </a:ln>
        </p:spPr>
      </p:cxnSp>
      <p:sp>
        <p:nvSpPr>
          <p:cNvPr name="AutoShape 27" id="27"/>
          <p:cNvSpPr/>
          <p:nvPr/>
        </p:nvSpPr>
        <p:spPr>
          <a:xfrm rot="0" flipH="false" flipV="false">
            <a:off x="6604000" y="4064000"/>
            <a:ext cx="762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$1072</a:t>
            </a:r>
            <a:endParaRPr lang="en-US" sz="1100"/>
          </a:p>
        </p:txBody>
      </p:sp>
      <p:cxnSp>
        <p:nvCxnSpPr>
          <p:cNvPr name="Connector 28" id="28"/>
          <p:cNvCxnSpPr/>
          <p:nvPr/>
        </p:nvCxnSpPr>
        <p:spPr>
          <a:xfrm rot="-12732" flipH="false" flipV="false">
            <a:off x="7493012" y="4184650"/>
            <a:ext cx="3429000" cy="12700"/>
          </a:xfrm>
          <a:prstGeom prst="straightConnector1">
            <a:avLst/>
          </a:prstGeom>
          <a:solidFill>
            <a:srgbClr val="DEE0E3">
              <a:alpha val="100000"/>
            </a:srgbClr>
          </a:solidFill>
          <a:ln w="12700" cmpd="sng" cap="flat">
            <a:solidFill>
              <a:srgbClr val="00BFFF">
                <a:alpha val="100000"/>
              </a:srgbClr>
            </a:solidFill>
            <a:prstDash val="solid"/>
            <a:round/>
            <a:headEnd type="none" w="med" len="med"/>
            <a:tailEnd type="none" w="med" len="med"/>
          </a:ln>
        </p:spPr>
      </p:cxnSp>
      <p:sp>
        <p:nvSpPr>
          <p:cNvPr name="AutoShape 29" id="29"/>
          <p:cNvSpPr/>
          <p:nvPr/>
        </p:nvSpPr>
        <p:spPr>
          <a:xfrm rot="0" flipH="false" flipV="false">
            <a:off x="6604000" y="4445000"/>
            <a:ext cx="762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$1000</a:t>
            </a:r>
            <a:endParaRPr lang="en-US" sz="1100"/>
          </a:p>
        </p:txBody>
      </p:sp>
      <p:cxnSp>
        <p:nvCxnSpPr>
          <p:cNvPr name="Connector 30" id="30"/>
          <p:cNvCxnSpPr/>
          <p:nvPr/>
        </p:nvCxnSpPr>
        <p:spPr>
          <a:xfrm rot="-12732" flipH="false" flipV="false">
            <a:off x="7493012" y="4565650"/>
            <a:ext cx="3429000" cy="12700"/>
          </a:xfrm>
          <a:prstGeom prst="straightConnector1">
            <a:avLst/>
          </a:prstGeom>
          <a:solidFill>
            <a:srgbClr val="DEE0E3">
              <a:alpha val="100000"/>
            </a:srgbClr>
          </a:solidFill>
          <a:ln w="12700" cmpd="sng" cap="flat">
            <a:solidFill>
              <a:srgbClr val="00BFFF">
                <a:alpha val="100000"/>
              </a:srgbClr>
            </a:solidFill>
            <a:prstDash val="solid"/>
            <a:round/>
            <a:headEnd type="none" w="med" len="med"/>
            <a:tailEnd type="none" w="med" len="med"/>
          </a:ln>
        </p:spPr>
      </p:cxnSp>
      <p:pic>
        <p:nvPicPr>
          <p:cNvPr name="Picture 31" id="3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604000" y="4889500"/>
            <a:ext cx="203200" cy="203200"/>
          </a:xfrm>
          <a:prstGeom prst="rect">
            <a:avLst/>
          </a:prstGeom>
        </p:spPr>
      </p:pic>
      <p:sp>
        <p:nvSpPr>
          <p:cNvPr name="AutoShape 32" id="32"/>
          <p:cNvSpPr/>
          <p:nvPr/>
        </p:nvSpPr>
        <p:spPr>
          <a:xfrm rot="0" flipH="false" flipV="false">
            <a:off x="6858000" y="4851400"/>
            <a:ext cx="431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优势：低价区网格更密，买入更频繁，有效降低平均持仓成本。</a:t>
            </a:r>
            <a:endParaRPr lang="en-US" sz="1100"/>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网格策略循环：买低卖高</a:t>
            </a:r>
            <a:endParaRPr lang="en-US" sz="1100"/>
          </a:p>
        </p:txBody>
      </p:sp>
      <p:sp>
        <p:nvSpPr>
          <p:cNvPr name="AutoShape 4" id="4"/>
          <p:cNvSpPr/>
          <p:nvPr/>
        </p:nvSpPr>
        <p:spPr>
          <a:xfrm rot="0" flipH="false" flipV="false">
            <a:off x="762000" y="2032000"/>
            <a:ext cx="5080000" cy="4064000"/>
          </a:xfrm>
          <a:prstGeom prst="roundRect">
            <a:avLst>
              <a:gd name="adj" fmla="val 312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2286000"/>
            <a:ext cx="4572000" cy="508000"/>
          </a:xfrm>
          <a:prstGeom prst="roundRect">
            <a:avLst>
              <a:gd name="adj" fmla="val 12500"/>
            </a:avLst>
          </a:prstGeom>
          <a:solidFill>
            <a:srgbClr val="EF4444">
              <a:alpha val="1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43000" y="2387600"/>
            <a:ext cx="304800" cy="304800"/>
          </a:xfrm>
          <a:prstGeom prst="rect">
            <a:avLst/>
          </a:prstGeom>
        </p:spPr>
      </p:pic>
      <p:sp>
        <p:nvSpPr>
          <p:cNvPr name="AutoShape 7" id="7"/>
          <p:cNvSpPr/>
          <p:nvPr/>
        </p:nvSpPr>
        <p:spPr>
          <a:xfrm rot="0" flipH="false" flipV="false">
            <a:off x="1524000" y="2387600"/>
            <a:ext cx="381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solidFill>
                <a:latin typeface="Noto Sans SC"/>
                <a:ea typeface="Noto Sans SC"/>
                <a:cs typeface="Noto Sans SC"/>
                <a:sym typeface="Noto Sans SC"/>
              </a:rPr>
              <a:t>$1300 ─── 卖单 (Sell)</a:t>
            </a:r>
            <a:endParaRPr lang="en-US" sz="1100"/>
          </a:p>
        </p:txBody>
      </p:sp>
      <p:sp>
        <p:nvSpPr>
          <p:cNvPr name="AutoShape 8" id="8"/>
          <p:cNvSpPr/>
          <p:nvPr/>
        </p:nvSpPr>
        <p:spPr>
          <a:xfrm rot="0" flipH="false" flipV="false">
            <a:off x="1016000" y="2921000"/>
            <a:ext cx="4572000" cy="508000"/>
          </a:xfrm>
          <a:prstGeom prst="roundRect">
            <a:avLst>
              <a:gd name="adj" fmla="val 12500"/>
            </a:avLst>
          </a:prstGeom>
          <a:solidFill>
            <a:srgbClr val="EF4444">
              <a:alpha val="1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43000" y="3022600"/>
            <a:ext cx="304800" cy="304800"/>
          </a:xfrm>
          <a:prstGeom prst="rect">
            <a:avLst/>
          </a:prstGeom>
        </p:spPr>
      </p:pic>
      <p:sp>
        <p:nvSpPr>
          <p:cNvPr name="AutoShape 10" id="10"/>
          <p:cNvSpPr/>
          <p:nvPr/>
        </p:nvSpPr>
        <p:spPr>
          <a:xfrm rot="0" flipH="false" flipV="false">
            <a:off x="1524000" y="3022600"/>
            <a:ext cx="381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solidFill>
                <a:latin typeface="Noto Sans SC"/>
                <a:ea typeface="Noto Sans SC"/>
                <a:cs typeface="Noto Sans SC"/>
                <a:sym typeface="Noto Sans SC"/>
              </a:rPr>
              <a:t>$1232 ─── 卖单 (Sell)</a:t>
            </a:r>
            <a:endParaRPr lang="en-US" sz="1100"/>
          </a:p>
        </p:txBody>
      </p:sp>
      <p:sp>
        <p:nvSpPr>
          <p:cNvPr name="AutoShape 11" id="11"/>
          <p:cNvSpPr/>
          <p:nvPr/>
        </p:nvSpPr>
        <p:spPr>
          <a:xfrm rot="0" flipH="false" flipV="false">
            <a:off x="1016000" y="3556000"/>
            <a:ext cx="4572000" cy="508000"/>
          </a:xfrm>
          <a:prstGeom prst="roundRect">
            <a:avLst>
              <a:gd name="adj" fmla="val 12500"/>
            </a:avLst>
          </a:prstGeom>
          <a:solidFill>
            <a:srgbClr val="00BFFF">
              <a:alpha val="20000"/>
            </a:srgbClr>
          </a:solidFill>
          <a:ln w="12700" cmpd="sng" cap="flat">
            <a:solidFill>
              <a:srgbClr val="00BFFF">
                <a:alpha val="10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143000" y="3657600"/>
            <a:ext cx="304800" cy="304800"/>
          </a:xfrm>
          <a:prstGeom prst="rect">
            <a:avLst/>
          </a:prstGeom>
        </p:spPr>
      </p:pic>
      <p:sp>
        <p:nvSpPr>
          <p:cNvPr name="AutoShape 13" id="13"/>
          <p:cNvSpPr/>
          <p:nvPr/>
        </p:nvSpPr>
        <p:spPr>
          <a:xfrm rot="0" flipH="false" flipV="false">
            <a:off x="1524000" y="3657600"/>
            <a:ext cx="381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BFFF"/>
                </a:solidFill>
                <a:latin typeface="Noto Sans SC"/>
                <a:ea typeface="Noto Sans SC"/>
                <a:cs typeface="Noto Sans SC"/>
                <a:sym typeface="Noto Sans SC"/>
              </a:rPr>
              <a:t>$1149 ─── 当前价格 (Current)</a:t>
            </a:r>
            <a:endParaRPr lang="en-US" sz="1100"/>
          </a:p>
        </p:txBody>
      </p:sp>
      <p:sp>
        <p:nvSpPr>
          <p:cNvPr name="AutoShape 14" id="14"/>
          <p:cNvSpPr/>
          <p:nvPr/>
        </p:nvSpPr>
        <p:spPr>
          <a:xfrm rot="0" flipH="false" flipV="false">
            <a:off x="1016000" y="4191000"/>
            <a:ext cx="4572000" cy="508000"/>
          </a:xfrm>
          <a:prstGeom prst="roundRect">
            <a:avLst>
              <a:gd name="adj" fmla="val 12500"/>
            </a:avLst>
          </a:prstGeom>
          <a:solidFill>
            <a:srgbClr val="10B981">
              <a:alpha val="1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143000" y="4292600"/>
            <a:ext cx="304800" cy="304800"/>
          </a:xfrm>
          <a:prstGeom prst="rect">
            <a:avLst/>
          </a:prstGeom>
        </p:spPr>
      </p:pic>
      <p:sp>
        <p:nvSpPr>
          <p:cNvPr name="AutoShape 16" id="16"/>
          <p:cNvSpPr/>
          <p:nvPr/>
        </p:nvSpPr>
        <p:spPr>
          <a:xfrm rot="0" flipH="false" flipV="false">
            <a:off x="1524000" y="4292600"/>
            <a:ext cx="381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solidFill>
                <a:latin typeface="Noto Sans SC"/>
                <a:ea typeface="Noto Sans SC"/>
                <a:cs typeface="Noto Sans SC"/>
                <a:sym typeface="Noto Sans SC"/>
              </a:rPr>
              <a:t>$1072 ─── 买单 (Buy)</a:t>
            </a:r>
            <a:endParaRPr lang="en-US" sz="1100"/>
          </a:p>
        </p:txBody>
      </p:sp>
      <p:sp>
        <p:nvSpPr>
          <p:cNvPr name="AutoShape 17" id="17"/>
          <p:cNvSpPr/>
          <p:nvPr/>
        </p:nvSpPr>
        <p:spPr>
          <a:xfrm rot="0" flipH="false" flipV="false">
            <a:off x="1016000" y="4826000"/>
            <a:ext cx="4572000" cy="508000"/>
          </a:xfrm>
          <a:prstGeom prst="roundRect">
            <a:avLst>
              <a:gd name="adj" fmla="val 12500"/>
            </a:avLst>
          </a:prstGeom>
          <a:solidFill>
            <a:srgbClr val="10B981">
              <a:alpha val="1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143000" y="4927600"/>
            <a:ext cx="304800" cy="304800"/>
          </a:xfrm>
          <a:prstGeom prst="rect">
            <a:avLst/>
          </a:prstGeom>
        </p:spPr>
      </p:pic>
      <p:sp>
        <p:nvSpPr>
          <p:cNvPr name="AutoShape 19" id="19"/>
          <p:cNvSpPr/>
          <p:nvPr/>
        </p:nvSpPr>
        <p:spPr>
          <a:xfrm rot="0" flipH="false" flipV="false">
            <a:off x="1524000" y="4927600"/>
            <a:ext cx="381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solidFill>
                <a:latin typeface="Noto Sans SC"/>
                <a:ea typeface="Noto Sans SC"/>
                <a:cs typeface="Noto Sans SC"/>
                <a:sym typeface="Noto Sans SC"/>
              </a:rPr>
              <a:t>$1000 ─── 买单 (Buy)</a:t>
            </a:r>
            <a:endParaRPr lang="en-US" sz="1100"/>
          </a:p>
        </p:txBody>
      </p:sp>
      <p:sp>
        <p:nvSpPr>
          <p:cNvPr name="AutoShape 20" id="20"/>
          <p:cNvSpPr/>
          <p:nvPr/>
        </p:nvSpPr>
        <p:spPr>
          <a:xfrm rot="0" flipH="false" flipV="false">
            <a:off x="6096000" y="2032000"/>
            <a:ext cx="5334000" cy="1270000"/>
          </a:xfrm>
          <a:prstGeom prst="roundRect">
            <a:avLst>
              <a:gd name="adj" fmla="val 10000"/>
            </a:avLst>
          </a:prstGeom>
          <a:solidFill>
            <a:srgbClr val="FFFFFF">
              <a:alpha val="5000"/>
            </a:srgbClr>
          </a:solidFill>
          <a:ln w="12700" cmpd="sng" cap="flat">
            <a:solidFill>
              <a:srgbClr val="10B981">
                <a:alpha val="30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350000" y="2222500"/>
            <a:ext cx="406400" cy="406400"/>
          </a:xfrm>
          <a:prstGeom prst="rect">
            <a:avLst/>
          </a:prstGeom>
        </p:spPr>
      </p:pic>
      <p:sp>
        <p:nvSpPr>
          <p:cNvPr name="AutoShape 22" id="22"/>
          <p:cNvSpPr/>
          <p:nvPr/>
        </p:nvSpPr>
        <p:spPr>
          <a:xfrm rot="0" flipH="false" flipV="false">
            <a:off x="6858000" y="2222500"/>
            <a:ext cx="444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0B981"/>
                </a:solidFill>
                <a:latin typeface="Noto Sans SC"/>
                <a:ea typeface="Noto Sans SC"/>
                <a:cs typeface="Noto Sans SC"/>
                <a:sym typeface="Noto Sans SC"/>
              </a:rPr>
              <a:t>触发买入机制</a:t>
            </a:r>
            <a:endParaRPr lang="en-US" sz="1100"/>
          </a:p>
        </p:txBody>
      </p:sp>
      <p:sp>
        <p:nvSpPr>
          <p:cNvPr name="AutoShape 23" id="23"/>
          <p:cNvSpPr/>
          <p:nvPr/>
        </p:nvSpPr>
        <p:spPr>
          <a:xfrm rot="0" flipH="false" flipV="false">
            <a:off x="6858000" y="2603500"/>
            <a:ext cx="4445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当价格下跌至网格线（如$1072）触发买单，成交后自动在上方一格挂卖单。</a:t>
            </a:r>
            <a:endParaRPr lang="en-US" sz="1100"/>
          </a:p>
        </p:txBody>
      </p:sp>
      <p:sp>
        <p:nvSpPr>
          <p:cNvPr name="AutoShape 24" id="24"/>
          <p:cNvSpPr/>
          <p:nvPr/>
        </p:nvSpPr>
        <p:spPr>
          <a:xfrm rot="0" flipH="false" flipV="false">
            <a:off x="6096000" y="3492500"/>
            <a:ext cx="5334000" cy="1270000"/>
          </a:xfrm>
          <a:prstGeom prst="roundRect">
            <a:avLst>
              <a:gd name="adj" fmla="val 10000"/>
            </a:avLst>
          </a:prstGeom>
          <a:solidFill>
            <a:srgbClr val="FFFFFF">
              <a:alpha val="5000"/>
            </a:srgbClr>
          </a:solidFill>
          <a:ln w="12700" cmpd="sng" cap="flat">
            <a:solidFill>
              <a:srgbClr val="EF4444">
                <a:alpha val="30000"/>
              </a:srgbClr>
            </a:solid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350000" y="3683000"/>
            <a:ext cx="406400" cy="406400"/>
          </a:xfrm>
          <a:prstGeom prst="rect">
            <a:avLst/>
          </a:prstGeom>
        </p:spPr>
      </p:pic>
      <p:sp>
        <p:nvSpPr>
          <p:cNvPr name="AutoShape 26" id="26"/>
          <p:cNvSpPr/>
          <p:nvPr/>
        </p:nvSpPr>
        <p:spPr>
          <a:xfrm rot="0" flipH="false" flipV="false">
            <a:off x="6858000" y="3683000"/>
            <a:ext cx="444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EF4444"/>
                </a:solidFill>
                <a:latin typeface="Noto Sans SC"/>
                <a:ea typeface="Noto Sans SC"/>
                <a:cs typeface="Noto Sans SC"/>
                <a:sym typeface="Noto Sans SC"/>
              </a:rPr>
              <a:t>触发卖出机制</a:t>
            </a:r>
            <a:endParaRPr lang="en-US" sz="1100"/>
          </a:p>
        </p:txBody>
      </p:sp>
      <p:sp>
        <p:nvSpPr>
          <p:cNvPr name="AutoShape 27" id="27"/>
          <p:cNvSpPr/>
          <p:nvPr/>
        </p:nvSpPr>
        <p:spPr>
          <a:xfrm rot="0" flipH="false" flipV="false">
            <a:off x="6858000" y="4064000"/>
            <a:ext cx="4445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当价格上涨至网格线（如$1232）触发卖单，成交后自动在下方一格挂买单。</a:t>
            </a:r>
            <a:endParaRPr lang="en-US" sz="1100"/>
          </a:p>
        </p:txBody>
      </p:sp>
      <p:sp>
        <p:nvSpPr>
          <p:cNvPr name="AutoShape 28" id="28"/>
          <p:cNvSpPr/>
          <p:nvPr/>
        </p:nvSpPr>
        <p:spPr>
          <a:xfrm rot="0" flipH="false" flipV="false">
            <a:off x="6096000" y="5016500"/>
            <a:ext cx="5334000" cy="1079500"/>
          </a:xfrm>
          <a:prstGeom prst="roundRect">
            <a:avLst>
              <a:gd name="adj" fmla="val 11764"/>
            </a:avLst>
          </a:prstGeom>
          <a:solidFill>
            <a:srgbClr val="00BFFF">
              <a:alpha val="1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29" id="29"/>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6350000" y="5207000"/>
            <a:ext cx="406400" cy="406400"/>
          </a:xfrm>
          <a:prstGeom prst="rect">
            <a:avLst/>
          </a:prstGeom>
        </p:spPr>
      </p:pic>
      <p:sp>
        <p:nvSpPr>
          <p:cNvPr name="AutoShape 30" id="30"/>
          <p:cNvSpPr/>
          <p:nvPr/>
        </p:nvSpPr>
        <p:spPr>
          <a:xfrm rot="0" flipH="false" flipV="false">
            <a:off x="6858000" y="5207000"/>
            <a:ext cx="4445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BFFF"/>
                </a:solidFill>
                <a:latin typeface="Noto Sans SC"/>
                <a:ea typeface="Noto Sans SC"/>
                <a:cs typeface="Noto Sans SC"/>
                <a:sym typeface="Noto Sans SC"/>
              </a:rPr>
              <a:t>策略适用场景</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D1D5DB"/>
                </a:solidFill>
                <a:latin typeface="Noto Sans SC"/>
                <a:ea typeface="Noto Sans SC"/>
                <a:cs typeface="Noto Sans SC"/>
                <a:sym typeface="Noto Sans SC"/>
              </a:rPr>
              <a:t>震荡行情表现最佳，单边趋势行情表现最差。</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两个策略都有了</a:t>
            </a:r>
            <a:endParaRPr lang="en-US" sz="1100"/>
          </a:p>
        </p:txBody>
      </p:sp>
      <p:sp>
        <p:nvSpPr>
          <p:cNvPr name="AutoShape 4" id="4"/>
          <p:cNvSpPr/>
          <p:nvPr/>
        </p:nvSpPr>
        <p:spPr>
          <a:xfrm rot="0" flipH="false" flipV="false">
            <a:off x="762000" y="2286000"/>
            <a:ext cx="3302000" cy="3048000"/>
          </a:xfrm>
          <a:prstGeom prst="roundRect">
            <a:avLst>
              <a:gd name="adj" fmla="val 416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2108200" y="2540000"/>
            <a:ext cx="609600" cy="609600"/>
          </a:xfrm>
          <a:prstGeom prst="rect">
            <a:avLst/>
          </a:prstGeom>
        </p:spPr>
      </p:pic>
      <p:sp>
        <p:nvSpPr>
          <p:cNvPr name="AutoShape 6" id="6"/>
          <p:cNvSpPr/>
          <p:nvPr/>
        </p:nvSpPr>
        <p:spPr>
          <a:xfrm rot="0" flipH="false" flipV="false">
            <a:off x="1016000" y="32385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现有策略基础</a:t>
            </a:r>
            <a:endParaRPr lang="en-US" sz="1100"/>
          </a:p>
        </p:txBody>
      </p:sp>
      <p:sp>
        <p:nvSpPr>
          <p:cNvPr name="AutoShape 7" id="7"/>
          <p:cNvSpPr/>
          <p:nvPr/>
        </p:nvSpPr>
        <p:spPr>
          <a:xfrm rot="0" flipH="false" flipV="false">
            <a:off x="1016000" y="3683000"/>
            <a:ext cx="2794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400">
                <a:solidFill>
                  <a:srgbClr val="FFFFFF">
                    <a:alpha val="80000"/>
                  </a:srgbClr>
                </a:solidFill>
                <a:latin typeface="Noto Sans SC"/>
                <a:ea typeface="Noto Sans SC"/>
                <a:cs typeface="Noto Sans SC"/>
                <a:sym typeface="Noto Sans SC"/>
              </a:rPr>
              <a:t>ML策略预测方向</a:t>
            </a:r>
            <a:r>
              <a:rPr lang="en-US" b="false" i="false" strike="noStrike" u="none" sz="1400">
                <a:solidFill>
                  <a:srgbClr val="FFFFFF">
                    <a:alpha val="80000"/>
                  </a:srgbClr>
                </a:solidFill>
                <a:latin typeface="Noto Sans SC"/>
                <a:ea typeface="Noto Sans SC"/>
                <a:cs typeface="Noto Sans SC"/>
                <a:sym typeface="Noto Sans SC"/>
              </a:rPr>
              <a:t/>
            </a:r>
            <a:br>
              <a:rPr lang="en-US" b="false" i="false" strike="noStrike" u="none" sz="1400">
                <a:solidFill>
                  <a:srgbClr val="FFFFFF">
                    <a:alpha val="80000"/>
                  </a:srgbClr>
                </a:solidFill>
                <a:latin typeface="Noto Sans SC"/>
                <a:ea typeface="Noto Sans SC"/>
                <a:cs typeface="Noto Sans SC"/>
                <a:sym typeface="Noto Sans SC"/>
              </a:rPr>
            </a:br>
            <a:r>
              <a:rPr lang="en-US" b="false" i="false" strike="noStrike" u="none" sz="1400">
                <a:solidFill>
                  <a:srgbClr val="FFFFFF">
                    <a:alpha val="80000"/>
                  </a:srgbClr>
                </a:solidFill>
                <a:latin typeface="Noto Sans SC"/>
                <a:ea typeface="Noto Sans SC"/>
                <a:cs typeface="Noto Sans SC"/>
                <a:sym typeface="Noto Sans SC"/>
              </a:rPr>
              <a:t>网格策略赚取差价</a:t>
            </a:r>
            <a:endParaRPr lang="en-US" sz="1100"/>
          </a:p>
        </p:txBody>
      </p:sp>
      <p:sp>
        <p:nvSpPr>
          <p:cNvPr name="AutoShape 8" id="8"/>
          <p:cNvSpPr/>
          <p:nvPr/>
        </p:nvSpPr>
        <p:spPr>
          <a:xfrm rot="0" flipH="false" flipV="false">
            <a:off x="4445000" y="2286000"/>
            <a:ext cx="3302000" cy="3048000"/>
          </a:xfrm>
          <a:prstGeom prst="roundRect">
            <a:avLst>
              <a:gd name="adj" fmla="val 4166"/>
            </a:avLst>
          </a:prstGeom>
          <a:solidFill>
            <a:srgbClr val="FFFFFF">
              <a:alpha val="5000"/>
            </a:srgbClr>
          </a:solidFill>
          <a:ln w="12700" cmpd="sng" cap="flat">
            <a:solidFill>
              <a:srgbClr val="FFFF00">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791200" y="2540000"/>
            <a:ext cx="609600" cy="609600"/>
          </a:xfrm>
          <a:prstGeom prst="rect">
            <a:avLst/>
          </a:prstGeom>
        </p:spPr>
      </p:pic>
      <p:sp>
        <p:nvSpPr>
          <p:cNvPr name="AutoShape 10" id="10"/>
          <p:cNvSpPr/>
          <p:nvPr/>
        </p:nvSpPr>
        <p:spPr>
          <a:xfrm rot="0" flipH="false" flipV="false">
            <a:off x="4699000" y="32385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00"/>
                </a:solidFill>
                <a:latin typeface="Noto Sans SC"/>
                <a:ea typeface="Noto Sans SC"/>
                <a:cs typeface="Noto Sans SC"/>
                <a:sym typeface="Noto Sans SC"/>
              </a:rPr>
              <a:t>潜在风险挑战</a:t>
            </a:r>
            <a:endParaRPr lang="en-US" sz="1100"/>
          </a:p>
        </p:txBody>
      </p:sp>
      <p:sp>
        <p:nvSpPr>
          <p:cNvPr name="AutoShape 11" id="11"/>
          <p:cNvSpPr/>
          <p:nvPr/>
        </p:nvSpPr>
        <p:spPr>
          <a:xfrm rot="0" flipH="false" flipV="false">
            <a:off x="4699000" y="3683000"/>
            <a:ext cx="2794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400">
                <a:solidFill>
                  <a:srgbClr val="FFFFFF">
                    <a:alpha val="80000"/>
                  </a:srgbClr>
                </a:solidFill>
                <a:latin typeface="Noto Sans SC"/>
                <a:ea typeface="Noto Sans SC"/>
                <a:cs typeface="Noto Sans SC"/>
                <a:sym typeface="Noto Sans SC"/>
              </a:rPr>
              <a:t>策略出错怎么办？</a:t>
            </a:r>
            <a:r>
              <a:rPr lang="en-US" b="false" i="false" strike="noStrike" u="none" sz="1400">
                <a:solidFill>
                  <a:srgbClr val="FFFFFF">
                    <a:alpha val="80000"/>
                  </a:srgbClr>
                </a:solidFill>
                <a:latin typeface="Noto Sans SC"/>
                <a:ea typeface="Noto Sans SC"/>
                <a:cs typeface="Noto Sans SC"/>
                <a:sym typeface="Noto Sans SC"/>
              </a:rPr>
              <a:t/>
            </a:r>
            <a:br>
              <a:rPr lang="en-US" b="false" i="false" strike="noStrike" u="none" sz="1400">
                <a:solidFill>
                  <a:srgbClr val="FFFFFF">
                    <a:alpha val="80000"/>
                  </a:srgbClr>
                </a:solidFill>
                <a:latin typeface="Noto Sans SC"/>
                <a:ea typeface="Noto Sans SC"/>
                <a:cs typeface="Noto Sans SC"/>
                <a:sym typeface="Noto Sans SC"/>
              </a:rPr>
            </a:br>
            <a:r>
              <a:rPr lang="en-US" b="false" i="false" strike="noStrike" u="none" sz="1400">
                <a:solidFill>
                  <a:srgbClr val="FFFFFF">
                    <a:alpha val="80000"/>
                  </a:srgbClr>
                </a:solidFill>
                <a:latin typeface="Noto Sans SC"/>
                <a:ea typeface="Noto Sans SC"/>
                <a:cs typeface="Noto Sans SC"/>
                <a:sym typeface="Noto Sans SC"/>
              </a:rPr>
              <a:t>单日亏损$500？连续亏损？</a:t>
            </a:r>
            <a:endParaRPr lang="en-US" sz="1100"/>
          </a:p>
        </p:txBody>
      </p:sp>
      <p:sp>
        <p:nvSpPr>
          <p:cNvPr name="AutoShape 12" id="12"/>
          <p:cNvSpPr/>
          <p:nvPr/>
        </p:nvSpPr>
        <p:spPr>
          <a:xfrm rot="0" flipH="false" flipV="false">
            <a:off x="8128000" y="2286000"/>
            <a:ext cx="3302000" cy="3048000"/>
          </a:xfrm>
          <a:prstGeom prst="roundRect">
            <a:avLst>
              <a:gd name="adj" fmla="val 416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474200" y="2540000"/>
            <a:ext cx="609600" cy="609600"/>
          </a:xfrm>
          <a:prstGeom prst="rect">
            <a:avLst/>
          </a:prstGeom>
        </p:spPr>
      </p:pic>
      <p:sp>
        <p:nvSpPr>
          <p:cNvPr name="AutoShape 14" id="14"/>
          <p:cNvSpPr/>
          <p:nvPr/>
        </p:nvSpPr>
        <p:spPr>
          <a:xfrm rot="0" flipH="false" flipV="false">
            <a:off x="8382000" y="32385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核心解决方案</a:t>
            </a:r>
            <a:endParaRPr lang="en-US" sz="1100"/>
          </a:p>
        </p:txBody>
      </p:sp>
      <p:sp>
        <p:nvSpPr>
          <p:cNvPr name="AutoShape 15" id="15"/>
          <p:cNvSpPr/>
          <p:nvPr/>
        </p:nvSpPr>
        <p:spPr>
          <a:xfrm rot="0" flipH="false" flipV="false">
            <a:off x="8382000" y="3683000"/>
            <a:ext cx="2794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400">
                <a:solidFill>
                  <a:srgbClr val="FFFFFF">
                    <a:alpha val="80000"/>
                  </a:srgbClr>
                </a:solidFill>
                <a:latin typeface="Noto Sans SC"/>
                <a:ea typeface="Noto Sans SC"/>
                <a:cs typeface="Noto Sans SC"/>
                <a:sym typeface="Noto Sans SC"/>
              </a:rPr>
              <a:t>建立完善的</a:t>
            </a:r>
            <a:r>
              <a:rPr lang="en-US" b="false" i="false" strike="noStrike" u="none" sz="1400">
                <a:solidFill>
                  <a:srgbClr val="1F2329"/>
                </a:solidFill>
                <a:latin typeface="Noto Sans SC"/>
                <a:ea typeface="Noto Sans SC"/>
                <a:cs typeface="Noto Sans SC"/>
                <a:sym typeface="Noto Sans SC"/>
              </a:rPr>
              <a:t/>
            </a:r>
            <a:br>
              <a:rPr lang="en-US" b="false" i="false" strike="noStrike" u="none" sz="1400">
                <a:solidFill>
                  <a:srgbClr val="1F2329"/>
                </a:solidFill>
                <a:latin typeface="Noto Sans SC"/>
                <a:ea typeface="Noto Sans SC"/>
                <a:cs typeface="Noto Sans SC"/>
                <a:sym typeface="Noto Sans SC"/>
              </a:rPr>
            </a:br>
            <a:r>
              <a:rPr lang="en-US" b="true" i="false" strike="noStrike" u="none" sz="1400">
                <a:solidFill>
                  <a:srgbClr val="00BFFF"/>
                </a:solidFill>
                <a:latin typeface="Noto Sans SC"/>
                <a:ea typeface="Noto Sans SC"/>
                <a:cs typeface="Noto Sans SC"/>
                <a:sym typeface="Noto Sans SC"/>
              </a:rPr>
              <a:t>风险管理模块</a:t>
            </a:r>
            <a:endParaRPr lang="en-US" sz="1100"/>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风控原则适用于任何AI自动化系统</a:t>
            </a:r>
            <a:endParaRPr lang="en-US" sz="1100"/>
          </a:p>
        </p:txBody>
      </p:sp>
      <p:sp>
        <p:nvSpPr>
          <p:cNvPr name="AutoShape 4" id="4"/>
          <p:cNvSpPr/>
          <p:nvPr/>
        </p:nvSpPr>
        <p:spPr>
          <a:xfrm rot="0" flipH="false" flipV="false">
            <a:off x="762000" y="2032000"/>
            <a:ext cx="10668000" cy="4064000"/>
          </a:xfrm>
          <a:prstGeom prst="roundRect">
            <a:avLst>
              <a:gd name="adj" fmla="val 312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86000"/>
            <a:ext cx="304800" cy="304800"/>
          </a:xfrm>
          <a:prstGeom prst="rect">
            <a:avLst/>
          </a:prstGeom>
        </p:spPr>
      </p:pic>
      <p:sp>
        <p:nvSpPr>
          <p:cNvPr name="AutoShape 6" id="6"/>
          <p:cNvSpPr/>
          <p:nvPr/>
        </p:nvSpPr>
        <p:spPr>
          <a:xfrm rot="0" flipH="false" flipV="false">
            <a:off x="1397000" y="2260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BFFF"/>
                </a:solidFill>
                <a:latin typeface="Noto Sans SC"/>
                <a:ea typeface="Noto Sans SC"/>
                <a:cs typeface="Noto Sans SC"/>
                <a:sym typeface="Noto Sans SC"/>
              </a:rPr>
              <a:t>传统交易系统风控</a:t>
            </a:r>
            <a:endParaRPr lang="en-US" sz="1100"/>
          </a:p>
        </p:txBody>
      </p:sp>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096000" y="2286000"/>
            <a:ext cx="304800" cy="304800"/>
          </a:xfrm>
          <a:prstGeom prst="rect">
            <a:avLst/>
          </a:prstGeom>
        </p:spPr>
      </p:pic>
      <p:sp>
        <p:nvSpPr>
          <p:cNvPr name="AutoShape 8" id="8"/>
          <p:cNvSpPr/>
          <p:nvPr/>
        </p:nvSpPr>
        <p:spPr>
          <a:xfrm rot="0" flipH="false" flipV="false">
            <a:off x="6477000" y="2260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BFFF"/>
                </a:solidFill>
                <a:latin typeface="Noto Sans SC"/>
                <a:ea typeface="Noto Sans SC"/>
                <a:cs typeface="Noto Sans SC"/>
                <a:sym typeface="Noto Sans SC"/>
              </a:rPr>
              <a:t>通用AI自动化系统类比</a:t>
            </a:r>
            <a:endParaRPr lang="en-US" sz="1100"/>
          </a:p>
        </p:txBody>
      </p:sp>
      <p:cxnSp>
        <p:nvCxnSpPr>
          <p:cNvPr name="Connector 9" id="9"/>
          <p:cNvCxnSpPr/>
          <p:nvPr/>
        </p:nvCxnSpPr>
        <p:spPr>
          <a:xfrm rot="-4297" flipH="false" flipV="false">
            <a:off x="1016004" y="2724150"/>
            <a:ext cx="10160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0" id="10"/>
          <p:cNvSpPr/>
          <p:nvPr/>
        </p:nvSpPr>
        <p:spPr>
          <a:xfrm rot="0" flipH="false" flipV="false">
            <a:off x="1016000" y="2921000"/>
            <a:ext cx="482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最大持仓限制</a:t>
            </a:r>
            <a:endParaRPr lang="en-US" sz="1100"/>
          </a:p>
        </p:txBody>
      </p:sp>
      <p:sp>
        <p:nvSpPr>
          <p:cNvPr name="AutoShape 11" id="11"/>
          <p:cNvSpPr/>
          <p:nvPr/>
        </p:nvSpPr>
        <p:spPr>
          <a:xfrm rot="0" flipH="false" flipV="false">
            <a:off x="6096000" y="2921000"/>
            <a:ext cx="482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API调用速率限制</a:t>
            </a:r>
            <a:endParaRPr lang="en-US" sz="1100"/>
          </a:p>
        </p:txBody>
      </p:sp>
      <p:cxnSp>
        <p:nvCxnSpPr>
          <p:cNvPr name="Connector 12" id="12"/>
          <p:cNvCxnSpPr/>
          <p:nvPr/>
        </p:nvCxnSpPr>
        <p:spPr>
          <a:xfrm rot="-4297" flipH="false" flipV="false">
            <a:off x="1016004" y="3295650"/>
            <a:ext cx="10160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13" id="13"/>
          <p:cNvSpPr/>
          <p:nvPr/>
        </p:nvSpPr>
        <p:spPr>
          <a:xfrm rot="0" flipH="false" flipV="false">
            <a:off x="1016000" y="3429000"/>
            <a:ext cx="482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日亏损上限</a:t>
            </a:r>
            <a:endParaRPr lang="en-US" sz="1100"/>
          </a:p>
        </p:txBody>
      </p:sp>
      <p:sp>
        <p:nvSpPr>
          <p:cNvPr name="AutoShape 14" id="14"/>
          <p:cNvSpPr/>
          <p:nvPr/>
        </p:nvSpPr>
        <p:spPr>
          <a:xfrm rot="0" flipH="false" flipV="false">
            <a:off x="6096000" y="3429000"/>
            <a:ext cx="482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每日错误操作上限</a:t>
            </a:r>
            <a:endParaRPr lang="en-US" sz="1100"/>
          </a:p>
        </p:txBody>
      </p:sp>
      <p:cxnSp>
        <p:nvCxnSpPr>
          <p:cNvPr name="Connector 15" id="15"/>
          <p:cNvCxnSpPr/>
          <p:nvPr/>
        </p:nvCxnSpPr>
        <p:spPr>
          <a:xfrm rot="-4297" flipH="false" flipV="false">
            <a:off x="1016004" y="3803650"/>
            <a:ext cx="10160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16" id="16"/>
          <p:cNvSpPr/>
          <p:nvPr/>
        </p:nvSpPr>
        <p:spPr>
          <a:xfrm rot="0" flipH="false" flipV="false">
            <a:off x="1016000" y="3937000"/>
            <a:ext cx="482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熔断机制</a:t>
            </a:r>
            <a:endParaRPr lang="en-US" sz="1100"/>
          </a:p>
        </p:txBody>
      </p:sp>
      <p:sp>
        <p:nvSpPr>
          <p:cNvPr name="AutoShape 17" id="17"/>
          <p:cNvSpPr/>
          <p:nvPr/>
        </p:nvSpPr>
        <p:spPr>
          <a:xfrm rot="0" flipH="false" flipV="false">
            <a:off x="6096000" y="3937000"/>
            <a:ext cx="482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异常检测后自动暂停</a:t>
            </a:r>
            <a:endParaRPr lang="en-US" sz="1100"/>
          </a:p>
        </p:txBody>
      </p:sp>
      <p:cxnSp>
        <p:nvCxnSpPr>
          <p:cNvPr name="Connector 18" id="18"/>
          <p:cNvCxnSpPr/>
          <p:nvPr/>
        </p:nvCxnSpPr>
        <p:spPr>
          <a:xfrm rot="-4297" flipH="false" flipV="false">
            <a:off x="1016004" y="4311650"/>
            <a:ext cx="10160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19" id="19"/>
          <p:cNvSpPr/>
          <p:nvPr/>
        </p:nvSpPr>
        <p:spPr>
          <a:xfrm rot="0" flipH="false" flipV="false">
            <a:off x="1016000" y="4445000"/>
            <a:ext cx="482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风险评分</a:t>
            </a:r>
            <a:endParaRPr lang="en-US" sz="1100"/>
          </a:p>
        </p:txBody>
      </p:sp>
      <p:sp>
        <p:nvSpPr>
          <p:cNvPr name="AutoShape 20" id="20"/>
          <p:cNvSpPr/>
          <p:nvPr/>
        </p:nvSpPr>
        <p:spPr>
          <a:xfrm rot="0" flipH="false" flipV="false">
            <a:off x="6096000" y="4445000"/>
            <a:ext cx="482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系统健康度评分</a:t>
            </a:r>
            <a:endParaRPr lang="en-US" sz="1100"/>
          </a:p>
        </p:txBody>
      </p:sp>
      <p:cxnSp>
        <p:nvCxnSpPr>
          <p:cNvPr name="Connector 21" id="21"/>
          <p:cNvCxnSpPr/>
          <p:nvPr/>
        </p:nvCxnSpPr>
        <p:spPr>
          <a:xfrm rot="-4297" flipH="false" flipV="false">
            <a:off x="1016004" y="4819650"/>
            <a:ext cx="10160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22" id="22"/>
          <p:cNvSpPr/>
          <p:nvPr/>
        </p:nvSpPr>
        <p:spPr>
          <a:xfrm rot="0" flipH="false" flipV="false">
            <a:off x="1016000" y="4953000"/>
            <a:ext cx="482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CDCDC"/>
                </a:solidFill>
                <a:latin typeface="Noto Sans SC"/>
                <a:ea typeface="Noto Sans SC"/>
                <a:cs typeface="Noto Sans SC"/>
                <a:sym typeface="Noto Sans SC"/>
              </a:rPr>
              <a:t>交易间隔限制</a:t>
            </a:r>
            <a:endParaRPr lang="en-US" sz="1100"/>
          </a:p>
        </p:txBody>
      </p:sp>
      <p:sp>
        <p:nvSpPr>
          <p:cNvPr name="AutoShape 23" id="23"/>
          <p:cNvSpPr/>
          <p:nvPr/>
        </p:nvSpPr>
        <p:spPr>
          <a:xfrm rot="0" flipH="false" flipV="false">
            <a:off x="6096000" y="4953000"/>
            <a:ext cx="482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操作频率限制</a:t>
            </a:r>
            <a:endParaRPr lang="en-US" sz="1100"/>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六重安全检查流程</a:t>
            </a:r>
            <a:endParaRPr lang="en-US" sz="1100"/>
          </a:p>
        </p:txBody>
      </p:sp>
      <p:sp>
        <p:nvSpPr>
          <p:cNvPr name="AutoShape 4" id="4"/>
          <p:cNvSpPr/>
          <p:nvPr/>
        </p:nvSpPr>
        <p:spPr>
          <a:xfrm rot="0" flipH="false" flipV="false">
            <a:off x="762000" y="1397000"/>
            <a:ext cx="3429000" cy="1905000"/>
          </a:xfrm>
          <a:prstGeom prst="roundRect">
            <a:avLst>
              <a:gd name="adj" fmla="val 666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952500" y="1587500"/>
            <a:ext cx="406400" cy="406400"/>
          </a:xfrm>
          <a:prstGeom prst="rect">
            <a:avLst/>
          </a:prstGeom>
        </p:spPr>
      </p:pic>
      <p:sp>
        <p:nvSpPr>
          <p:cNvPr name="AutoShape 6" id="6"/>
          <p:cNvSpPr/>
          <p:nvPr/>
        </p:nvSpPr>
        <p:spPr>
          <a:xfrm rot="0" flipH="false" flipV="false">
            <a:off x="1460500" y="15875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1. 熔断检查</a:t>
            </a:r>
            <a:endParaRPr lang="en-US" sz="1100"/>
          </a:p>
        </p:txBody>
      </p:sp>
      <p:cxnSp>
        <p:nvCxnSpPr>
          <p:cNvPr name="Connector 7" id="7"/>
          <p:cNvCxnSpPr/>
          <p:nvPr/>
        </p:nvCxnSpPr>
        <p:spPr>
          <a:xfrm rot="-14323" flipH="false" flipV="false">
            <a:off x="952513" y="2025650"/>
            <a:ext cx="3048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8" id="8"/>
          <p:cNvSpPr/>
          <p:nvPr/>
        </p:nvSpPr>
        <p:spPr>
          <a:xfrm rot="0" flipH="false" flipV="false">
            <a:off x="952500" y="2095500"/>
            <a:ext cx="3048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B4BEC8"/>
                </a:solidFill>
                <a:latin typeface="Noto Sans SC"/>
                <a:ea typeface="Noto Sans SC"/>
                <a:cs typeface="Noto Sans SC"/>
                <a:sym typeface="Noto Sans SC"/>
              </a:rPr>
              <a:t>触发：拒绝（今日停止）</a:t>
            </a:r>
            <a:r>
              <a:rPr lang="en-US" b="false" i="false" strike="noStrike" u="none" sz="1200">
                <a:solidFill>
                  <a:srgbClr val="B4BEC8"/>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B4BEC8"/>
                </a:solidFill>
                <a:latin typeface="Noto Sans SC"/>
                <a:ea typeface="Noto Sans SC"/>
                <a:cs typeface="Noto Sans SC"/>
                <a:sym typeface="Noto Sans SC"/>
              </a:rPr>
              <a:t>未触发：继续检查</a:t>
            </a:r>
          </a:p>
        </p:txBody>
      </p:sp>
      <p:sp>
        <p:nvSpPr>
          <p:cNvPr name="AutoShape 9" id="9"/>
          <p:cNvSpPr/>
          <p:nvPr/>
        </p:nvSpPr>
        <p:spPr>
          <a:xfrm rot="0" flipH="false" flipV="false">
            <a:off x="4381500" y="1397000"/>
            <a:ext cx="3429000" cy="1905000"/>
          </a:xfrm>
          <a:prstGeom prst="roundRect">
            <a:avLst>
              <a:gd name="adj" fmla="val 666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572000" y="1587500"/>
            <a:ext cx="406400" cy="406400"/>
          </a:xfrm>
          <a:prstGeom prst="rect">
            <a:avLst/>
          </a:prstGeom>
        </p:spPr>
      </p:pic>
      <p:sp>
        <p:nvSpPr>
          <p:cNvPr name="AutoShape 11" id="11"/>
          <p:cNvSpPr/>
          <p:nvPr/>
        </p:nvSpPr>
        <p:spPr>
          <a:xfrm rot="0" flipH="false" flipV="false">
            <a:off x="5080000" y="15875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2. 持仓检查</a:t>
            </a:r>
            <a:endParaRPr lang="en-US" sz="1100"/>
          </a:p>
        </p:txBody>
      </p:sp>
      <p:cxnSp>
        <p:nvCxnSpPr>
          <p:cNvPr name="Connector 12" id="12"/>
          <p:cNvCxnSpPr/>
          <p:nvPr/>
        </p:nvCxnSpPr>
        <p:spPr>
          <a:xfrm rot="-14323" flipH="false" flipV="false">
            <a:off x="4572013" y="2025650"/>
            <a:ext cx="3048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3" id="13"/>
          <p:cNvSpPr/>
          <p:nvPr/>
        </p:nvSpPr>
        <p:spPr>
          <a:xfrm rot="0" flipH="false" flipV="false">
            <a:off x="4572000" y="2095500"/>
            <a:ext cx="3048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B4BEC8"/>
                </a:solidFill>
                <a:latin typeface="Noto Sans SC"/>
                <a:ea typeface="Noto Sans SC"/>
                <a:cs typeface="Noto Sans SC"/>
                <a:sym typeface="Noto Sans SC"/>
              </a:rPr>
              <a:t>超限：记录原因并拒绝</a:t>
            </a:r>
            <a:r>
              <a:rPr lang="en-US" b="false" i="false" strike="noStrike" u="none" sz="1200">
                <a:solidFill>
                  <a:srgbClr val="B4BEC8"/>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B4BEC8"/>
                </a:solidFill>
                <a:latin typeface="Noto Sans SC"/>
                <a:ea typeface="Noto Sans SC"/>
                <a:cs typeface="Noto Sans SC"/>
                <a:sym typeface="Noto Sans SC"/>
              </a:rPr>
              <a:t>未超限：继续检查</a:t>
            </a:r>
          </a:p>
        </p:txBody>
      </p:sp>
      <p:sp>
        <p:nvSpPr>
          <p:cNvPr name="AutoShape 14" id="14"/>
          <p:cNvSpPr/>
          <p:nvPr/>
        </p:nvSpPr>
        <p:spPr>
          <a:xfrm rot="0" flipH="false" flipV="false">
            <a:off x="8001000" y="1397000"/>
            <a:ext cx="3429000" cy="1905000"/>
          </a:xfrm>
          <a:prstGeom prst="roundRect">
            <a:avLst>
              <a:gd name="adj" fmla="val 6666"/>
            </a:avLst>
          </a:prstGeom>
          <a:solidFill>
            <a:srgbClr val="FFFFFF">
              <a:alpha val="8000"/>
            </a:srgbClr>
          </a:solidFill>
          <a:ln w="12700" cmpd="sng" cap="flat">
            <a:solidFill>
              <a:srgbClr val="FF5757">
                <a:alpha val="5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191500" y="1587500"/>
            <a:ext cx="406400" cy="406400"/>
          </a:xfrm>
          <a:prstGeom prst="rect">
            <a:avLst/>
          </a:prstGeom>
        </p:spPr>
      </p:pic>
      <p:sp>
        <p:nvSpPr>
          <p:cNvPr name="AutoShape 16" id="16"/>
          <p:cNvSpPr/>
          <p:nvPr/>
        </p:nvSpPr>
        <p:spPr>
          <a:xfrm rot="0" flipH="false" flipV="false">
            <a:off x="8699500" y="15875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3. 日亏损检查</a:t>
            </a:r>
            <a:endParaRPr lang="en-US" sz="1100"/>
          </a:p>
        </p:txBody>
      </p:sp>
      <p:cxnSp>
        <p:nvCxnSpPr>
          <p:cNvPr name="Connector 17" id="17"/>
          <p:cNvCxnSpPr/>
          <p:nvPr/>
        </p:nvCxnSpPr>
        <p:spPr>
          <a:xfrm rot="-14323" flipH="false" flipV="false">
            <a:off x="8191513" y="2025650"/>
            <a:ext cx="3048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8" id="18"/>
          <p:cNvSpPr/>
          <p:nvPr/>
        </p:nvSpPr>
        <p:spPr>
          <a:xfrm rot="0" flipH="false" flipV="false">
            <a:off x="8191500" y="2095500"/>
            <a:ext cx="3048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5757"/>
                </a:solidFill>
                <a:latin typeface="Noto Sans SC"/>
                <a:ea typeface="Noto Sans SC"/>
                <a:cs typeface="Noto Sans SC"/>
                <a:sym typeface="Noto Sans SC"/>
              </a:rPr>
              <a:t>超限：触发熔断并拒绝</a:t>
            </a:r>
            <a:r>
              <a:rPr lang="en-US" b="false" i="false" strike="noStrike" u="none" sz="12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B4BEC8"/>
                </a:solidFill>
                <a:latin typeface="Noto Sans SC"/>
                <a:ea typeface="Noto Sans SC"/>
                <a:cs typeface="Noto Sans SC"/>
                <a:sym typeface="Noto Sans SC"/>
              </a:rPr>
              <a:t>未超限：继续检查</a:t>
            </a:r>
          </a:p>
        </p:txBody>
      </p:sp>
      <p:sp>
        <p:nvSpPr>
          <p:cNvPr name="AutoShape 19" id="19"/>
          <p:cNvSpPr/>
          <p:nvPr/>
        </p:nvSpPr>
        <p:spPr>
          <a:xfrm rot="0" flipH="false" flipV="false">
            <a:off x="762000" y="3556000"/>
            <a:ext cx="3429000" cy="1905000"/>
          </a:xfrm>
          <a:prstGeom prst="roundRect">
            <a:avLst>
              <a:gd name="adj" fmla="val 666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52500" y="3746500"/>
            <a:ext cx="406400" cy="406400"/>
          </a:xfrm>
          <a:prstGeom prst="rect">
            <a:avLst/>
          </a:prstGeom>
        </p:spPr>
      </p:pic>
      <p:sp>
        <p:nvSpPr>
          <p:cNvPr name="AutoShape 21" id="21"/>
          <p:cNvSpPr/>
          <p:nvPr/>
        </p:nvSpPr>
        <p:spPr>
          <a:xfrm rot="0" flipH="false" flipV="false">
            <a:off x="1460500" y="37465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4. 交易次数检查</a:t>
            </a:r>
            <a:endParaRPr lang="en-US" sz="1100"/>
          </a:p>
        </p:txBody>
      </p:sp>
      <p:cxnSp>
        <p:nvCxnSpPr>
          <p:cNvPr name="Connector 22" id="22"/>
          <p:cNvCxnSpPr/>
          <p:nvPr/>
        </p:nvCxnSpPr>
        <p:spPr>
          <a:xfrm rot="-14323" flipH="false" flipV="false">
            <a:off x="952513" y="4184650"/>
            <a:ext cx="3048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23" id="23"/>
          <p:cNvSpPr/>
          <p:nvPr/>
        </p:nvSpPr>
        <p:spPr>
          <a:xfrm rot="0" flipH="false" flipV="false">
            <a:off x="952500" y="4254500"/>
            <a:ext cx="3048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B4BEC8"/>
                </a:solidFill>
                <a:latin typeface="Noto Sans SC"/>
                <a:ea typeface="Noto Sans SC"/>
                <a:cs typeface="Noto Sans SC"/>
                <a:sym typeface="Noto Sans SC"/>
              </a:rPr>
              <a:t>超限：记录原因并拒绝</a:t>
            </a:r>
            <a:r>
              <a:rPr lang="en-US" b="false" i="false" strike="noStrike" u="none" sz="1200">
                <a:solidFill>
                  <a:srgbClr val="B4BEC8"/>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B4BEC8"/>
                </a:solidFill>
                <a:latin typeface="Noto Sans SC"/>
                <a:ea typeface="Noto Sans SC"/>
                <a:cs typeface="Noto Sans SC"/>
                <a:sym typeface="Noto Sans SC"/>
              </a:rPr>
              <a:t>未超限：继续检查</a:t>
            </a:r>
          </a:p>
        </p:txBody>
      </p:sp>
      <p:sp>
        <p:nvSpPr>
          <p:cNvPr name="AutoShape 24" id="24"/>
          <p:cNvSpPr/>
          <p:nvPr/>
        </p:nvSpPr>
        <p:spPr>
          <a:xfrm rot="0" flipH="false" flipV="false">
            <a:off x="4381500" y="3556000"/>
            <a:ext cx="3429000" cy="1905000"/>
          </a:xfrm>
          <a:prstGeom prst="roundRect">
            <a:avLst>
              <a:gd name="adj" fmla="val 666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4572000" y="3746500"/>
            <a:ext cx="406400" cy="406400"/>
          </a:xfrm>
          <a:prstGeom prst="rect">
            <a:avLst/>
          </a:prstGeom>
        </p:spPr>
      </p:pic>
      <p:sp>
        <p:nvSpPr>
          <p:cNvPr name="AutoShape 26" id="26"/>
          <p:cNvSpPr/>
          <p:nvPr/>
        </p:nvSpPr>
        <p:spPr>
          <a:xfrm rot="0" flipH="false" flipV="false">
            <a:off x="5080000" y="37465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5. 下单间隔检查</a:t>
            </a:r>
            <a:endParaRPr lang="en-US" sz="1100"/>
          </a:p>
        </p:txBody>
      </p:sp>
      <p:cxnSp>
        <p:nvCxnSpPr>
          <p:cNvPr name="Connector 27" id="27"/>
          <p:cNvCxnSpPr/>
          <p:nvPr/>
        </p:nvCxnSpPr>
        <p:spPr>
          <a:xfrm rot="-14323" flipH="false" flipV="false">
            <a:off x="4572013" y="4184650"/>
            <a:ext cx="3048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28" id="28"/>
          <p:cNvSpPr/>
          <p:nvPr/>
        </p:nvSpPr>
        <p:spPr>
          <a:xfrm rot="0" flipH="false" flipV="false">
            <a:off x="4572000" y="4254500"/>
            <a:ext cx="3048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B4BEC8"/>
                </a:solidFill>
                <a:latin typeface="Noto Sans SC"/>
                <a:ea typeface="Noto Sans SC"/>
                <a:cs typeface="Noto Sans SC"/>
                <a:sym typeface="Noto Sans SC"/>
              </a:rPr>
              <a:t>频繁：记录原因并拒绝</a:t>
            </a:r>
            <a:r>
              <a:rPr lang="en-US" b="false" i="false" strike="noStrike" u="none" sz="1200">
                <a:solidFill>
                  <a:srgbClr val="B4BEC8"/>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B4BEC8"/>
                </a:solidFill>
                <a:latin typeface="Noto Sans SC"/>
                <a:ea typeface="Noto Sans SC"/>
                <a:cs typeface="Noto Sans SC"/>
                <a:sym typeface="Noto Sans SC"/>
              </a:rPr>
              <a:t>间隔足够：继续检查</a:t>
            </a:r>
          </a:p>
        </p:txBody>
      </p:sp>
      <p:sp>
        <p:nvSpPr>
          <p:cNvPr name="AutoShape 29" id="29"/>
          <p:cNvSpPr/>
          <p:nvPr/>
        </p:nvSpPr>
        <p:spPr>
          <a:xfrm rot="0" flipH="false" flipV="false">
            <a:off x="8001000" y="3556000"/>
            <a:ext cx="3429000" cy="1905000"/>
          </a:xfrm>
          <a:prstGeom prst="roundRect">
            <a:avLst>
              <a:gd name="adj" fmla="val 6666"/>
            </a:avLst>
          </a:prstGeom>
          <a:solidFill>
            <a:srgbClr val="FFFFFF">
              <a:alpha val="8000"/>
            </a:srgbClr>
          </a:solidFill>
          <a:ln w="12700" cmpd="sng" cap="flat">
            <a:solidFill>
              <a:srgbClr val="FF5757">
                <a:alpha val="50000"/>
              </a:srgbClr>
            </a:solidFill>
            <a:prstDash val="solid"/>
            <a:round/>
          </a:ln>
        </p:spPr>
        <p:txBody>
          <a:bodyPr anchor="ctr" rtlCol="false" vert="horz" wrap="square" lIns="63500" rIns="63500" tIns="63500" bIns="63500"/>
          <a:lstStyle/>
          <a:p>
            <a:pPr algn="ctr">
              <a:defRPr/>
            </a:pPr>
            <a:endParaRPr/>
          </a:p>
        </p:txBody>
      </p:sp>
      <p:pic>
        <p:nvPicPr>
          <p:cNvPr name="Picture 30" id="30"/>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8191500" y="3746500"/>
            <a:ext cx="406400" cy="406400"/>
          </a:xfrm>
          <a:prstGeom prst="rect">
            <a:avLst/>
          </a:prstGeom>
        </p:spPr>
      </p:pic>
      <p:sp>
        <p:nvSpPr>
          <p:cNvPr name="AutoShape 31" id="31"/>
          <p:cNvSpPr/>
          <p:nvPr/>
        </p:nvSpPr>
        <p:spPr>
          <a:xfrm rot="0" flipH="false" flipV="false">
            <a:off x="8699500" y="37465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6. 回撤检查</a:t>
            </a:r>
            <a:endParaRPr lang="en-US" sz="1100"/>
          </a:p>
        </p:txBody>
      </p:sp>
      <p:cxnSp>
        <p:nvCxnSpPr>
          <p:cNvPr name="Connector 32" id="32"/>
          <p:cNvCxnSpPr/>
          <p:nvPr/>
        </p:nvCxnSpPr>
        <p:spPr>
          <a:xfrm rot="-14323" flipH="false" flipV="false">
            <a:off x="8191513" y="4184650"/>
            <a:ext cx="3048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33" id="33"/>
          <p:cNvSpPr/>
          <p:nvPr/>
        </p:nvSpPr>
        <p:spPr>
          <a:xfrm rot="0" flipH="false" flipV="false">
            <a:off x="8191500" y="4254500"/>
            <a:ext cx="3048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FF5757"/>
                </a:solidFill>
                <a:latin typeface="Noto Sans SC"/>
                <a:ea typeface="Noto Sans SC"/>
                <a:cs typeface="Noto Sans SC"/>
                <a:sym typeface="Noto Sans SC"/>
              </a:rPr>
              <a:t>超限：触发熔断并拒绝</a:t>
            </a:r>
            <a:r>
              <a:rPr lang="en-US" b="false" i="false" strike="noStrike" u="none" sz="12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B4BEC8"/>
                </a:solidFill>
                <a:latin typeface="Noto Sans SC"/>
                <a:ea typeface="Noto Sans SC"/>
                <a:cs typeface="Noto Sans SC"/>
                <a:sym typeface="Noto Sans SC"/>
              </a:rPr>
              <a:t>未超限：继续检查</a:t>
            </a:r>
          </a:p>
        </p:txBody>
      </p:sp>
      <p:sp>
        <p:nvSpPr>
          <p:cNvPr name="AutoShape 34" id="34"/>
          <p:cNvSpPr/>
          <p:nvPr/>
        </p:nvSpPr>
        <p:spPr>
          <a:xfrm rot="0" flipH="false" flipV="false">
            <a:off x="762000" y="5651500"/>
            <a:ext cx="10668000" cy="762000"/>
          </a:xfrm>
          <a:prstGeom prst="roundRect">
            <a:avLst>
              <a:gd name="adj" fmla="val 16666"/>
            </a:avLst>
          </a:prstGeom>
          <a:solidFill>
            <a:srgbClr val="00BFFF">
              <a:alpha val="15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35" id="35"/>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1016000" y="5880100"/>
            <a:ext cx="304800" cy="304800"/>
          </a:xfrm>
          <a:prstGeom prst="rect">
            <a:avLst/>
          </a:prstGeom>
        </p:spPr>
      </p:pic>
      <p:sp>
        <p:nvSpPr>
          <p:cNvPr name="AutoShape 36" id="36"/>
          <p:cNvSpPr/>
          <p:nvPr/>
        </p:nvSpPr>
        <p:spPr>
          <a:xfrm rot="0" flipH="false" flipV="false">
            <a:off x="1397000" y="5842000"/>
            <a:ext cx="965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最终判定：所有检查通过且无拒绝原因 → 允许交易；否则拒绝并返回原因。</a:t>
            </a:r>
            <a:endParaRPr lang="en-US" sz="1100"/>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谁能拉“紧急刹车”？</a:t>
            </a:r>
            <a:endParaRPr lang="en-US" sz="1100"/>
          </a:p>
        </p:txBody>
      </p:sp>
      <p:sp>
        <p:nvSpPr>
          <p:cNvPr name="AutoShape 4" id="4"/>
          <p:cNvSpPr/>
          <p:nvPr/>
        </p:nvSpPr>
        <p:spPr>
          <a:xfrm rot="0" flipH="false" flipV="false">
            <a:off x="762000" y="1905000"/>
            <a:ext cx="10668000" cy="1016000"/>
          </a:xfrm>
          <a:prstGeom prst="roundRect">
            <a:avLst>
              <a:gd name="adj" fmla="val 12500"/>
            </a:avLst>
          </a:prstGeom>
          <a:solidFill>
            <a:srgbClr val="00BFFF">
              <a:alpha val="1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09800"/>
            <a:ext cx="406400" cy="406400"/>
          </a:xfrm>
          <a:prstGeom prst="rect">
            <a:avLst/>
          </a:prstGeom>
        </p:spPr>
      </p:pic>
      <p:sp>
        <p:nvSpPr>
          <p:cNvPr name="AutoShape 6" id="6"/>
          <p:cNvSpPr/>
          <p:nvPr/>
        </p:nvSpPr>
        <p:spPr>
          <a:xfrm rot="0" flipH="false" flipV="false">
            <a:off x="1524000" y="2159000"/>
            <a:ext cx="965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solidFill>
                <a:latin typeface="Noto Sans SC"/>
                <a:ea typeface="Noto Sans SC"/>
                <a:cs typeface="Noto Sans SC"/>
                <a:sym typeface="Noto Sans SC"/>
              </a:rPr>
              <a:t>六重检查中，只有第3和第6能触发熔断，</a:t>
            </a:r>
            <a:r>
              <a:rPr lang="en-US" b="true" i="false" strike="noStrike" u="none" sz="1800">
                <a:solidFill>
                  <a:srgbClr val="FFFF00"/>
                </a:solidFill>
                <a:latin typeface="Noto Sans SC"/>
                <a:ea typeface="Noto Sans SC"/>
                <a:cs typeface="Noto Sans SC"/>
                <a:sym typeface="Noto Sans SC"/>
              </a:rPr>
              <a:t>为什么持仓超限不触发熔断？</a:t>
            </a:r>
            <a:endParaRPr lang="en-US" sz="1100"/>
          </a:p>
        </p:txBody>
      </p:sp>
      <p:sp>
        <p:nvSpPr>
          <p:cNvPr name="AutoShape 7" id="7"/>
          <p:cNvSpPr/>
          <p:nvPr/>
        </p:nvSpPr>
        <p:spPr>
          <a:xfrm rot="0" flipH="false" flipV="false">
            <a:off x="762000" y="3175000"/>
            <a:ext cx="5143500" cy="2540000"/>
          </a:xfrm>
          <a:prstGeom prst="roundRect">
            <a:avLst>
              <a:gd name="adj" fmla="val 5000"/>
            </a:avLst>
          </a:prstGeom>
          <a:solidFill>
            <a:srgbClr val="FFFFFF">
              <a:alpha val="5000"/>
            </a:srgbClr>
          </a:solidFill>
          <a:ln w="12700" cmpd="sng" cap="flat">
            <a:solidFill>
              <a:srgbClr val="FFFF00">
                <a:alpha val="5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3429000"/>
            <a:ext cx="609600" cy="609600"/>
          </a:xfrm>
          <a:prstGeom prst="rect">
            <a:avLst/>
          </a:prstGeom>
        </p:spPr>
      </p:pic>
      <p:sp>
        <p:nvSpPr>
          <p:cNvPr name="AutoShape 9" id="9"/>
          <p:cNvSpPr/>
          <p:nvPr/>
        </p:nvSpPr>
        <p:spPr>
          <a:xfrm rot="0" flipH="false" flipV="false">
            <a:off x="1778000" y="34925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00"/>
                </a:solidFill>
                <a:latin typeface="Noto Sans SC"/>
                <a:ea typeface="Noto Sans SC"/>
                <a:cs typeface="Noto Sans SC"/>
                <a:sym typeface="Noto Sans SC"/>
              </a:rPr>
              <a:t>触发熔断：系统性风险</a:t>
            </a:r>
            <a:endParaRPr lang="en-US" sz="1100"/>
          </a:p>
        </p:txBody>
      </p:sp>
      <p:cxnSp>
        <p:nvCxnSpPr>
          <p:cNvPr name="Connector 10" id="10"/>
          <p:cNvCxnSpPr/>
          <p:nvPr/>
        </p:nvCxnSpPr>
        <p:spPr>
          <a:xfrm rot="-9418" flipH="false" flipV="false">
            <a:off x="1016009" y="4121150"/>
            <a:ext cx="46355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1" id="11"/>
          <p:cNvSpPr/>
          <p:nvPr/>
        </p:nvSpPr>
        <p:spPr>
          <a:xfrm rot="0" flipH="false" flipV="false">
            <a:off x="1016000" y="4318000"/>
            <a:ext cx="46355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00BFFF"/>
                </a:solidFill>
                <a:latin typeface="Noto Sans SC"/>
                <a:ea typeface="Noto Sans SC"/>
                <a:cs typeface="Noto Sans SC"/>
                <a:sym typeface="Noto Sans SC"/>
              </a:rPr>
              <a:t>场景：日亏损 / 回撤检查</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C8C8C8"/>
                </a:solidFill>
                <a:latin typeface="Noto Sans SC"/>
                <a:ea typeface="Noto Sans SC"/>
                <a:cs typeface="Noto Sans SC"/>
                <a:sym typeface="Noto Sans SC"/>
              </a:rPr>
              <a:t>性质：触及资金安全底线，属于不可逆转的风险。</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C8C8C8"/>
                </a:solidFill>
                <a:latin typeface="Noto Sans SC"/>
                <a:ea typeface="Noto Sans SC"/>
                <a:cs typeface="Noto Sans SC"/>
                <a:sym typeface="Noto Sans SC"/>
              </a:rPr>
              <a:t>后果：立即停止所有交易，防止损失扩大。</a:t>
            </a:r>
          </a:p>
        </p:txBody>
      </p:sp>
      <p:sp>
        <p:nvSpPr>
          <p:cNvPr name="AutoShape 12" id="12"/>
          <p:cNvSpPr/>
          <p:nvPr/>
        </p:nvSpPr>
        <p:spPr>
          <a:xfrm rot="0" flipH="false" flipV="false">
            <a:off x="6286500" y="3175000"/>
            <a:ext cx="5143500" cy="2540000"/>
          </a:xfrm>
          <a:prstGeom prst="roundRect">
            <a:avLst>
              <a:gd name="adj" fmla="val 5000"/>
            </a:avLst>
          </a:prstGeom>
          <a:solidFill>
            <a:srgbClr val="FFFFFF">
              <a:alpha val="5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540500" y="3429000"/>
            <a:ext cx="609600" cy="609600"/>
          </a:xfrm>
          <a:prstGeom prst="rect">
            <a:avLst/>
          </a:prstGeom>
        </p:spPr>
      </p:pic>
      <p:sp>
        <p:nvSpPr>
          <p:cNvPr name="AutoShape 14" id="14"/>
          <p:cNvSpPr/>
          <p:nvPr/>
        </p:nvSpPr>
        <p:spPr>
          <a:xfrm rot="0" flipH="false" flipV="false">
            <a:off x="7302500" y="34925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BFFF"/>
                </a:solidFill>
                <a:latin typeface="Noto Sans SC"/>
                <a:ea typeface="Noto Sans SC"/>
                <a:cs typeface="Noto Sans SC"/>
                <a:sym typeface="Noto Sans SC"/>
              </a:rPr>
              <a:t>仅拒交易：操作规范问题</a:t>
            </a:r>
            <a:endParaRPr lang="en-US" sz="1100"/>
          </a:p>
        </p:txBody>
      </p:sp>
      <p:cxnSp>
        <p:nvCxnSpPr>
          <p:cNvPr name="Connector 15" id="15"/>
          <p:cNvCxnSpPr/>
          <p:nvPr/>
        </p:nvCxnSpPr>
        <p:spPr>
          <a:xfrm rot="-9418" flipH="false" flipV="false">
            <a:off x="6540509" y="4121150"/>
            <a:ext cx="46355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6" id="16"/>
          <p:cNvSpPr/>
          <p:nvPr/>
        </p:nvSpPr>
        <p:spPr>
          <a:xfrm rot="0" flipH="false" flipV="false">
            <a:off x="6540500" y="4318000"/>
            <a:ext cx="46355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00BFFF"/>
                </a:solidFill>
                <a:latin typeface="Noto Sans SC"/>
                <a:ea typeface="Noto Sans SC"/>
                <a:cs typeface="Noto Sans SC"/>
                <a:sym typeface="Noto Sans SC"/>
              </a:rPr>
              <a:t>场景：持仓超限 / 交易次数超限</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C8C8C8"/>
                </a:solidFill>
                <a:latin typeface="Noto Sans SC"/>
                <a:ea typeface="Noto Sans SC"/>
                <a:cs typeface="Noto Sans SC"/>
                <a:sym typeface="Noto Sans SC"/>
              </a:rPr>
              <a:t>性质：违反操作规则，但未威胁整体资金安全。</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C8C8C8"/>
                </a:solidFill>
                <a:latin typeface="Noto Sans SC"/>
                <a:ea typeface="Noto Sans SC"/>
                <a:cs typeface="Noto Sans SC"/>
                <a:sym typeface="Noto Sans SC"/>
              </a:rPr>
              <a:t>后果：仅拒绝当前单笔交易，系统继续运行。</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762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RiskLimits -- 五项核心限制</a:t>
            </a:r>
            <a:endParaRPr lang="en-US" sz="1100"/>
          </a:p>
        </p:txBody>
      </p:sp>
      <p:sp>
        <p:nvSpPr>
          <p:cNvPr name="AutoShape 4" id="4"/>
          <p:cNvSpPr/>
          <p:nvPr/>
        </p:nvSpPr>
        <p:spPr>
          <a:xfrm rot="0" flipH="false" flipV="false">
            <a:off x="762000" y="1778000"/>
            <a:ext cx="5842000" cy="4064000"/>
          </a:xfrm>
          <a:prstGeom prst="roundRect">
            <a:avLst>
              <a:gd name="adj" fmla="val 3125"/>
            </a:avLst>
          </a:prstGeom>
          <a:solidFill>
            <a:srgbClr val="141E30">
              <a:alpha val="8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2032000"/>
            <a:ext cx="533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08080"/>
                </a:solidFill>
                <a:latin typeface="Noto Sans SC"/>
                <a:ea typeface="Noto Sans SC"/>
                <a:cs typeface="Noto Sans SC"/>
                <a:sym typeface="Noto Sans SC"/>
              </a:rPr>
              <a:t>@dataclass</a:t>
            </a:r>
            <a:endParaRPr lang="en-US" sz="1100"/>
          </a:p>
        </p:txBody>
      </p:sp>
      <p:sp>
        <p:nvSpPr>
          <p:cNvPr name="AutoShape 6" id="6"/>
          <p:cNvSpPr/>
          <p:nvPr/>
        </p:nvSpPr>
        <p:spPr>
          <a:xfrm rot="0" flipH="false" flipV="false">
            <a:off x="1016000" y="2336800"/>
            <a:ext cx="533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00BFFF"/>
                </a:solidFill>
                <a:latin typeface="Noto Sans SC"/>
                <a:ea typeface="Noto Sans SC"/>
                <a:cs typeface="Noto Sans SC"/>
                <a:sym typeface="Noto Sans SC"/>
              </a:rPr>
              <a:t>class</a:t>
            </a:r>
            <a:r>
              <a:rPr lang="en-US" b="false" i="false" strike="noStrike" u="none" sz="1400">
                <a:solidFill>
                  <a:srgbClr val="FFFFFF"/>
                </a:solidFill>
                <a:latin typeface="Noto Sans SC"/>
                <a:ea typeface="Noto Sans SC"/>
                <a:cs typeface="Noto Sans SC"/>
                <a:sym typeface="Noto Sans SC"/>
              </a:rPr>
              <a:t>RiskLimits:</a:t>
            </a:r>
            <a:endParaRPr lang="en-US" sz="1100"/>
          </a:p>
        </p:txBody>
      </p:sp>
      <p:sp>
        <p:nvSpPr>
          <p:cNvPr name="AutoShape 7" id="7"/>
          <p:cNvSpPr/>
          <p:nvPr/>
        </p:nvSpPr>
        <p:spPr>
          <a:xfrm rot="0" flipH="false" flipV="false">
            <a:off x="1016000" y="2641600"/>
            <a:ext cx="533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08080"/>
                </a:solidFill>
                <a:latin typeface="Noto Sans SC"/>
                <a:ea typeface="Noto Sans SC"/>
                <a:cs typeface="Noto Sans SC"/>
                <a:sym typeface="Noto Sans SC"/>
              </a:rPr>
              <a:t>"""风控限制参数定义"""</a:t>
            </a:r>
            <a:endParaRPr lang="en-US" sz="1100"/>
          </a:p>
        </p:txBody>
      </p:sp>
      <p:sp>
        <p:nvSpPr>
          <p:cNvPr name="AutoShape 8" id="8"/>
          <p:cNvSpPr/>
          <p:nvPr/>
        </p:nvSpPr>
        <p:spPr>
          <a:xfrm rot="0" flipH="false" flipV="false">
            <a:off x="1016000" y="2946400"/>
            <a:ext cx="5334000" cy="355600"/>
          </a:xfrm>
          <a:prstGeom prst="roundRect">
            <a:avLst>
              <a:gd name="adj" fmla="val 0"/>
            </a:avLst>
          </a:prstGeom>
          <a:solidFill>
            <a:srgbClr val="FFFF00">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016000" y="2971800"/>
            <a:ext cx="533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max_position_value: float =</a:t>
            </a:r>
            <a:r>
              <a:rPr lang="en-US" b="true" i="false" strike="noStrike" u="none" sz="1400">
                <a:solidFill>
                  <a:srgbClr val="00BFFF"/>
                </a:solidFill>
                <a:latin typeface="Noto Sans SC"/>
                <a:ea typeface="Noto Sans SC"/>
                <a:cs typeface="Noto Sans SC"/>
                <a:sym typeface="Noto Sans SC"/>
              </a:rPr>
              <a:t>1000</a:t>
            </a:r>
            <a:r>
              <a:rPr lang="en-US" b="false" i="false" strike="noStrike" u="none" sz="1400">
                <a:solidFill>
                  <a:srgbClr val="808080"/>
                </a:solidFill>
                <a:latin typeface="Noto Sans SC"/>
                <a:ea typeface="Noto Sans SC"/>
                <a:cs typeface="Noto Sans SC"/>
                <a:sym typeface="Noto Sans SC"/>
              </a:rPr>
              <a:t># 最大持仓价值</a:t>
            </a:r>
            <a:endParaRPr lang="en-US" sz="1100"/>
          </a:p>
        </p:txBody>
      </p:sp>
      <p:sp>
        <p:nvSpPr>
          <p:cNvPr name="AutoShape 10" id="10"/>
          <p:cNvSpPr/>
          <p:nvPr/>
        </p:nvSpPr>
        <p:spPr>
          <a:xfrm rot="0" flipH="false" flipV="false">
            <a:off x="1016000" y="3302000"/>
            <a:ext cx="5334000" cy="355600"/>
          </a:xfrm>
          <a:prstGeom prst="roundRect">
            <a:avLst>
              <a:gd name="adj" fmla="val 0"/>
            </a:avLst>
          </a:prstGeom>
          <a:solidFill>
            <a:srgbClr val="FFFF00">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1016000" y="3327400"/>
            <a:ext cx="533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max_daily_loss: float =</a:t>
            </a:r>
            <a:r>
              <a:rPr lang="en-US" b="true" i="false" strike="noStrike" u="none" sz="1400">
                <a:solidFill>
                  <a:srgbClr val="00BFFF"/>
                </a:solidFill>
                <a:latin typeface="Noto Sans SC"/>
                <a:ea typeface="Noto Sans SC"/>
                <a:cs typeface="Noto Sans SC"/>
                <a:sym typeface="Noto Sans SC"/>
              </a:rPr>
              <a:t>100</a:t>
            </a:r>
            <a:r>
              <a:rPr lang="en-US" b="false" i="false" strike="noStrike" u="none" sz="1400">
                <a:solidFill>
                  <a:srgbClr val="808080"/>
                </a:solidFill>
                <a:latin typeface="Noto Sans SC"/>
                <a:ea typeface="Noto Sans SC"/>
                <a:cs typeface="Noto Sans SC"/>
                <a:sym typeface="Noto Sans SC"/>
              </a:rPr>
              <a:t># 日亏损上限</a:t>
            </a:r>
            <a:endParaRPr lang="en-US" sz="1100"/>
          </a:p>
        </p:txBody>
      </p:sp>
      <p:sp>
        <p:nvSpPr>
          <p:cNvPr name="AutoShape 12" id="12"/>
          <p:cNvSpPr/>
          <p:nvPr/>
        </p:nvSpPr>
        <p:spPr>
          <a:xfrm rot="0" flipH="false" flipV="false">
            <a:off x="1016000" y="3683000"/>
            <a:ext cx="533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max_drawdown_pct: float = 0.10 # 最大回撤 10%</a:t>
            </a:r>
            <a:endParaRPr lang="en-US" sz="1100"/>
          </a:p>
        </p:txBody>
      </p:sp>
      <p:sp>
        <p:nvSpPr>
          <p:cNvPr name="AutoShape 13" id="13"/>
          <p:cNvSpPr/>
          <p:nvPr/>
        </p:nvSpPr>
        <p:spPr>
          <a:xfrm rot="0" flipH="false" flipV="false">
            <a:off x="1016000" y="3987800"/>
            <a:ext cx="533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max_trades_per_day: int = 5 # 每日最大交易次数</a:t>
            </a:r>
            <a:endParaRPr lang="en-US" sz="1100"/>
          </a:p>
        </p:txBody>
      </p:sp>
      <p:sp>
        <p:nvSpPr>
          <p:cNvPr name="AutoShape 14" id="14"/>
          <p:cNvSpPr/>
          <p:nvPr/>
        </p:nvSpPr>
        <p:spPr>
          <a:xfrm rot="0" flipH="false" flipV="false">
            <a:off x="1016000" y="4292600"/>
            <a:ext cx="533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min_order_interval: int = 30 # 最小下单间隔(分钟)</a:t>
            </a:r>
            <a:endParaRPr lang="en-US" sz="1100"/>
          </a:p>
        </p:txBody>
      </p:sp>
      <p:sp>
        <p:nvSpPr>
          <p:cNvPr name="AutoShape 15" id="15"/>
          <p:cNvSpPr/>
          <p:nvPr/>
        </p:nvSpPr>
        <p:spPr>
          <a:xfrm rot="0" flipH="false" flipV="false">
            <a:off x="6858000" y="1778000"/>
            <a:ext cx="4572000" cy="1016000"/>
          </a:xfrm>
          <a:prstGeom prst="roundRect">
            <a:avLst>
              <a:gd name="adj" fmla="val 12500"/>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112000" y="2082800"/>
            <a:ext cx="406400" cy="406400"/>
          </a:xfrm>
          <a:prstGeom prst="rect">
            <a:avLst/>
          </a:prstGeom>
        </p:spPr>
      </p:pic>
      <p:sp>
        <p:nvSpPr>
          <p:cNvPr name="AutoShape 17" id="17"/>
          <p:cNvSpPr/>
          <p:nvPr/>
        </p:nvSpPr>
        <p:spPr>
          <a:xfrm rot="0" flipH="false" flipV="false">
            <a:off x="7620000" y="1905000"/>
            <a:ext cx="355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最大持仓价值 (Max Position)</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B4B4B4"/>
                </a:solidFill>
                <a:latin typeface="Noto Sans SC"/>
                <a:ea typeface="Noto Sans SC"/>
                <a:cs typeface="Noto Sans SC"/>
                <a:sym typeface="Noto Sans SC"/>
              </a:rPr>
              <a:t>限制账户总持仓金额，防止过度杠杆风险</a:t>
            </a:r>
          </a:p>
        </p:txBody>
      </p:sp>
      <p:sp>
        <p:nvSpPr>
          <p:cNvPr name="AutoShape 18" id="18"/>
          <p:cNvSpPr/>
          <p:nvPr/>
        </p:nvSpPr>
        <p:spPr>
          <a:xfrm rot="0" flipH="false" flipV="false">
            <a:off x="6858000" y="2921000"/>
            <a:ext cx="4572000" cy="1016000"/>
          </a:xfrm>
          <a:prstGeom prst="roundRect">
            <a:avLst>
              <a:gd name="adj" fmla="val 12500"/>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7112000" y="3225800"/>
            <a:ext cx="406400" cy="406400"/>
          </a:xfrm>
          <a:prstGeom prst="rect">
            <a:avLst/>
          </a:prstGeom>
        </p:spPr>
      </p:pic>
      <p:sp>
        <p:nvSpPr>
          <p:cNvPr name="AutoShape 20" id="20"/>
          <p:cNvSpPr/>
          <p:nvPr/>
        </p:nvSpPr>
        <p:spPr>
          <a:xfrm rot="0" flipH="false" flipV="false">
            <a:off x="7620000" y="3048000"/>
            <a:ext cx="355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日亏损上限 (Daily Loss Limit)</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B4B4B4"/>
                </a:solidFill>
                <a:latin typeface="Noto Sans SC"/>
                <a:ea typeface="Noto Sans SC"/>
                <a:cs typeface="Noto Sans SC"/>
                <a:sym typeface="Noto Sans SC"/>
              </a:rPr>
              <a:t>单日亏损达到阈值即停止所有交易，保护本金</a:t>
            </a:r>
          </a:p>
        </p:txBody>
      </p:sp>
      <p:sp>
        <p:nvSpPr>
          <p:cNvPr name="AutoShape 21" id="21"/>
          <p:cNvSpPr/>
          <p:nvPr/>
        </p:nvSpPr>
        <p:spPr>
          <a:xfrm rot="0" flipH="false" flipV="false">
            <a:off x="6858000" y="4064000"/>
            <a:ext cx="4572000" cy="1016000"/>
          </a:xfrm>
          <a:prstGeom prst="roundRect">
            <a:avLst>
              <a:gd name="adj" fmla="val 12500"/>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112000" y="4368800"/>
            <a:ext cx="406400" cy="406400"/>
          </a:xfrm>
          <a:prstGeom prst="rect">
            <a:avLst/>
          </a:prstGeom>
        </p:spPr>
      </p:pic>
      <p:sp>
        <p:nvSpPr>
          <p:cNvPr name="AutoShape 23" id="23"/>
          <p:cNvSpPr/>
          <p:nvPr/>
        </p:nvSpPr>
        <p:spPr>
          <a:xfrm rot="0" flipH="false" flipV="false">
            <a:off x="7620000" y="4191000"/>
            <a:ext cx="355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辅助风控组合 (Auxiliary Limits)</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B4B4B4"/>
                </a:solidFill>
                <a:latin typeface="Noto Sans SC"/>
                <a:ea typeface="Noto Sans SC"/>
                <a:cs typeface="Noto Sans SC"/>
                <a:sym typeface="Noto Sans SC"/>
              </a:rPr>
              <a:t>包含最大回撤(10%)、单日交易次数限制及下单间隔</a:t>
            </a:r>
          </a:p>
        </p:txBody>
      </p:sp>
      <p:sp>
        <p:nvSpPr>
          <p:cNvPr name="AutoShape 24" id="24"/>
          <p:cNvSpPr/>
          <p:nvPr/>
        </p:nvSpPr>
        <p:spPr>
          <a:xfrm rot="0" flipH="false" flipV="false">
            <a:off x="762000" y="5969000"/>
            <a:ext cx="10668000" cy="508000"/>
          </a:xfrm>
          <a:prstGeom prst="roundRect">
            <a:avLst>
              <a:gd name="adj" fmla="val 50000"/>
            </a:avLst>
          </a:prstGeom>
          <a:solidFill>
            <a:srgbClr val="00BFFF">
              <a:alpha val="1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16000" y="6096000"/>
            <a:ext cx="254000" cy="254000"/>
          </a:xfrm>
          <a:prstGeom prst="rect">
            <a:avLst/>
          </a:prstGeom>
        </p:spPr>
      </p:pic>
      <p:sp>
        <p:nvSpPr>
          <p:cNvPr name="AutoShape 26" id="26"/>
          <p:cNvSpPr/>
          <p:nvPr/>
        </p:nvSpPr>
        <p:spPr>
          <a:xfrm rot="0" flipH="false" flipV="false">
            <a:off x="1397000" y="6070600"/>
            <a:ext cx="965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设计哲学：</a:t>
            </a:r>
            <a:r>
              <a:rPr lang="en-US" b="true" i="false" strike="noStrike" u="none" sz="1400">
                <a:solidFill>
                  <a:srgbClr val="00BFFF"/>
                </a:solidFill>
                <a:latin typeface="Noto Sans SC"/>
                <a:ea typeface="Noto Sans SC"/>
                <a:cs typeface="Noto Sans SC"/>
                <a:sym typeface="Noto Sans SC"/>
              </a:rPr>
              <a:t>"先建防线再建功能" —— 安全是自动化交易的基石</a:t>
            </a:r>
            <a:endParaRPr lang="en-US" sz="1100"/>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风险评分算法（0-100分）</a:t>
            </a:r>
            <a:endParaRPr lang="en-US" sz="1100"/>
          </a:p>
        </p:txBody>
      </p:sp>
      <p:sp>
        <p:nvSpPr>
          <p:cNvPr name="AutoShape 4" id="4"/>
          <p:cNvSpPr/>
          <p:nvPr/>
        </p:nvSpPr>
        <p:spPr>
          <a:xfrm rot="0" flipH="false" flipV="false">
            <a:off x="762000" y="2032000"/>
            <a:ext cx="5080000" cy="1079500"/>
          </a:xfrm>
          <a:prstGeom prst="roundRect">
            <a:avLst>
              <a:gd name="adj" fmla="val 11764"/>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22500"/>
            <a:ext cx="406400" cy="406400"/>
          </a:xfrm>
          <a:prstGeom prst="rect">
            <a:avLst/>
          </a:prstGeom>
        </p:spPr>
      </p:pic>
      <p:sp>
        <p:nvSpPr>
          <p:cNvPr name="AutoShape 6" id="6"/>
          <p:cNvSpPr/>
          <p:nvPr/>
        </p:nvSpPr>
        <p:spPr>
          <a:xfrm rot="0" flipH="false" flipV="false">
            <a:off x="1587500" y="2184400"/>
            <a:ext cx="381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回撤贡献 (策略失效检测)</a:t>
            </a:r>
            <a:r>
              <a:rPr lang="en-US" b="false" i="false" strike="noStrike" u="none" sz="1600">
                <a:solidFill>
                  <a:srgbClr val="00BFFF"/>
                </a:solidFill>
                <a:latin typeface="Noto Sans SC"/>
                <a:ea typeface="Noto Sans SC"/>
                <a:cs typeface="Noto Sans SC"/>
                <a:sym typeface="Noto Sans SC"/>
              </a:rPr>
              <a:t>40分</a:t>
            </a:r>
            <a:endParaRPr lang="en-US" sz="1100"/>
          </a:p>
        </p:txBody>
      </p:sp>
      <p:sp>
        <p:nvSpPr>
          <p:cNvPr name="AutoShape 7" id="7"/>
          <p:cNvSpPr/>
          <p:nvPr/>
        </p:nvSpPr>
        <p:spPr>
          <a:xfrm rot="0" flipH="false" flipV="false">
            <a:off x="1587500" y="2603500"/>
            <a:ext cx="3810000" cy="76200"/>
          </a:xfrm>
          <a:prstGeom prst="roundRect">
            <a:avLst>
              <a:gd name="adj" fmla="val 50000"/>
            </a:avLst>
          </a:prstGeom>
          <a:solidFill>
            <a:srgbClr val="FFFFFF">
              <a:alpha val="2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587500" y="2603500"/>
            <a:ext cx="1524000" cy="76200"/>
          </a:xfrm>
          <a:prstGeom prst="roundRect">
            <a:avLst>
              <a:gd name="adj" fmla="val 5000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762000" y="3238500"/>
            <a:ext cx="5080000" cy="1079500"/>
          </a:xfrm>
          <a:prstGeom prst="roundRect">
            <a:avLst>
              <a:gd name="adj" fmla="val 11764"/>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3429000"/>
            <a:ext cx="406400" cy="406400"/>
          </a:xfrm>
          <a:prstGeom prst="rect">
            <a:avLst/>
          </a:prstGeom>
        </p:spPr>
      </p:pic>
      <p:sp>
        <p:nvSpPr>
          <p:cNvPr name="AutoShape 11" id="11"/>
          <p:cNvSpPr/>
          <p:nvPr/>
        </p:nvSpPr>
        <p:spPr>
          <a:xfrm rot="0" flipH="false" flipV="false">
            <a:off x="1587500" y="3390900"/>
            <a:ext cx="381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日亏损贡献 (交易质量)</a:t>
            </a:r>
            <a:r>
              <a:rPr lang="en-US" b="false" i="false" strike="noStrike" u="none" sz="1600">
                <a:solidFill>
                  <a:srgbClr val="00BFFF"/>
                </a:solidFill>
                <a:latin typeface="Noto Sans SC"/>
                <a:ea typeface="Noto Sans SC"/>
                <a:cs typeface="Noto Sans SC"/>
                <a:sym typeface="Noto Sans SC"/>
              </a:rPr>
              <a:t>30分</a:t>
            </a:r>
            <a:endParaRPr lang="en-US" sz="1100"/>
          </a:p>
        </p:txBody>
      </p:sp>
      <p:sp>
        <p:nvSpPr>
          <p:cNvPr name="AutoShape 12" id="12"/>
          <p:cNvSpPr/>
          <p:nvPr/>
        </p:nvSpPr>
        <p:spPr>
          <a:xfrm rot="0" flipH="false" flipV="false">
            <a:off x="1587500" y="3810000"/>
            <a:ext cx="3810000" cy="76200"/>
          </a:xfrm>
          <a:prstGeom prst="roundRect">
            <a:avLst>
              <a:gd name="adj" fmla="val 50000"/>
            </a:avLst>
          </a:prstGeom>
          <a:solidFill>
            <a:srgbClr val="FFFFFF">
              <a:alpha val="2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1587500" y="3810000"/>
            <a:ext cx="1143000" cy="76200"/>
          </a:xfrm>
          <a:prstGeom prst="roundRect">
            <a:avLst>
              <a:gd name="adj" fmla="val 5000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762000" y="4445000"/>
            <a:ext cx="5080000" cy="1079500"/>
          </a:xfrm>
          <a:prstGeom prst="roundRect">
            <a:avLst>
              <a:gd name="adj" fmla="val 11764"/>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4635500"/>
            <a:ext cx="406400" cy="406400"/>
          </a:xfrm>
          <a:prstGeom prst="rect">
            <a:avLst/>
          </a:prstGeom>
        </p:spPr>
      </p:pic>
      <p:sp>
        <p:nvSpPr>
          <p:cNvPr name="AutoShape 16" id="16"/>
          <p:cNvSpPr/>
          <p:nvPr/>
        </p:nvSpPr>
        <p:spPr>
          <a:xfrm rot="0" flipH="false" flipV="false">
            <a:off x="1587500" y="4597400"/>
            <a:ext cx="381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交易频率 (策略稳定性)</a:t>
            </a:r>
            <a:r>
              <a:rPr lang="en-US" b="false" i="false" strike="noStrike" u="none" sz="1600">
                <a:solidFill>
                  <a:srgbClr val="00BFFF"/>
                </a:solidFill>
                <a:latin typeface="Noto Sans SC"/>
                <a:ea typeface="Noto Sans SC"/>
                <a:cs typeface="Noto Sans SC"/>
                <a:sym typeface="Noto Sans SC"/>
              </a:rPr>
              <a:t>20分</a:t>
            </a:r>
            <a:endParaRPr lang="en-US" sz="1100"/>
          </a:p>
        </p:txBody>
      </p:sp>
      <p:sp>
        <p:nvSpPr>
          <p:cNvPr name="AutoShape 17" id="17"/>
          <p:cNvSpPr/>
          <p:nvPr/>
        </p:nvSpPr>
        <p:spPr>
          <a:xfrm rot="0" flipH="false" flipV="false">
            <a:off x="1587500" y="5016500"/>
            <a:ext cx="3810000" cy="76200"/>
          </a:xfrm>
          <a:prstGeom prst="roundRect">
            <a:avLst>
              <a:gd name="adj" fmla="val 50000"/>
            </a:avLst>
          </a:prstGeom>
          <a:solidFill>
            <a:srgbClr val="FFFFFF">
              <a:alpha val="2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1587500" y="5016500"/>
            <a:ext cx="762000" cy="76200"/>
          </a:xfrm>
          <a:prstGeom prst="roundRect">
            <a:avLst>
              <a:gd name="adj" fmla="val 5000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762000" y="5651500"/>
            <a:ext cx="5080000" cy="1079500"/>
          </a:xfrm>
          <a:prstGeom prst="roundRect">
            <a:avLst>
              <a:gd name="adj" fmla="val 11764"/>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16000" y="5842000"/>
            <a:ext cx="406400" cy="406400"/>
          </a:xfrm>
          <a:prstGeom prst="rect">
            <a:avLst/>
          </a:prstGeom>
        </p:spPr>
      </p:pic>
      <p:sp>
        <p:nvSpPr>
          <p:cNvPr name="AutoShape 21" id="21"/>
          <p:cNvSpPr/>
          <p:nvPr/>
        </p:nvSpPr>
        <p:spPr>
          <a:xfrm rot="0" flipH="false" flipV="false">
            <a:off x="1587500" y="5803900"/>
            <a:ext cx="381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持仓占比 (集中度风险)</a:t>
            </a:r>
            <a:r>
              <a:rPr lang="en-US" b="false" i="false" strike="noStrike" u="none" sz="1600">
                <a:solidFill>
                  <a:srgbClr val="00BFFF"/>
                </a:solidFill>
                <a:latin typeface="Noto Sans SC"/>
                <a:ea typeface="Noto Sans SC"/>
                <a:cs typeface="Noto Sans SC"/>
                <a:sym typeface="Noto Sans SC"/>
              </a:rPr>
              <a:t>10分</a:t>
            </a:r>
            <a:endParaRPr lang="en-US" sz="1100"/>
          </a:p>
        </p:txBody>
      </p:sp>
      <p:sp>
        <p:nvSpPr>
          <p:cNvPr name="AutoShape 22" id="22"/>
          <p:cNvSpPr/>
          <p:nvPr/>
        </p:nvSpPr>
        <p:spPr>
          <a:xfrm rot="0" flipH="false" flipV="false">
            <a:off x="1587500" y="6223000"/>
            <a:ext cx="3810000" cy="76200"/>
          </a:xfrm>
          <a:prstGeom prst="roundRect">
            <a:avLst>
              <a:gd name="adj" fmla="val 50000"/>
            </a:avLst>
          </a:prstGeom>
          <a:solidFill>
            <a:srgbClr val="FFFFFF">
              <a:alpha val="2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1587500" y="6223000"/>
            <a:ext cx="381000" cy="76200"/>
          </a:xfrm>
          <a:prstGeom prst="roundRect">
            <a:avLst>
              <a:gd name="adj" fmla="val 5000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6096000" y="2032000"/>
            <a:ext cx="5334000" cy="4699000"/>
          </a:xfrm>
          <a:prstGeom prst="roundRect">
            <a:avLst>
              <a:gd name="adj" fmla="val 2702"/>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6350000" y="2286000"/>
            <a:ext cx="482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风险等级判定标尺</a:t>
            </a:r>
            <a:endParaRPr lang="en-US" sz="1100"/>
          </a:p>
        </p:txBody>
      </p:sp>
      <p:cxnSp>
        <p:nvCxnSpPr>
          <p:cNvPr name="Connector 26" id="26"/>
          <p:cNvCxnSpPr/>
          <p:nvPr/>
        </p:nvCxnSpPr>
        <p:spPr>
          <a:xfrm rot="-9046" flipH="false" flipV="false">
            <a:off x="6350008" y="3041650"/>
            <a:ext cx="4826000" cy="12700"/>
          </a:xfrm>
          <a:prstGeom prst="straightConnector1">
            <a:avLst/>
          </a:prstGeom>
          <a:solidFill>
            <a:srgbClr val="DEE0E3">
              <a:alpha val="100000"/>
            </a:srgbClr>
          </a:solidFill>
          <a:ln w="25400" cmpd="sng" cap="flat">
            <a:solidFill>
              <a:srgbClr val="FFFFFF">
                <a:alpha val="50000"/>
              </a:srgbClr>
            </a:solidFill>
            <a:prstDash val="solid"/>
            <a:round/>
            <a:headEnd type="none" w="lg" len="lg"/>
            <a:tailEnd type="none" w="lg" len="lg"/>
          </a:ln>
        </p:spPr>
      </p:cxnSp>
      <p:sp>
        <p:nvSpPr>
          <p:cNvPr name="AutoShape 27" id="27"/>
          <p:cNvSpPr/>
          <p:nvPr/>
        </p:nvSpPr>
        <p:spPr>
          <a:xfrm rot="0" flipH="false" flipV="false">
            <a:off x="6223000" y="3175000"/>
            <a:ext cx="508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0</a:t>
            </a:r>
            <a:endParaRPr lang="en-US" sz="1100"/>
          </a:p>
        </p:txBody>
      </p:sp>
      <p:sp>
        <p:nvSpPr>
          <p:cNvPr name="AutoShape 28" id="28"/>
          <p:cNvSpPr/>
          <p:nvPr/>
        </p:nvSpPr>
        <p:spPr>
          <a:xfrm rot="0" flipH="false" flipV="false">
            <a:off x="7620000" y="3175000"/>
            <a:ext cx="508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30</a:t>
            </a:r>
            <a:endParaRPr lang="en-US" sz="1100"/>
          </a:p>
        </p:txBody>
      </p:sp>
      <p:sp>
        <p:nvSpPr>
          <p:cNvPr name="AutoShape 29" id="29"/>
          <p:cNvSpPr/>
          <p:nvPr/>
        </p:nvSpPr>
        <p:spPr>
          <a:xfrm rot="0" flipH="false" flipV="false">
            <a:off x="9271000" y="3175000"/>
            <a:ext cx="508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70</a:t>
            </a:r>
            <a:endParaRPr lang="en-US" sz="1100"/>
          </a:p>
        </p:txBody>
      </p:sp>
      <p:sp>
        <p:nvSpPr>
          <p:cNvPr name="AutoShape 30" id="30"/>
          <p:cNvSpPr/>
          <p:nvPr/>
        </p:nvSpPr>
        <p:spPr>
          <a:xfrm rot="0" flipH="false" flipV="false">
            <a:off x="10795000" y="3175000"/>
            <a:ext cx="508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100</a:t>
            </a:r>
            <a:endParaRPr lang="en-US" sz="1100"/>
          </a:p>
        </p:txBody>
      </p:sp>
      <p:sp>
        <p:nvSpPr>
          <p:cNvPr name="AutoShape 31" id="31"/>
          <p:cNvSpPr/>
          <p:nvPr/>
        </p:nvSpPr>
        <p:spPr>
          <a:xfrm rot="0" flipH="false" flipV="false">
            <a:off x="6350000" y="3556000"/>
            <a:ext cx="1524000" cy="762000"/>
          </a:xfrm>
          <a:prstGeom prst="roundRect">
            <a:avLst>
              <a:gd name="adj" fmla="val 0"/>
            </a:avLst>
          </a:prstGeom>
          <a:solidFill>
            <a:srgbClr val="EF4444">
              <a:alpha val="20000"/>
            </a:srgbClr>
          </a:solidFill>
          <a:ln w="12700" cmpd="sng" cap="flat">
            <a:solidFill>
              <a:srgbClr val="EF4444">
                <a:alpha val="50000"/>
              </a:srgbClr>
            </a:solidFill>
            <a:prstDash val="solid"/>
            <a:round/>
          </a:ln>
        </p:spPr>
        <p:txBody>
          <a:bodyPr anchor="ctr" rtlCol="false" vert="horz" wrap="square" lIns="63500" rIns="63500" tIns="63500" bIns="63500"/>
          <a:lstStyle/>
          <a:p>
            <a:pPr algn="ctr">
              <a:defRPr/>
            </a:pPr>
            <a:endParaRPr/>
          </a:p>
        </p:txBody>
      </p:sp>
      <p:pic>
        <p:nvPicPr>
          <p:cNvPr name="Picture 32" id="32"/>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477000" y="3784600"/>
            <a:ext cx="304800" cy="304800"/>
          </a:xfrm>
          <a:prstGeom prst="rect">
            <a:avLst/>
          </a:prstGeom>
        </p:spPr>
      </p:pic>
      <p:sp>
        <p:nvSpPr>
          <p:cNvPr name="AutoShape 33" id="33"/>
          <p:cNvSpPr/>
          <p:nvPr/>
        </p:nvSpPr>
        <p:spPr>
          <a:xfrm rot="0" flipH="false" flipV="false">
            <a:off x="6858000" y="3784600"/>
            <a:ext cx="101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EF4444"/>
                </a:solidFill>
                <a:latin typeface="Noto Sans SC"/>
                <a:ea typeface="Noto Sans SC"/>
                <a:cs typeface="Noto Sans SC"/>
                <a:sym typeface="Noto Sans SC"/>
              </a:rPr>
              <a:t>危险区</a:t>
            </a:r>
            <a:endParaRPr lang="en-US" sz="1100"/>
          </a:p>
        </p:txBody>
      </p:sp>
      <p:sp>
        <p:nvSpPr>
          <p:cNvPr name="AutoShape 34" id="34"/>
          <p:cNvSpPr/>
          <p:nvPr/>
        </p:nvSpPr>
        <p:spPr>
          <a:xfrm rot="0" flipH="false" flipV="false">
            <a:off x="7874000" y="3556000"/>
            <a:ext cx="1651000" cy="762000"/>
          </a:xfrm>
          <a:prstGeom prst="roundRect">
            <a:avLst>
              <a:gd name="adj" fmla="val 0"/>
            </a:avLst>
          </a:prstGeom>
          <a:solidFill>
            <a:srgbClr val="F59E0B">
              <a:alpha val="20000"/>
            </a:srgbClr>
          </a:solidFill>
          <a:ln w="12700" cmpd="sng" cap="flat">
            <a:solidFill>
              <a:srgbClr val="F59E0B">
                <a:alpha val="50000"/>
              </a:srgbClr>
            </a:solidFill>
            <a:prstDash val="solid"/>
            <a:round/>
          </a:ln>
        </p:spPr>
        <p:txBody>
          <a:bodyPr anchor="ctr" rtlCol="false" vert="horz" wrap="square" lIns="63500" rIns="63500" tIns="63500" bIns="63500"/>
          <a:lstStyle/>
          <a:p>
            <a:pPr algn="ctr">
              <a:defRPr/>
            </a:pPr>
            <a:endParaRPr/>
          </a:p>
        </p:txBody>
      </p:sp>
      <p:pic>
        <p:nvPicPr>
          <p:cNvPr name="Picture 35" id="35"/>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8001000" y="3784600"/>
            <a:ext cx="304800" cy="304800"/>
          </a:xfrm>
          <a:prstGeom prst="rect">
            <a:avLst/>
          </a:prstGeom>
        </p:spPr>
      </p:pic>
      <p:sp>
        <p:nvSpPr>
          <p:cNvPr name="AutoShape 36" id="36"/>
          <p:cNvSpPr/>
          <p:nvPr/>
        </p:nvSpPr>
        <p:spPr>
          <a:xfrm rot="0" flipH="false" flipV="false">
            <a:off x="8382000" y="3784600"/>
            <a:ext cx="101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59E0B"/>
                </a:solidFill>
                <a:latin typeface="Noto Sans SC"/>
                <a:ea typeface="Noto Sans SC"/>
                <a:cs typeface="Noto Sans SC"/>
                <a:sym typeface="Noto Sans SC"/>
              </a:rPr>
              <a:t>警戒区</a:t>
            </a:r>
            <a:endParaRPr lang="en-US" sz="1100"/>
          </a:p>
        </p:txBody>
      </p:sp>
      <p:sp>
        <p:nvSpPr>
          <p:cNvPr name="AutoShape 37" id="37"/>
          <p:cNvSpPr/>
          <p:nvPr/>
        </p:nvSpPr>
        <p:spPr>
          <a:xfrm rot="0" flipH="false" flipV="false">
            <a:off x="9525000" y="3556000"/>
            <a:ext cx="1524000" cy="762000"/>
          </a:xfrm>
          <a:prstGeom prst="roundRect">
            <a:avLst>
              <a:gd name="adj" fmla="val 0"/>
            </a:avLst>
          </a:prstGeom>
          <a:solidFill>
            <a:srgbClr val="10B981">
              <a:alpha val="20000"/>
            </a:srgbClr>
          </a:solidFill>
          <a:ln w="12700" cmpd="sng" cap="flat">
            <a:solidFill>
              <a:srgbClr val="10B981">
                <a:alpha val="50000"/>
              </a:srgbClr>
            </a:solidFill>
            <a:prstDash val="solid"/>
            <a:round/>
          </a:ln>
        </p:spPr>
        <p:txBody>
          <a:bodyPr anchor="ctr" rtlCol="false" vert="horz" wrap="square" lIns="63500" rIns="63500" tIns="63500" bIns="63500"/>
          <a:lstStyle/>
          <a:p>
            <a:pPr algn="ctr">
              <a:defRPr/>
            </a:pPr>
            <a:endParaRPr/>
          </a:p>
        </p:txBody>
      </p:sp>
      <p:pic>
        <p:nvPicPr>
          <p:cNvPr name="Picture 38" id="38"/>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9652000" y="3784600"/>
            <a:ext cx="304800" cy="304800"/>
          </a:xfrm>
          <a:prstGeom prst="rect">
            <a:avLst/>
          </a:prstGeom>
        </p:spPr>
      </p:pic>
      <p:sp>
        <p:nvSpPr>
          <p:cNvPr name="AutoShape 39" id="39"/>
          <p:cNvSpPr/>
          <p:nvPr/>
        </p:nvSpPr>
        <p:spPr>
          <a:xfrm rot="0" flipH="false" flipV="false">
            <a:off x="10033000" y="3784600"/>
            <a:ext cx="101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0B981"/>
                </a:solidFill>
                <a:latin typeface="Noto Sans SC"/>
                <a:ea typeface="Noto Sans SC"/>
                <a:cs typeface="Noto Sans SC"/>
                <a:sym typeface="Noto Sans SC"/>
              </a:rPr>
              <a:t>安全区</a:t>
            </a:r>
            <a:endParaRPr lang="en-US" sz="1100"/>
          </a:p>
        </p:txBody>
      </p:sp>
      <p:sp>
        <p:nvSpPr>
          <p:cNvPr name="AutoShape 40" id="40"/>
          <p:cNvSpPr/>
          <p:nvPr/>
        </p:nvSpPr>
        <p:spPr>
          <a:xfrm rot="0" flipH="false" flipV="false">
            <a:off x="6350000" y="4572000"/>
            <a:ext cx="4826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评分逻辑：得分越低，风险越高。当综合得分低于30分时，系统判定为高风险状态，需立即触发风控机制。</a:t>
            </a:r>
            <a:endParaRPr lang="en-US" sz="1100"/>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0F172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风控迁移练习</a:t>
            </a:r>
            <a:endParaRPr lang="en-US" sz="1100"/>
          </a:p>
        </p:txBody>
      </p:sp>
      <p:sp>
        <p:nvSpPr>
          <p:cNvPr name="AutoShape 4" id="4"/>
          <p:cNvSpPr/>
          <p:nvPr/>
        </p:nvSpPr>
        <p:spPr>
          <a:xfrm rot="0" flipH="false" flipV="false">
            <a:off x="762000" y="2032000"/>
            <a:ext cx="10668000" cy="4064000"/>
          </a:xfrm>
          <a:prstGeom prst="roundRect">
            <a:avLst>
              <a:gd name="adj" fmla="val 312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43000" y="2413000"/>
            <a:ext cx="609600" cy="609600"/>
          </a:xfrm>
          <a:prstGeom prst="rect">
            <a:avLst/>
          </a:prstGeom>
        </p:spPr>
      </p:pic>
      <p:sp>
        <p:nvSpPr>
          <p:cNvPr name="AutoShape 6" id="6"/>
          <p:cNvSpPr/>
          <p:nvPr/>
        </p:nvSpPr>
        <p:spPr>
          <a:xfrm rot="0" flipH="false" flipV="false">
            <a:off x="1905000" y="2463800"/>
            <a:ext cx="889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场景：AI自动发邮件系统风控规则设计</a:t>
            </a:r>
            <a:endParaRPr lang="en-US" sz="1100"/>
          </a:p>
        </p:txBody>
      </p:sp>
      <p:cxnSp>
        <p:nvCxnSpPr>
          <p:cNvPr name="Connector 7" id="7"/>
          <p:cNvCxnSpPr/>
          <p:nvPr/>
        </p:nvCxnSpPr>
        <p:spPr>
          <a:xfrm rot="-4407" flipH="false" flipV="false">
            <a:off x="1143004" y="3105150"/>
            <a:ext cx="9906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143000" y="3365500"/>
            <a:ext cx="304800" cy="304800"/>
          </a:xfrm>
          <a:prstGeom prst="rect">
            <a:avLst/>
          </a:prstGeom>
        </p:spPr>
      </p:pic>
      <p:sp>
        <p:nvSpPr>
          <p:cNvPr name="AutoShape 9" id="9"/>
          <p:cNvSpPr/>
          <p:nvPr/>
        </p:nvSpPr>
        <p:spPr>
          <a:xfrm rot="0" flipH="false" flipV="false">
            <a:off x="1574800" y="3327400"/>
            <a:ext cx="965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E2E8F0"/>
                </a:solidFill>
                <a:latin typeface="Noto Sans SC"/>
                <a:ea typeface="Noto Sans SC"/>
                <a:cs typeface="Noto Sans SC"/>
                <a:sym typeface="Noto Sans SC"/>
              </a:rPr>
              <a:t>请思考30秒，结合“六重检查”的思路，至少为该系统设计3条风控规则。</a:t>
            </a:r>
            <a:endParaRPr lang="en-US" sz="1100"/>
          </a:p>
        </p:txBody>
      </p:sp>
      <p:sp>
        <p:nvSpPr>
          <p:cNvPr name="AutoShape 10" id="10"/>
          <p:cNvSpPr/>
          <p:nvPr/>
        </p:nvSpPr>
        <p:spPr>
          <a:xfrm rot="0" flipH="false" flipV="false">
            <a:off x="1143000" y="4191000"/>
            <a:ext cx="9906000" cy="1016000"/>
          </a:xfrm>
          <a:prstGeom prst="roundRect">
            <a:avLst>
              <a:gd name="adj" fmla="val 6250"/>
            </a:avLst>
          </a:prstGeom>
          <a:solidFill>
            <a:srgbClr val="00BFFF">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397000" y="4381500"/>
            <a:ext cx="304800" cy="304800"/>
          </a:xfrm>
          <a:prstGeom prst="rect">
            <a:avLst/>
          </a:prstGeom>
        </p:spPr>
      </p:pic>
      <p:sp>
        <p:nvSpPr>
          <p:cNvPr name="AutoShape 12" id="12"/>
          <p:cNvSpPr/>
          <p:nvPr/>
        </p:nvSpPr>
        <p:spPr>
          <a:xfrm rot="0" flipH="false" flipV="false">
            <a:off x="1828800" y="4343400"/>
            <a:ext cx="9144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ACC15"/>
                </a:solidFill>
                <a:latin typeface="Noto Sans SC"/>
                <a:ea typeface="Noto Sans SC"/>
                <a:cs typeface="Noto Sans SC"/>
                <a:sym typeface="Noto Sans SC"/>
              </a:rPr>
              <a:t>思考提示：</a:t>
            </a:r>
            <a:r>
              <a:rPr lang="en-US" b="false" i="false" strike="noStrike" u="none" sz="1400">
                <a:solidFill>
                  <a:srgbClr val="CBD5E1"/>
                </a:solidFill>
                <a:latin typeface="Noto Sans SC"/>
                <a:ea typeface="Noto Sans SC"/>
                <a:cs typeface="Noto Sans SC"/>
                <a:sym typeface="Noto Sans SC"/>
              </a:rPr>
              <a:t>可从发送频率限制、内容敏感词过滤、接收方投诉阈值、IP/账号信誉度、异常行为检测等维度切入。</a:t>
            </a:r>
            <a:endParaRPr lang="en-US" sz="1100"/>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762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风险管理五大通用原则</a:t>
            </a:r>
            <a:endParaRPr lang="en-US" sz="1100"/>
          </a:p>
        </p:txBody>
      </p:sp>
      <p:sp>
        <p:nvSpPr>
          <p:cNvPr name="AutoShape 4" id="4"/>
          <p:cNvSpPr/>
          <p:nvPr/>
        </p:nvSpPr>
        <p:spPr>
          <a:xfrm rot="0" flipH="false" flipV="false">
            <a:off x="762000" y="1778000"/>
            <a:ext cx="5207000" cy="1397000"/>
          </a:xfrm>
          <a:prstGeom prst="roundRect">
            <a:avLst>
              <a:gd name="adj" fmla="val 909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968500"/>
            <a:ext cx="406400" cy="406400"/>
          </a:xfrm>
          <a:prstGeom prst="rect">
            <a:avLst/>
          </a:prstGeom>
        </p:spPr>
      </p:pic>
      <p:sp>
        <p:nvSpPr>
          <p:cNvPr name="AutoShape 6" id="6"/>
          <p:cNvSpPr/>
          <p:nvPr/>
        </p:nvSpPr>
        <p:spPr>
          <a:xfrm rot="0" flipH="false" flipV="false">
            <a:off x="1524000" y="19304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01. 先建防线再建功能</a:t>
            </a:r>
            <a:endParaRPr lang="en-US" sz="1100"/>
          </a:p>
        </p:txBody>
      </p:sp>
      <p:sp>
        <p:nvSpPr>
          <p:cNvPr name="AutoShape 7" id="7"/>
          <p:cNvSpPr/>
          <p:nvPr/>
        </p:nvSpPr>
        <p:spPr>
          <a:xfrm rot="0" flipH="false" flipV="false">
            <a:off x="1524000" y="2311400"/>
            <a:ext cx="431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自动化之前先设计“停止条件”，确保系统安全底线。</a:t>
            </a:r>
            <a:endParaRPr lang="en-US" sz="1100"/>
          </a:p>
        </p:txBody>
      </p:sp>
      <p:sp>
        <p:nvSpPr>
          <p:cNvPr name="AutoShape 8" id="8"/>
          <p:cNvSpPr/>
          <p:nvPr/>
        </p:nvSpPr>
        <p:spPr>
          <a:xfrm rot="0" flipH="false" flipV="false">
            <a:off x="6223000" y="1778000"/>
            <a:ext cx="5207000" cy="1397000"/>
          </a:xfrm>
          <a:prstGeom prst="roundRect">
            <a:avLst>
              <a:gd name="adj" fmla="val 909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77000" y="1968500"/>
            <a:ext cx="406400" cy="406400"/>
          </a:xfrm>
          <a:prstGeom prst="rect">
            <a:avLst/>
          </a:prstGeom>
        </p:spPr>
      </p:pic>
      <p:sp>
        <p:nvSpPr>
          <p:cNvPr name="AutoShape 10" id="10"/>
          <p:cNvSpPr/>
          <p:nvPr/>
        </p:nvSpPr>
        <p:spPr>
          <a:xfrm rot="0" flipH="false" flipV="false">
            <a:off x="6985000" y="19304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02. 多重检查，层层设防</a:t>
            </a:r>
            <a:endParaRPr lang="en-US" sz="1100"/>
          </a:p>
        </p:txBody>
      </p:sp>
      <p:sp>
        <p:nvSpPr>
          <p:cNvPr name="AutoShape 11" id="11"/>
          <p:cNvSpPr/>
          <p:nvPr/>
        </p:nvSpPr>
        <p:spPr>
          <a:xfrm rot="0" flipH="false" flipV="false">
            <a:off x="6985000" y="2311400"/>
            <a:ext cx="431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不依赖单一检查点，建立冗余的安全验证机制。</a:t>
            </a:r>
            <a:endParaRPr lang="en-US" sz="1100"/>
          </a:p>
        </p:txBody>
      </p:sp>
      <p:sp>
        <p:nvSpPr>
          <p:cNvPr name="AutoShape 12" id="12"/>
          <p:cNvSpPr/>
          <p:nvPr/>
        </p:nvSpPr>
        <p:spPr>
          <a:xfrm rot="0" flipH="false" flipV="false">
            <a:off x="762000" y="3365500"/>
            <a:ext cx="5207000" cy="1397000"/>
          </a:xfrm>
          <a:prstGeom prst="roundRect">
            <a:avLst>
              <a:gd name="adj" fmla="val 909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3556000"/>
            <a:ext cx="406400" cy="406400"/>
          </a:xfrm>
          <a:prstGeom prst="rect">
            <a:avLst/>
          </a:prstGeom>
        </p:spPr>
      </p:pic>
      <p:sp>
        <p:nvSpPr>
          <p:cNvPr name="AutoShape 14" id="14"/>
          <p:cNvSpPr/>
          <p:nvPr/>
        </p:nvSpPr>
        <p:spPr>
          <a:xfrm rot="0" flipH="false" flipV="false">
            <a:off x="1524000" y="35179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03. 熔断不可逆（需手动恢复）</a:t>
            </a:r>
            <a:endParaRPr lang="en-US" sz="1100"/>
          </a:p>
        </p:txBody>
      </p:sp>
      <p:sp>
        <p:nvSpPr>
          <p:cNvPr name="AutoShape 15" id="15"/>
          <p:cNvSpPr/>
          <p:nvPr/>
        </p:nvSpPr>
        <p:spPr>
          <a:xfrm rot="0" flipH="false" flipV="false">
            <a:off x="1524000" y="3898900"/>
            <a:ext cx="431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防止系统在异常中反复尝试，避免造成更大损失。</a:t>
            </a:r>
            <a:endParaRPr lang="en-US" sz="1100"/>
          </a:p>
        </p:txBody>
      </p:sp>
      <p:sp>
        <p:nvSpPr>
          <p:cNvPr name="AutoShape 16" id="16"/>
          <p:cNvSpPr/>
          <p:nvPr/>
        </p:nvSpPr>
        <p:spPr>
          <a:xfrm rot="0" flipH="false" flipV="false">
            <a:off x="6223000" y="3365500"/>
            <a:ext cx="5207000" cy="1397000"/>
          </a:xfrm>
          <a:prstGeom prst="roundRect">
            <a:avLst>
              <a:gd name="adj" fmla="val 909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477000" y="3556000"/>
            <a:ext cx="406400" cy="406400"/>
          </a:xfrm>
          <a:prstGeom prst="rect">
            <a:avLst/>
          </a:prstGeom>
        </p:spPr>
      </p:pic>
      <p:sp>
        <p:nvSpPr>
          <p:cNvPr name="AutoShape 18" id="18"/>
          <p:cNvSpPr/>
          <p:nvPr/>
        </p:nvSpPr>
        <p:spPr>
          <a:xfrm rot="0" flipH="false" flipV="false">
            <a:off x="6985000" y="35179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04. 监控比策略更重要</a:t>
            </a:r>
            <a:endParaRPr lang="en-US" sz="1100"/>
          </a:p>
        </p:txBody>
      </p:sp>
      <p:sp>
        <p:nvSpPr>
          <p:cNvPr name="AutoShape 19" id="19"/>
          <p:cNvSpPr/>
          <p:nvPr/>
        </p:nvSpPr>
        <p:spPr>
          <a:xfrm rot="0" flipH="false" flipV="false">
            <a:off x="6985000" y="3898900"/>
            <a:ext cx="431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策略可以赔钱，但你必须实时知道系统在赔钱。</a:t>
            </a:r>
            <a:endParaRPr lang="en-US" sz="1100"/>
          </a:p>
        </p:txBody>
      </p:sp>
      <p:sp>
        <p:nvSpPr>
          <p:cNvPr name="AutoShape 20" id="20"/>
          <p:cNvSpPr/>
          <p:nvPr/>
        </p:nvSpPr>
        <p:spPr>
          <a:xfrm rot="0" flipH="false" flipV="false">
            <a:off x="762000" y="4953000"/>
            <a:ext cx="5207000" cy="1397000"/>
          </a:xfrm>
          <a:prstGeom prst="roundRect">
            <a:avLst>
              <a:gd name="adj" fmla="val 909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1016000" y="5143500"/>
            <a:ext cx="406400" cy="406400"/>
          </a:xfrm>
          <a:prstGeom prst="rect">
            <a:avLst/>
          </a:prstGeom>
        </p:spPr>
      </p:pic>
      <p:sp>
        <p:nvSpPr>
          <p:cNvPr name="AutoShape 22" id="22"/>
          <p:cNvSpPr/>
          <p:nvPr/>
        </p:nvSpPr>
        <p:spPr>
          <a:xfrm rot="0" flipH="false" flipV="false">
            <a:off x="1524000" y="51054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05. 量化风险用分数（0-100）</a:t>
            </a:r>
            <a:endParaRPr lang="en-US" sz="1100"/>
          </a:p>
        </p:txBody>
      </p:sp>
      <p:sp>
        <p:nvSpPr>
          <p:cNvPr name="AutoShape 23" id="23"/>
          <p:cNvSpPr/>
          <p:nvPr/>
        </p:nvSpPr>
        <p:spPr>
          <a:xfrm rot="0" flipH="false" flipV="false">
            <a:off x="1524000" y="5486400"/>
            <a:ext cx="431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将风险转化为具体数值，便于设置自动化阈值。</a:t>
            </a:r>
            <a:endParaRPr lang="en-US" sz="1100"/>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练习07：为RiskManager添加"连续亏损保护"</a:t>
            </a:r>
            <a:endParaRPr lang="en-US" sz="1100"/>
          </a:p>
        </p:txBody>
      </p:sp>
      <p:sp>
        <p:nvSpPr>
          <p:cNvPr name="AutoShape 4" id="4"/>
          <p:cNvSpPr/>
          <p:nvPr/>
        </p:nvSpPr>
        <p:spPr>
          <a:xfrm rot="0" flipH="false" flipV="false">
            <a:off x="762000" y="2032000"/>
            <a:ext cx="5207000" cy="2286000"/>
          </a:xfrm>
          <a:prstGeom prst="roundRect">
            <a:avLst>
              <a:gd name="adj" fmla="val 555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86000"/>
            <a:ext cx="304800" cy="304800"/>
          </a:xfrm>
          <a:prstGeom prst="rect">
            <a:avLst/>
          </a:prstGeom>
        </p:spPr>
      </p:pic>
      <p:sp>
        <p:nvSpPr>
          <p:cNvPr name="AutoShape 6" id="6"/>
          <p:cNvSpPr/>
          <p:nvPr/>
        </p:nvSpPr>
        <p:spPr>
          <a:xfrm rot="0" flipH="false" flipV="false">
            <a:off x="1397000" y="2260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规则与目标 (25分钟)</a:t>
            </a:r>
            <a:endParaRPr lang="en-US" sz="1100"/>
          </a:p>
        </p:txBody>
      </p:sp>
      <p:cxnSp>
        <p:nvCxnSpPr>
          <p:cNvPr name="Connector 7" id="7"/>
          <p:cNvCxnSpPr/>
          <p:nvPr/>
        </p:nvCxnSpPr>
        <p:spPr>
          <a:xfrm rot="-9291" flipH="false" flipV="false">
            <a:off x="1016009" y="2660650"/>
            <a:ext cx="4699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8" id="8"/>
          <p:cNvSpPr/>
          <p:nvPr/>
        </p:nvSpPr>
        <p:spPr>
          <a:xfrm rot="0" flipH="false" flipV="false">
            <a:off x="1016000" y="2794000"/>
            <a:ext cx="4699000" cy="1397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C8C8C8"/>
              </a:buClr>
              <a:buChar char="•"/>
              <a:defRPr/>
            </a:pPr>
            <a:r>
              <a:rPr lang="en-US" b="false" i="false" strike="noStrike" u="none" sz="1400">
                <a:solidFill>
                  <a:srgbClr val="C8C8C8"/>
                </a:solidFill>
                <a:latin typeface="Noto Sans SC"/>
                <a:ea typeface="Noto Sans SC"/>
                <a:cs typeface="Noto Sans SC"/>
                <a:sym typeface="Noto Sans SC"/>
              </a:rPr>
              <a:t>连续3笔亏损 → 仓位减半</a:t>
            </a:r>
            <a:r>
              <a:rPr lang="en-US" b="false" i="false" strike="noStrike" u="none" sz="1400">
                <a:solidFill>
                  <a:srgbClr val="C8C8C8"/>
                </a:solidFill>
                <a:latin typeface="Noto Sans SC"/>
                <a:ea typeface="Noto Sans SC"/>
                <a:cs typeface="Noto Sans SC"/>
                <a:sym typeface="Noto Sans SC"/>
              </a:rPr>
              <a:t/>
            </a:r>
            <a:endParaRPr lang="en-US" sz="1100"/>
          </a:p>
          <a:p>
            <a:pPr algn="l" indent="-177800" marL="177800">
              <a:lnSpc>
                <a:spcPct val="125000"/>
              </a:lnSpc>
              <a:buClr>
                <a:srgbClr val="C8C8C8"/>
              </a:buClr>
              <a:buChar char="•"/>
            </a:pPr>
            <a:r>
              <a:rPr lang="en-US" b="false" i="false" strike="noStrike" u="none" sz="1400">
                <a:solidFill>
                  <a:srgbClr val="C8C8C8"/>
                </a:solidFill>
                <a:latin typeface="Noto Sans SC"/>
                <a:ea typeface="Noto Sans SC"/>
                <a:cs typeface="Noto Sans SC"/>
                <a:sym typeface="Noto Sans SC"/>
              </a:rPr>
              <a:t>连续5笔亏损 → 触发熔断机制</a:t>
            </a:r>
            <a:r>
              <a:rPr lang="en-US" b="false" i="false" strike="noStrike" u="none" sz="1400">
                <a:solidFill>
                  <a:srgbClr val="C8C8C8"/>
                </a:solidFill>
                <a:latin typeface="Noto Sans SC"/>
                <a:ea typeface="Noto Sans SC"/>
                <a:cs typeface="Noto Sans SC"/>
                <a:sym typeface="Noto Sans SC"/>
              </a:rPr>
              <a:t/>
            </a:r>
          </a:p>
          <a:p>
            <a:pPr algn="l" indent="-177800" marL="177800">
              <a:lnSpc>
                <a:spcPct val="125000"/>
              </a:lnSpc>
              <a:buClr>
                <a:srgbClr val="C8C8C8"/>
              </a:buClr>
              <a:buChar char="•"/>
            </a:pPr>
            <a:r>
              <a:rPr lang="en-US" b="false" i="false" strike="noStrike" u="none" sz="1400">
                <a:solidFill>
                  <a:srgbClr val="C8C8C8"/>
                </a:solidFill>
                <a:latin typeface="Noto Sans SC"/>
                <a:ea typeface="Noto Sans SC"/>
                <a:cs typeface="Noto Sans SC"/>
                <a:sym typeface="Noto Sans SC"/>
              </a:rPr>
              <a:t>盈利交易 → 重置连续亏损计数</a:t>
            </a:r>
          </a:p>
        </p:txBody>
      </p:sp>
      <p:sp>
        <p:nvSpPr>
          <p:cNvPr name="AutoShape 9" id="9"/>
          <p:cNvSpPr/>
          <p:nvPr/>
        </p:nvSpPr>
        <p:spPr>
          <a:xfrm rot="0" flipH="false" flipV="false">
            <a:off x="6223000" y="2032000"/>
            <a:ext cx="5207000" cy="2286000"/>
          </a:xfrm>
          <a:prstGeom prst="roundRect">
            <a:avLst>
              <a:gd name="adj" fmla="val 555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77000" y="2286000"/>
            <a:ext cx="304800" cy="304800"/>
          </a:xfrm>
          <a:prstGeom prst="rect">
            <a:avLst/>
          </a:prstGeom>
        </p:spPr>
      </p:pic>
      <p:sp>
        <p:nvSpPr>
          <p:cNvPr name="AutoShape 11" id="11"/>
          <p:cNvSpPr/>
          <p:nvPr/>
        </p:nvSpPr>
        <p:spPr>
          <a:xfrm rot="0" flipH="false" flipV="false">
            <a:off x="6858000" y="2260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实现与集成</a:t>
            </a:r>
            <a:endParaRPr lang="en-US" sz="1100"/>
          </a:p>
        </p:txBody>
      </p:sp>
      <p:cxnSp>
        <p:nvCxnSpPr>
          <p:cNvPr name="Connector 12" id="12"/>
          <p:cNvCxnSpPr/>
          <p:nvPr/>
        </p:nvCxnSpPr>
        <p:spPr>
          <a:xfrm rot="-9291" flipH="false" flipV="false">
            <a:off x="6477009" y="2660650"/>
            <a:ext cx="4699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3" id="13"/>
          <p:cNvSpPr/>
          <p:nvPr/>
        </p:nvSpPr>
        <p:spPr>
          <a:xfrm rot="0" flipH="false" flipV="false">
            <a:off x="6477000" y="2794000"/>
            <a:ext cx="4699000" cy="1397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C8C8C8"/>
              </a:buClr>
              <a:buChar char="•"/>
              <a:defRPr/>
            </a:pPr>
            <a:r>
              <a:rPr lang="en-US" b="false" i="false" strike="noStrike" u="none" sz="1400">
                <a:solidFill>
                  <a:srgbClr val="C8C8C8"/>
                </a:solidFill>
                <a:latin typeface="Noto Sans SC"/>
                <a:ea typeface="Noto Sans SC"/>
                <a:cs typeface="Noto Sans SC"/>
                <a:sym typeface="Noto Sans SC"/>
              </a:rPr>
              <a:t>实现函数:</a:t>
            </a:r>
            <a:r>
              <a:rPr lang="en-US" b="false" i="false" strike="noStrike" u="none" sz="1400">
                <a:solidFill>
                  <a:srgbClr val="00BFFF"/>
                </a:solidFill>
                <a:latin typeface="Noto Sans SC"/>
                <a:ea typeface="Noto Sans SC"/>
                <a:cs typeface="Noto Sans SC"/>
                <a:sym typeface="Noto Sans SC"/>
              </a:rPr>
              <a:t>_check_consecutive_losses()</a:t>
            </a:r>
            <a:r>
              <a:rPr lang="en-US" b="false" i="false" strike="noStrike" u="none" sz="1400">
                <a:solidFill>
                  <a:srgbClr val="1F2329"/>
                </a:solidFill>
                <a:latin typeface="Noto Sans SC"/>
                <a:ea typeface="Noto Sans SC"/>
                <a:cs typeface="Noto Sans SC"/>
                <a:sym typeface="Noto Sans SC"/>
              </a:rPr>
              <a:t/>
            </a:r>
            <a:endParaRPr lang="en-US" sz="1100"/>
          </a:p>
          <a:p>
            <a:pPr algn="l" indent="-177800" marL="177800">
              <a:lnSpc>
                <a:spcPct val="125000"/>
              </a:lnSpc>
              <a:buClr>
                <a:srgbClr val="C8C8C8"/>
              </a:buClr>
              <a:buChar char="•"/>
            </a:pPr>
            <a:r>
              <a:rPr lang="en-US" b="false" i="false" strike="noStrike" u="none" sz="1400">
                <a:solidFill>
                  <a:srgbClr val="C8C8C8"/>
                </a:solidFill>
                <a:latin typeface="Noto Sans SC"/>
                <a:ea typeface="Noto Sans SC"/>
                <a:cs typeface="Noto Sans SC"/>
                <a:sym typeface="Noto Sans SC"/>
              </a:rPr>
              <a:t>集成到:</a:t>
            </a:r>
            <a:r>
              <a:rPr lang="en-US" b="false" i="false" strike="noStrike" u="none" sz="1400">
                <a:solidFill>
                  <a:srgbClr val="00BFFF"/>
                </a:solidFill>
                <a:latin typeface="Noto Sans SC"/>
                <a:ea typeface="Noto Sans SC"/>
                <a:cs typeface="Noto Sans SC"/>
                <a:sym typeface="Noto Sans SC"/>
              </a:rPr>
              <a:t>check_trade_allowed_v2()</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C8C8C8"/>
              </a:buClr>
              <a:buChar char="•"/>
            </a:pPr>
            <a:r>
              <a:rPr lang="en-US" b="false" i="false" strike="noStrike" u="none" sz="1400">
                <a:solidFill>
                  <a:srgbClr val="C8C8C8"/>
                </a:solidFill>
                <a:latin typeface="Noto Sans SC"/>
                <a:ea typeface="Noto Sans SC"/>
                <a:cs typeface="Noto Sans SC"/>
                <a:sym typeface="Noto Sans SC"/>
              </a:rPr>
              <a:t>文件:</a:t>
            </a:r>
            <a:r>
              <a:rPr lang="en-US" b="false" i="false" strike="noStrike" u="none" sz="1400">
                <a:solidFill>
                  <a:srgbClr val="00BFFF"/>
                </a:solidFill>
                <a:latin typeface="Noto Sans SC"/>
                <a:ea typeface="Noto Sans SC"/>
                <a:cs typeface="Noto Sans SC"/>
                <a:sym typeface="Noto Sans SC"/>
              </a:rPr>
              <a:t>exercise_07_consecutive_loss.py</a:t>
            </a:r>
          </a:p>
        </p:txBody>
      </p:sp>
      <p:sp>
        <p:nvSpPr>
          <p:cNvPr name="AutoShape 14" id="14"/>
          <p:cNvSpPr/>
          <p:nvPr/>
        </p:nvSpPr>
        <p:spPr>
          <a:xfrm rot="0" flipH="false" flipV="false">
            <a:off x="762000" y="4572000"/>
            <a:ext cx="5207000" cy="1778000"/>
          </a:xfrm>
          <a:prstGeom prst="roundRect">
            <a:avLst>
              <a:gd name="adj" fmla="val 7142"/>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4826000"/>
            <a:ext cx="304800" cy="304800"/>
          </a:xfrm>
          <a:prstGeom prst="rect">
            <a:avLst/>
          </a:prstGeom>
        </p:spPr>
      </p:pic>
      <p:sp>
        <p:nvSpPr>
          <p:cNvPr name="AutoShape 16" id="16"/>
          <p:cNvSpPr/>
          <p:nvPr/>
        </p:nvSpPr>
        <p:spPr>
          <a:xfrm rot="0" flipH="false" flipV="false">
            <a:off x="1397000" y="4800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测试用例覆盖</a:t>
            </a:r>
            <a:endParaRPr lang="en-US" sz="1100"/>
          </a:p>
        </p:txBody>
      </p:sp>
      <p:cxnSp>
        <p:nvCxnSpPr>
          <p:cNvPr name="Connector 17" id="17"/>
          <p:cNvCxnSpPr/>
          <p:nvPr/>
        </p:nvCxnSpPr>
        <p:spPr>
          <a:xfrm rot="-9291" flipH="false" flipV="false">
            <a:off x="1016009" y="5200650"/>
            <a:ext cx="4699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8" id="18"/>
          <p:cNvSpPr/>
          <p:nvPr/>
        </p:nvSpPr>
        <p:spPr>
          <a:xfrm rot="0" flipH="false" flipV="false">
            <a:off x="1016000" y="5334000"/>
            <a:ext cx="4699000" cy="1016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C8C8C8"/>
              </a:buClr>
              <a:buChar char="•"/>
              <a:defRPr/>
            </a:pPr>
            <a:r>
              <a:rPr lang="en-US" b="false" i="false" strike="noStrike" u="none" sz="1400">
                <a:solidFill>
                  <a:srgbClr val="C8C8C8"/>
                </a:solidFill>
                <a:latin typeface="Noto Sans SC"/>
                <a:ea typeface="Noto Sans SC"/>
                <a:cs typeface="Noto Sans SC"/>
                <a:sym typeface="Noto Sans SC"/>
              </a:rPr>
              <a:t>测试场景：0连亏 / 3连亏 / 5连亏 / 盈利重置</a:t>
            </a:r>
            <a:endParaRPr lang="en-US" sz="1100"/>
          </a:p>
        </p:txBody>
      </p:sp>
      <p:sp>
        <p:nvSpPr>
          <p:cNvPr name="AutoShape 19" id="19"/>
          <p:cNvSpPr/>
          <p:nvPr/>
        </p:nvSpPr>
        <p:spPr>
          <a:xfrm rot="0" flipH="false" flipV="false">
            <a:off x="6223000" y="4572000"/>
            <a:ext cx="5207000" cy="1778000"/>
          </a:xfrm>
          <a:prstGeom prst="roundRect">
            <a:avLst>
              <a:gd name="adj" fmla="val 7142"/>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477000" y="4826000"/>
            <a:ext cx="304800" cy="304800"/>
          </a:xfrm>
          <a:prstGeom prst="rect">
            <a:avLst/>
          </a:prstGeom>
        </p:spPr>
      </p:pic>
      <p:sp>
        <p:nvSpPr>
          <p:cNvPr name="AutoShape 21" id="21"/>
          <p:cNvSpPr/>
          <p:nvPr/>
        </p:nvSpPr>
        <p:spPr>
          <a:xfrm rot="0" flipH="false" flipV="false">
            <a:off x="6858000" y="4800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参考资料</a:t>
            </a:r>
            <a:endParaRPr lang="en-US" sz="1100"/>
          </a:p>
        </p:txBody>
      </p:sp>
      <p:cxnSp>
        <p:nvCxnSpPr>
          <p:cNvPr name="Connector 22" id="22"/>
          <p:cNvCxnSpPr/>
          <p:nvPr/>
        </p:nvCxnSpPr>
        <p:spPr>
          <a:xfrm rot="-9291" flipH="false" flipV="false">
            <a:off x="6477009" y="5200650"/>
            <a:ext cx="4699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23" id="23"/>
          <p:cNvSpPr/>
          <p:nvPr/>
        </p:nvSpPr>
        <p:spPr>
          <a:xfrm rot="0" flipH="false" flipV="false">
            <a:off x="6477000" y="5334000"/>
            <a:ext cx="4699000" cy="1016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C8C8C8"/>
              </a:buClr>
              <a:buChar char="•"/>
              <a:defRPr/>
            </a:pPr>
            <a:r>
              <a:rPr lang="en-US" b="false" i="false" strike="noStrike" u="none" sz="1400">
                <a:solidFill>
                  <a:srgbClr val="C8C8C8"/>
                </a:solidFill>
                <a:latin typeface="Noto Sans SC"/>
                <a:ea typeface="Noto Sans SC"/>
                <a:cs typeface="Noto Sans SC"/>
                <a:sym typeface="Noto Sans SC"/>
              </a:rPr>
              <a:t>参考讲义：模块5.5 RiskManager完整代码示例</a:t>
            </a:r>
            <a:endParaRPr lang="en-US" sz="1100"/>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0A1929">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9">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第5课核心总结</a:t>
            </a:r>
            <a:endParaRPr lang="en-US" sz="1100"/>
          </a:p>
        </p:txBody>
      </p:sp>
      <p:sp>
        <p:nvSpPr>
          <p:cNvPr name="AutoShape 4" id="4"/>
          <p:cNvSpPr/>
          <p:nvPr/>
        </p:nvSpPr>
        <p:spPr>
          <a:xfrm rot="0" flipH="false" flipV="false">
            <a:off x="762000" y="1651000"/>
            <a:ext cx="5207000" cy="1397000"/>
          </a:xfrm>
          <a:prstGeom prst="roundRect">
            <a:avLst>
              <a:gd name="adj" fmla="val 909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841500"/>
            <a:ext cx="406400" cy="406400"/>
          </a:xfrm>
          <a:prstGeom prst="rect">
            <a:avLst/>
          </a:prstGeom>
        </p:spPr>
      </p:pic>
      <p:sp>
        <p:nvSpPr>
          <p:cNvPr name="AutoShape 6" id="6"/>
          <p:cNvSpPr/>
          <p:nvPr/>
        </p:nvSpPr>
        <p:spPr>
          <a:xfrm rot="0" flipH="false" flipV="false">
            <a:off x="1524000" y="18415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四层架构体系</a:t>
            </a:r>
            <a:endParaRPr lang="en-US" sz="1100"/>
          </a:p>
        </p:txBody>
      </p:sp>
      <p:sp>
        <p:nvSpPr>
          <p:cNvPr name="AutoShape 7" id="7"/>
          <p:cNvSpPr/>
          <p:nvPr/>
        </p:nvSpPr>
        <p:spPr>
          <a:xfrm rot="0" flipH="false" flipV="false">
            <a:off x="1524000" y="2222500"/>
            <a:ext cx="419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数据→策略→执行→监控，每层独立可替换，确保系统灵活性。</a:t>
            </a:r>
            <a:endParaRPr lang="en-US" sz="1100"/>
          </a:p>
        </p:txBody>
      </p:sp>
      <p:sp>
        <p:nvSpPr>
          <p:cNvPr name="AutoShape 8" id="8"/>
          <p:cNvSpPr/>
          <p:nvPr/>
        </p:nvSpPr>
        <p:spPr>
          <a:xfrm rot="0" flipH="false" flipV="false">
            <a:off x="6223000" y="1651000"/>
            <a:ext cx="5207000" cy="1397000"/>
          </a:xfrm>
          <a:prstGeom prst="roundRect">
            <a:avLst>
              <a:gd name="adj" fmla="val 909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77000" y="1841500"/>
            <a:ext cx="406400" cy="406400"/>
          </a:xfrm>
          <a:prstGeom prst="rect">
            <a:avLst/>
          </a:prstGeom>
        </p:spPr>
      </p:pic>
      <p:sp>
        <p:nvSpPr>
          <p:cNvPr name="AutoShape 10" id="10"/>
          <p:cNvSpPr/>
          <p:nvPr/>
        </p:nvSpPr>
        <p:spPr>
          <a:xfrm rot="0" flipH="false" flipV="false">
            <a:off x="6985000" y="18415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特征工程处理</a:t>
            </a:r>
            <a:endParaRPr lang="en-US" sz="1100"/>
          </a:p>
        </p:txBody>
      </p:sp>
      <p:sp>
        <p:nvSpPr>
          <p:cNvPr name="AutoShape 11" id="11"/>
          <p:cNvSpPr/>
          <p:nvPr/>
        </p:nvSpPr>
        <p:spPr>
          <a:xfrm rot="0" flipH="false" flipV="false">
            <a:off x="6985000" y="2222500"/>
            <a:ext cx="419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从OHLCV中提取12个技术指标，为机器学习模型提供高质量输入。</a:t>
            </a:r>
            <a:endParaRPr lang="en-US" sz="1100"/>
          </a:p>
        </p:txBody>
      </p:sp>
      <p:sp>
        <p:nvSpPr>
          <p:cNvPr name="AutoShape 12" id="12"/>
          <p:cNvSpPr/>
          <p:nvPr/>
        </p:nvSpPr>
        <p:spPr>
          <a:xfrm rot="0" flipH="false" flipV="false">
            <a:off x="762000" y="3238500"/>
            <a:ext cx="5207000" cy="1397000"/>
          </a:xfrm>
          <a:prstGeom prst="roundRect">
            <a:avLst>
              <a:gd name="adj" fmla="val 909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3429000"/>
            <a:ext cx="406400" cy="406400"/>
          </a:xfrm>
          <a:prstGeom prst="rect">
            <a:avLst/>
          </a:prstGeom>
        </p:spPr>
      </p:pic>
      <p:sp>
        <p:nvSpPr>
          <p:cNvPr name="AutoShape 14" id="14"/>
          <p:cNvSpPr/>
          <p:nvPr/>
        </p:nvSpPr>
        <p:spPr>
          <a:xfrm rot="0" flipH="false" flipV="false">
            <a:off x="1524000" y="34290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机器学习策略</a:t>
            </a:r>
            <a:endParaRPr lang="en-US" sz="1100"/>
          </a:p>
        </p:txBody>
      </p:sp>
      <p:sp>
        <p:nvSpPr>
          <p:cNvPr name="AutoShape 15" id="15"/>
          <p:cNvSpPr/>
          <p:nvPr/>
        </p:nvSpPr>
        <p:spPr>
          <a:xfrm rot="0" flipH="false" flipV="false">
            <a:off x="1524000" y="3810000"/>
            <a:ext cx="419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采用随机森林投票机制，设定置信度≥0.6才执行交易，提高胜率。</a:t>
            </a:r>
            <a:endParaRPr lang="en-US" sz="1100"/>
          </a:p>
        </p:txBody>
      </p:sp>
      <p:sp>
        <p:nvSpPr>
          <p:cNvPr name="AutoShape 16" id="16"/>
          <p:cNvSpPr/>
          <p:nvPr/>
        </p:nvSpPr>
        <p:spPr>
          <a:xfrm rot="0" flipH="false" flipV="false">
            <a:off x="6223000" y="3238500"/>
            <a:ext cx="5207000" cy="1397000"/>
          </a:xfrm>
          <a:prstGeom prst="roundRect">
            <a:avLst>
              <a:gd name="adj" fmla="val 9090"/>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477000" y="3429000"/>
            <a:ext cx="406400" cy="406400"/>
          </a:xfrm>
          <a:prstGeom prst="rect">
            <a:avLst/>
          </a:prstGeom>
        </p:spPr>
      </p:pic>
      <p:sp>
        <p:nvSpPr>
          <p:cNvPr name="AutoShape 18" id="18"/>
          <p:cNvSpPr/>
          <p:nvPr/>
        </p:nvSpPr>
        <p:spPr>
          <a:xfrm rot="0" flipH="false" flipV="false">
            <a:off x="6985000" y="34290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网格交易策略</a:t>
            </a:r>
            <a:endParaRPr lang="en-US" sz="1100"/>
          </a:p>
        </p:txBody>
      </p:sp>
      <p:sp>
        <p:nvSpPr>
          <p:cNvPr name="AutoShape 19" id="19"/>
          <p:cNvSpPr/>
          <p:nvPr/>
        </p:nvSpPr>
        <p:spPr>
          <a:xfrm rot="0" flipH="false" flipV="false">
            <a:off x="6985000" y="3810000"/>
            <a:ext cx="419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不预测方向，利用市场波动，通过等比网格赚取差价收益。</a:t>
            </a:r>
            <a:endParaRPr lang="en-US" sz="1100"/>
          </a:p>
        </p:txBody>
      </p:sp>
      <p:sp>
        <p:nvSpPr>
          <p:cNvPr name="AutoShape 20" id="20"/>
          <p:cNvSpPr/>
          <p:nvPr/>
        </p:nvSpPr>
        <p:spPr>
          <a:xfrm rot="0" flipH="false" flipV="false">
            <a:off x="762000" y="4826000"/>
            <a:ext cx="10668000" cy="1143000"/>
          </a:xfrm>
          <a:prstGeom prst="roundRect">
            <a:avLst>
              <a:gd name="adj" fmla="val 11111"/>
            </a:avLst>
          </a:prstGeom>
          <a:solidFill>
            <a:srgbClr val="00BFFF">
              <a:alpha val="15000"/>
            </a:srgbClr>
          </a:solidFill>
          <a:ln w="12700" cmpd="sng" cap="flat">
            <a:solidFill>
              <a:srgbClr val="00BFFF">
                <a:alpha val="100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1016000" y="5016500"/>
            <a:ext cx="406400" cy="406400"/>
          </a:xfrm>
          <a:prstGeom prst="rect">
            <a:avLst/>
          </a:prstGeom>
        </p:spPr>
      </p:pic>
      <p:sp>
        <p:nvSpPr>
          <p:cNvPr name="AutoShape 22" id="22"/>
          <p:cNvSpPr/>
          <p:nvPr/>
        </p:nvSpPr>
        <p:spPr>
          <a:xfrm rot="0" flipH="false" flipV="false">
            <a:off x="1524000" y="5016500"/>
            <a:ext cx="952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00"/>
                </a:solidFill>
                <a:latin typeface="Noto Sans SC"/>
                <a:ea typeface="Noto Sans SC"/>
                <a:cs typeface="Noto Sans SC"/>
                <a:sym typeface="Noto Sans SC"/>
              </a:rPr>
              <a:t>核心风险管理机制</a:t>
            </a:r>
            <a:endParaRPr lang="en-US" sz="1100"/>
          </a:p>
        </p:txBody>
      </p:sp>
      <p:sp>
        <p:nvSpPr>
          <p:cNvPr name="AutoShape 23" id="23"/>
          <p:cNvSpPr/>
          <p:nvPr/>
        </p:nvSpPr>
        <p:spPr>
          <a:xfrm rot="0" flipH="false" flipV="false">
            <a:off x="1524000" y="5397500"/>
            <a:ext cx="9525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90196"/>
                  </a:srgbClr>
                </a:solidFill>
                <a:latin typeface="Noto Sans SC"/>
                <a:ea typeface="Noto Sans SC"/>
                <a:cs typeface="Noto Sans SC"/>
                <a:sym typeface="Noto Sans SC"/>
              </a:rPr>
              <a:t>包含六重安全检查、熔断机制及0-100分风险评分体系，是系统的生命线。</a:t>
            </a:r>
            <a:endParaRPr lang="en-US" sz="1100"/>
          </a:p>
        </p:txBody>
      </p:sp>
      <p:pic>
        <p:nvPicPr>
          <p:cNvPr name="Picture 24" id="24"/>
          <p:cNvPicPr>
            <a:picLocks noChangeAspect="true"/>
          </p:cNvPicPr>
          <p:nvPr/>
        </p:nvPicPr>
        <p:blipFill>
          <a:blip r:embed="rId13"/>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