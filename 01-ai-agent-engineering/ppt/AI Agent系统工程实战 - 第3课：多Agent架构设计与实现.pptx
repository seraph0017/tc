
<file path=[Content_Types].xml><?xml version="1.0" encoding="utf-8"?>
<Types xmlns="http://schemas.openxmlformats.org/package/2006/content-types">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0.xml"/>
  <Override ContentType="application/vnd.openxmlformats-officedocument.presentationml.notesSlide+xml" PartName="/ppt/notesSlides/notesSlide21.xml"/>
  <Override ContentType="application/vnd.openxmlformats-officedocument.presentationml.notesSlide+xml" PartName="/ppt/notesSlides/notesSlide22.xml"/>
  <Override ContentType="application/vnd.openxmlformats-officedocument.presentationml.notesSlide+xml" PartName="/ppt/notesSlides/notesSlide23.xml"/>
  <Override ContentType="application/vnd.openxmlformats-officedocument.presentationml.notesSlide+xml" PartName="/ppt/notesSlides/notesSlide24.xml"/>
  <Override ContentType="application/vnd.openxmlformats-officedocument.presentationml.notesSlide+xml" PartName="/ppt/notesSlides/notesSlide25.xml"/>
  <Override ContentType="application/vnd.openxmlformats-officedocument.presentationml.notesSlide+xml" PartName="/ppt/notesSlides/notesSlide26.xml"/>
  <Override ContentType="application/vnd.openxmlformats-officedocument.presentationml.notesSlide+xml" PartName="/ppt/notesSlides/notesSlide27.xml"/>
  <Override ContentType="application/vnd.openxmlformats-officedocument.presentationml.notesSlide+xml" PartName="/ppt/notesSlides/notesSlide28.xml"/>
  <Override ContentType="application/vnd.openxmlformats-officedocument.presentationml.notesSlide+xml" PartName="/ppt/notesSlides/notesSlide29.xml"/>
  <Override ContentType="application/vnd.openxmlformats-officedocument.presentationml.notesSlide+xml" PartName="/ppt/notesSlides/notesSlide30.xml"/>
  <Override ContentType="application/vnd.openxmlformats-officedocument.presentationml.notesSlide+xml" PartName="/ppt/notesSlides/notesSlide31.xml"/>
  <Override ContentType="application/vnd.openxmlformats-officedocument.presentationml.notesSlide+xml" PartName="/ppt/notesSlides/notesSlide32.xml"/>
  <Override ContentType="application/vnd.openxmlformats-officedocument.presentationml.notesSlide+xml" PartName="/ppt/notesSlides/notesSlide33.xml"/>
  <Override ContentType="application/vnd.openxmlformats-officedocument.presentationml.notesSlide+xml" PartName="/ppt/notesSlides/notesSlide34.xml"/>
  <Override ContentType="application/vnd.openxmlformats-officedocument.presentationml.notesSlide+xml" PartName="/ppt/notesSlides/notesSlide35.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Master+xml" PartName="/ppt/slideMasters/slideMaster1.xml"/>
  <Override ContentType="application/vnd.openxmlformats-officedocument.presentationml.slideMaster+xml" PartName="/ppt/slideMasters/slideMaster2.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core.xml" Type="http://schemas.openxmlformats.org/package/2006/relationships/metadata/core-properties"/></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 id="2147483660" r:id="rId8"/>
  </p:sldMasterIdLst>
  <p:notesMasterIdLst>
    <p:notesMasterId r:id="rId6"/>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Lst>
  <p:sldSz cx="12192000" cy="6858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Relationships xmlns="http://schemas.openxmlformats.org/package/2006/relationships"><Relationship Id="rId1" Target="theme/theme1.xml" Type="http://schemas.openxmlformats.org/officeDocument/2006/relationships/theme"/><Relationship Id="rId10" Target="slides/slide2.xml" Type="http://schemas.openxmlformats.org/officeDocument/2006/relationships/slide"/><Relationship Id="rId11" Target="slides/slide3.xml" Type="http://schemas.openxmlformats.org/officeDocument/2006/relationships/slide"/><Relationship Id="rId12" Target="slides/slide4.xml" Type="http://schemas.openxmlformats.org/officeDocument/2006/relationships/slide"/><Relationship Id="rId13" Target="slides/slide5.xml" Type="http://schemas.openxmlformats.org/officeDocument/2006/relationships/slide"/><Relationship Id="rId14" Target="slides/slide6.xml" Type="http://schemas.openxmlformats.org/officeDocument/2006/relationships/slide"/><Relationship Id="rId15" Target="slides/slide7.xml" Type="http://schemas.openxmlformats.org/officeDocument/2006/relationships/slide"/><Relationship Id="rId16" Target="slides/slide8.xml" Type="http://schemas.openxmlformats.org/officeDocument/2006/relationships/slide"/><Relationship Id="rId17" Target="slides/slide9.xml" Type="http://schemas.openxmlformats.org/officeDocument/2006/relationships/slide"/><Relationship Id="rId18" Target="slides/slide10.xml" Type="http://schemas.openxmlformats.org/officeDocument/2006/relationships/slide"/><Relationship Id="rId19" Target="slides/slide11.xml" Type="http://schemas.openxmlformats.org/officeDocument/2006/relationships/slide"/><Relationship Id="rId2" Target="viewProps.xml" Type="http://schemas.openxmlformats.org/officeDocument/2006/relationships/viewProps"/><Relationship Id="rId20" Target="slides/slide12.xml" Type="http://schemas.openxmlformats.org/officeDocument/2006/relationships/slide"/><Relationship Id="rId21" Target="slides/slide13.xml" Type="http://schemas.openxmlformats.org/officeDocument/2006/relationships/slide"/><Relationship Id="rId22" Target="slides/slide14.xml" Type="http://schemas.openxmlformats.org/officeDocument/2006/relationships/slide"/><Relationship Id="rId23" Target="slides/slide15.xml" Type="http://schemas.openxmlformats.org/officeDocument/2006/relationships/slide"/><Relationship Id="rId24" Target="slides/slide16.xml" Type="http://schemas.openxmlformats.org/officeDocument/2006/relationships/slide"/><Relationship Id="rId25" Target="slides/slide17.xml" Type="http://schemas.openxmlformats.org/officeDocument/2006/relationships/slide"/><Relationship Id="rId26" Target="slides/slide18.xml" Type="http://schemas.openxmlformats.org/officeDocument/2006/relationships/slide"/><Relationship Id="rId27" Target="slides/slide19.xml" Type="http://schemas.openxmlformats.org/officeDocument/2006/relationships/slide"/><Relationship Id="rId28" Target="slides/slide20.xml" Type="http://schemas.openxmlformats.org/officeDocument/2006/relationships/slide"/><Relationship Id="rId29" Target="slides/slide21.xml" Type="http://schemas.openxmlformats.org/officeDocument/2006/relationships/slide"/><Relationship Id="rId3" Target="presProps.xml" Type="http://schemas.openxmlformats.org/officeDocument/2006/relationships/presProps"/><Relationship Id="rId30" Target="slides/slide22.xml" Type="http://schemas.openxmlformats.org/officeDocument/2006/relationships/slide"/><Relationship Id="rId31" Target="slides/slide23.xml" Type="http://schemas.openxmlformats.org/officeDocument/2006/relationships/slide"/><Relationship Id="rId32" Target="slides/slide24.xml" Type="http://schemas.openxmlformats.org/officeDocument/2006/relationships/slide"/><Relationship Id="rId33" Target="slides/slide25.xml" Type="http://schemas.openxmlformats.org/officeDocument/2006/relationships/slide"/><Relationship Id="rId34" Target="slides/slide26.xml" Type="http://schemas.openxmlformats.org/officeDocument/2006/relationships/slide"/><Relationship Id="rId35" Target="slides/slide27.xml" Type="http://schemas.openxmlformats.org/officeDocument/2006/relationships/slide"/><Relationship Id="rId36" Target="slides/slide28.xml" Type="http://schemas.openxmlformats.org/officeDocument/2006/relationships/slide"/><Relationship Id="rId37" Target="slides/slide29.xml" Type="http://schemas.openxmlformats.org/officeDocument/2006/relationships/slide"/><Relationship Id="rId38" Target="slides/slide30.xml" Type="http://schemas.openxmlformats.org/officeDocument/2006/relationships/slide"/><Relationship Id="rId39" Target="slides/slide31.xml" Type="http://schemas.openxmlformats.org/officeDocument/2006/relationships/slide"/><Relationship Id="rId4" Target="slideMasters/slideMaster1.xml" Type="http://schemas.openxmlformats.org/officeDocument/2006/relationships/slideMaster"/><Relationship Id="rId40" Target="slides/slide32.xml" Type="http://schemas.openxmlformats.org/officeDocument/2006/relationships/slide"/><Relationship Id="rId41" Target="slides/slide33.xml" Type="http://schemas.openxmlformats.org/officeDocument/2006/relationships/slide"/><Relationship Id="rId42" Target="slides/slide34.xml" Type="http://schemas.openxmlformats.org/officeDocument/2006/relationships/slide"/><Relationship Id="rId43" Target="slides/slide35.xml" Type="http://schemas.openxmlformats.org/officeDocument/2006/relationships/slide"/><Relationship Id="rId44" Target="notesSlides/notesSlide1.xml" Type="http://schemas.openxmlformats.org/officeDocument/2006/relationships/notesSlide"/><Relationship Id="rId45" Target="notesSlides/notesSlide2.xml" Type="http://schemas.openxmlformats.org/officeDocument/2006/relationships/notesSlide"/><Relationship Id="rId46" Target="notesSlides/notesSlide3.xml" Type="http://schemas.openxmlformats.org/officeDocument/2006/relationships/notesSlide"/><Relationship Id="rId47" Target="notesSlides/notesSlide4.xml" Type="http://schemas.openxmlformats.org/officeDocument/2006/relationships/notesSlide"/><Relationship Id="rId48" Target="notesSlides/notesSlide5.xml" Type="http://schemas.openxmlformats.org/officeDocument/2006/relationships/notesSlide"/><Relationship Id="rId49" Target="notesSlides/notesSlide6.xml" Type="http://schemas.openxmlformats.org/officeDocument/2006/relationships/notesSlide"/><Relationship Id="rId50" Target="notesSlides/notesSlide7.xml" Type="http://schemas.openxmlformats.org/officeDocument/2006/relationships/notesSlide"/><Relationship Id="rId51" Target="notesSlides/notesSlide8.xml" Type="http://schemas.openxmlformats.org/officeDocument/2006/relationships/notesSlide"/><Relationship Id="rId52" Target="notesSlides/notesSlide9.xml" Type="http://schemas.openxmlformats.org/officeDocument/2006/relationships/notesSlide"/><Relationship Id="rId53" Target="notesSlides/notesSlide10.xml" Type="http://schemas.openxmlformats.org/officeDocument/2006/relationships/notesSlide"/><Relationship Id="rId54" Target="notesSlides/notesSlide11.xml" Type="http://schemas.openxmlformats.org/officeDocument/2006/relationships/notesSlide"/><Relationship Id="rId55" Target="notesSlides/notesSlide12.xml" Type="http://schemas.openxmlformats.org/officeDocument/2006/relationships/notesSlide"/><Relationship Id="rId56" Target="notesSlides/notesSlide13.xml" Type="http://schemas.openxmlformats.org/officeDocument/2006/relationships/notesSlide"/><Relationship Id="rId57" Target="notesSlides/notesSlide14.xml" Type="http://schemas.openxmlformats.org/officeDocument/2006/relationships/notesSlide"/><Relationship Id="rId58" Target="notesSlides/notesSlide15.xml" Type="http://schemas.openxmlformats.org/officeDocument/2006/relationships/notesSlide"/><Relationship Id="rId59" Target="notesSlides/notesSlide16.xml" Type="http://schemas.openxmlformats.org/officeDocument/2006/relationships/notesSlide"/><Relationship Id="rId6" Target="notesMasters/notesMaster1.xml" Type="http://schemas.openxmlformats.org/officeDocument/2006/relationships/notesMaster"/><Relationship Id="rId60" Target="notesSlides/notesSlide17.xml" Type="http://schemas.openxmlformats.org/officeDocument/2006/relationships/notesSlide"/><Relationship Id="rId61" Target="notesSlides/notesSlide18.xml" Type="http://schemas.openxmlformats.org/officeDocument/2006/relationships/notesSlide"/><Relationship Id="rId62" Target="notesSlides/notesSlide19.xml" Type="http://schemas.openxmlformats.org/officeDocument/2006/relationships/notesSlide"/><Relationship Id="rId63" Target="notesSlides/notesSlide20.xml" Type="http://schemas.openxmlformats.org/officeDocument/2006/relationships/notesSlide"/><Relationship Id="rId64" Target="notesSlides/notesSlide21.xml" Type="http://schemas.openxmlformats.org/officeDocument/2006/relationships/notesSlide"/><Relationship Id="rId65" Target="notesSlides/notesSlide22.xml" Type="http://schemas.openxmlformats.org/officeDocument/2006/relationships/notesSlide"/><Relationship Id="rId66" Target="notesSlides/notesSlide23.xml" Type="http://schemas.openxmlformats.org/officeDocument/2006/relationships/notesSlide"/><Relationship Id="rId67" Target="notesSlides/notesSlide24.xml" Type="http://schemas.openxmlformats.org/officeDocument/2006/relationships/notesSlide"/><Relationship Id="rId68" Target="notesSlides/notesSlide25.xml" Type="http://schemas.openxmlformats.org/officeDocument/2006/relationships/notesSlide"/><Relationship Id="rId69" Target="notesSlides/notesSlide26.xml" Type="http://schemas.openxmlformats.org/officeDocument/2006/relationships/notesSlide"/><Relationship Id="rId7" Target="theme/theme2.xml" Type="http://schemas.openxmlformats.org/officeDocument/2006/relationships/theme"/><Relationship Id="rId70" Target="notesSlides/notesSlide27.xml" Type="http://schemas.openxmlformats.org/officeDocument/2006/relationships/notesSlide"/><Relationship Id="rId71" Target="notesSlides/notesSlide28.xml" Type="http://schemas.openxmlformats.org/officeDocument/2006/relationships/notesSlide"/><Relationship Id="rId72" Target="notesSlides/notesSlide29.xml" Type="http://schemas.openxmlformats.org/officeDocument/2006/relationships/notesSlide"/><Relationship Id="rId73" Target="notesSlides/notesSlide30.xml" Type="http://schemas.openxmlformats.org/officeDocument/2006/relationships/notesSlide"/><Relationship Id="rId74" Target="notesSlides/notesSlide31.xml" Type="http://schemas.openxmlformats.org/officeDocument/2006/relationships/notesSlide"/><Relationship Id="rId75" Target="notesSlides/notesSlide32.xml" Type="http://schemas.openxmlformats.org/officeDocument/2006/relationships/notesSlide"/><Relationship Id="rId76" Target="notesSlides/notesSlide33.xml" Type="http://schemas.openxmlformats.org/officeDocument/2006/relationships/notesSlide"/><Relationship Id="rId77" Target="notesSlides/notesSlide34.xml" Type="http://schemas.openxmlformats.org/officeDocument/2006/relationships/notesSlide"/><Relationship Id="rId78" Target="notesSlides/notesSlide35.xml" Type="http://schemas.openxmlformats.org/officeDocument/2006/relationships/notesSlide"/><Relationship Id="rId8" Target="slideMasters/slideMaster2.xml" Type="http://schemas.openxmlformats.org/officeDocument/2006/relationships/slideMaster"/><Relationship Id="rId9" Target="slides/slide1.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2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_rels/notesSlide2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1.xml" Type="http://schemas.openxmlformats.org/officeDocument/2006/relationships/slide"/></Relationships>
</file>

<file path=ppt/notesSlides/_rels/notesSlide2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2.xml" Type="http://schemas.openxmlformats.org/officeDocument/2006/relationships/slide"/></Relationships>
</file>

<file path=ppt/notesSlides/_rels/notesSlide2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3.xml" Type="http://schemas.openxmlformats.org/officeDocument/2006/relationships/slide"/></Relationships>
</file>

<file path=ppt/notesSlides/_rels/notesSlide2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4.xml" Type="http://schemas.openxmlformats.org/officeDocument/2006/relationships/slide"/></Relationships>
</file>

<file path=ppt/notesSlides/_rels/notesSlide2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5.xml" Type="http://schemas.openxmlformats.org/officeDocument/2006/relationships/slide"/></Relationships>
</file>

<file path=ppt/notesSlides/_rels/notesSlide2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6.xml" Type="http://schemas.openxmlformats.org/officeDocument/2006/relationships/slide"/></Relationships>
</file>

<file path=ppt/notesSlides/_rels/notesSlide2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7.xml" Type="http://schemas.openxmlformats.org/officeDocument/2006/relationships/slide"/></Relationships>
</file>

<file path=ppt/notesSlides/_rels/notesSlide2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8.xml" Type="http://schemas.openxmlformats.org/officeDocument/2006/relationships/slide"/></Relationships>
</file>

<file path=ppt/notesSlides/_rels/notesSlide2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9.xml" Type="http://schemas.openxmlformats.org/officeDocument/2006/relationships/slide"/></Relationships>
</file>

<file path=ppt/notesSlides/_rels/notesSlide3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0.xml" Type="http://schemas.openxmlformats.org/officeDocument/2006/relationships/slide"/></Relationships>
</file>

<file path=ppt/notesSlides/_rels/notesSlide3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1.xml" Type="http://schemas.openxmlformats.org/officeDocument/2006/relationships/slide"/></Relationships>
</file>

<file path=ppt/notesSlides/_rels/notesSlide3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2.xml" Type="http://schemas.openxmlformats.org/officeDocument/2006/relationships/slide"/></Relationships>
</file>

<file path=ppt/notesSlides/_rels/notesSlide3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3.xml" Type="http://schemas.openxmlformats.org/officeDocument/2006/relationships/slide"/></Relationships>
</file>

<file path=ppt/notesSlides/_rels/notesSlide3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4.xml" Type="http://schemas.openxmlformats.org/officeDocument/2006/relationships/slide"/></Relationships>
</file>

<file path=ppt/notesSlides/_rels/notesSlide3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5.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大家好，欢迎来到AI Agent系统工程实战课程的第三课。在前两课中，我们分别学习了如何构建高质量的记忆系统和如何实现智能的多模型调度。今天，我们将探讨一个更高级的话题：当单一Agent的能力达到瓶颈时，如何通过多Agent架构来构建一个更强大、更灵活的智能系统。本课的主题是“从独行侠到团队——多Agent架构设计与实现”。</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这是我们今天课程的整体安排。我们将首先分析单Agent系统的瓶颈，然后深入学习多Agent架构的设计原则、Agent的定义规范和通信机制。中间会有一个实践练习，帮助大家动手实现一个任务编排器。最后，我们会探讨多Agent系统中的记忆同步问题，并进行总结。希望大家能跟上节奏，有所收获。</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在开始之前，我想问大家一个问题：如果你是一家公司的CTO，你会让一个全栈工程师同时负责前端开发、后端服务、系统运维、质量保证甚至产品经理的工作吗？显然不会，因为这违背了专业分工的原则，效率会非常低下。我们会为不同的职能组建专业的团队。这个道理同样适用于AI Agent系统。</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一个试图处理所有任务的“全能”Agent，就像一个人同时扮演厨师、服务员、收银员和清洁工的角色，最终只会导致效率低下和混乱。这就是单Agent系统面临的困境，我们称之为“全能选手的崩溃”。接下来，我们将具体分析单Agent系统的几大瓶颈。</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单Agent系统的第一个瓶颈是上下文窗口被挤占。一个128K tokens的上下文窗口，需要同时容纳系统提示词、不同领域的任务上下文以及对话历史，很快就会被填满，留给新任务的空间所剩无几，这严重影响了模型的性能和响应能力。</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总结一下，单Agent系统主要面临四大瓶颈：上下文竞争、领域干扰、并行限制和单点故障。这些问题的本质，其实是违反了软件工程中的“单一职责原则”。一个Agent不应该承担过多不同的职责。</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这里有一个关键问题：在这四个瓶颈中，哪一个是即使增大上下文窗口也无法解决的？答案是领域干扰。因为领域干扰是不同角色定位和思维模式之间的冲突，比如“严谨的分析师”和“富有创意的写手”，这种内在的矛盾不会因为窗口变大而消失。这也是我们必须引入多Agent架构的根本原因。</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既然单Agent系统存在如此多的问题，解决方案就呼之欲出了：我们需要将一个“全能但平庸”的Agent，拆分成多个“专精且高效”的Agent，让它们各司其职，协同工作。这就是我们本节课的核心——多Agent架构。</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我们设计的OpenClaw多Agent系统采用了三层架构。第一层是主Agent，我们称之为Friday，它作为用户交互的唯一入口，负责任务分发和协调。第二层是专业Agent集群，每个Agent都有明确的专业分工，比如负责交易的桑丘、负责学习的参孙等。第三层是共享基础设施，包括记忆系统、消息总线、定时调度和配置管理，为整个系统提供支撑。</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主Agent Friday采用了设计模式中的“门面模式”。它就像公司的前台，用户只需要和它交互，由它来负责接收请求、分发给专业的Agent、收集结果并返回给用户。这样做的好处是隐藏了系统内部的复杂性，用户无需关心背后有多少个Agent在工作，只需要和Friday对话即可。</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现在我们来看一下，多Agent架构是如何解决单Agent系统的四大瓶颈的。对于上下文竞争，每个Agent只加载自己领域的上下文，避免了资源争夺；对于领域干扰，每个Agent有独立的系统提示词，角色定位清晰；对于并行限制，不同的Agent可以同时处理不同的任务，提高了效率；对于单点故障，一个Agent的故障不会影响到其他Agent的正常工作，系统更加健壮。</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为什么我们要将基础设施进行共享呢？以消息总线为例，如果8个Agent之间采用点对点的通信方式，总共需要建立28条连接，这会带来巨大的管理开销。而通过共享消息总线，每个Agent只需要与总线建立一条连接，总共只需要8条，极大地简化了系统的复杂度。</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除了消息总线，其他基础设施组件也需要共享。共享QMD记忆可以避免知识孤岛，让所有Agent的经验都能全局可用；共享定时调度可以避免不同Agent的任务在时间上发生冲突；共享配置管理可以实现一处修改，全局生效，大大简化了系统的维护工作。</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接下来我们进入第三个模块：Agent定义规范。要创建一个Agent，我们需要定义六个关键的配置字段：name用于日志和监控，role决定了它的角色定位和系统提示词的基调，workspace为它提供独立的文件隔离空间，model指定它使用的大语言模型，responsibilities定义了它的职责范围，skills则列出了它掌握的具体工具和能力。</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这是一个具体的Agent配置示例。我们定义了主Agent Friday和交易Agent桑丘。可以看到，每个Agent都有明确的name和role，这决定了它们的身份和工作内容。workspace字段为它们提供了独立的工作目录，确保文件不会相互干扰。responsibilities和skills字段则详细描述了它们的职责和能力。</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这里有一个重要的概念需要区分：responsibilities和skills。简单来说，responsibilities定义了Agent“做什么”，也就是它的职责范围；而skills定义了Agent“用什么”，也就是它完成职责所需要的具体工具和能力。比如，交易Agent桑丘的职责是进行量化策略、风险管理和交易监控，而它使用的工具可能包括币安专业API和Polymarket分析工具。</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在设计Agent时，我们需要遵循三个核心原则。第一，Agent的数量要克制，不要一开始就创建很多，应该从3个核心Agent起步，然后根据实际需求逐步扩展。第二，模型的选择要与Agent的任务类型相匹配，比如代码相关的Agent适合使用Claude，而分析类的Agent适合使用Kimi。第三，职责边界要清晰，如果两个Agent的职责重叠过多，就应该考虑合并它们或者重新划分职责。</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现在我们进入第四个模块：通信机制。多Agent系统中，Agent之间的通信方式至关重要。我们对比了两种主流的通信模式：点对点和发布订阅。点对点模式会导致连接数爆炸式增长，难以管理。而发布订阅模式结构清晰，连接数少。因此，OpenClaw选择了发布订阅模式，并使用Redis作为消息中间件来实现这一机制。</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这是发布订阅架构的示意图。所有Agent都连接到一个中央的Redis消息总线。当一个Agent发布消息时，所有订阅了该频道的Agent都会收到这条消息。这种架构的优点是，添加新的Agent非常简单，只需要新增一条连接即可。同时，我们可以通过不同的频道（如agent:trading, agent:frontend）来隔离不同类型的消息，确保通信的有序性。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为了确保消息的可靠传递，我们的send()方法采用了双通道设计。当发送一条消息时，它会同时通过两个通道发送：第一个通道是Redis的Pub/Sub，用于实时推送给在线的Agent；第二个通道是Redis列表，用于持久化存储消息。这样，即使接收消息的Agent暂时离线，它在重新上线后也可以从列表中读取到遗漏的消息，确保消息不会丢失。这就像我们平时使用的微信，既有实时推送，也有服务器存储。</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为什么我们需要两个通道呢？因为单纯的Pub/Sub模式有一个缺点，就是“即发即忘”。如果接收消息的Agent在消息发送时恰好不在线，那么这条消息就会丢失。为了解决这个问题，我们引入了第二个通道——Redis列表，它就像一个“收件箱”。所有发送的消息都会被存储在这里，Agent在启动时或者任何时候都可以去检查这个“收件箱”，确保不会遗漏任何重要信息。</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在我们的系统中，定义了四种主要的消息类型。task消息由主Agent Friday发送给专业Agent，用于分配任务；response消息由专业Agent发送给Friday，用于返回任务结果；broadcast消息可以由任何Agent发送给所有其他Agent，用于发布全局通知；heartbeat消息由Friday定期发送给所有Agent，用于监控系统状态和负载。</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现在我们进入第五个模块：任务编排器。任务编排器负责管理和调度系统中的所有任务。一个任务从创建到完成，会经历几个不同的状态：PENDING（等待分配）、ASSIGNED（已分配给Agent）、RUNNING（正在执行），最终到达COMPLETED（完成）或FAILED（失败）状态。特别是当任务有依赖关系时，它会在PENDING状态等待，直到所有依赖任务都完成。</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这是任务完整的生命周期流程图。当一个任务被创建后，首先进入PENDING状态。如果任务没有依赖或者所有依赖都已完成，它会被分配给合适的Agent，进入ASSIGNED状态。然后Agent开始执行任务，状态变为RUNNING。任务执行完成后，状态变为COMPLETED，并会触发所有依赖于它的任务。如果执行失败，状态则变为FAILED。</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任务编排器在分配任务时，会使用一个技能匹配算法。算法会计算每个Agent的技能与任务所需技能的匹配度。匹配度等于匹配的技能数除以任务需要的技能数。然后，系统会过滤掉匹配度低于阈值（比如0.5）的Agent，并按照匹配度从高到低排序。如果匹配度相同，则按照Agent当前的负载从低到高排序，以实现负载均衡。</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这里有一个测试题：如果有两个Agent，Agent A的匹配度是0.8但负载较高（3个任务），Agent B的匹配度是0.6但负载较低（1个任务），我们应该选择哪个Agent来执行任务？答案是选择Agent A。因为在任务分配中，能力匹配是第一优先级，我们必须确保任务能够被最适合的Agent处理，负载均衡是在能力匹配的基础上进行的次要考虑。</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当一个任务完成后，系统会触发一个处理流程。以这个例子来说，任务B依赖于任务A。当任务A执行完成后，系统会调用handle_task_completion函数，遍历所有处于PENDING状态的任务，发现任务B依赖于已完成的任务A，于是尝试为任务B分配Agent。如果任务B的所有依赖都已满足，它就会被成功分配并开始执行。</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这是handle_task_completion函数的核心代码实现。首先，它会将完成的任务状态更新为COMPLETED，并保存结果。然后，它会遍历所有任务，检查是否有任务依赖于这个已完成的任务，并且这些任务当前处于PENDING状态。如果找到这样的任务，就会调用_try_assign_task函数，尝试为其分配Agent并执行。</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理论部分就到这里，现在是动手实践的时间。这个练习要求大家在35分钟内，实现一个简化版的TaskOrchestrator。需要完成四个核心函数：create_task用于创建任务，_try_assign_task用于尝试分配任务，_find_best_agent用于找到最合适的Agent，以及handle_task_completion用于处理任务完成事件。完成后，请用包含依赖关系的测试场景来验证你的实现是否正确。大家可以参考讲义中的相关代码。现在开始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在多Agent系统中，还有一个非常重要的问题需要解决，那就是记忆同步。如果每个Agent都只维护自己的记忆，就会形成知识孤岛。比如，交易Agent桑丘发现了一个重要的市场规律，但这个信息只存在于它自己的记忆中，其他Agent，比如负责设计监控系统的建筑师，完全无法获取到这个信息，这就会导致系统整体智能的下降。</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这是记忆同步的数据流图。每个Agent都在自己的独立工作空间中积累经验，生成MEMORY.md文件。系统会定期将这些分散的记忆文件同步到一个统一的存储目录中，并为每个Agent创建独立的文件。最后，全局的QMD搜索服务会更新索引，使得所有Agent的记忆都可以被全局搜索到，从而打破知识孤岛。</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为什么我们不采用实时同步的策略呢？因为实时同步的成本太高了。如果每个Agent每写一条记忆就立即触发同步，会导致大量的文件复制操作和QMD索引重建，这会严重影响系统的性能。因此，我们选择每天进行一次批量同步，这是在效率和信息新鲜度之间做出的一个合理平衡。</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在设计记忆同步功能时，有三个要点需要注意。第一，要实现增量同步，只同步那些修改时间更新的文件，这样可以避免不必要的重复操作。第二，要定时执行同步任务，比如每天一次。第三，也是最容易被忽略的一点，同步完成后必须执行qmd update命令来更新向量索引，否则新同步的内容虽然文件存在，但对搜索服务来说是不可见的。</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好了，我们来总结一下本节课的核心内容。首先，我们认识到单Agent系统瓶颈的本质是违反了单一职责原则。其次，我们学习了多Agent系统的三层架构：主Agent、专业Agent集群和共享基础设施。第三，通信方面，我们采用了Pub/Sub加持久化的双通道设计，确保消息不丢失。第四，任务分配遵循技能匹配优先于负载均衡的原则。最后，记忆同步是保证多Agent系统智能水平的关键，是系统的“隐藏英雄”。希望大家都掌握了这些核心概念。</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到目前为止，我们已经完成了三大基础设施的学习：记忆系统、模型路由和多Agent架构。有了这些基础，我们就可以进入更有趣的应用层了。</a:t>
            </a:r>
          </a:p>
          <a:p>
            <a:pPr algn="l" indent="0">
              <a:lnSpc>
                <a:spcPct val="100000"/>
              </a:lnSpc>
            </a:pPr>
            <a:r>
              <a:rPr lang="en-US" b="false" i="false" strike="noStrike" u="none" sz="1400">
                <a:solidFill>
                  <a:srgbClr val="000000"/>
                </a:solidFill>
              </a:rPr>
              <a:t>下一节课，我们将学习如何让Agent写代码，具体来说，是如何通过一个结构化的工作流，将一句简单的需求，转化为多个完整的代码文件。</a:t>
            </a:r>
          </a:p>
          <a:p>
            <a:pPr algn="l" indent="0">
              <a:lnSpc>
                <a:spcPct val="100000"/>
              </a:lnSpc>
            </a:pPr>
            <a:r>
              <a:rPr lang="en-US" b="false" i="false" strike="noStrike" u="none" sz="1400">
                <a:solidFill>
                  <a:srgbClr val="000000"/>
                </a:solidFill>
              </a:rPr>
              <a:t>下节课的难度会回到“中级”，希望大家继续保持学习的热情。感谢大家的参与，我们下次课再见！</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2.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幻灯片" type="title">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idx="1" type="subTitle"/>
          </p:nvPr>
        </p:nvSpPr>
        <p:spPr>
          <a:xfrm>
            <a:off x="1143000" y="2701528"/>
            <a:ext cx="6858000" cy="1241821"/>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内容" type="obj">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 name="Shape 5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节标题" type="secHead">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idx="1" type="body"/>
          </p:nvPr>
        </p:nvSpPr>
        <p:spPr>
          <a:xfrm>
            <a:off x="623888" y="3442097"/>
            <a:ext cx="7886700" cy="112514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两栏内容" type="twoObj">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idx="1" type="body"/>
          </p:nvPr>
        </p:nvSpPr>
        <p:spPr>
          <a:xfrm>
            <a:off x="6286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2" name="Shape 11"/>
          <p:cNvSpPr txBox="1"/>
          <p:nvPr>
            <p:ph idx="2" type="body"/>
          </p:nvPr>
        </p:nvSpPr>
        <p:spPr>
          <a:xfrm>
            <a:off x="46291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3" name="Shape 1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比较" type="twoTxTwoObj">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idx="1" type="body"/>
          </p:nvPr>
        </p:nvSpPr>
        <p:spPr>
          <a:xfrm>
            <a:off x="629841" y="1260872"/>
            <a:ext cx="3868340"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39" name="Shape 37"/>
          <p:cNvSpPr txBox="1"/>
          <p:nvPr>
            <p:ph idx="2" type="body"/>
          </p:nvPr>
        </p:nvSpPr>
        <p:spPr>
          <a:xfrm>
            <a:off x="629841" y="1878806"/>
            <a:ext cx="3868340"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0" name="Shape 38"/>
          <p:cNvSpPr txBox="1"/>
          <p:nvPr>
            <p:ph idx="3" type="body"/>
          </p:nvPr>
        </p:nvSpPr>
        <p:spPr>
          <a:xfrm>
            <a:off x="4629150" y="1260872"/>
            <a:ext cx="3887391"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41" name="Shape 39"/>
          <p:cNvSpPr txBox="1"/>
          <p:nvPr>
            <p:ph idx="4" type="body"/>
          </p:nvPr>
        </p:nvSpPr>
        <p:spPr>
          <a:xfrm>
            <a:off x="4629150" y="1878806"/>
            <a:ext cx="3887391"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2" name="Shape 40"/>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仅标题" type="titleOnly">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空白" type="blank">
  <p:cSld name="BLANK">
    <p:spTree>
      <p:nvGrpSpPr>
        <p:cNvPr id="50" name="Shape 50"/>
        <p:cNvGrpSpPr/>
        <p:nvPr/>
      </p:nvGrpSpPr>
      <p:grpSpPr>
        <a:xfrm>
          <a:off x="0" y="0"/>
          <a:ext cx="0" cy="0"/>
          <a:chOff x="0" y="0"/>
          <a:chExt cx="0" cy="0"/>
        </a:xfrm>
      </p:grpSpPr>
      <p:sp>
        <p:nvSpPr>
          <p:cNvPr id="51" name="Shape 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内容与标题" type="objTx">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idx="1" type="body"/>
          </p:nvPr>
        </p:nvSpPr>
        <p:spPr>
          <a:xfrm>
            <a:off x="3887391" y="740569"/>
            <a:ext cx="4629150" cy="3655219"/>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57" name="Shape 45"/>
          <p:cNvSpPr txBox="1"/>
          <p:nvPr>
            <p:ph idx="2"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58" name="Shape 4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图片与标题" type="picTx">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idx="2" type="pic"/>
          </p:nvPr>
        </p:nvSpPr>
        <p:spPr>
          <a:xfrm>
            <a:off x="3887391" y="740569"/>
            <a:ext cx="4629150" cy="3655219"/>
          </a:xfrm>
          <a:prstGeom prst="rect">
            <a:avLst/>
          </a:prstGeom>
          <a:noFill/>
          <a:ln>
            <a:noFill/>
          </a:ln>
        </p:spPr>
      </p:sp>
      <p:sp>
        <p:nvSpPr>
          <p:cNvPr id="64" name="Shape 26"/>
          <p:cNvSpPr txBox="1"/>
          <p:nvPr>
            <p:ph idx="1"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65" name="Shape 2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竖排文字" type="vertTx">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idx="1" type="body"/>
          </p:nvPr>
        </p:nvSpPr>
        <p:spPr>
          <a:xfrm rot="5400000">
            <a:off x="2940248" y="-942379"/>
            <a:ext cx="3263504"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1" name="Shape 5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竖排标题与文本" type="vertTitleAndTx">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idx="1" type="body"/>
          </p:nvPr>
        </p:nvSpPr>
        <p:spPr>
          <a:xfrm rot="5400000">
            <a:off x="1349573" y="-447080"/>
            <a:ext cx="4358879" cy="5800725"/>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7" name="Shape 1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_rels/slideMaster2.xml.rels><?xml version="1.0" encoding="UTF-8" standalone="yes"?><Relationships xmlns="http://schemas.openxmlformats.org/package/2006/relationships"><Relationship Id="rId1" Target="../theme/theme3.xml" Type="http://schemas.openxmlformats.org/officeDocument/2006/relationships/theme"/><Relationship Id="rId2" Target="../slideLayouts/slideLayout12.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Arial"/>
              <a:buNone/>
              <a:defRPr b="0" i="0" sz="3300" u="none" cap="none" strike="noStrik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8" name="Shape 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9" name="Shape 4"/>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10" name="Shape 5"/>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Arial"/>
                <a:ea typeface="Arial"/>
                <a:cs typeface="Arial"/>
                <a:sym typeface="Arial"/>
              </a:defRPr>
            </a:lvl1pPr>
            <a:lvl2pPr indent="0" lvl="1" marL="0" marR="0" rtl="0" algn="r">
              <a:spcBef>
                <a:spcPts val="0"/>
              </a:spcBef>
              <a:buNone/>
              <a:defRPr b="0" i="0" sz="900" u="none" cap="none" strike="noStrike">
                <a:solidFill>
                  <a:srgbClr val="888888"/>
                </a:solidFill>
                <a:latin typeface="Arial"/>
                <a:ea typeface="Arial"/>
                <a:cs typeface="Arial"/>
                <a:sym typeface="Arial"/>
              </a:defRPr>
            </a:lvl2pPr>
            <a:lvl3pPr indent="0" lvl="2" marL="0" marR="0" rtl="0" algn="r">
              <a:spcBef>
                <a:spcPts val="0"/>
              </a:spcBef>
              <a:buNone/>
              <a:defRPr b="0" i="0" sz="900" u="none" cap="none" strike="noStrike">
                <a:solidFill>
                  <a:srgbClr val="888888"/>
                </a:solidFill>
                <a:latin typeface="Arial"/>
                <a:ea typeface="Arial"/>
                <a:cs typeface="Arial"/>
                <a:sym typeface="Arial"/>
              </a:defRPr>
            </a:lvl3pPr>
            <a:lvl4pPr indent="0" lvl="3" marL="0" marR="0" rtl="0" algn="r">
              <a:spcBef>
                <a:spcPts val="0"/>
              </a:spcBef>
              <a:buNone/>
              <a:defRPr b="0" i="0" sz="900" u="none" cap="none" strike="noStrike">
                <a:solidFill>
                  <a:srgbClr val="888888"/>
                </a:solidFill>
                <a:latin typeface="Arial"/>
                <a:ea typeface="Arial"/>
                <a:cs typeface="Arial"/>
                <a:sym typeface="Arial"/>
              </a:defRPr>
            </a:lvl4pPr>
            <a:lvl5pPr indent="0" lvl="4" marL="0" marR="0" rtl="0" algn="r">
              <a:spcBef>
                <a:spcPts val="0"/>
              </a:spcBef>
              <a:buNone/>
              <a:defRPr b="0" i="0" sz="900" u="none" cap="none" strike="noStrike">
                <a:solidFill>
                  <a:srgbClr val="888888"/>
                </a:solidFill>
                <a:latin typeface="Arial"/>
                <a:ea typeface="Arial"/>
                <a:cs typeface="Arial"/>
                <a:sym typeface="Arial"/>
              </a:defRPr>
            </a:lvl5pPr>
            <a:lvl6pPr indent="0" lvl="5" marL="0" marR="0" rtl="0" algn="r">
              <a:spcBef>
                <a:spcPts val="0"/>
              </a:spcBef>
              <a:buNone/>
              <a:defRPr b="0" i="0" sz="900" u="none" cap="none" strike="noStrike">
                <a:solidFill>
                  <a:srgbClr val="888888"/>
                </a:solidFill>
                <a:latin typeface="Arial"/>
                <a:ea typeface="Arial"/>
                <a:cs typeface="Arial"/>
                <a:sym typeface="Arial"/>
              </a:defRPr>
            </a:lvl6pPr>
            <a:lvl7pPr indent="0" lvl="6" marL="0" marR="0" rtl="0" algn="r">
              <a:spcBef>
                <a:spcPts val="0"/>
              </a:spcBef>
              <a:buNone/>
              <a:defRPr b="0" i="0" sz="900" u="none" cap="none" strike="noStrike">
                <a:solidFill>
                  <a:srgbClr val="888888"/>
                </a:solidFill>
                <a:latin typeface="Arial"/>
                <a:ea typeface="Arial"/>
                <a:cs typeface="Arial"/>
                <a:sym typeface="Arial"/>
              </a:defRPr>
            </a:lvl7pPr>
            <a:lvl8pPr indent="0" lvl="7" marL="0" marR="0" rtl="0" algn="r">
              <a:spcBef>
                <a:spcPts val="0"/>
              </a:spcBef>
              <a:buNone/>
              <a:defRPr b="0" i="0" sz="900" u="none" cap="none" strike="noStrike">
                <a:solidFill>
                  <a:srgbClr val="888888"/>
                </a:solidFill>
                <a:latin typeface="Arial"/>
                <a:ea typeface="Arial"/>
                <a:cs typeface="Arial"/>
                <a:sym typeface="Arial"/>
              </a:defRPr>
            </a:lvl8pPr>
            <a:lvl9pPr indent="0" lvl="8" marL="0" marR="0" rtl="0" algn="r">
              <a:spcBef>
                <a:spcPts val="0"/>
              </a:spcBef>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zh-C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默认主题">
    <p:bg>
      <p:bgPr>
        <a:solidFill>
          <a:srgbClr val="FFFFFF">
            <a:alpha val="100000"/>
          </a:srgbClr>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5748369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notesSlides/notesSlide1.xml" Type="http://schemas.openxmlformats.org/officeDocument/2006/relationships/notesSlide"/></Relationships>
</file>

<file path=ppt/slides/_rels/slide2.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2.xml" Type="http://schemas.openxmlformats.org/officeDocument/2006/relationships/notesSlide"/></Relationships>
</file>

<file path=ppt/slides/_rels/slide3.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7.jpeg" Type="http://schemas.openxmlformats.org/officeDocument/2006/relationships/image"/><Relationship Id="rId3" Target="../media/image8.png" Type="http://schemas.openxmlformats.org/officeDocument/2006/relationships/image"/><Relationship Id="rId4" Target="../media/image9.svg" Type="http://schemas.openxmlformats.org/officeDocument/2006/relationships/image"/><Relationship Id="rId5" Target="../media/image10.png" Type="http://schemas.openxmlformats.org/officeDocument/2006/relationships/image"/><Relationship Id="rId6" Target="../media/image11.svg" Type="http://schemas.openxmlformats.org/officeDocument/2006/relationships/image"/><Relationship Id="rId7" Target="../notesSlides/notesSlide3.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20.png" Type="http://schemas.openxmlformats.org/officeDocument/2006/relationships/image"/><Relationship Id="rId11" Target="../media/image21.svg" Type="http://schemas.openxmlformats.org/officeDocument/2006/relationships/image"/><Relationship Id="rId12" Target="../media/image22.png" Type="http://schemas.openxmlformats.org/officeDocument/2006/relationships/image"/><Relationship Id="rId13" Target="../media/image23.svg" Type="http://schemas.openxmlformats.org/officeDocument/2006/relationships/image"/><Relationship Id="rId14" Target="../media/image24.png" Type="http://schemas.openxmlformats.org/officeDocument/2006/relationships/image"/><Relationship Id="rId15" Target="../media/image25.svg" Type="http://schemas.openxmlformats.org/officeDocument/2006/relationships/image"/><Relationship Id="rId16" Target="../media/image26.png" Type="http://schemas.openxmlformats.org/officeDocument/2006/relationships/image"/><Relationship Id="rId17" Target="../media/image27.svg" Type="http://schemas.openxmlformats.org/officeDocument/2006/relationships/image"/><Relationship Id="rId18" Target="../media/image28.png" Type="http://schemas.openxmlformats.org/officeDocument/2006/relationships/image"/><Relationship Id="rId19" Target="../media/image29.svg" Type="http://schemas.openxmlformats.org/officeDocument/2006/relationships/image"/><Relationship Id="rId2" Target="../media/image12.png" Type="http://schemas.openxmlformats.org/officeDocument/2006/relationships/image"/><Relationship Id="rId20" Target="../media/image30.png" Type="http://schemas.openxmlformats.org/officeDocument/2006/relationships/image"/><Relationship Id="rId21" Target="../media/image31.svg" Type="http://schemas.openxmlformats.org/officeDocument/2006/relationships/image"/><Relationship Id="rId22" Target="../notesSlides/notesSlide4.xml" Type="http://schemas.openxmlformats.org/officeDocument/2006/relationships/notesSlide"/><Relationship Id="rId3" Target="../media/image13.svg" Type="http://schemas.openxmlformats.org/officeDocument/2006/relationships/image"/><Relationship Id="rId4" Target="../media/image14.png" Type="http://schemas.openxmlformats.org/officeDocument/2006/relationships/image"/><Relationship Id="rId5" Target="../media/image15.svg" Type="http://schemas.openxmlformats.org/officeDocument/2006/relationships/image"/><Relationship Id="rId6" Target="../media/image16.png" Type="http://schemas.openxmlformats.org/officeDocument/2006/relationships/image"/><Relationship Id="rId7" Target="../media/image17.svg" Type="http://schemas.openxmlformats.org/officeDocument/2006/relationships/image"/><Relationship Id="rId8" Target="../media/image18.png" Type="http://schemas.openxmlformats.org/officeDocument/2006/relationships/image"/><Relationship Id="rId9" Target="../media/image19.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40.png" Type="http://schemas.openxmlformats.org/officeDocument/2006/relationships/image"/><Relationship Id="rId11" Target="../media/image41.svg" Type="http://schemas.openxmlformats.org/officeDocument/2006/relationships/image"/><Relationship Id="rId12" Target="../media/image42.png" Type="http://schemas.openxmlformats.org/officeDocument/2006/relationships/image"/><Relationship Id="rId13" Target="../media/image43.svg" Type="http://schemas.openxmlformats.org/officeDocument/2006/relationships/image"/><Relationship Id="rId14" Target="../media/image44.png" Type="http://schemas.openxmlformats.org/officeDocument/2006/relationships/image"/><Relationship Id="rId15" Target="../media/image45.svg" Type="http://schemas.openxmlformats.org/officeDocument/2006/relationships/image"/><Relationship Id="rId16" Target="../media/image46.png" Type="http://schemas.openxmlformats.org/officeDocument/2006/relationships/image"/><Relationship Id="rId17" Target="../media/image47.svg" Type="http://schemas.openxmlformats.org/officeDocument/2006/relationships/image"/><Relationship Id="rId18" Target="../media/image5.png" Type="http://schemas.openxmlformats.org/officeDocument/2006/relationships/image"/><Relationship Id="rId19" Target="../media/image6.svg" Type="http://schemas.openxmlformats.org/officeDocument/2006/relationships/image"/><Relationship Id="rId2" Target="../media/image32.png" Type="http://schemas.openxmlformats.org/officeDocument/2006/relationships/image"/><Relationship Id="rId20" Target="../notesSlides/notesSlide5.xml" Type="http://schemas.openxmlformats.org/officeDocument/2006/relationships/notesSlide"/><Relationship Id="rId3" Target="../media/image33.svg" Type="http://schemas.openxmlformats.org/officeDocument/2006/relationships/image"/><Relationship Id="rId4" Target="../media/image34.png" Type="http://schemas.openxmlformats.org/officeDocument/2006/relationships/image"/><Relationship Id="rId5" Target="../media/image35.svg" Type="http://schemas.openxmlformats.org/officeDocument/2006/relationships/image"/><Relationship Id="rId6" Target="../media/image36.png" Type="http://schemas.openxmlformats.org/officeDocument/2006/relationships/image"/><Relationship Id="rId7" Target="../media/image37.svg" Type="http://schemas.openxmlformats.org/officeDocument/2006/relationships/image"/><Relationship Id="rId8" Target="../media/image38.png" Type="http://schemas.openxmlformats.org/officeDocument/2006/relationships/image"/><Relationship Id="rId9" Target="../media/image39.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54.png" Type="http://schemas.openxmlformats.org/officeDocument/2006/relationships/image"/><Relationship Id="rId11" Target="../media/image55.svg" Type="http://schemas.openxmlformats.org/officeDocument/2006/relationships/image"/><Relationship Id="rId12" Target="../notesSlides/notesSlide6.xml" Type="http://schemas.openxmlformats.org/officeDocument/2006/relationships/notesSlide"/><Relationship Id="rId2" Target="../media/image48.png" Type="http://schemas.openxmlformats.org/officeDocument/2006/relationships/image"/><Relationship Id="rId3" Target="../media/image49.svg" Type="http://schemas.openxmlformats.org/officeDocument/2006/relationships/image"/><Relationship Id="rId4" Target="../media/image50.png" Type="http://schemas.openxmlformats.org/officeDocument/2006/relationships/image"/><Relationship Id="rId5" Target="../media/image51.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52.png" Type="http://schemas.openxmlformats.org/officeDocument/2006/relationships/image"/><Relationship Id="rId9" Target="../media/image53.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62.png" Type="http://schemas.openxmlformats.org/officeDocument/2006/relationships/image"/><Relationship Id="rId11" Target="../media/image63.svg" Type="http://schemas.openxmlformats.org/officeDocument/2006/relationships/image"/><Relationship Id="rId12" Target="../notesSlides/notesSlide7.xml" Type="http://schemas.openxmlformats.org/officeDocument/2006/relationships/notesSlide"/><Relationship Id="rId2" Target="../media/image56.png" Type="http://schemas.openxmlformats.org/officeDocument/2006/relationships/image"/><Relationship Id="rId3" Target="../media/image57.svg" Type="http://schemas.openxmlformats.org/officeDocument/2006/relationships/image"/><Relationship Id="rId4" Target="../media/image58.png" Type="http://schemas.openxmlformats.org/officeDocument/2006/relationships/image"/><Relationship Id="rId5" Target="../media/image59.svg" Type="http://schemas.openxmlformats.org/officeDocument/2006/relationships/image"/><Relationship Id="rId6" Target="../media/image60.png" Type="http://schemas.openxmlformats.org/officeDocument/2006/relationships/image"/><Relationship Id="rId7" Target="../media/image61.svg" Type="http://schemas.openxmlformats.org/officeDocument/2006/relationships/image"/><Relationship Id="rId8" Target="../media/image52.png" Type="http://schemas.openxmlformats.org/officeDocument/2006/relationships/image"/><Relationship Id="rId9" Target="../media/image53.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64.png" Type="http://schemas.openxmlformats.org/officeDocument/2006/relationships/image"/><Relationship Id="rId3" Target="../media/image65.svg" Type="http://schemas.openxmlformats.org/officeDocument/2006/relationships/image"/><Relationship Id="rId4" Target="../media/image66.png" Type="http://schemas.openxmlformats.org/officeDocument/2006/relationships/image"/><Relationship Id="rId5" Target="../media/image67.svg" Type="http://schemas.openxmlformats.org/officeDocument/2006/relationships/image"/><Relationship Id="rId6" Target="../media/image68.png" Type="http://schemas.openxmlformats.org/officeDocument/2006/relationships/image"/><Relationship Id="rId7" Target="../media/image69.svg" Type="http://schemas.openxmlformats.org/officeDocument/2006/relationships/image"/><Relationship Id="rId8" Target="../notesSlides/notesSlide8.xml" Type="http://schemas.openxmlformats.org/officeDocument/2006/relationships/notesSlide"/></Relationships>
</file>

<file path=ppt/slides/_rels/slide9.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7.jpeg" Type="http://schemas.openxmlformats.org/officeDocument/2006/relationships/image"/><Relationship Id="rId3" Target="../media/image12.png" Type="http://schemas.openxmlformats.org/officeDocument/2006/relationships/image"/><Relationship Id="rId4" Target="../media/image13.svg" Type="http://schemas.openxmlformats.org/officeDocument/2006/relationships/image"/><Relationship Id="rId5" Target="../media/image10.png" Type="http://schemas.openxmlformats.org/officeDocument/2006/relationships/image"/><Relationship Id="rId6" Target="../media/image11.svg" Type="http://schemas.openxmlformats.org/officeDocument/2006/relationships/image"/><Relationship Id="rId7" Target="../media/image70.png" Type="http://schemas.openxmlformats.org/officeDocument/2006/relationships/image"/><Relationship Id="rId8" Target="../media/image71.svg" Type="http://schemas.openxmlformats.org/officeDocument/2006/relationships/image"/><Relationship Id="rId9" Target="../notesSlides/notesSlide9.xml" Type="http://schemas.openxmlformats.org/officeDocument/2006/relationships/notesSlide"/></Relationships>
</file>

<file path=ppt/slides/_rels/slide10.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75.svg" Type="http://schemas.openxmlformats.org/officeDocument/2006/relationships/image"/><Relationship Id="rId11" Target="../notesSlides/notesSlide10.xml" Type="http://schemas.openxmlformats.org/officeDocument/2006/relationships/notesSlide"/><Relationship Id="rId2" Target="../media/image7.jpeg" Type="http://schemas.openxmlformats.org/officeDocument/2006/relationships/image"/><Relationship Id="rId3" Target="../media/image72.png" Type="http://schemas.openxmlformats.org/officeDocument/2006/relationships/image"/><Relationship Id="rId4" Target="../media/image73.svg" Type="http://schemas.openxmlformats.org/officeDocument/2006/relationships/image"/><Relationship Id="rId5" Target="../media/image22.png" Type="http://schemas.openxmlformats.org/officeDocument/2006/relationships/image"/><Relationship Id="rId6" Target="../media/image23.svg" Type="http://schemas.openxmlformats.org/officeDocument/2006/relationships/image"/><Relationship Id="rId7" Target="../media/image60.png" Type="http://schemas.openxmlformats.org/officeDocument/2006/relationships/image"/><Relationship Id="rId8" Target="../media/image61.svg" Type="http://schemas.openxmlformats.org/officeDocument/2006/relationships/image"/><Relationship Id="rId9" Target="../media/image74.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12.xml" Type="http://schemas.openxmlformats.org/officeDocument/2006/relationships/slideLayout"/><Relationship Id="rId10" Target="../notesSlides/notesSlide11.xml" Type="http://schemas.openxmlformats.org/officeDocument/2006/relationships/notesSlide"/><Relationship Id="rId2" Target="../media/image48.png" Type="http://schemas.openxmlformats.org/officeDocument/2006/relationships/image"/><Relationship Id="rId3" Target="../media/image49.svg" Type="http://schemas.openxmlformats.org/officeDocument/2006/relationships/image"/><Relationship Id="rId4" Target="../media/image76.png" Type="http://schemas.openxmlformats.org/officeDocument/2006/relationships/image"/><Relationship Id="rId5" Target="../media/image77.svg" Type="http://schemas.openxmlformats.org/officeDocument/2006/relationships/image"/><Relationship Id="rId6" Target="../media/image60.png" Type="http://schemas.openxmlformats.org/officeDocument/2006/relationships/image"/><Relationship Id="rId7" Target="../media/image61.svg" Type="http://schemas.openxmlformats.org/officeDocument/2006/relationships/image"/><Relationship Id="rId8" Target="../media/image78.png" Type="http://schemas.openxmlformats.org/officeDocument/2006/relationships/image"/><Relationship Id="rId9" Target="../media/image79.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80.png" Type="http://schemas.openxmlformats.org/officeDocument/2006/relationships/image"/><Relationship Id="rId3" Target="../media/image81.svg" Type="http://schemas.openxmlformats.org/officeDocument/2006/relationships/image"/><Relationship Id="rId4" Target="../media/image82.png" Type="http://schemas.openxmlformats.org/officeDocument/2006/relationships/image"/><Relationship Id="rId5" Target="../media/image83.svg" Type="http://schemas.openxmlformats.org/officeDocument/2006/relationships/image"/><Relationship Id="rId6" Target="../notesSlides/notesSlide12.xml" Type="http://schemas.openxmlformats.org/officeDocument/2006/relationships/notesSlide"/></Relationships>
</file>

<file path=ppt/slides/_rels/slide13.xml.rels><?xml version="1.0" encoding="UTF-8" standalone="yes"?><Relationships xmlns="http://schemas.openxmlformats.org/package/2006/relationships"><Relationship Id="rId1" Target="../slideLayouts/slideLayout12.xml" Type="http://schemas.openxmlformats.org/officeDocument/2006/relationships/slideLayout"/><Relationship Id="rId10" Target="../notesSlides/notesSlide13.xml" Type="http://schemas.openxmlformats.org/officeDocument/2006/relationships/notesSlide"/><Relationship Id="rId2" Target="../media/image84.png" Type="http://schemas.openxmlformats.org/officeDocument/2006/relationships/image"/><Relationship Id="rId3" Target="../media/image85.svg" Type="http://schemas.openxmlformats.org/officeDocument/2006/relationships/image"/><Relationship Id="rId4" Target="../media/image86.png" Type="http://schemas.openxmlformats.org/officeDocument/2006/relationships/image"/><Relationship Id="rId5" Target="../media/image87.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32.png" Type="http://schemas.openxmlformats.org/officeDocument/2006/relationships/image"/><Relationship Id="rId9" Target="../media/image33.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94.png" Type="http://schemas.openxmlformats.org/officeDocument/2006/relationships/image"/><Relationship Id="rId11" Target="../media/image95.svg" Type="http://schemas.openxmlformats.org/officeDocument/2006/relationships/image"/><Relationship Id="rId12" Target="../media/image96.png" Type="http://schemas.openxmlformats.org/officeDocument/2006/relationships/image"/><Relationship Id="rId13" Target="../media/image97.svg" Type="http://schemas.openxmlformats.org/officeDocument/2006/relationships/image"/><Relationship Id="rId14" Target="../notesSlides/notesSlide14.xml" Type="http://schemas.openxmlformats.org/officeDocument/2006/relationships/notesSlide"/><Relationship Id="rId2" Target="../media/image88.png" Type="http://schemas.openxmlformats.org/officeDocument/2006/relationships/image"/><Relationship Id="rId3" Target="../media/image89.svg" Type="http://schemas.openxmlformats.org/officeDocument/2006/relationships/image"/><Relationship Id="rId4" Target="../media/image22.png" Type="http://schemas.openxmlformats.org/officeDocument/2006/relationships/image"/><Relationship Id="rId5" Target="../media/image23.svg" Type="http://schemas.openxmlformats.org/officeDocument/2006/relationships/image"/><Relationship Id="rId6" Target="../media/image90.png" Type="http://schemas.openxmlformats.org/officeDocument/2006/relationships/image"/><Relationship Id="rId7" Target="../media/image91.svg" Type="http://schemas.openxmlformats.org/officeDocument/2006/relationships/image"/><Relationship Id="rId8" Target="../media/image92.png" Type="http://schemas.openxmlformats.org/officeDocument/2006/relationships/image"/><Relationship Id="rId9" Target="../media/image93.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2.png" Type="http://schemas.openxmlformats.org/officeDocument/2006/relationships/image"/><Relationship Id="rId3" Target="../media/image23.svg" Type="http://schemas.openxmlformats.org/officeDocument/2006/relationships/image"/><Relationship Id="rId4" Target="../media/image98.png" Type="http://schemas.openxmlformats.org/officeDocument/2006/relationships/image"/><Relationship Id="rId5" Target="../media/image99.svg" Type="http://schemas.openxmlformats.org/officeDocument/2006/relationships/image"/><Relationship Id="rId6" Target="../notesSlides/notesSlide15.xml" Type="http://schemas.openxmlformats.org/officeDocument/2006/relationships/notesSlide"/></Relationships>
</file>

<file path=ppt/slides/_rels/slide16.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00.png" Type="http://schemas.openxmlformats.org/officeDocument/2006/relationships/image"/><Relationship Id="rId3" Target="../media/image101.svg" Type="http://schemas.openxmlformats.org/officeDocument/2006/relationships/image"/><Relationship Id="rId4" Target="../media/image96.png" Type="http://schemas.openxmlformats.org/officeDocument/2006/relationships/image"/><Relationship Id="rId5" Target="../media/image97.svg" Type="http://schemas.openxmlformats.org/officeDocument/2006/relationships/image"/><Relationship Id="rId6" Target="../media/image62.png" Type="http://schemas.openxmlformats.org/officeDocument/2006/relationships/image"/><Relationship Id="rId7" Target="../media/image63.svg" Type="http://schemas.openxmlformats.org/officeDocument/2006/relationships/image"/><Relationship Id="rId8" Target="../notesSlides/notesSlide16.xml" Type="http://schemas.openxmlformats.org/officeDocument/2006/relationships/notesSlide"/></Relationships>
</file>

<file path=ppt/slides/_rels/slide17.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02.png" Type="http://schemas.openxmlformats.org/officeDocument/2006/relationships/image"/><Relationship Id="rId3" Target="../media/image103.svg" Type="http://schemas.openxmlformats.org/officeDocument/2006/relationships/image"/><Relationship Id="rId4" Target="../media/image92.png" Type="http://schemas.openxmlformats.org/officeDocument/2006/relationships/image"/><Relationship Id="rId5" Target="../media/image93.svg" Type="http://schemas.openxmlformats.org/officeDocument/2006/relationships/image"/><Relationship Id="rId6" Target="../media/image76.png" Type="http://schemas.openxmlformats.org/officeDocument/2006/relationships/image"/><Relationship Id="rId7" Target="../media/image77.svg" Type="http://schemas.openxmlformats.org/officeDocument/2006/relationships/image"/><Relationship Id="rId8" Target="../notesSlides/notesSlide17.xml" Type="http://schemas.openxmlformats.org/officeDocument/2006/relationships/notesSlide"/></Relationships>
</file>

<file path=ppt/slides/_rels/slide18.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04.png" Type="http://schemas.openxmlformats.org/officeDocument/2006/relationships/image"/><Relationship Id="rId3" Target="../media/image105.svg" Type="http://schemas.openxmlformats.org/officeDocument/2006/relationships/image"/><Relationship Id="rId4" Target="../media/image82.png" Type="http://schemas.openxmlformats.org/officeDocument/2006/relationships/image"/><Relationship Id="rId5" Target="../media/image83.svg" Type="http://schemas.openxmlformats.org/officeDocument/2006/relationships/image"/><Relationship Id="rId6" Target="../media/image106.png" Type="http://schemas.openxmlformats.org/officeDocument/2006/relationships/image"/><Relationship Id="rId7" Target="../media/image107.svg" Type="http://schemas.openxmlformats.org/officeDocument/2006/relationships/image"/><Relationship Id="rId8" Target="../notesSlides/notesSlide18.xml" Type="http://schemas.openxmlformats.org/officeDocument/2006/relationships/notesSlide"/></Relationships>
</file>

<file path=ppt/slides/_rels/slide19.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77.svg" Type="http://schemas.openxmlformats.org/officeDocument/2006/relationships/image"/><Relationship Id="rId11" Target="../notesSlides/notesSlide19.xml" Type="http://schemas.openxmlformats.org/officeDocument/2006/relationships/notesSlide"/><Relationship Id="rId2" Target="../media/image7.jpeg" Type="http://schemas.openxmlformats.org/officeDocument/2006/relationships/image"/><Relationship Id="rId3" Target="../media/image108.png" Type="http://schemas.openxmlformats.org/officeDocument/2006/relationships/image"/><Relationship Id="rId4" Target="../media/image109.svg" Type="http://schemas.openxmlformats.org/officeDocument/2006/relationships/image"/><Relationship Id="rId5" Target="../media/image110.png" Type="http://schemas.openxmlformats.org/officeDocument/2006/relationships/image"/><Relationship Id="rId6" Target="../media/image111.svg" Type="http://schemas.openxmlformats.org/officeDocument/2006/relationships/image"/><Relationship Id="rId7" Target="../media/image112.png" Type="http://schemas.openxmlformats.org/officeDocument/2006/relationships/image"/><Relationship Id="rId8" Target="../media/image113.svg" Type="http://schemas.openxmlformats.org/officeDocument/2006/relationships/image"/><Relationship Id="rId9" Target="../media/image76.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12.xml" Type="http://schemas.openxmlformats.org/officeDocument/2006/relationships/slideLayout"/><Relationship Id="rId10" Target="../notesSlides/notesSlide20.xml" Type="http://schemas.openxmlformats.org/officeDocument/2006/relationships/notesSlide"/><Relationship Id="rId2" Target="../media/image70.png" Type="http://schemas.openxmlformats.org/officeDocument/2006/relationships/image"/><Relationship Id="rId3" Target="../media/image71.svg" Type="http://schemas.openxmlformats.org/officeDocument/2006/relationships/image"/><Relationship Id="rId4" Target="../media/image114.png" Type="http://schemas.openxmlformats.org/officeDocument/2006/relationships/image"/><Relationship Id="rId5" Target="../media/image115.svg" Type="http://schemas.openxmlformats.org/officeDocument/2006/relationships/image"/><Relationship Id="rId6" Target="../media/image116.png" Type="http://schemas.openxmlformats.org/officeDocument/2006/relationships/image"/><Relationship Id="rId7" Target="../media/image117.svg" Type="http://schemas.openxmlformats.org/officeDocument/2006/relationships/image"/><Relationship Id="rId8" Target="../media/image118.png" Type="http://schemas.openxmlformats.org/officeDocument/2006/relationships/image"/><Relationship Id="rId9" Target="../media/image119.sv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20.png" Type="http://schemas.openxmlformats.org/officeDocument/2006/relationships/image"/><Relationship Id="rId3" Target="../media/image121.svg" Type="http://schemas.openxmlformats.org/officeDocument/2006/relationships/image"/><Relationship Id="rId4" Target="../media/image122.png" Type="http://schemas.openxmlformats.org/officeDocument/2006/relationships/image"/><Relationship Id="rId5" Target="../media/image123.svg" Type="http://schemas.openxmlformats.org/officeDocument/2006/relationships/image"/><Relationship Id="rId6" Target="../media/image124.png" Type="http://schemas.openxmlformats.org/officeDocument/2006/relationships/image"/><Relationship Id="rId7" Target="../media/image125.svg" Type="http://schemas.openxmlformats.org/officeDocument/2006/relationships/image"/><Relationship Id="rId8" Target="../notesSlides/notesSlide21.xml" Type="http://schemas.openxmlformats.org/officeDocument/2006/relationships/notesSlide"/></Relationships>
</file>

<file path=ppt/slides/_rels/slide22.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7.jpeg" Type="http://schemas.openxmlformats.org/officeDocument/2006/relationships/image"/><Relationship Id="rId3" Target="../media/image36.png" Type="http://schemas.openxmlformats.org/officeDocument/2006/relationships/image"/><Relationship Id="rId4" Target="../media/image37.svg" Type="http://schemas.openxmlformats.org/officeDocument/2006/relationships/image"/><Relationship Id="rId5" Target="../media/image126.png" Type="http://schemas.openxmlformats.org/officeDocument/2006/relationships/image"/><Relationship Id="rId6" Target="../media/image127.svg" Type="http://schemas.openxmlformats.org/officeDocument/2006/relationships/image"/><Relationship Id="rId7" Target="../media/image128.png" Type="http://schemas.openxmlformats.org/officeDocument/2006/relationships/image"/><Relationship Id="rId8" Target="../media/image129.svg" Type="http://schemas.openxmlformats.org/officeDocument/2006/relationships/image"/><Relationship Id="rId9" Target="../notesSlides/notesSlide22.xml" Type="http://schemas.openxmlformats.org/officeDocument/2006/relationships/notesSlide"/></Relationships>
</file>

<file path=ppt/slides/_rels/slide23.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134.png" Type="http://schemas.openxmlformats.org/officeDocument/2006/relationships/image"/><Relationship Id="rId11" Target="../media/image135.svg" Type="http://schemas.openxmlformats.org/officeDocument/2006/relationships/image"/><Relationship Id="rId12" Target="../notesSlides/notesSlide23.xml" Type="http://schemas.openxmlformats.org/officeDocument/2006/relationships/notesSlide"/><Relationship Id="rId2" Target="../media/image5.png" Type="http://schemas.openxmlformats.org/officeDocument/2006/relationships/image"/><Relationship Id="rId3" Target="../media/image6.svg" Type="http://schemas.openxmlformats.org/officeDocument/2006/relationships/image"/><Relationship Id="rId4" Target="../media/image130.png" Type="http://schemas.openxmlformats.org/officeDocument/2006/relationships/image"/><Relationship Id="rId5" Target="../media/image131.svg" Type="http://schemas.openxmlformats.org/officeDocument/2006/relationships/image"/><Relationship Id="rId6" Target="../media/image68.png" Type="http://schemas.openxmlformats.org/officeDocument/2006/relationships/image"/><Relationship Id="rId7" Target="../media/image69.svg" Type="http://schemas.openxmlformats.org/officeDocument/2006/relationships/image"/><Relationship Id="rId8" Target="../media/image132.png" Type="http://schemas.openxmlformats.org/officeDocument/2006/relationships/image"/><Relationship Id="rId9" Target="../media/image133.sv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140.png" Type="http://schemas.openxmlformats.org/officeDocument/2006/relationships/image"/><Relationship Id="rId11" Target="../media/image141.svg" Type="http://schemas.openxmlformats.org/officeDocument/2006/relationships/image"/><Relationship Id="rId12" Target="../media/image142.png" Type="http://schemas.openxmlformats.org/officeDocument/2006/relationships/image"/><Relationship Id="rId13" Target="../media/image143.svg" Type="http://schemas.openxmlformats.org/officeDocument/2006/relationships/image"/><Relationship Id="rId14" Target="../notesSlides/notesSlide24.xml" Type="http://schemas.openxmlformats.org/officeDocument/2006/relationships/notesSlide"/><Relationship Id="rId2" Target="../media/image136.png" Type="http://schemas.openxmlformats.org/officeDocument/2006/relationships/image"/><Relationship Id="rId3" Target="../media/image137.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22.png" Type="http://schemas.openxmlformats.org/officeDocument/2006/relationships/image"/><Relationship Id="rId7" Target="../media/image23.svg" Type="http://schemas.openxmlformats.org/officeDocument/2006/relationships/image"/><Relationship Id="rId8" Target="../media/image138.png" Type="http://schemas.openxmlformats.org/officeDocument/2006/relationships/image"/><Relationship Id="rId9" Target="../media/image139.sv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126.png" Type="http://schemas.openxmlformats.org/officeDocument/2006/relationships/image"/><Relationship Id="rId11" Target="../media/image127.svg" Type="http://schemas.openxmlformats.org/officeDocument/2006/relationships/image"/><Relationship Id="rId12" Target="../notesSlides/notesSlide25.xml" Type="http://schemas.openxmlformats.org/officeDocument/2006/relationships/notesSlide"/><Relationship Id="rId2" Target="../media/image144.png" Type="http://schemas.openxmlformats.org/officeDocument/2006/relationships/image"/><Relationship Id="rId3" Target="../media/image145.svg" Type="http://schemas.openxmlformats.org/officeDocument/2006/relationships/image"/><Relationship Id="rId4" Target="../media/image146.png" Type="http://schemas.openxmlformats.org/officeDocument/2006/relationships/image"/><Relationship Id="rId5" Target="../media/image147.svg" Type="http://schemas.openxmlformats.org/officeDocument/2006/relationships/image"/><Relationship Id="rId6" Target="../media/image148.png" Type="http://schemas.openxmlformats.org/officeDocument/2006/relationships/image"/><Relationship Id="rId7" Target="../media/image149.svg" Type="http://schemas.openxmlformats.org/officeDocument/2006/relationships/image"/><Relationship Id="rId8" Target="../media/image150.png" Type="http://schemas.openxmlformats.org/officeDocument/2006/relationships/image"/><Relationship Id="rId9" Target="../media/image151.sv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158.png" Type="http://schemas.openxmlformats.org/officeDocument/2006/relationships/image"/><Relationship Id="rId11" Target="../media/image159.svg" Type="http://schemas.openxmlformats.org/officeDocument/2006/relationships/image"/><Relationship Id="rId12" Target="../media/image62.png" Type="http://schemas.openxmlformats.org/officeDocument/2006/relationships/image"/><Relationship Id="rId13" Target="../media/image63.svg" Type="http://schemas.openxmlformats.org/officeDocument/2006/relationships/image"/><Relationship Id="rId14" Target="../notesSlides/notesSlide26.xml" Type="http://schemas.openxmlformats.org/officeDocument/2006/relationships/notesSlide"/><Relationship Id="rId2" Target="../media/image12.png" Type="http://schemas.openxmlformats.org/officeDocument/2006/relationships/image"/><Relationship Id="rId3" Target="../media/image13.svg" Type="http://schemas.openxmlformats.org/officeDocument/2006/relationships/image"/><Relationship Id="rId4" Target="../media/image152.png" Type="http://schemas.openxmlformats.org/officeDocument/2006/relationships/image"/><Relationship Id="rId5" Target="../media/image153.svg" Type="http://schemas.openxmlformats.org/officeDocument/2006/relationships/image"/><Relationship Id="rId6" Target="../media/image154.png" Type="http://schemas.openxmlformats.org/officeDocument/2006/relationships/image"/><Relationship Id="rId7" Target="../media/image155.svg" Type="http://schemas.openxmlformats.org/officeDocument/2006/relationships/image"/><Relationship Id="rId8" Target="../media/image156.png" Type="http://schemas.openxmlformats.org/officeDocument/2006/relationships/image"/><Relationship Id="rId9" Target="../media/image157.sv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12.xml" Type="http://schemas.openxmlformats.org/officeDocument/2006/relationships/slideLayout"/><Relationship Id="rId10" Target="../notesSlides/notesSlide27.xml" Type="http://schemas.openxmlformats.org/officeDocument/2006/relationships/notesSlide"/><Relationship Id="rId2" Target="../media/image36.png" Type="http://schemas.openxmlformats.org/officeDocument/2006/relationships/image"/><Relationship Id="rId3" Target="../media/image37.svg" Type="http://schemas.openxmlformats.org/officeDocument/2006/relationships/image"/><Relationship Id="rId4" Target="../media/image130.png" Type="http://schemas.openxmlformats.org/officeDocument/2006/relationships/image"/><Relationship Id="rId5" Target="../media/image131.svg" Type="http://schemas.openxmlformats.org/officeDocument/2006/relationships/image"/><Relationship Id="rId6" Target="../media/image138.png" Type="http://schemas.openxmlformats.org/officeDocument/2006/relationships/image"/><Relationship Id="rId7" Target="../media/image139.svg" Type="http://schemas.openxmlformats.org/officeDocument/2006/relationships/image"/><Relationship Id="rId8" Target="../media/image134.png" Type="http://schemas.openxmlformats.org/officeDocument/2006/relationships/image"/><Relationship Id="rId9" Target="../media/image135.sv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28.xml" Type="http://schemas.openxmlformats.org/officeDocument/2006/relationships/notesSlide"/></Relationships>
</file>

<file path=ppt/slides/_rels/slide29.xml.rels><?xml version="1.0" encoding="UTF-8" standalone="yes"?><Relationships xmlns="http://schemas.openxmlformats.org/package/2006/relationships"><Relationship Id="rId1" Target="../slideLayouts/slideLayout12.xml" Type="http://schemas.openxmlformats.org/officeDocument/2006/relationships/slideLayout"/><Relationship Id="rId10" Target="../notesSlides/notesSlide29.xml" Type="http://schemas.openxmlformats.org/officeDocument/2006/relationships/notesSlide"/><Relationship Id="rId2" Target="../media/image5.png" Type="http://schemas.openxmlformats.org/officeDocument/2006/relationships/image"/><Relationship Id="rId3" Target="../media/image6.svg" Type="http://schemas.openxmlformats.org/officeDocument/2006/relationships/image"/><Relationship Id="rId4" Target="../media/image36.png" Type="http://schemas.openxmlformats.org/officeDocument/2006/relationships/image"/><Relationship Id="rId5" Target="../media/image37.svg" Type="http://schemas.openxmlformats.org/officeDocument/2006/relationships/image"/><Relationship Id="rId6" Target="../media/image76.png" Type="http://schemas.openxmlformats.org/officeDocument/2006/relationships/image"/><Relationship Id="rId7" Target="../media/image77.svg" Type="http://schemas.openxmlformats.org/officeDocument/2006/relationships/image"/><Relationship Id="rId8" Target="../media/image158.png" Type="http://schemas.openxmlformats.org/officeDocument/2006/relationships/image"/><Relationship Id="rId9" Target="../media/image159.sv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7.jpeg" Type="http://schemas.openxmlformats.org/officeDocument/2006/relationships/image"/><Relationship Id="rId3" Target="../media/image22.png" Type="http://schemas.openxmlformats.org/officeDocument/2006/relationships/image"/><Relationship Id="rId4" Target="../media/image23.svg" Type="http://schemas.openxmlformats.org/officeDocument/2006/relationships/image"/><Relationship Id="rId5" Target="../media/image160.png" Type="http://schemas.openxmlformats.org/officeDocument/2006/relationships/image"/><Relationship Id="rId6" Target="../media/image161.svg" Type="http://schemas.openxmlformats.org/officeDocument/2006/relationships/image"/><Relationship Id="rId7" Target="../media/image162.png" Type="http://schemas.openxmlformats.org/officeDocument/2006/relationships/image"/><Relationship Id="rId8" Target="../media/image163.svg" Type="http://schemas.openxmlformats.org/officeDocument/2006/relationships/image"/><Relationship Id="rId9" Target="../notesSlides/notesSlide30.xml" Type="http://schemas.openxmlformats.org/officeDocument/2006/relationships/notesSlide"/></Relationships>
</file>

<file path=ppt/slides/_rels/slide31.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72.png" Type="http://schemas.openxmlformats.org/officeDocument/2006/relationships/image"/><Relationship Id="rId11" Target="../media/image73.svg" Type="http://schemas.openxmlformats.org/officeDocument/2006/relationships/image"/><Relationship Id="rId12" Target="../notesSlides/notesSlide31.xml" Type="http://schemas.openxmlformats.org/officeDocument/2006/relationships/notesSlide"/><Relationship Id="rId2" Target="../media/image70.png" Type="http://schemas.openxmlformats.org/officeDocument/2006/relationships/image"/><Relationship Id="rId3" Target="../media/image71.svg" Type="http://schemas.openxmlformats.org/officeDocument/2006/relationships/image"/><Relationship Id="rId4" Target="../media/image130.png" Type="http://schemas.openxmlformats.org/officeDocument/2006/relationships/image"/><Relationship Id="rId5" Target="../media/image131.svg" Type="http://schemas.openxmlformats.org/officeDocument/2006/relationships/image"/><Relationship Id="rId6" Target="../media/image164.png" Type="http://schemas.openxmlformats.org/officeDocument/2006/relationships/image"/><Relationship Id="rId7" Target="../media/image165.svg" Type="http://schemas.openxmlformats.org/officeDocument/2006/relationships/image"/><Relationship Id="rId8" Target="../media/image166.png" Type="http://schemas.openxmlformats.org/officeDocument/2006/relationships/image"/><Relationship Id="rId9" Target="../media/image167.sv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68.png" Type="http://schemas.openxmlformats.org/officeDocument/2006/relationships/image"/><Relationship Id="rId3" Target="../media/image169.svg" Type="http://schemas.openxmlformats.org/officeDocument/2006/relationships/image"/><Relationship Id="rId4" Target="../media/image170.png" Type="http://schemas.openxmlformats.org/officeDocument/2006/relationships/image"/><Relationship Id="rId5" Target="../media/image171.svg" Type="http://schemas.openxmlformats.org/officeDocument/2006/relationships/image"/><Relationship Id="rId6" Target="../media/image172.png" Type="http://schemas.openxmlformats.org/officeDocument/2006/relationships/image"/><Relationship Id="rId7" Target="../media/image173.svg" Type="http://schemas.openxmlformats.org/officeDocument/2006/relationships/image"/><Relationship Id="rId8" Target="../notesSlides/notesSlide32.xml" Type="http://schemas.openxmlformats.org/officeDocument/2006/relationships/notesSlide"/></Relationships>
</file>

<file path=ppt/slides/_rels/slide33.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119.svg" Type="http://schemas.openxmlformats.org/officeDocument/2006/relationships/image"/><Relationship Id="rId11" Target="../notesSlides/notesSlide33.xml" Type="http://schemas.openxmlformats.org/officeDocument/2006/relationships/notesSlide"/><Relationship Id="rId2" Target="../media/image7.jpeg" Type="http://schemas.openxmlformats.org/officeDocument/2006/relationships/image"/><Relationship Id="rId3" Target="../media/image174.png" Type="http://schemas.openxmlformats.org/officeDocument/2006/relationships/image"/><Relationship Id="rId4" Target="../media/image175.svg" Type="http://schemas.openxmlformats.org/officeDocument/2006/relationships/image"/><Relationship Id="rId5" Target="../media/image5.png" Type="http://schemas.openxmlformats.org/officeDocument/2006/relationships/image"/><Relationship Id="rId6" Target="../media/image6.svg" Type="http://schemas.openxmlformats.org/officeDocument/2006/relationships/image"/><Relationship Id="rId7" Target="../media/image116.png" Type="http://schemas.openxmlformats.org/officeDocument/2006/relationships/image"/><Relationship Id="rId8" Target="../media/image117.svg" Type="http://schemas.openxmlformats.org/officeDocument/2006/relationships/image"/><Relationship Id="rId9" Target="../media/image118.pn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181.svg" Type="http://schemas.openxmlformats.org/officeDocument/2006/relationships/image"/><Relationship Id="rId11" Target="../media/image182.png" Type="http://schemas.openxmlformats.org/officeDocument/2006/relationships/image"/><Relationship Id="rId12" Target="../media/image183.svg" Type="http://schemas.openxmlformats.org/officeDocument/2006/relationships/image"/><Relationship Id="rId13" Target="../notesSlides/notesSlide34.xml" Type="http://schemas.openxmlformats.org/officeDocument/2006/relationships/notesSlide"/><Relationship Id="rId2" Target="../media/image7.jpeg" Type="http://schemas.openxmlformats.org/officeDocument/2006/relationships/image"/><Relationship Id="rId3" Target="../media/image176.png" Type="http://schemas.openxmlformats.org/officeDocument/2006/relationships/image"/><Relationship Id="rId4" Target="../media/image177.svg" Type="http://schemas.openxmlformats.org/officeDocument/2006/relationships/image"/><Relationship Id="rId5" Target="../media/image178.png" Type="http://schemas.openxmlformats.org/officeDocument/2006/relationships/image"/><Relationship Id="rId6" Target="../media/image179.svg" Type="http://schemas.openxmlformats.org/officeDocument/2006/relationships/image"/><Relationship Id="rId7" Target="../media/image86.png" Type="http://schemas.openxmlformats.org/officeDocument/2006/relationships/image"/><Relationship Id="rId8" Target="../media/image87.svg" Type="http://schemas.openxmlformats.org/officeDocument/2006/relationships/image"/><Relationship Id="rId9" Target="../media/image180.pn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188.png" Type="http://schemas.openxmlformats.org/officeDocument/2006/relationships/image"/><Relationship Id="rId11" Target="../media/image189.svg" Type="http://schemas.openxmlformats.org/officeDocument/2006/relationships/image"/><Relationship Id="rId12" Target="../media/image190.png" Type="http://schemas.openxmlformats.org/officeDocument/2006/relationships/image"/><Relationship Id="rId13" Target="../media/image191.svg" Type="http://schemas.openxmlformats.org/officeDocument/2006/relationships/image"/><Relationship Id="rId14" Target="../media/image62.png" Type="http://schemas.openxmlformats.org/officeDocument/2006/relationships/image"/><Relationship Id="rId15" Target="../media/image63.svg" Type="http://schemas.openxmlformats.org/officeDocument/2006/relationships/image"/><Relationship Id="rId16" Target="../notesSlides/notesSlide35.xml" Type="http://schemas.openxmlformats.org/officeDocument/2006/relationships/notesSlide"/><Relationship Id="rId17" Target="../media/image192.png" Type="http://schemas.openxmlformats.org/officeDocument/2006/relationships/image"/><Relationship Id="rId2" Target="../media/image184.png" Type="http://schemas.openxmlformats.org/officeDocument/2006/relationships/image"/><Relationship Id="rId3" Target="../media/image185.svg" Type="http://schemas.openxmlformats.org/officeDocument/2006/relationships/image"/><Relationship Id="rId4" Target="../media/image92.png" Type="http://schemas.openxmlformats.org/officeDocument/2006/relationships/image"/><Relationship Id="rId5" Target="../media/image93.svg" Type="http://schemas.openxmlformats.org/officeDocument/2006/relationships/image"/><Relationship Id="rId6" Target="../media/image186.png" Type="http://schemas.openxmlformats.org/officeDocument/2006/relationships/image"/><Relationship Id="rId7" Target="../media/image187.svg" Type="http://schemas.openxmlformats.org/officeDocument/2006/relationships/image"/><Relationship Id="rId8" Target="../media/image82.png" Type="http://schemas.openxmlformats.org/officeDocument/2006/relationships/image"/><Relationship Id="rId9" Target="../media/image83.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A192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A192F">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0" y="0"/>
            <a:ext cx="12192000" cy="50800"/>
          </a:xfrm>
          <a:prstGeom prst="roundRect">
            <a:avLst>
              <a:gd name="adj" fmla="val 0"/>
            </a:avLst>
          </a:prstGeom>
          <a:solidFill>
            <a:srgbClr val="00BFFF">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1016000" y="2032000"/>
            <a:ext cx="10160000" cy="762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3600">
                <a:solidFill>
                  <a:srgbClr val="FFFFFF"/>
                </a:solidFill>
                <a:latin typeface="Noto Sans SC"/>
                <a:ea typeface="Noto Sans SC"/>
                <a:cs typeface="Noto Sans SC"/>
                <a:sym typeface="Noto Sans SC"/>
              </a:rPr>
              <a:t>AI Agent系统工程实战</a:t>
            </a:r>
            <a:endParaRPr lang="en-US" sz="1100"/>
          </a:p>
        </p:txBody>
      </p:sp>
      <p:sp>
        <p:nvSpPr>
          <p:cNvPr name="AutoShape 5" id="5"/>
          <p:cNvSpPr/>
          <p:nvPr/>
        </p:nvSpPr>
        <p:spPr>
          <a:xfrm rot="0" flipH="false" flipV="false">
            <a:off x="1016000" y="2857500"/>
            <a:ext cx="10160000" cy="508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2000">
                <a:solidFill>
                  <a:srgbClr val="00BFFF"/>
                </a:solidFill>
                <a:latin typeface="Noto Sans SC"/>
                <a:ea typeface="Noto Sans SC"/>
                <a:cs typeface="Noto Sans SC"/>
                <a:sym typeface="Noto Sans SC"/>
              </a:rPr>
              <a:t>第3课：从独行侠到团队</a:t>
            </a:r>
            <a:endParaRPr lang="en-US" sz="1100"/>
          </a:p>
        </p:txBody>
      </p:sp>
      <p:sp>
        <p:nvSpPr>
          <p:cNvPr name="AutoShape 6" id="6"/>
          <p:cNvSpPr/>
          <p:nvPr/>
        </p:nvSpPr>
        <p:spPr>
          <a:xfrm rot="0" flipH="false" flipV="false">
            <a:off x="1016000" y="3365500"/>
            <a:ext cx="10160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600">
                <a:solidFill>
                  <a:srgbClr val="FFFFFF">
                    <a:alpha val="80000"/>
                  </a:srgbClr>
                </a:solidFill>
                <a:latin typeface="Noto Sans SC"/>
                <a:ea typeface="Noto Sans SC"/>
                <a:cs typeface="Noto Sans SC"/>
                <a:sym typeface="Noto Sans SC"/>
              </a:rPr>
              <a:t>—— 多Agent架构设计与实现</a:t>
            </a:r>
            <a:endParaRPr lang="en-US" sz="1100"/>
          </a:p>
        </p:txBody>
      </p:sp>
      <p:cxnSp>
        <p:nvCxnSpPr>
          <p:cNvPr name="Connector 7" id="7"/>
          <p:cNvCxnSpPr/>
          <p:nvPr/>
        </p:nvCxnSpPr>
        <p:spPr>
          <a:xfrm rot="-34376" flipH="false" flipV="false">
            <a:off x="5461032" y="3930650"/>
            <a:ext cx="1270000" cy="12700"/>
          </a:xfrm>
          <a:prstGeom prst="straightConnector1">
            <a:avLst/>
          </a:prstGeom>
          <a:solidFill>
            <a:srgbClr val="DEE0E3">
              <a:alpha val="100000"/>
            </a:srgbClr>
          </a:solidFill>
          <a:ln w="12700" cmpd="sng" cap="flat">
            <a:solidFill>
              <a:srgbClr val="FFFFFF">
                <a:alpha val="30000"/>
              </a:srgbClr>
            </a:solidFill>
            <a:prstDash val="solid"/>
            <a:round/>
            <a:headEnd type="none" w="med" len="med"/>
            <a:tailEnd type="none" w="med" len="med"/>
          </a:ln>
        </p:spPr>
      </p:cxnSp>
      <p:sp>
        <p:nvSpPr>
          <p:cNvPr name="AutoShape 8" id="8"/>
          <p:cNvSpPr/>
          <p:nvPr/>
        </p:nvSpPr>
        <p:spPr>
          <a:xfrm rot="0" flipH="false" flipV="false">
            <a:off x="2286000" y="4318000"/>
            <a:ext cx="7620000" cy="762000"/>
          </a:xfrm>
          <a:prstGeom prst="roundRect">
            <a:avLst>
              <a:gd name="adj" fmla="val 16666"/>
            </a:avLst>
          </a:prstGeom>
          <a:solidFill>
            <a:srgbClr val="FFFFFF">
              <a:alpha val="5000"/>
            </a:srgbClr>
          </a:solidFill>
          <a:ln w="12700" cmpd="sng" cap="flat">
            <a:solidFill>
              <a:srgbClr val="FFFFFF">
                <a:alpha val="10000"/>
              </a:srgbClr>
            </a:solidFill>
            <a:prstDash val="solid"/>
            <a:round/>
          </a:ln>
        </p:spPr>
        <p:txBody>
          <a:bodyPr anchor="ctr" rtlCol="false" vert="horz" wrap="square" lIns="63500" rIns="63500" tIns="63500" bIns="63500"/>
          <a:lstStyle/>
          <a:p>
            <a:pPr algn="ctr">
              <a:defRPr/>
            </a:pPr>
            <a:endParaRPr/>
          </a:p>
        </p:txBody>
      </p:sp>
      <p:pic>
        <p:nvPicPr>
          <p:cNvPr name="Picture 9" id="9"/>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2667000" y="4572000"/>
            <a:ext cx="254000" cy="254000"/>
          </a:xfrm>
          <a:prstGeom prst="rect">
            <a:avLst/>
          </a:prstGeom>
        </p:spPr>
      </p:pic>
      <p:sp>
        <p:nvSpPr>
          <p:cNvPr name="AutoShape 10" id="10"/>
          <p:cNvSpPr/>
          <p:nvPr/>
        </p:nvSpPr>
        <p:spPr>
          <a:xfrm rot="0" flipH="false" flipV="false">
            <a:off x="2984500" y="4546600"/>
            <a:ext cx="1524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AAAAAA"/>
                </a:solidFill>
                <a:latin typeface="Noto Sans SC"/>
                <a:ea typeface="Noto Sans SC"/>
                <a:cs typeface="Noto Sans SC"/>
                <a:sym typeface="Noto Sans SC"/>
              </a:rPr>
              <a:t>第4章</a:t>
            </a:r>
            <a:endParaRPr lang="en-US" sz="1100"/>
          </a:p>
        </p:txBody>
      </p:sp>
      <p:cxnSp>
        <p:nvCxnSpPr>
          <p:cNvPr name="Connector 11" id="11"/>
          <p:cNvCxnSpPr/>
          <p:nvPr/>
        </p:nvCxnSpPr>
        <p:spPr>
          <a:xfrm rot="5285450" flipH="false" flipV="false">
            <a:off x="4254500" y="4692756"/>
            <a:ext cx="381000" cy="12700"/>
          </a:xfrm>
          <a:prstGeom prst="straightConnector1">
            <a:avLst/>
          </a:prstGeom>
          <a:solidFill>
            <a:srgbClr val="DEE0E3">
              <a:alpha val="100000"/>
            </a:srgbClr>
          </a:solidFill>
          <a:ln w="12700" cmpd="sng" cap="flat">
            <a:solidFill>
              <a:srgbClr val="FFFFFF">
                <a:alpha val="20000"/>
              </a:srgbClr>
            </a:solidFill>
            <a:prstDash val="solid"/>
            <a:round/>
            <a:headEnd type="none" w="med" len="med"/>
            <a:tailEnd type="none" w="med" len="med"/>
          </a:ln>
        </p:spPr>
      </p:cxnSp>
      <p:pic>
        <p:nvPicPr>
          <p:cNvPr name="Picture 12" id="12"/>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4699000" y="4572000"/>
            <a:ext cx="254000" cy="254000"/>
          </a:xfrm>
          <a:prstGeom prst="rect">
            <a:avLst/>
          </a:prstGeom>
        </p:spPr>
      </p:pic>
      <p:sp>
        <p:nvSpPr>
          <p:cNvPr name="AutoShape 13" id="13"/>
          <p:cNvSpPr/>
          <p:nvPr/>
        </p:nvSpPr>
        <p:spPr>
          <a:xfrm rot="0" flipH="false" flipV="false">
            <a:off x="5016500" y="4546600"/>
            <a:ext cx="1524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AAAAAA"/>
                </a:solidFill>
                <a:latin typeface="Noto Sans SC"/>
                <a:ea typeface="Noto Sans SC"/>
                <a:cs typeface="Noto Sans SC"/>
                <a:sym typeface="Noto Sans SC"/>
              </a:rPr>
              <a:t>难度：中高级</a:t>
            </a:r>
            <a:endParaRPr lang="en-US" sz="1100"/>
          </a:p>
        </p:txBody>
      </p:sp>
      <p:cxnSp>
        <p:nvCxnSpPr>
          <p:cNvPr name="Connector 14" id="14"/>
          <p:cNvCxnSpPr/>
          <p:nvPr/>
        </p:nvCxnSpPr>
        <p:spPr>
          <a:xfrm rot="5285450" flipH="false" flipV="false">
            <a:off x="6286500" y="4692756"/>
            <a:ext cx="381000" cy="12700"/>
          </a:xfrm>
          <a:prstGeom prst="straightConnector1">
            <a:avLst/>
          </a:prstGeom>
          <a:solidFill>
            <a:srgbClr val="DEE0E3">
              <a:alpha val="100000"/>
            </a:srgbClr>
          </a:solidFill>
          <a:ln w="12700" cmpd="sng" cap="flat">
            <a:solidFill>
              <a:srgbClr val="FFFFFF">
                <a:alpha val="20000"/>
              </a:srgbClr>
            </a:solidFill>
            <a:prstDash val="solid"/>
            <a:round/>
            <a:headEnd type="none" w="med" len="med"/>
            <a:tailEnd type="none" w="med" len="med"/>
          </a:ln>
        </p:spPr>
      </p:cxnSp>
      <p:pic>
        <p:nvPicPr>
          <p:cNvPr name="Picture 15" id="15"/>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6731000" y="4572000"/>
            <a:ext cx="254000" cy="254000"/>
          </a:xfrm>
          <a:prstGeom prst="rect">
            <a:avLst/>
          </a:prstGeom>
        </p:spPr>
      </p:pic>
      <p:sp>
        <p:nvSpPr>
          <p:cNvPr name="AutoShape 16" id="16"/>
          <p:cNvSpPr/>
          <p:nvPr/>
        </p:nvSpPr>
        <p:spPr>
          <a:xfrm rot="0" flipH="false" flipV="false">
            <a:off x="7048500" y="4546600"/>
            <a:ext cx="1524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AAAAAA"/>
                </a:solidFill>
                <a:latin typeface="Noto Sans SC"/>
                <a:ea typeface="Noto Sans SC"/>
                <a:cs typeface="Noto Sans SC"/>
                <a:sym typeface="Noto Sans SC"/>
              </a:rPr>
              <a:t>时长：3小时</a:t>
            </a:r>
            <a:endParaRPr lang="en-US" sz="1100"/>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0A0F1E">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A1428">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1016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今天的旅程</a:t>
            </a:r>
            <a:endParaRPr lang="en-US" sz="1100"/>
          </a:p>
        </p:txBody>
      </p:sp>
      <p:sp>
        <p:nvSpPr>
          <p:cNvPr name="AutoShape 4" id="4"/>
          <p:cNvSpPr/>
          <p:nvPr/>
        </p:nvSpPr>
        <p:spPr>
          <a:xfrm rot="0" flipH="false" flipV="false">
            <a:off x="762000" y="1905000"/>
            <a:ext cx="10668000" cy="4318000"/>
          </a:xfrm>
          <a:prstGeom prst="roundRect">
            <a:avLst>
              <a:gd name="adj" fmla="val 2941"/>
            </a:avLst>
          </a:prstGeom>
          <a:solidFill>
            <a:srgbClr val="FFFFFF">
              <a:alpha val="5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graphicFrame>
        <p:nvGraphicFramePr>
          <p:cNvPr name="Table 5" id="5"/>
          <p:cNvGraphicFramePr>
            <a:graphicFrameLocks noGrp="true"/>
          </p:cNvGraphicFramePr>
          <p:nvPr/>
        </p:nvGraphicFramePr>
        <p:xfrm>
          <a:off x="1016000" y="2159000"/>
          <a:ext cx="9652000" cy="3352800"/>
        </p:xfrm>
        <a:graphic>
          <a:graphicData uri="http://schemas.openxmlformats.org/drawingml/2006/table">
            <a:tbl>
              <a:tblPr>
                <a:effectLst/>
              </a:tblPr>
              <a:tblGrid>
                <a:gridCol w="1524000"/>
                <a:gridCol w="5588000"/>
                <a:gridCol w="2540000"/>
              </a:tblGrid>
              <a:tr h="508000">
                <a:tc>
                  <a:txBody>
                    <a:bodyPr anchor="t" rtlCol="false"/>
                    <a:lstStyle/>
                    <a:p>
                      <a:pPr algn="ctr" indent="0">
                        <a:lnSpc>
                          <a:spcPct val="100000"/>
                        </a:lnSpc>
                        <a:defRPr/>
                      </a:pPr>
                      <a:r>
                        <a:rPr lang="en-US" b="true" i="false" strike="noStrike" u="none" sz="1600">
                          <a:solidFill>
                            <a:srgbClr val="00BFFF"/>
                          </a:solidFill>
                          <a:latin typeface="Noto Sans SC"/>
                          <a:ea typeface="Noto Sans SC"/>
                          <a:cs typeface="Noto Sans SC"/>
                          <a:sym typeface="Noto Sans SC"/>
                        </a:rPr>
                        <a:t>模块</a:t>
                      </a:r>
                      <a:endParaRPr lang="en-US" sz="1100"/>
                    </a:p>
                  </a:txBody>
                  <a:tcPr anchor="ctr" anchorCtr="false" marL="101600" marR="101600" marT="101600" marB="101600">
                    <a:lnL>
                      <a:noFill/>
                    </a:lnL>
                    <a:lnR>
                      <a:noFill/>
                    </a:lnR>
                    <a:lnT>
                      <a:noFill/>
                    </a:lnT>
                    <a:lnB>
                      <a:noFill/>
                    </a:lnB>
                    <a:solidFill>
                      <a:srgbClr val="00BFFF">
                        <a:alpha val="20000"/>
                      </a:srgbClr>
                    </a:solidFill>
                  </a:tcPr>
                </a:tc>
                <a:tc>
                  <a:txBody>
                    <a:bodyPr anchor="t" rtlCol="false"/>
                    <a:lstStyle/>
                    <a:p>
                      <a:pPr algn="l" indent="0">
                        <a:lnSpc>
                          <a:spcPct val="100000"/>
                        </a:lnSpc>
                        <a:defRPr/>
                      </a:pPr>
                      <a:r>
                        <a:rPr lang="en-US" b="true" i="false" strike="noStrike" u="none" sz="1600">
                          <a:solidFill>
                            <a:srgbClr val="00BFFF"/>
                          </a:solidFill>
                          <a:latin typeface="Noto Sans SC"/>
                          <a:ea typeface="Noto Sans SC"/>
                          <a:cs typeface="Noto Sans SC"/>
                          <a:sym typeface="Noto Sans SC"/>
                        </a:rPr>
                        <a:t>主题内容</a:t>
                      </a:r>
                      <a:endParaRPr lang="en-US" sz="1100"/>
                    </a:p>
                  </a:txBody>
                  <a:tcPr anchor="ctr" anchorCtr="false" marL="101600" marR="101600" marT="101600" marB="101600">
                    <a:lnL>
                      <a:noFill/>
                    </a:lnL>
                    <a:lnR>
                      <a:noFill/>
                    </a:lnR>
                    <a:lnT>
                      <a:noFill/>
                    </a:lnT>
                    <a:lnB>
                      <a:noFill/>
                    </a:lnB>
                    <a:solidFill>
                      <a:srgbClr val="00BFFF">
                        <a:alpha val="20000"/>
                      </a:srgbClr>
                    </a:solidFill>
                  </a:tcPr>
                </a:tc>
                <a:tc>
                  <a:txBody>
                    <a:bodyPr anchor="t" rtlCol="false"/>
                    <a:lstStyle/>
                    <a:p>
                      <a:pPr algn="ctr" indent="0">
                        <a:lnSpc>
                          <a:spcPct val="100000"/>
                        </a:lnSpc>
                        <a:defRPr/>
                      </a:pPr>
                      <a:r>
                        <a:rPr lang="en-US" b="true" i="false" strike="noStrike" u="none" sz="1600">
                          <a:solidFill>
                            <a:srgbClr val="00BFFF"/>
                          </a:solidFill>
                          <a:latin typeface="Noto Sans SC"/>
                          <a:ea typeface="Noto Sans SC"/>
                          <a:cs typeface="Noto Sans SC"/>
                          <a:sym typeface="Noto Sans SC"/>
                        </a:rPr>
                        <a:t>时间安排</a:t>
                      </a:r>
                      <a:endParaRPr lang="en-US" sz="1100"/>
                    </a:p>
                  </a:txBody>
                  <a:tcPr anchor="ctr" anchorCtr="false" marL="101600" marR="101600" marT="101600" marB="101600">
                    <a:lnL>
                      <a:noFill/>
                    </a:lnL>
                    <a:lnR>
                      <a:noFill/>
                    </a:lnR>
                    <a:lnT>
                      <a:noFill/>
                    </a:lnT>
                    <a:lnB>
                      <a:noFill/>
                    </a:lnB>
                    <a:solidFill>
                      <a:srgbClr val="00BFFF">
                        <a:alpha val="20000"/>
                      </a:srgbClr>
                    </a:solidFill>
                  </a:tcPr>
                </a:tc>
              </a:tr>
              <a:tr h="406400">
                <a:tc>
                  <a:txBody>
                    <a:bodyPr anchor="t" rtlCol="false"/>
                    <a:lstStyle/>
                    <a:p>
                      <a:pPr algn="ctr" indent="0">
                        <a:lnSpc>
                          <a:spcPct val="100000"/>
                        </a:lnSpc>
                        <a:defRPr/>
                      </a:pPr>
                      <a:r>
                        <a:rPr lang="en-US" b="false" i="false" strike="noStrike" u="none" sz="1400">
                          <a:solidFill>
                            <a:srgbClr val="C8C8C8"/>
                          </a:solidFill>
                          <a:latin typeface="Noto Sans SC"/>
                          <a:ea typeface="Noto Sans SC"/>
                          <a:cs typeface="Noto Sans SC"/>
                          <a:sym typeface="Noto Sans SC"/>
                        </a:rPr>
                        <a:t>3.1</a:t>
                      </a:r>
                      <a:endParaRPr lang="en-US" sz="1100"/>
                    </a:p>
                  </a:txBody>
                  <a:tcPr anchor="ctr" anchorCtr="false" marL="101600" marR="101600" marT="101600" marB="101600">
                    <a:lnL>
                      <a:noFill/>
                    </a:lnL>
                    <a:lnR>
                      <a:noFill/>
                    </a:lnR>
                    <a:lnT>
                      <a:noFill/>
                    </a:lnT>
                    <a:lnB>
                      <a:noFill/>
                    </a:lnB>
                    <a:noFill/>
                  </a:tcPr>
                </a:tc>
                <a:tc>
                  <a:txBody>
                    <a:bodyPr anchor="t" rtlCol="false"/>
                    <a:lstStyle/>
                    <a:p>
                      <a:pPr algn="l" indent="0">
                        <a:lnSpc>
                          <a:spcPct val="100000"/>
                        </a:lnSpc>
                        <a:defRPr/>
                      </a:pPr>
                      <a:r>
                        <a:rPr lang="en-US" b="false" i="false" strike="noStrike" u="none" sz="1400">
                          <a:solidFill>
                            <a:srgbClr val="FFFFFF"/>
                          </a:solidFill>
                          <a:latin typeface="Noto Sans SC"/>
                          <a:ea typeface="Noto Sans SC"/>
                          <a:cs typeface="Noto Sans SC"/>
                          <a:sym typeface="Noto Sans SC"/>
                        </a:rPr>
                        <a:t>单Agent瓶颈分析</a:t>
                      </a:r>
                      <a:endParaRPr lang="en-US" sz="1100"/>
                    </a:p>
                  </a:txBody>
                  <a:tcPr anchor="ctr" anchorCtr="false" marL="101600" marR="101600" marT="101600" marB="101600">
                    <a:lnL>
                      <a:noFill/>
                    </a:lnL>
                    <a:lnR>
                      <a:noFill/>
                    </a:lnR>
                    <a:lnT>
                      <a:noFill/>
                    </a:lnT>
                    <a:lnB>
                      <a:noFill/>
                    </a:lnB>
                    <a:noFill/>
                  </a:tcPr>
                </a:tc>
                <a:tc>
                  <a:txBody>
                    <a:bodyPr anchor="t" rtlCol="false"/>
                    <a:lstStyle/>
                    <a:p>
                      <a:pPr algn="ctr" indent="0">
                        <a:lnSpc>
                          <a:spcPct val="100000"/>
                        </a:lnSpc>
                        <a:defRPr/>
                      </a:pPr>
                      <a:r>
                        <a:rPr lang="en-US" b="false" i="false" strike="noStrike" u="none" sz="1400">
                          <a:solidFill>
                            <a:srgbClr val="AAAAAA"/>
                          </a:solidFill>
                          <a:latin typeface="Noto Sans SC"/>
                          <a:ea typeface="Noto Sans SC"/>
                          <a:cs typeface="Noto Sans SC"/>
                          <a:sym typeface="Noto Sans SC"/>
                        </a:rPr>
                        <a:t>0:00 - 0:25</a:t>
                      </a:r>
                      <a:endParaRPr lang="en-US" sz="1100"/>
                    </a:p>
                  </a:txBody>
                  <a:tcPr anchor="ctr" anchorCtr="false" marL="101600" marR="101600" marT="101600" marB="101600">
                    <a:lnL>
                      <a:noFill/>
                    </a:lnL>
                    <a:lnR>
                      <a:noFill/>
                    </a:lnR>
                    <a:lnT>
                      <a:noFill/>
                    </a:lnT>
                    <a:lnB>
                      <a:noFill/>
                    </a:lnB>
                    <a:noFill/>
                  </a:tcPr>
                </a:tc>
              </a:tr>
              <a:tr h="406400">
                <a:tc>
                  <a:txBody>
                    <a:bodyPr anchor="t" rtlCol="false"/>
                    <a:lstStyle/>
                    <a:p>
                      <a:pPr algn="ctr" indent="0">
                        <a:lnSpc>
                          <a:spcPct val="100000"/>
                        </a:lnSpc>
                        <a:defRPr/>
                      </a:pPr>
                      <a:r>
                        <a:rPr lang="en-US" b="false" i="false" strike="noStrike" u="none" sz="1400">
                          <a:solidFill>
                            <a:srgbClr val="C8C8C8"/>
                          </a:solidFill>
                          <a:latin typeface="Noto Sans SC"/>
                          <a:ea typeface="Noto Sans SC"/>
                          <a:cs typeface="Noto Sans SC"/>
                          <a:sym typeface="Noto Sans SC"/>
                        </a:rPr>
                        <a:t>3.2</a:t>
                      </a:r>
                      <a:endParaRPr lang="en-US" sz="1100"/>
                    </a:p>
                  </a:txBody>
                  <a:tcPr anchor="ctr" anchorCtr="false" marL="101600" marR="101600" marT="101600" marB="101600">
                    <a:lnL>
                      <a:noFill/>
                    </a:lnL>
                    <a:lnR>
                      <a:noFill/>
                    </a:lnR>
                    <a:lnT>
                      <a:noFill/>
                    </a:lnT>
                    <a:lnB>
                      <a:noFill/>
                    </a:lnB>
                    <a:noFill/>
                  </a:tcPr>
                </a:tc>
                <a:tc>
                  <a:txBody>
                    <a:bodyPr anchor="t" rtlCol="false"/>
                    <a:lstStyle/>
                    <a:p>
                      <a:pPr algn="l" indent="0">
                        <a:lnSpc>
                          <a:spcPct val="100000"/>
                        </a:lnSpc>
                        <a:defRPr/>
                      </a:pPr>
                      <a:r>
                        <a:rPr lang="en-US" b="false" i="false" strike="noStrike" u="none" sz="1400">
                          <a:solidFill>
                            <a:srgbClr val="FFFFFF"/>
                          </a:solidFill>
                          <a:latin typeface="Noto Sans SC"/>
                          <a:ea typeface="Noto Sans SC"/>
                          <a:cs typeface="Noto Sans SC"/>
                          <a:sym typeface="Noto Sans SC"/>
                        </a:rPr>
                        <a:t>多Agent架构设计</a:t>
                      </a:r>
                      <a:endParaRPr lang="en-US" sz="1100"/>
                    </a:p>
                  </a:txBody>
                  <a:tcPr anchor="ctr" anchorCtr="false" marL="101600" marR="101600" marT="101600" marB="101600">
                    <a:lnL>
                      <a:noFill/>
                    </a:lnL>
                    <a:lnR>
                      <a:noFill/>
                    </a:lnR>
                    <a:lnT>
                      <a:noFill/>
                    </a:lnT>
                    <a:lnB>
                      <a:noFill/>
                    </a:lnB>
                    <a:noFill/>
                  </a:tcPr>
                </a:tc>
                <a:tc>
                  <a:txBody>
                    <a:bodyPr anchor="t" rtlCol="false"/>
                    <a:lstStyle/>
                    <a:p>
                      <a:pPr algn="ctr" indent="0">
                        <a:lnSpc>
                          <a:spcPct val="100000"/>
                        </a:lnSpc>
                        <a:defRPr/>
                      </a:pPr>
                      <a:r>
                        <a:rPr lang="en-US" b="false" i="false" strike="noStrike" u="none" sz="1400">
                          <a:solidFill>
                            <a:srgbClr val="AAAAAA"/>
                          </a:solidFill>
                          <a:latin typeface="Noto Sans SC"/>
                          <a:ea typeface="Noto Sans SC"/>
                          <a:cs typeface="Noto Sans SC"/>
                          <a:sym typeface="Noto Sans SC"/>
                        </a:rPr>
                        <a:t>0:25 - 0:50</a:t>
                      </a:r>
                      <a:endParaRPr lang="en-US" sz="1100"/>
                    </a:p>
                  </a:txBody>
                  <a:tcPr anchor="ctr" anchorCtr="false" marL="101600" marR="101600" marT="101600" marB="101600">
                    <a:lnL>
                      <a:noFill/>
                    </a:lnL>
                    <a:lnR>
                      <a:noFill/>
                    </a:lnR>
                    <a:lnT>
                      <a:noFill/>
                    </a:lnT>
                    <a:lnB>
                      <a:noFill/>
                    </a:lnB>
                    <a:noFill/>
                  </a:tcPr>
                </a:tc>
              </a:tr>
              <a:tr h="406400">
                <a:tc>
                  <a:txBody>
                    <a:bodyPr anchor="t" rtlCol="false"/>
                    <a:lstStyle/>
                    <a:p>
                      <a:pPr algn="ctr" indent="0">
                        <a:lnSpc>
                          <a:spcPct val="100000"/>
                        </a:lnSpc>
                        <a:defRPr/>
                      </a:pPr>
                      <a:r>
                        <a:rPr lang="en-US" b="false" i="false" strike="noStrike" u="none" sz="1400">
                          <a:solidFill>
                            <a:srgbClr val="C8C8C8"/>
                          </a:solidFill>
                          <a:latin typeface="Noto Sans SC"/>
                          <a:ea typeface="Noto Sans SC"/>
                          <a:cs typeface="Noto Sans SC"/>
                          <a:sym typeface="Noto Sans SC"/>
                        </a:rPr>
                        <a:t>3.3</a:t>
                      </a:r>
                      <a:endParaRPr lang="en-US" sz="1100"/>
                    </a:p>
                  </a:txBody>
                  <a:tcPr anchor="ctr" anchorCtr="false" marL="101600" marR="101600" marT="101600" marB="101600">
                    <a:lnL>
                      <a:noFill/>
                    </a:lnL>
                    <a:lnR>
                      <a:noFill/>
                    </a:lnR>
                    <a:lnT>
                      <a:noFill/>
                    </a:lnT>
                    <a:lnB>
                      <a:noFill/>
                    </a:lnB>
                    <a:noFill/>
                  </a:tcPr>
                </a:tc>
                <a:tc>
                  <a:txBody>
                    <a:bodyPr anchor="t" rtlCol="false"/>
                    <a:lstStyle/>
                    <a:p>
                      <a:pPr algn="l" indent="0">
                        <a:lnSpc>
                          <a:spcPct val="100000"/>
                        </a:lnSpc>
                        <a:defRPr/>
                      </a:pPr>
                      <a:r>
                        <a:rPr lang="en-US" b="false" i="false" strike="noStrike" u="none" sz="1400">
                          <a:solidFill>
                            <a:srgbClr val="FFFFFF"/>
                          </a:solidFill>
                          <a:latin typeface="Noto Sans SC"/>
                          <a:ea typeface="Noto Sans SC"/>
                          <a:cs typeface="Noto Sans SC"/>
                          <a:sym typeface="Noto Sans SC"/>
                        </a:rPr>
                        <a:t>Agent定义规范</a:t>
                      </a:r>
                      <a:endParaRPr lang="en-US" sz="1100"/>
                    </a:p>
                  </a:txBody>
                  <a:tcPr anchor="ctr" anchorCtr="false" marL="101600" marR="101600" marT="101600" marB="101600">
                    <a:lnL>
                      <a:noFill/>
                    </a:lnL>
                    <a:lnR>
                      <a:noFill/>
                    </a:lnR>
                    <a:lnT>
                      <a:noFill/>
                    </a:lnT>
                    <a:lnB>
                      <a:noFill/>
                    </a:lnB>
                    <a:noFill/>
                  </a:tcPr>
                </a:tc>
                <a:tc>
                  <a:txBody>
                    <a:bodyPr anchor="t" rtlCol="false"/>
                    <a:lstStyle/>
                    <a:p>
                      <a:pPr algn="ctr" indent="0">
                        <a:lnSpc>
                          <a:spcPct val="100000"/>
                        </a:lnSpc>
                        <a:defRPr/>
                      </a:pPr>
                      <a:r>
                        <a:rPr lang="en-US" b="false" i="false" strike="noStrike" u="none" sz="1400">
                          <a:solidFill>
                            <a:srgbClr val="AAAAAA"/>
                          </a:solidFill>
                          <a:latin typeface="Noto Sans SC"/>
                          <a:ea typeface="Noto Sans SC"/>
                          <a:cs typeface="Noto Sans SC"/>
                          <a:sym typeface="Noto Sans SC"/>
                        </a:rPr>
                        <a:t>0:45 - 1:00</a:t>
                      </a:r>
                      <a:endParaRPr lang="en-US" sz="1100"/>
                    </a:p>
                  </a:txBody>
                  <a:tcPr anchor="ctr" anchorCtr="false" marL="101600" marR="101600" marT="101600" marB="101600">
                    <a:lnL>
                      <a:noFill/>
                    </a:lnL>
                    <a:lnR>
                      <a:noFill/>
                    </a:lnR>
                    <a:lnT>
                      <a:noFill/>
                    </a:lnT>
                    <a:lnB>
                      <a:noFill/>
                    </a:lnB>
                    <a:noFill/>
                  </a:tcPr>
                </a:tc>
              </a:tr>
              <a:tr h="406400">
                <a:tc>
                  <a:txBody>
                    <a:bodyPr anchor="t" rtlCol="false"/>
                    <a:lstStyle/>
                    <a:p>
                      <a:pPr algn="ctr" indent="0">
                        <a:lnSpc>
                          <a:spcPct val="100000"/>
                        </a:lnSpc>
                        <a:defRPr/>
                      </a:pPr>
                      <a:r>
                        <a:rPr lang="en-US" b="false" i="false" strike="noStrike" u="none" sz="1400">
                          <a:solidFill>
                            <a:srgbClr val="C8C8C8"/>
                          </a:solidFill>
                          <a:latin typeface="Noto Sans SC"/>
                          <a:ea typeface="Noto Sans SC"/>
                          <a:cs typeface="Noto Sans SC"/>
                          <a:sym typeface="Noto Sans SC"/>
                        </a:rPr>
                        <a:t>3.4</a:t>
                      </a:r>
                      <a:endParaRPr lang="en-US" sz="1100"/>
                    </a:p>
                  </a:txBody>
                  <a:tcPr anchor="ctr" anchorCtr="false" marL="101600" marR="101600" marT="101600" marB="101600">
                    <a:lnL>
                      <a:noFill/>
                    </a:lnL>
                    <a:lnR>
                      <a:noFill/>
                    </a:lnR>
                    <a:lnT>
                      <a:noFill/>
                    </a:lnT>
                    <a:lnB>
                      <a:noFill/>
                    </a:lnB>
                    <a:noFill/>
                  </a:tcPr>
                </a:tc>
                <a:tc>
                  <a:txBody>
                    <a:bodyPr anchor="t" rtlCol="false"/>
                    <a:lstStyle/>
                    <a:p>
                      <a:pPr algn="l" indent="0">
                        <a:lnSpc>
                          <a:spcPct val="100000"/>
                        </a:lnSpc>
                        <a:defRPr/>
                      </a:pPr>
                      <a:r>
                        <a:rPr lang="en-US" b="false" i="false" strike="noStrike" u="none" sz="1400">
                          <a:solidFill>
                            <a:srgbClr val="FFFFFF"/>
                          </a:solidFill>
                          <a:latin typeface="Noto Sans SC"/>
                          <a:ea typeface="Noto Sans SC"/>
                          <a:cs typeface="Noto Sans SC"/>
                          <a:sym typeface="Noto Sans SC"/>
                        </a:rPr>
                        <a:t>通信机制实现</a:t>
                      </a:r>
                      <a:endParaRPr lang="en-US" sz="1100"/>
                    </a:p>
                  </a:txBody>
                  <a:tcPr anchor="ctr" anchorCtr="false" marL="101600" marR="101600" marT="101600" marB="101600">
                    <a:lnL>
                      <a:noFill/>
                    </a:lnL>
                    <a:lnR>
                      <a:noFill/>
                    </a:lnR>
                    <a:lnT>
                      <a:noFill/>
                    </a:lnT>
                    <a:lnB>
                      <a:noFill/>
                    </a:lnB>
                    <a:noFill/>
                  </a:tcPr>
                </a:tc>
                <a:tc>
                  <a:txBody>
                    <a:bodyPr anchor="t" rtlCol="false"/>
                    <a:lstStyle/>
                    <a:p>
                      <a:pPr algn="ctr" indent="0">
                        <a:lnSpc>
                          <a:spcPct val="100000"/>
                        </a:lnSpc>
                        <a:defRPr/>
                      </a:pPr>
                      <a:r>
                        <a:rPr lang="en-US" b="false" i="false" strike="noStrike" u="none" sz="1400">
                          <a:solidFill>
                            <a:srgbClr val="AAAAAA"/>
                          </a:solidFill>
                          <a:latin typeface="Noto Sans SC"/>
                          <a:ea typeface="Noto Sans SC"/>
                          <a:cs typeface="Noto Sans SC"/>
                          <a:sym typeface="Noto Sans SC"/>
                        </a:rPr>
                        <a:t>1:00 - 1:15</a:t>
                      </a:r>
                      <a:endParaRPr lang="en-US" sz="1100"/>
                    </a:p>
                  </a:txBody>
                  <a:tcPr anchor="ctr" anchorCtr="false" marL="101600" marR="101600" marT="101600" marB="101600">
                    <a:lnL>
                      <a:noFill/>
                    </a:lnL>
                    <a:lnR>
                      <a:noFill/>
                    </a:lnR>
                    <a:lnT>
                      <a:noFill/>
                    </a:lnT>
                    <a:lnB>
                      <a:noFill/>
                    </a:lnB>
                    <a:noFill/>
                  </a:tcPr>
                </a:tc>
              </a:tr>
              <a:tr h="406400">
                <a:tc>
                  <a:txBody>
                    <a:bodyPr anchor="t" rtlCol="false"/>
                    <a:lstStyle/>
                    <a:p>
                      <a:pPr algn="ctr" indent="0">
                        <a:lnSpc>
                          <a:spcPct val="100000"/>
                        </a:lnSpc>
                        <a:defRPr/>
                      </a:pPr>
                      <a:r>
                        <a:rPr lang="en-US" b="false" i="false" strike="noStrike" u="none" sz="1400">
                          <a:solidFill>
                            <a:srgbClr val="C8C8C8"/>
                          </a:solidFill>
                          <a:latin typeface="Noto Sans SC"/>
                          <a:ea typeface="Noto Sans SC"/>
                          <a:cs typeface="Noto Sans SC"/>
                          <a:sym typeface="Noto Sans SC"/>
                        </a:rPr>
                        <a:t>--</a:t>
                      </a:r>
                      <a:endParaRPr lang="en-US" sz="1100"/>
                    </a:p>
                  </a:txBody>
                  <a:tcPr anchor="ctr" anchorCtr="false" marL="101600" marR="101600" marT="101600" marB="101600">
                    <a:lnL>
                      <a:noFill/>
                    </a:lnL>
                    <a:lnR>
                      <a:noFill/>
                    </a:lnR>
                    <a:lnT>
                      <a:noFill/>
                    </a:lnT>
                    <a:lnB>
                      <a:noFill/>
                    </a:lnB>
                    <a:noFill/>
                  </a:tcPr>
                </a:tc>
                <a:tc>
                  <a:txBody>
                    <a:bodyPr anchor="t" rtlCol="false"/>
                    <a:lstStyle/>
                    <a:p>
                      <a:pPr algn="l" indent="0">
                        <a:lnSpc>
                          <a:spcPct val="100000"/>
                        </a:lnSpc>
                        <a:defRPr/>
                      </a:pPr>
                      <a:r>
                        <a:rPr lang="en-US" b="false" i="false" strike="noStrike" u="none" sz="1400">
                          <a:solidFill>
                            <a:srgbClr val="FFFFFF"/>
                          </a:solidFill>
                          <a:latin typeface="Noto Sans SC"/>
                          <a:ea typeface="Noto Sans SC"/>
                          <a:cs typeface="Noto Sans SC"/>
                          <a:sym typeface="Noto Sans SC"/>
                        </a:rPr>
                        <a:t>休息</a:t>
                      </a:r>
                      <a:endParaRPr lang="en-US" sz="1100"/>
                    </a:p>
                  </a:txBody>
                  <a:tcPr anchor="ctr" anchorCtr="false" marL="101600" marR="101600" marT="101600" marB="101600">
                    <a:lnL>
                      <a:noFill/>
                    </a:lnL>
                    <a:lnR>
                      <a:noFill/>
                    </a:lnR>
                    <a:lnT>
                      <a:noFill/>
                    </a:lnT>
                    <a:lnB>
                      <a:noFill/>
                    </a:lnB>
                    <a:noFill/>
                  </a:tcPr>
                </a:tc>
                <a:tc>
                  <a:txBody>
                    <a:bodyPr anchor="t" rtlCol="false"/>
                    <a:lstStyle/>
                    <a:p>
                      <a:pPr algn="ctr" indent="0">
                        <a:lnSpc>
                          <a:spcPct val="100000"/>
                        </a:lnSpc>
                        <a:defRPr/>
                      </a:pPr>
                      <a:r>
                        <a:rPr lang="en-US" b="false" i="false" strike="noStrike" u="none" sz="1400">
                          <a:solidFill>
                            <a:srgbClr val="AAAAAA"/>
                          </a:solidFill>
                          <a:latin typeface="Noto Sans SC"/>
                          <a:ea typeface="Noto Sans SC"/>
                          <a:cs typeface="Noto Sans SC"/>
                          <a:sym typeface="Noto Sans SC"/>
                        </a:rPr>
                        <a:t>1:15 - 1:25</a:t>
                      </a:r>
                      <a:endParaRPr lang="en-US" sz="1100"/>
                    </a:p>
                  </a:txBody>
                  <a:tcPr anchor="ctr" anchorCtr="false" marL="101600" marR="101600" marT="101600" marB="101600">
                    <a:lnL>
                      <a:noFill/>
                    </a:lnL>
                    <a:lnR>
                      <a:noFill/>
                    </a:lnR>
                    <a:lnT>
                      <a:noFill/>
                    </a:lnT>
                    <a:lnB>
                      <a:noFill/>
                    </a:lnB>
                    <a:noFill/>
                  </a:tcPr>
                </a:tc>
              </a:tr>
              <a:tr h="406400">
                <a:tc>
                  <a:txBody>
                    <a:bodyPr anchor="t" rtlCol="false"/>
                    <a:lstStyle/>
                    <a:p>
                      <a:pPr algn="ctr" indent="0">
                        <a:lnSpc>
                          <a:spcPct val="100000"/>
                        </a:lnSpc>
                        <a:defRPr/>
                      </a:pPr>
                      <a:r>
                        <a:rPr lang="en-US" b="false" i="false" strike="noStrike" u="none" sz="1400">
                          <a:solidFill>
                            <a:srgbClr val="C8C8C8"/>
                          </a:solidFill>
                          <a:latin typeface="Noto Sans SC"/>
                          <a:ea typeface="Noto Sans SC"/>
                          <a:cs typeface="Noto Sans SC"/>
                          <a:sym typeface="Noto Sans SC"/>
                        </a:rPr>
                        <a:t>3.5</a:t>
                      </a:r>
                      <a:endParaRPr lang="en-US" sz="1100"/>
                    </a:p>
                  </a:txBody>
                  <a:tcPr anchor="ctr" anchorCtr="false" marL="101600" marR="101600" marT="101600" marB="101600">
                    <a:lnL>
                      <a:noFill/>
                    </a:lnL>
                    <a:lnR>
                      <a:noFill/>
                    </a:lnR>
                    <a:lnT>
                      <a:noFill/>
                    </a:lnT>
                    <a:lnB>
                      <a:noFill/>
                    </a:lnB>
                    <a:noFill/>
                  </a:tcPr>
                </a:tc>
                <a:tc>
                  <a:txBody>
                    <a:bodyPr anchor="t" rtlCol="false"/>
                    <a:lstStyle/>
                    <a:p>
                      <a:pPr algn="l" indent="0">
                        <a:lnSpc>
                          <a:spcPct val="100000"/>
                        </a:lnSpc>
                        <a:defRPr/>
                      </a:pPr>
                      <a:r>
                        <a:rPr lang="en-US" b="false" i="false" strike="noStrike" u="none" sz="1400">
                          <a:solidFill>
                            <a:srgbClr val="FFFFFF"/>
                          </a:solidFill>
                          <a:latin typeface="Noto Sans SC"/>
                          <a:ea typeface="Noto Sans SC"/>
                          <a:cs typeface="Noto Sans SC"/>
                          <a:sym typeface="Noto Sans SC"/>
                        </a:rPr>
                        <a:t>任务编排器 &amp; 练习实现</a:t>
                      </a:r>
                      <a:endParaRPr lang="en-US" sz="1100"/>
                    </a:p>
                  </a:txBody>
                  <a:tcPr anchor="ctr" anchorCtr="false" marL="101600" marR="101600" marT="101600" marB="101600">
                    <a:lnL>
                      <a:noFill/>
                    </a:lnL>
                    <a:lnR>
                      <a:noFill/>
                    </a:lnR>
                    <a:lnT>
                      <a:noFill/>
                    </a:lnT>
                    <a:lnB>
                      <a:noFill/>
                    </a:lnB>
                    <a:noFill/>
                  </a:tcPr>
                </a:tc>
                <a:tc>
                  <a:txBody>
                    <a:bodyPr anchor="t" rtlCol="false"/>
                    <a:lstStyle/>
                    <a:p>
                      <a:pPr algn="ctr" indent="0">
                        <a:lnSpc>
                          <a:spcPct val="100000"/>
                        </a:lnSpc>
                        <a:defRPr/>
                      </a:pPr>
                      <a:r>
                        <a:rPr lang="en-US" b="false" i="false" strike="noStrike" u="none" sz="1400">
                          <a:solidFill>
                            <a:srgbClr val="AAAAAA"/>
                          </a:solidFill>
                          <a:latin typeface="Noto Sans SC"/>
                          <a:ea typeface="Noto Sans SC"/>
                          <a:cs typeface="Noto Sans SC"/>
                          <a:sym typeface="Noto Sans SC"/>
                        </a:rPr>
                        <a:t>1:25 - 2:35</a:t>
                      </a:r>
                      <a:endParaRPr lang="en-US" sz="1100"/>
                    </a:p>
                  </a:txBody>
                  <a:tcPr anchor="ctr" anchorCtr="false" marL="101600" marR="101600" marT="101600" marB="101600">
                    <a:lnL>
                      <a:noFill/>
                    </a:lnL>
                    <a:lnR>
                      <a:noFill/>
                    </a:lnR>
                    <a:lnT>
                      <a:noFill/>
                    </a:lnT>
                    <a:lnB>
                      <a:noFill/>
                    </a:lnB>
                    <a:noFill/>
                  </a:tcPr>
                </a:tc>
              </a:tr>
              <a:tr h="406400">
                <a:tc>
                  <a:txBody>
                    <a:bodyPr anchor="t" rtlCol="false"/>
                    <a:lstStyle/>
                    <a:p>
                      <a:pPr algn="ctr" indent="0">
                        <a:lnSpc>
                          <a:spcPct val="100000"/>
                        </a:lnSpc>
                        <a:defRPr/>
                      </a:pPr>
                      <a:r>
                        <a:rPr lang="en-US" b="false" i="false" strike="noStrike" u="none" sz="1400">
                          <a:solidFill>
                            <a:srgbClr val="C8C8C8"/>
                          </a:solidFill>
                          <a:latin typeface="Noto Sans SC"/>
                          <a:ea typeface="Noto Sans SC"/>
                          <a:cs typeface="Noto Sans SC"/>
                          <a:sym typeface="Noto Sans SC"/>
                        </a:rPr>
                        <a:t>3.6</a:t>
                      </a:r>
                      <a:endParaRPr lang="en-US" sz="1100"/>
                    </a:p>
                  </a:txBody>
                  <a:tcPr anchor="ctr" anchorCtr="false" marL="101600" marR="101600" marT="101600" marB="101600">
                    <a:lnL>
                      <a:noFill/>
                    </a:lnL>
                    <a:lnR>
                      <a:noFill/>
                    </a:lnR>
                    <a:lnT>
                      <a:noFill/>
                    </a:lnT>
                    <a:lnB>
                      <a:noFill/>
                    </a:lnB>
                    <a:noFill/>
                  </a:tcPr>
                </a:tc>
                <a:tc>
                  <a:txBody>
                    <a:bodyPr anchor="t" rtlCol="false"/>
                    <a:lstStyle/>
                    <a:p>
                      <a:pPr algn="l" indent="0">
                        <a:lnSpc>
                          <a:spcPct val="100000"/>
                        </a:lnSpc>
                        <a:defRPr/>
                      </a:pPr>
                      <a:r>
                        <a:rPr lang="en-US" b="false" i="false" strike="noStrike" u="none" sz="1400">
                          <a:solidFill>
                            <a:srgbClr val="FFFFFF"/>
                          </a:solidFill>
                          <a:latin typeface="Noto Sans SC"/>
                          <a:ea typeface="Noto Sans SC"/>
                          <a:cs typeface="Noto Sans SC"/>
                          <a:sym typeface="Noto Sans SC"/>
                        </a:rPr>
                        <a:t>记忆同步 &amp; 课程总结</a:t>
                      </a:r>
                      <a:endParaRPr lang="en-US" sz="1100"/>
                    </a:p>
                  </a:txBody>
                  <a:tcPr anchor="ctr" anchorCtr="false" marL="101600" marR="101600" marT="101600" marB="101600">
                    <a:lnL>
                      <a:noFill/>
                    </a:lnL>
                    <a:lnR>
                      <a:noFill/>
                    </a:lnR>
                    <a:lnT>
                      <a:noFill/>
                    </a:lnT>
                    <a:lnB>
                      <a:noFill/>
                    </a:lnB>
                    <a:noFill/>
                  </a:tcPr>
                </a:tc>
                <a:tc>
                  <a:txBody>
                    <a:bodyPr anchor="t" rtlCol="false"/>
                    <a:lstStyle/>
                    <a:p>
                      <a:pPr algn="ctr" indent="0">
                        <a:lnSpc>
                          <a:spcPct val="100000"/>
                        </a:lnSpc>
                        <a:defRPr/>
                      </a:pPr>
                      <a:r>
                        <a:rPr lang="en-US" b="false" i="false" strike="noStrike" u="none" sz="1400">
                          <a:solidFill>
                            <a:srgbClr val="AAAAAA"/>
                          </a:solidFill>
                          <a:latin typeface="Noto Sans SC"/>
                          <a:ea typeface="Noto Sans SC"/>
                          <a:cs typeface="Noto Sans SC"/>
                          <a:sym typeface="Noto Sans SC"/>
                        </a:rPr>
                        <a:t>2:35 - 3:00</a:t>
                      </a:r>
                      <a:endParaRPr lang="en-US" sz="1100"/>
                    </a:p>
                  </a:txBody>
                  <a:tcPr anchor="ctr" anchorCtr="false" marL="101600" marR="101600" marT="101600" marB="101600">
                    <a:lnL>
                      <a:noFill/>
                    </a:lnL>
                    <a:lnR>
                      <a:noFill/>
                    </a:lnR>
                    <a:lnT>
                      <a:noFill/>
                    </a:lnT>
                    <a:lnB>
                      <a:noFill/>
                    </a:lnB>
                    <a:noFill/>
                  </a:tcPr>
                </a:tc>
              </a:tr>
            </a:tbl>
          </a:graphicData>
        </a:graphic>
      </p:graphicFrame>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A192F">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7812" b="7812"/>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A192F">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1016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你会怎么做？</a:t>
            </a:r>
            <a:endParaRPr lang="en-US" sz="1100"/>
          </a:p>
        </p:txBody>
      </p:sp>
      <p:sp>
        <p:nvSpPr>
          <p:cNvPr name="AutoShape 5" id="5"/>
          <p:cNvSpPr/>
          <p:nvPr/>
        </p:nvSpPr>
        <p:spPr>
          <a:xfrm rot="0" flipH="false" flipV="false">
            <a:off x="762000" y="2032000"/>
            <a:ext cx="5080000" cy="3556000"/>
          </a:xfrm>
          <a:prstGeom prst="roundRect">
            <a:avLst>
              <a:gd name="adj" fmla="val 3571"/>
            </a:avLst>
          </a:prstGeom>
          <a:solidFill>
            <a:srgbClr val="FFFFFF">
              <a:alpha val="5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66800" y="2336800"/>
            <a:ext cx="609600" cy="609600"/>
          </a:xfrm>
          <a:prstGeom prst="rect">
            <a:avLst/>
          </a:prstGeom>
        </p:spPr>
      </p:pic>
      <p:sp>
        <p:nvSpPr>
          <p:cNvPr name="AutoShape 7" id="7"/>
          <p:cNvSpPr/>
          <p:nvPr/>
        </p:nvSpPr>
        <p:spPr>
          <a:xfrm rot="0" flipH="false" flipV="false">
            <a:off x="1778000" y="2413000"/>
            <a:ext cx="381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假设场景：CTO的抉择</a:t>
            </a:r>
            <a:endParaRPr lang="en-US" sz="1100"/>
          </a:p>
        </p:txBody>
      </p:sp>
      <p:cxnSp>
        <p:nvCxnSpPr>
          <p:cNvPr name="Connector 8" id="8"/>
          <p:cNvCxnSpPr/>
          <p:nvPr/>
        </p:nvCxnSpPr>
        <p:spPr>
          <a:xfrm rot="-9766" flipH="false" flipV="false">
            <a:off x="1066809" y="3041650"/>
            <a:ext cx="4470400" cy="12700"/>
          </a:xfrm>
          <a:prstGeom prst="straightConnector1">
            <a:avLst/>
          </a:prstGeom>
          <a:solidFill>
            <a:srgbClr val="DEE0E3">
              <a:alpha val="100000"/>
            </a:srgbClr>
          </a:solidFill>
          <a:ln w="12700" cmpd="sng" cap="flat">
            <a:solidFill>
              <a:srgbClr val="FFFFFF">
                <a:alpha val="20000"/>
              </a:srgbClr>
            </a:solidFill>
            <a:prstDash val="solid"/>
            <a:round/>
            <a:headEnd type="none" w="med" len="med"/>
            <a:tailEnd type="none" w="med" len="med"/>
          </a:ln>
        </p:spPr>
      </p:cxnSp>
      <p:sp>
        <p:nvSpPr>
          <p:cNvPr name="AutoShape 9" id="9"/>
          <p:cNvSpPr/>
          <p:nvPr/>
        </p:nvSpPr>
        <p:spPr>
          <a:xfrm rot="0" flipH="false" flipV="false">
            <a:off x="1066800" y="3238500"/>
            <a:ext cx="4470400" cy="190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80000"/>
                  </a:srgbClr>
                </a:solidFill>
                <a:latin typeface="Noto Sans SC"/>
                <a:ea typeface="Noto Sans SC"/>
                <a:cs typeface="Noto Sans SC"/>
                <a:sym typeface="Noto Sans SC"/>
              </a:rPr>
              <a:t>如果你是公司的CTO，你会让一个全栈工程师同时负责以下所有工作吗？</a:t>
            </a:r>
            <a:r>
              <a:rPr lang="en-US" b="false" i="false" strike="noStrike" u="none" sz="1400">
                <a:solidFill>
                  <a:srgbClr val="FFFFFF">
                    <a:alpha val="80000"/>
                  </a:srgbClr>
                </a:solidFill>
                <a:latin typeface="Noto Sans SC"/>
                <a:ea typeface="Noto Sans SC"/>
                <a:cs typeface="Noto Sans SC"/>
                <a:sym typeface="Noto Sans SC"/>
              </a:rPr>
              <a:t/>
            </a:r>
            <a:endParaRPr lang="en-US" sz="1100"/>
          </a:p>
          <a:p>
            <a:pPr algn="l" indent="-177800" marL="177800">
              <a:lnSpc>
                <a:spcPct val="125000"/>
              </a:lnSpc>
              <a:buClr>
                <a:srgbClr val="FFFFFF"/>
              </a:buClr>
              <a:buChar char="•"/>
            </a:pPr>
            <a:r>
              <a:rPr lang="en-US" b="false" i="false" strike="noStrike" u="none" sz="1400">
                <a:solidFill>
                  <a:srgbClr val="FFFFFF">
                    <a:alpha val="80000"/>
                  </a:srgbClr>
                </a:solidFill>
                <a:latin typeface="Noto Sans SC"/>
                <a:ea typeface="Noto Sans SC"/>
                <a:cs typeface="Noto Sans SC"/>
                <a:sym typeface="Noto Sans SC"/>
              </a:rPr>
              <a:t>前端开发 / 后端服务</a:t>
            </a:r>
            <a:r>
              <a:rPr lang="en-US" b="false" i="false" strike="noStrike" u="none" sz="1400">
                <a:solidFill>
                  <a:srgbClr val="FFFFFF">
                    <a:alpha val="80000"/>
                  </a:srgbClr>
                </a:solidFill>
                <a:latin typeface="Noto Sans SC"/>
                <a:ea typeface="Noto Sans SC"/>
                <a:cs typeface="Noto Sans SC"/>
                <a:sym typeface="Noto Sans SC"/>
              </a:rPr>
              <a:t/>
            </a:r>
          </a:p>
          <a:p>
            <a:pPr algn="l" indent="-177800" marL="177800">
              <a:lnSpc>
                <a:spcPct val="125000"/>
              </a:lnSpc>
              <a:buClr>
                <a:srgbClr val="FFFFFF"/>
              </a:buClr>
              <a:buChar char="•"/>
            </a:pPr>
            <a:r>
              <a:rPr lang="en-US" b="false" i="false" strike="noStrike" u="none" sz="1400">
                <a:solidFill>
                  <a:srgbClr val="FFFFFF">
                    <a:alpha val="80000"/>
                  </a:srgbClr>
                </a:solidFill>
                <a:latin typeface="Noto Sans SC"/>
                <a:ea typeface="Noto Sans SC"/>
                <a:cs typeface="Noto Sans SC"/>
                <a:sym typeface="Noto Sans SC"/>
              </a:rPr>
              <a:t>系统运维 / 质量保证(QA)</a:t>
            </a:r>
            <a:r>
              <a:rPr lang="en-US" b="false" i="false" strike="noStrike" u="none" sz="1400">
                <a:solidFill>
                  <a:srgbClr val="FFFFFF">
                    <a:alpha val="80000"/>
                  </a:srgbClr>
                </a:solidFill>
                <a:latin typeface="Noto Sans SC"/>
                <a:ea typeface="Noto Sans SC"/>
                <a:cs typeface="Noto Sans SC"/>
                <a:sym typeface="Noto Sans SC"/>
              </a:rPr>
              <a:t/>
            </a:r>
          </a:p>
          <a:p>
            <a:pPr algn="l" indent="-177800" marL="177800">
              <a:lnSpc>
                <a:spcPct val="125000"/>
              </a:lnSpc>
              <a:buClr>
                <a:srgbClr val="FFFFFF"/>
              </a:buClr>
              <a:buChar char="•"/>
            </a:pPr>
            <a:r>
              <a:rPr lang="en-US" b="false" i="false" strike="noStrike" u="none" sz="1400">
                <a:solidFill>
                  <a:srgbClr val="FFFFFF">
                    <a:alpha val="80000"/>
                  </a:srgbClr>
                </a:solidFill>
                <a:latin typeface="Noto Sans SC"/>
                <a:ea typeface="Noto Sans SC"/>
                <a:cs typeface="Noto Sans SC"/>
                <a:sym typeface="Noto Sans SC"/>
              </a:rPr>
              <a:t>产品经理</a:t>
            </a:r>
          </a:p>
        </p:txBody>
      </p:sp>
      <p:sp>
        <p:nvSpPr>
          <p:cNvPr name="AutoShape 10" id="10"/>
          <p:cNvSpPr/>
          <p:nvPr/>
        </p:nvSpPr>
        <p:spPr>
          <a:xfrm rot="0" flipH="false" flipV="false">
            <a:off x="6350000" y="2032000"/>
            <a:ext cx="5080000" cy="3556000"/>
          </a:xfrm>
          <a:prstGeom prst="roundRect">
            <a:avLst>
              <a:gd name="adj" fmla="val 3571"/>
            </a:avLst>
          </a:prstGeom>
          <a:solidFill>
            <a:srgbClr val="FFFFFF">
              <a:alpha val="5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6654800" y="2336800"/>
            <a:ext cx="609600" cy="609600"/>
          </a:xfrm>
          <a:prstGeom prst="rect">
            <a:avLst/>
          </a:prstGeom>
        </p:spPr>
      </p:pic>
      <p:sp>
        <p:nvSpPr>
          <p:cNvPr name="AutoShape 12" id="12"/>
          <p:cNvSpPr/>
          <p:nvPr/>
        </p:nvSpPr>
        <p:spPr>
          <a:xfrm rot="0" flipH="false" flipV="false">
            <a:off x="7366000" y="2413000"/>
            <a:ext cx="381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理性选择：专业分工</a:t>
            </a:r>
            <a:endParaRPr lang="en-US" sz="1100"/>
          </a:p>
        </p:txBody>
      </p:sp>
      <p:cxnSp>
        <p:nvCxnSpPr>
          <p:cNvPr name="Connector 13" id="13"/>
          <p:cNvCxnSpPr/>
          <p:nvPr/>
        </p:nvCxnSpPr>
        <p:spPr>
          <a:xfrm rot="-9766" flipH="false" flipV="false">
            <a:off x="6654809" y="3041650"/>
            <a:ext cx="4470400" cy="12700"/>
          </a:xfrm>
          <a:prstGeom prst="straightConnector1">
            <a:avLst/>
          </a:prstGeom>
          <a:solidFill>
            <a:srgbClr val="DEE0E3">
              <a:alpha val="100000"/>
            </a:srgbClr>
          </a:solidFill>
          <a:ln w="12700" cmpd="sng" cap="flat">
            <a:solidFill>
              <a:srgbClr val="FFFFFF">
                <a:alpha val="20000"/>
              </a:srgbClr>
            </a:solidFill>
            <a:prstDash val="solid"/>
            <a:round/>
            <a:headEnd type="none" w="med" len="med"/>
            <a:tailEnd type="none" w="med" len="med"/>
          </a:ln>
        </p:spPr>
      </p:cxnSp>
      <p:sp>
        <p:nvSpPr>
          <p:cNvPr name="AutoShape 14" id="14"/>
          <p:cNvSpPr/>
          <p:nvPr/>
        </p:nvSpPr>
        <p:spPr>
          <a:xfrm rot="0" flipH="false" flipV="false">
            <a:off x="6654800" y="3238500"/>
            <a:ext cx="4470400" cy="190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80000"/>
                  </a:srgbClr>
                </a:solidFill>
                <a:latin typeface="Noto Sans SC"/>
                <a:ea typeface="Noto Sans SC"/>
                <a:cs typeface="Noto Sans SC"/>
                <a:sym typeface="Noto Sans SC"/>
              </a:rPr>
              <a:t>当然不会。单一角色无法高效胜任所有复杂职能。</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600">
                <a:solidFill>
                  <a:srgbClr val="1F2329"/>
                </a:solidFill>
                <a:latin typeface="Noto Sans SC"/>
                <a:ea typeface="Noto Sans SC"/>
                <a:cs typeface="Noto Sans SC"/>
                <a:sym typeface="Noto Sans SC"/>
              </a:rPr>
              <a:t/>
            </a:r>
          </a:p>
          <a:p>
            <a:pPr algn="l" indent="0">
              <a:lnSpc>
                <a:spcPct val="125000"/>
              </a:lnSpc>
            </a:pPr>
            <a:r>
              <a:rPr lang="en-US" b="true" i="false" strike="noStrike" u="none" sz="1600">
                <a:solidFill>
                  <a:srgbClr val="00BFFF"/>
                </a:solidFill>
                <a:latin typeface="Noto Sans SC"/>
                <a:ea typeface="Noto Sans SC"/>
                <a:cs typeface="Noto Sans SC"/>
                <a:sym typeface="Noto Sans SC"/>
              </a:rPr>
              <a:t>最优解：组建专业团队，各司其职。</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0A0F1E">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A192F">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1016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“全能选手”的崩溃</a:t>
            </a:r>
            <a:endParaRPr lang="en-US" sz="1100"/>
          </a:p>
        </p:txBody>
      </p:sp>
      <p:sp>
        <p:nvSpPr>
          <p:cNvPr name="AutoShape 4" id="4"/>
          <p:cNvSpPr/>
          <p:nvPr/>
        </p:nvSpPr>
        <p:spPr>
          <a:xfrm rot="0" flipH="false" flipV="false">
            <a:off x="762000" y="1714500"/>
            <a:ext cx="10668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800">
                <a:solidFill>
                  <a:srgbClr val="FFFFFF">
                    <a:alpha val="70196"/>
                  </a:srgbClr>
                </a:solidFill>
                <a:latin typeface="Noto Sans SC"/>
                <a:ea typeface="Noto Sans SC"/>
                <a:cs typeface="Noto Sans SC"/>
                <a:sym typeface="Noto Sans SC"/>
              </a:rPr>
              <a:t>模块 3.1 -- 单Agent瓶颈分析</a:t>
            </a:r>
            <a:endParaRPr lang="en-US" sz="1100"/>
          </a:p>
        </p:txBody>
      </p:sp>
      <p:sp>
        <p:nvSpPr>
          <p:cNvPr name="AutoShape 5" id="5"/>
          <p:cNvSpPr/>
          <p:nvPr/>
        </p:nvSpPr>
        <p:spPr>
          <a:xfrm rot="0" flipH="false" flipV="false">
            <a:off x="762000" y="2413000"/>
            <a:ext cx="5080000" cy="3556000"/>
          </a:xfrm>
          <a:prstGeom prst="roundRect">
            <a:avLst>
              <a:gd name="adj" fmla="val 3571"/>
            </a:avLst>
          </a:prstGeom>
          <a:solidFill>
            <a:srgbClr val="FFFFFF">
              <a:alpha val="5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143000" y="2794000"/>
            <a:ext cx="609600" cy="609600"/>
          </a:xfrm>
          <a:prstGeom prst="rect">
            <a:avLst/>
          </a:prstGeom>
        </p:spPr>
      </p:pic>
      <p:sp>
        <p:nvSpPr>
          <p:cNvPr name="AutoShape 7" id="7"/>
          <p:cNvSpPr/>
          <p:nvPr/>
        </p:nvSpPr>
        <p:spPr>
          <a:xfrm rot="0" flipH="false" flipV="false">
            <a:off x="1905000" y="2895600"/>
            <a:ext cx="381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单Agent 过载困境</a:t>
            </a:r>
            <a:endParaRPr lang="en-US" sz="1100"/>
          </a:p>
        </p:txBody>
      </p:sp>
      <p:cxnSp>
        <p:nvCxnSpPr>
          <p:cNvPr name="Connector 8" id="8"/>
          <p:cNvCxnSpPr/>
          <p:nvPr/>
        </p:nvCxnSpPr>
        <p:spPr>
          <a:xfrm rot="-10110" flipH="false" flipV="false">
            <a:off x="1143009" y="3486150"/>
            <a:ext cx="4318000" cy="12700"/>
          </a:xfrm>
          <a:prstGeom prst="straightConnector1">
            <a:avLst/>
          </a:prstGeom>
          <a:solidFill>
            <a:srgbClr val="DEE0E3">
              <a:alpha val="100000"/>
            </a:srgbClr>
          </a:solidFill>
          <a:ln w="12700" cmpd="sng" cap="flat">
            <a:solidFill>
              <a:srgbClr val="FFFFFF">
                <a:alpha val="20000"/>
              </a:srgbClr>
            </a:solidFill>
            <a:prstDash val="solid"/>
            <a:round/>
            <a:headEnd type="none" w="med" len="med"/>
            <a:tailEnd type="none" w="med" len="med"/>
          </a:ln>
        </p:spPr>
      </p:cxnSp>
      <p:pic>
        <p:nvPicPr>
          <p:cNvPr name="Picture 9" id="9"/>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1143000" y="3746500"/>
            <a:ext cx="254000" cy="254000"/>
          </a:xfrm>
          <a:prstGeom prst="rect">
            <a:avLst/>
          </a:prstGeom>
        </p:spPr>
      </p:pic>
      <p:sp>
        <p:nvSpPr>
          <p:cNvPr name="AutoShape 10" id="10"/>
          <p:cNvSpPr/>
          <p:nvPr/>
        </p:nvSpPr>
        <p:spPr>
          <a:xfrm rot="0" flipH="false" flipV="false">
            <a:off x="1524000" y="3721100"/>
            <a:ext cx="4191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90196"/>
                  </a:srgbClr>
                </a:solidFill>
                <a:latin typeface="Noto Sans SC"/>
                <a:ea typeface="Noto Sans SC"/>
                <a:cs typeface="Noto Sans SC"/>
                <a:sym typeface="Noto Sans SC"/>
              </a:rPr>
              <a:t>同时处理量化交易策略生成</a:t>
            </a:r>
            <a:endParaRPr lang="en-US" sz="1100"/>
          </a:p>
        </p:txBody>
      </p:sp>
      <p:pic>
        <p:nvPicPr>
          <p:cNvPr name="Picture 11" id="11"/>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1143000" y="4127500"/>
            <a:ext cx="254000" cy="254000"/>
          </a:xfrm>
          <a:prstGeom prst="rect">
            <a:avLst/>
          </a:prstGeom>
        </p:spPr>
      </p:pic>
      <p:sp>
        <p:nvSpPr>
          <p:cNvPr name="AutoShape 12" id="12"/>
          <p:cNvSpPr/>
          <p:nvPr/>
        </p:nvSpPr>
        <p:spPr>
          <a:xfrm rot="0" flipH="false" flipV="false">
            <a:off x="1524000" y="4102100"/>
            <a:ext cx="4191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90196"/>
                  </a:srgbClr>
                </a:solidFill>
                <a:latin typeface="Noto Sans SC"/>
                <a:ea typeface="Noto Sans SC"/>
                <a:cs typeface="Noto Sans SC"/>
                <a:sym typeface="Noto Sans SC"/>
              </a:rPr>
              <a:t>负责底层代码编写与调试</a:t>
            </a:r>
            <a:endParaRPr lang="en-US" sz="1100"/>
          </a:p>
        </p:txBody>
      </p:sp>
      <p:pic>
        <p:nvPicPr>
          <p:cNvPr name="Picture 13" id="13"/>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1143000" y="4508500"/>
            <a:ext cx="254000" cy="254000"/>
          </a:xfrm>
          <a:prstGeom prst="rect">
            <a:avLst/>
          </a:prstGeom>
        </p:spPr>
      </p:pic>
      <p:sp>
        <p:nvSpPr>
          <p:cNvPr name="AutoShape 14" id="14"/>
          <p:cNvSpPr/>
          <p:nvPr/>
        </p:nvSpPr>
        <p:spPr>
          <a:xfrm rot="0" flipH="false" flipV="false">
            <a:off x="1524000" y="4483100"/>
            <a:ext cx="4191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90196"/>
                  </a:srgbClr>
                </a:solidFill>
                <a:latin typeface="Noto Sans SC"/>
                <a:ea typeface="Noto Sans SC"/>
                <a:cs typeface="Noto Sans SC"/>
                <a:sym typeface="Noto Sans SC"/>
              </a:rPr>
              <a:t>撰写技术文档与分析报告</a:t>
            </a:r>
            <a:endParaRPr lang="en-US" sz="1100"/>
          </a:p>
        </p:txBody>
      </p:sp>
      <p:pic>
        <p:nvPicPr>
          <p:cNvPr name="Picture 15" id="15"/>
          <p:cNvPicPr>
            <a:picLocks noChangeAspect="true"/>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0" flipH="false" flipV="false">
            <a:off x="1143000" y="4889500"/>
            <a:ext cx="254000" cy="254000"/>
          </a:xfrm>
          <a:prstGeom prst="rect">
            <a:avLst/>
          </a:prstGeom>
        </p:spPr>
      </p:pic>
      <p:sp>
        <p:nvSpPr>
          <p:cNvPr name="AutoShape 16" id="16"/>
          <p:cNvSpPr/>
          <p:nvPr/>
        </p:nvSpPr>
        <p:spPr>
          <a:xfrm rot="0" flipH="false" flipV="false">
            <a:off x="1524000" y="4864100"/>
            <a:ext cx="4191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90196"/>
                  </a:srgbClr>
                </a:solidFill>
                <a:latin typeface="Noto Sans SC"/>
                <a:ea typeface="Noto Sans SC"/>
                <a:cs typeface="Noto Sans SC"/>
                <a:sym typeface="Noto Sans SC"/>
              </a:rPr>
              <a:t>统筹项目进度与资源管理</a:t>
            </a:r>
            <a:endParaRPr lang="en-US" sz="1100"/>
          </a:p>
        </p:txBody>
      </p:sp>
      <p:sp>
        <p:nvSpPr>
          <p:cNvPr name="AutoShape 17" id="17"/>
          <p:cNvSpPr/>
          <p:nvPr/>
        </p:nvSpPr>
        <p:spPr>
          <a:xfrm rot="0" flipH="false" flipV="false">
            <a:off x="6096000" y="2413000"/>
            <a:ext cx="5080000" cy="3556000"/>
          </a:xfrm>
          <a:prstGeom prst="roundRect">
            <a:avLst>
              <a:gd name="adj" fmla="val 3571"/>
            </a:avLst>
          </a:prstGeom>
          <a:solidFill>
            <a:srgbClr val="FFFFFF">
              <a:alpha val="5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18" id="18"/>
          <p:cNvPicPr>
            <a:picLocks noChangeAspect="true"/>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rot="0" flipH="false" flipV="false">
            <a:off x="6477000" y="2794000"/>
            <a:ext cx="609600" cy="609600"/>
          </a:xfrm>
          <a:prstGeom prst="rect">
            <a:avLst/>
          </a:prstGeom>
        </p:spPr>
      </p:pic>
      <p:sp>
        <p:nvSpPr>
          <p:cNvPr name="AutoShape 19" id="19"/>
          <p:cNvSpPr/>
          <p:nvPr/>
        </p:nvSpPr>
        <p:spPr>
          <a:xfrm rot="0" flipH="false" flipV="false">
            <a:off x="7239000" y="2895600"/>
            <a:ext cx="381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现实场景类比</a:t>
            </a:r>
            <a:endParaRPr lang="en-US" sz="1100"/>
          </a:p>
        </p:txBody>
      </p:sp>
      <p:cxnSp>
        <p:nvCxnSpPr>
          <p:cNvPr name="Connector 20" id="20"/>
          <p:cNvCxnSpPr/>
          <p:nvPr/>
        </p:nvCxnSpPr>
        <p:spPr>
          <a:xfrm rot="-10110" flipH="false" flipV="false">
            <a:off x="6477009" y="3486150"/>
            <a:ext cx="4318000" cy="12700"/>
          </a:xfrm>
          <a:prstGeom prst="straightConnector1">
            <a:avLst/>
          </a:prstGeom>
          <a:solidFill>
            <a:srgbClr val="DEE0E3">
              <a:alpha val="100000"/>
            </a:srgbClr>
          </a:solidFill>
          <a:ln w="12700" cmpd="sng" cap="flat">
            <a:solidFill>
              <a:srgbClr val="FFFFFF">
                <a:alpha val="20000"/>
              </a:srgbClr>
            </a:solidFill>
            <a:prstDash val="solid"/>
            <a:round/>
            <a:headEnd type="none" w="med" len="med"/>
            <a:tailEnd type="none" w="med" len="med"/>
          </a:ln>
        </p:spPr>
      </p:cxnSp>
      <p:pic>
        <p:nvPicPr>
          <p:cNvPr name="Picture 21" id="21"/>
          <p:cNvPicPr>
            <a:picLocks noChangeAspect="true"/>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rot="0" flipH="false" flipV="false">
            <a:off x="6477000" y="3746500"/>
            <a:ext cx="254000" cy="254000"/>
          </a:xfrm>
          <a:prstGeom prst="rect">
            <a:avLst/>
          </a:prstGeom>
        </p:spPr>
      </p:pic>
      <p:sp>
        <p:nvSpPr>
          <p:cNvPr name="AutoShape 22" id="22"/>
          <p:cNvSpPr/>
          <p:nvPr/>
        </p:nvSpPr>
        <p:spPr>
          <a:xfrm rot="0" flipH="false" flipV="false">
            <a:off x="6858000" y="3721100"/>
            <a:ext cx="4191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90196"/>
                  </a:srgbClr>
                </a:solidFill>
                <a:latin typeface="Noto Sans SC"/>
                <a:ea typeface="Noto Sans SC"/>
                <a:cs typeface="Noto Sans SC"/>
                <a:sym typeface="Noto Sans SC"/>
              </a:rPr>
              <a:t>厨师：负责核心业务（烹饪）</a:t>
            </a:r>
            <a:endParaRPr lang="en-US" sz="1100"/>
          </a:p>
        </p:txBody>
      </p:sp>
      <p:pic>
        <p:nvPicPr>
          <p:cNvPr name="Picture 23" id="23"/>
          <p:cNvPicPr>
            <a:picLocks noChangeAspect="true"/>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rot="0" flipH="false" flipV="false">
            <a:off x="6477000" y="4127500"/>
            <a:ext cx="254000" cy="254000"/>
          </a:xfrm>
          <a:prstGeom prst="rect">
            <a:avLst/>
          </a:prstGeom>
        </p:spPr>
      </p:pic>
      <p:sp>
        <p:nvSpPr>
          <p:cNvPr name="AutoShape 24" id="24"/>
          <p:cNvSpPr/>
          <p:nvPr/>
        </p:nvSpPr>
        <p:spPr>
          <a:xfrm rot="0" flipH="false" flipV="false">
            <a:off x="6858000" y="4102100"/>
            <a:ext cx="4191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90196"/>
                  </a:srgbClr>
                </a:solidFill>
                <a:latin typeface="Noto Sans SC"/>
                <a:ea typeface="Noto Sans SC"/>
                <a:cs typeface="Noto Sans SC"/>
                <a:sym typeface="Noto Sans SC"/>
              </a:rPr>
              <a:t>服务员：负责交互与服务</a:t>
            </a:r>
            <a:endParaRPr lang="en-US" sz="1100"/>
          </a:p>
        </p:txBody>
      </p:sp>
      <p:pic>
        <p:nvPicPr>
          <p:cNvPr name="Picture 25" id="25"/>
          <p:cNvPicPr>
            <a:picLocks noChangeAspect="true"/>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rot="0" flipH="false" flipV="false">
            <a:off x="6477000" y="4508500"/>
            <a:ext cx="254000" cy="254000"/>
          </a:xfrm>
          <a:prstGeom prst="rect">
            <a:avLst/>
          </a:prstGeom>
        </p:spPr>
      </p:pic>
      <p:sp>
        <p:nvSpPr>
          <p:cNvPr name="AutoShape 26" id="26"/>
          <p:cNvSpPr/>
          <p:nvPr/>
        </p:nvSpPr>
        <p:spPr>
          <a:xfrm rot="0" flipH="false" flipV="false">
            <a:off x="6858000" y="4483100"/>
            <a:ext cx="4191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90196"/>
                  </a:srgbClr>
                </a:solidFill>
                <a:latin typeface="Noto Sans SC"/>
                <a:ea typeface="Noto Sans SC"/>
                <a:cs typeface="Noto Sans SC"/>
                <a:sym typeface="Noto Sans SC"/>
              </a:rPr>
              <a:t>收银员：负责结算与事务处理</a:t>
            </a:r>
            <a:endParaRPr lang="en-US" sz="1100"/>
          </a:p>
        </p:txBody>
      </p:sp>
      <p:pic>
        <p:nvPicPr>
          <p:cNvPr name="Picture 27" id="27"/>
          <p:cNvPicPr>
            <a:picLocks noChangeAspect="true"/>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rot="0" flipH="false" flipV="false">
            <a:off x="6477000" y="4889500"/>
            <a:ext cx="254000" cy="254000"/>
          </a:xfrm>
          <a:prstGeom prst="rect">
            <a:avLst/>
          </a:prstGeom>
        </p:spPr>
      </p:pic>
      <p:sp>
        <p:nvSpPr>
          <p:cNvPr name="AutoShape 28" id="28"/>
          <p:cNvSpPr/>
          <p:nvPr/>
        </p:nvSpPr>
        <p:spPr>
          <a:xfrm rot="0" flipH="false" flipV="false">
            <a:off x="6858000" y="4864100"/>
            <a:ext cx="4191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90196"/>
                  </a:srgbClr>
                </a:solidFill>
                <a:latin typeface="Noto Sans SC"/>
                <a:ea typeface="Noto Sans SC"/>
                <a:cs typeface="Noto Sans SC"/>
                <a:sym typeface="Noto Sans SC"/>
              </a:rPr>
              <a:t>清洁工：负责环境维护与资源清理</a:t>
            </a:r>
            <a:endParaRPr lang="en-US" sz="1100"/>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A0F1E">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A1428">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1016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上下文窗口被挤占：单Agent的内存困境</a:t>
            </a:r>
            <a:endParaRPr lang="en-US" sz="1100"/>
          </a:p>
        </p:txBody>
      </p:sp>
      <p:sp>
        <p:nvSpPr>
          <p:cNvPr name="AutoShape 4" id="4"/>
          <p:cNvSpPr/>
          <p:nvPr/>
        </p:nvSpPr>
        <p:spPr>
          <a:xfrm rot="0" flipH="false" flipV="false">
            <a:off x="762000" y="2032000"/>
            <a:ext cx="5334000" cy="4064000"/>
          </a:xfrm>
          <a:prstGeom prst="roundRect">
            <a:avLst>
              <a:gd name="adj" fmla="val 3125"/>
            </a:avLst>
          </a:prstGeom>
          <a:solidFill>
            <a:srgbClr val="FFFFFF">
              <a:alpha val="5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889000" y="2222500"/>
            <a:ext cx="508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600">
                <a:solidFill>
                  <a:srgbClr val="C8C8C8"/>
                </a:solidFill>
                <a:latin typeface="Noto Sans SC"/>
                <a:ea typeface="Noto Sans SC"/>
                <a:cs typeface="Noto Sans SC"/>
                <a:sym typeface="Noto Sans SC"/>
              </a:rPr>
              <a:t>128K Tokens 总容量分布</a:t>
            </a:r>
            <a:endParaRPr lang="en-US" sz="1100"/>
          </a:p>
        </p:txBody>
      </p:sp>
      <p:pic>
        <p:nvPicPr>
          <p:cNvPr name="Picture 6" id="6"/>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952500" y="2730500"/>
            <a:ext cx="254000" cy="254000"/>
          </a:xfrm>
          <a:prstGeom prst="rect">
            <a:avLst/>
          </a:prstGeom>
        </p:spPr>
      </p:pic>
      <p:sp>
        <p:nvSpPr>
          <p:cNvPr name="AutoShape 7" id="7"/>
          <p:cNvSpPr/>
          <p:nvPr/>
        </p:nvSpPr>
        <p:spPr>
          <a:xfrm rot="0" flipH="false" flipV="false">
            <a:off x="1270000" y="2730500"/>
            <a:ext cx="1905000" cy="254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solidFill>
                <a:latin typeface="Noto Sans SC"/>
                <a:ea typeface="Noto Sans SC"/>
                <a:cs typeface="Noto Sans SC"/>
                <a:sym typeface="Noto Sans SC"/>
              </a:rPr>
              <a:t>系统提示词 (2K)</a:t>
            </a:r>
            <a:endParaRPr lang="en-US" sz="1100"/>
          </a:p>
        </p:txBody>
      </p:sp>
      <p:sp>
        <p:nvSpPr>
          <p:cNvPr name="AutoShape 8" id="8"/>
          <p:cNvSpPr/>
          <p:nvPr/>
        </p:nvSpPr>
        <p:spPr>
          <a:xfrm rot="0" flipH="false" flipV="false">
            <a:off x="952500" y="3048000"/>
            <a:ext cx="3048000" cy="101600"/>
          </a:xfrm>
          <a:prstGeom prst="roundRect">
            <a:avLst>
              <a:gd name="adj" fmla="val 0"/>
            </a:avLst>
          </a:prstGeom>
          <a:solidFill>
            <a:srgbClr val="FFFFFF">
              <a:alpha val="1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952500" y="3048000"/>
            <a:ext cx="482600" cy="101600"/>
          </a:xfrm>
          <a:prstGeom prst="roundRect">
            <a:avLst>
              <a:gd name="adj" fmla="val 0"/>
            </a:avLst>
          </a:prstGeom>
          <a:solidFill>
            <a:srgbClr val="00BFFF">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952500" y="3238500"/>
            <a:ext cx="254000" cy="254000"/>
          </a:xfrm>
          <a:prstGeom prst="rect">
            <a:avLst/>
          </a:prstGeom>
        </p:spPr>
      </p:pic>
      <p:sp>
        <p:nvSpPr>
          <p:cNvPr name="AutoShape 11" id="11"/>
          <p:cNvSpPr/>
          <p:nvPr/>
        </p:nvSpPr>
        <p:spPr>
          <a:xfrm rot="0" flipH="false" flipV="false">
            <a:off x="1270000" y="3238500"/>
            <a:ext cx="1905000" cy="254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solidFill>
                <a:latin typeface="Noto Sans SC"/>
                <a:ea typeface="Noto Sans SC"/>
                <a:cs typeface="Noto Sans SC"/>
                <a:sym typeface="Noto Sans SC"/>
              </a:rPr>
              <a:t>交易策略上下文 (30K)</a:t>
            </a:r>
            <a:endParaRPr lang="en-US" sz="1100"/>
          </a:p>
        </p:txBody>
      </p:sp>
      <p:sp>
        <p:nvSpPr>
          <p:cNvPr name="AutoShape 12" id="12"/>
          <p:cNvSpPr/>
          <p:nvPr/>
        </p:nvSpPr>
        <p:spPr>
          <a:xfrm rot="0" flipH="false" flipV="false">
            <a:off x="952500" y="3556000"/>
            <a:ext cx="3048000" cy="101600"/>
          </a:xfrm>
          <a:prstGeom prst="roundRect">
            <a:avLst>
              <a:gd name="adj" fmla="val 0"/>
            </a:avLst>
          </a:prstGeom>
          <a:solidFill>
            <a:srgbClr val="FFFFFF">
              <a:alpha val="1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3" id="13"/>
          <p:cNvSpPr/>
          <p:nvPr/>
        </p:nvSpPr>
        <p:spPr>
          <a:xfrm rot="0" flipH="false" flipV="false">
            <a:off x="952500" y="3556000"/>
            <a:ext cx="7112000" cy="101600"/>
          </a:xfrm>
          <a:prstGeom prst="roundRect">
            <a:avLst>
              <a:gd name="adj" fmla="val 0"/>
            </a:avLst>
          </a:prstGeom>
          <a:solidFill>
            <a:srgbClr val="00BFFF">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952500" y="3746500"/>
            <a:ext cx="254000" cy="254000"/>
          </a:xfrm>
          <a:prstGeom prst="rect">
            <a:avLst/>
          </a:prstGeom>
        </p:spPr>
      </p:pic>
      <p:sp>
        <p:nvSpPr>
          <p:cNvPr name="AutoShape 15" id="15"/>
          <p:cNvSpPr/>
          <p:nvPr/>
        </p:nvSpPr>
        <p:spPr>
          <a:xfrm rot="0" flipH="false" flipV="false">
            <a:off x="1270000" y="3746500"/>
            <a:ext cx="1905000" cy="254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solidFill>
                <a:latin typeface="Noto Sans SC"/>
                <a:ea typeface="Noto Sans SC"/>
                <a:cs typeface="Noto Sans SC"/>
                <a:sym typeface="Noto Sans SC"/>
              </a:rPr>
              <a:t>代码开发上下文 (30K)</a:t>
            </a:r>
            <a:endParaRPr lang="en-US" sz="1100"/>
          </a:p>
        </p:txBody>
      </p:sp>
      <p:sp>
        <p:nvSpPr>
          <p:cNvPr name="AutoShape 16" id="16"/>
          <p:cNvSpPr/>
          <p:nvPr/>
        </p:nvSpPr>
        <p:spPr>
          <a:xfrm rot="0" flipH="false" flipV="false">
            <a:off x="952500" y="4064000"/>
            <a:ext cx="3048000" cy="101600"/>
          </a:xfrm>
          <a:prstGeom prst="roundRect">
            <a:avLst>
              <a:gd name="adj" fmla="val 0"/>
            </a:avLst>
          </a:prstGeom>
          <a:solidFill>
            <a:srgbClr val="FFFFFF">
              <a:alpha val="1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952500" y="4064000"/>
            <a:ext cx="7112000" cy="101600"/>
          </a:xfrm>
          <a:prstGeom prst="roundRect">
            <a:avLst>
              <a:gd name="adj" fmla="val 0"/>
            </a:avLst>
          </a:prstGeom>
          <a:solidFill>
            <a:srgbClr val="00BFFF">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8" id="18"/>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952500" y="4254500"/>
            <a:ext cx="254000" cy="254000"/>
          </a:xfrm>
          <a:prstGeom prst="rect">
            <a:avLst/>
          </a:prstGeom>
        </p:spPr>
      </p:pic>
      <p:sp>
        <p:nvSpPr>
          <p:cNvPr name="AutoShape 19" id="19"/>
          <p:cNvSpPr/>
          <p:nvPr/>
        </p:nvSpPr>
        <p:spPr>
          <a:xfrm rot="0" flipH="false" flipV="false">
            <a:off x="1270000" y="4254500"/>
            <a:ext cx="1905000" cy="254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solidFill>
                <a:latin typeface="Noto Sans SC"/>
                <a:ea typeface="Noto Sans SC"/>
                <a:cs typeface="Noto Sans SC"/>
                <a:sym typeface="Noto Sans SC"/>
              </a:rPr>
              <a:t>写作项目上下文 (20K)</a:t>
            </a:r>
            <a:endParaRPr lang="en-US" sz="1100"/>
          </a:p>
        </p:txBody>
      </p:sp>
      <p:sp>
        <p:nvSpPr>
          <p:cNvPr name="AutoShape 20" id="20"/>
          <p:cNvSpPr/>
          <p:nvPr/>
        </p:nvSpPr>
        <p:spPr>
          <a:xfrm rot="0" flipH="false" flipV="false">
            <a:off x="952500" y="4572000"/>
            <a:ext cx="3048000" cy="101600"/>
          </a:xfrm>
          <a:prstGeom prst="roundRect">
            <a:avLst>
              <a:gd name="adj" fmla="val 0"/>
            </a:avLst>
          </a:prstGeom>
          <a:solidFill>
            <a:srgbClr val="FFFFFF">
              <a:alpha val="1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1" id="21"/>
          <p:cNvSpPr/>
          <p:nvPr/>
        </p:nvSpPr>
        <p:spPr>
          <a:xfrm rot="0" flipH="false" flipV="false">
            <a:off x="952500" y="4572000"/>
            <a:ext cx="4737100" cy="101600"/>
          </a:xfrm>
          <a:prstGeom prst="roundRect">
            <a:avLst>
              <a:gd name="adj" fmla="val 0"/>
            </a:avLst>
          </a:prstGeom>
          <a:solidFill>
            <a:srgbClr val="00BFFF">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2" id="22"/>
          <p:cNvPicPr>
            <a:picLocks noChangeAspect="true"/>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0" flipH="false" flipV="false">
            <a:off x="952500" y="4762500"/>
            <a:ext cx="254000" cy="254000"/>
          </a:xfrm>
          <a:prstGeom prst="rect">
            <a:avLst/>
          </a:prstGeom>
        </p:spPr>
      </p:pic>
      <p:sp>
        <p:nvSpPr>
          <p:cNvPr name="AutoShape 23" id="23"/>
          <p:cNvSpPr/>
          <p:nvPr/>
        </p:nvSpPr>
        <p:spPr>
          <a:xfrm rot="0" flipH="false" flipV="false">
            <a:off x="1270000" y="4762500"/>
            <a:ext cx="1905000" cy="254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solidFill>
                <a:latin typeface="Noto Sans SC"/>
                <a:ea typeface="Noto Sans SC"/>
                <a:cs typeface="Noto Sans SC"/>
                <a:sym typeface="Noto Sans SC"/>
              </a:rPr>
              <a:t>对话历史记录 (20K)</a:t>
            </a:r>
            <a:endParaRPr lang="en-US" sz="1100"/>
          </a:p>
        </p:txBody>
      </p:sp>
      <p:sp>
        <p:nvSpPr>
          <p:cNvPr name="AutoShape 24" id="24"/>
          <p:cNvSpPr/>
          <p:nvPr/>
        </p:nvSpPr>
        <p:spPr>
          <a:xfrm rot="0" flipH="false" flipV="false">
            <a:off x="952500" y="5080000"/>
            <a:ext cx="3048000" cy="101600"/>
          </a:xfrm>
          <a:prstGeom prst="roundRect">
            <a:avLst>
              <a:gd name="adj" fmla="val 0"/>
            </a:avLst>
          </a:prstGeom>
          <a:solidFill>
            <a:srgbClr val="FFFFFF">
              <a:alpha val="1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5" id="25"/>
          <p:cNvSpPr/>
          <p:nvPr/>
        </p:nvSpPr>
        <p:spPr>
          <a:xfrm rot="0" flipH="false" flipV="false">
            <a:off x="952500" y="5080000"/>
            <a:ext cx="4737100" cy="101600"/>
          </a:xfrm>
          <a:prstGeom prst="roundRect">
            <a:avLst>
              <a:gd name="adj" fmla="val 0"/>
            </a:avLst>
          </a:prstGeom>
          <a:solidFill>
            <a:srgbClr val="00BFFF">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6" id="26"/>
          <p:cNvPicPr>
            <a:picLocks noChangeAspect="true"/>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rot="0" flipH="false" flipV="false">
            <a:off x="952500" y="5270500"/>
            <a:ext cx="254000" cy="254000"/>
          </a:xfrm>
          <a:prstGeom prst="rect">
            <a:avLst/>
          </a:prstGeom>
        </p:spPr>
      </p:pic>
      <p:sp>
        <p:nvSpPr>
          <p:cNvPr name="AutoShape 27" id="27"/>
          <p:cNvSpPr/>
          <p:nvPr/>
        </p:nvSpPr>
        <p:spPr>
          <a:xfrm rot="0" flipH="false" flipV="false">
            <a:off x="1270000" y="5270500"/>
            <a:ext cx="1905000" cy="254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0000"/>
                </a:solidFill>
                <a:latin typeface="Noto Sans SC"/>
                <a:ea typeface="Noto Sans SC"/>
                <a:cs typeface="Noto Sans SC"/>
                <a:sym typeface="Noto Sans SC"/>
              </a:rPr>
              <a:t>剩余可用空间 (11K)</a:t>
            </a:r>
            <a:endParaRPr lang="en-US" sz="1100"/>
          </a:p>
        </p:txBody>
      </p:sp>
      <p:sp>
        <p:nvSpPr>
          <p:cNvPr name="AutoShape 28" id="28"/>
          <p:cNvSpPr/>
          <p:nvPr/>
        </p:nvSpPr>
        <p:spPr>
          <a:xfrm rot="0" flipH="false" flipV="false">
            <a:off x="952500" y="5588000"/>
            <a:ext cx="3048000" cy="101600"/>
          </a:xfrm>
          <a:prstGeom prst="roundRect">
            <a:avLst>
              <a:gd name="adj" fmla="val 0"/>
            </a:avLst>
          </a:prstGeom>
          <a:solidFill>
            <a:srgbClr val="FFFFFF">
              <a:alpha val="1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9" id="29"/>
          <p:cNvSpPr/>
          <p:nvPr/>
        </p:nvSpPr>
        <p:spPr>
          <a:xfrm rot="0" flipH="false" flipV="false">
            <a:off x="952500" y="5588000"/>
            <a:ext cx="2603500" cy="101600"/>
          </a:xfrm>
          <a:prstGeom prst="roundRect">
            <a:avLst>
              <a:gd name="adj" fmla="val 0"/>
            </a:avLst>
          </a:prstGeom>
          <a:solidFill>
            <a:srgbClr val="FF0000">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0" id="30"/>
          <p:cNvSpPr/>
          <p:nvPr/>
        </p:nvSpPr>
        <p:spPr>
          <a:xfrm rot="0" flipH="false" flipV="false">
            <a:off x="6350000" y="2032000"/>
            <a:ext cx="5080000" cy="4064000"/>
          </a:xfrm>
          <a:prstGeom prst="roundRect">
            <a:avLst>
              <a:gd name="adj" fmla="val 3125"/>
            </a:avLst>
          </a:prstGeom>
          <a:solidFill>
            <a:srgbClr val="00BFFF">
              <a:alpha val="10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31" id="31"/>
          <p:cNvPicPr>
            <a:picLocks noChangeAspect="true"/>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rot="0" flipH="false" flipV="false">
            <a:off x="6604000" y="2286000"/>
            <a:ext cx="304800" cy="304800"/>
          </a:xfrm>
          <a:prstGeom prst="rect">
            <a:avLst/>
          </a:prstGeom>
        </p:spPr>
      </p:pic>
      <p:sp>
        <p:nvSpPr>
          <p:cNvPr name="AutoShape 32" id="32"/>
          <p:cNvSpPr/>
          <p:nvPr/>
        </p:nvSpPr>
        <p:spPr>
          <a:xfrm rot="0" flipH="false" flipV="false">
            <a:off x="6985000" y="2260600"/>
            <a:ext cx="4318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关键问题分析</a:t>
            </a:r>
            <a:endParaRPr lang="en-US" sz="1100"/>
          </a:p>
        </p:txBody>
      </p:sp>
      <p:cxnSp>
        <p:nvCxnSpPr>
          <p:cNvPr name="Connector 33" id="33"/>
          <p:cNvCxnSpPr/>
          <p:nvPr/>
        </p:nvCxnSpPr>
        <p:spPr>
          <a:xfrm rot="-9549" flipH="false" flipV="false">
            <a:off x="6604009" y="2724150"/>
            <a:ext cx="4572000" cy="12700"/>
          </a:xfrm>
          <a:prstGeom prst="straightConnector1">
            <a:avLst/>
          </a:prstGeom>
          <a:solidFill>
            <a:srgbClr val="DEE0E3">
              <a:alpha val="100000"/>
            </a:srgbClr>
          </a:solidFill>
          <a:ln w="12700" cmpd="sng" cap="flat">
            <a:solidFill>
              <a:srgbClr val="FFFFFF">
                <a:alpha val="20000"/>
              </a:srgbClr>
            </a:solidFill>
            <a:prstDash val="solid"/>
            <a:round/>
            <a:headEnd type="none" w="med" len="med"/>
            <a:tailEnd type="none" w="med" len="med"/>
          </a:ln>
        </p:spPr>
      </p:cxnSp>
      <p:pic>
        <p:nvPicPr>
          <p:cNvPr name="Picture 34" id="34"/>
          <p:cNvPicPr>
            <a:picLocks noChangeAspect="true"/>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rot="0" flipH="false" flipV="false">
            <a:off x="6604000" y="2984500"/>
            <a:ext cx="254000" cy="254000"/>
          </a:xfrm>
          <a:prstGeom prst="rect">
            <a:avLst/>
          </a:prstGeom>
        </p:spPr>
      </p:pic>
      <p:sp>
        <p:nvSpPr>
          <p:cNvPr name="AutoShape 35" id="35"/>
          <p:cNvSpPr/>
          <p:nvPr/>
        </p:nvSpPr>
        <p:spPr>
          <a:xfrm rot="0" flipH="false" flipV="false">
            <a:off x="6985000" y="2946400"/>
            <a:ext cx="4318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00BFFF"/>
                </a:solidFill>
                <a:latin typeface="Noto Sans SC"/>
                <a:ea typeface="Noto Sans SC"/>
                <a:cs typeface="Noto Sans SC"/>
                <a:sym typeface="Noto Sans SC"/>
              </a:rPr>
              <a:t>多任务抢占资源</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200">
                <a:solidFill>
                  <a:srgbClr val="C8C8C8"/>
                </a:solidFill>
                <a:latin typeface="Noto Sans SC"/>
                <a:ea typeface="Noto Sans SC"/>
                <a:cs typeface="Noto Sans SC"/>
                <a:sym typeface="Noto Sans SC"/>
              </a:rPr>
              <a:t>交易、代码、写作等多领域任务上下文叠加，迅速消耗了超过90%的窗口容量。</a:t>
            </a:r>
          </a:p>
        </p:txBody>
      </p:sp>
      <p:pic>
        <p:nvPicPr>
          <p:cNvPr name="Picture 36" id="36"/>
          <p:cNvPicPr>
            <a:picLocks noChangeAspect="true"/>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rot="0" flipH="false" flipV="false">
            <a:off x="6604000" y="3746500"/>
            <a:ext cx="254000" cy="254000"/>
          </a:xfrm>
          <a:prstGeom prst="rect">
            <a:avLst/>
          </a:prstGeom>
        </p:spPr>
      </p:pic>
      <p:sp>
        <p:nvSpPr>
          <p:cNvPr name="AutoShape 37" id="37"/>
          <p:cNvSpPr/>
          <p:nvPr/>
        </p:nvSpPr>
        <p:spPr>
          <a:xfrm rot="0" flipH="false" flipV="false">
            <a:off x="6985000" y="3708400"/>
            <a:ext cx="4318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00BFFF"/>
                </a:solidFill>
                <a:latin typeface="Noto Sans SC"/>
                <a:ea typeface="Noto Sans SC"/>
                <a:cs typeface="Noto Sans SC"/>
                <a:sym typeface="Noto Sans SC"/>
              </a:rPr>
              <a:t>历史对话拖累</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200">
                <a:solidFill>
                  <a:srgbClr val="C8C8C8"/>
                </a:solidFill>
                <a:latin typeface="Noto Sans SC"/>
                <a:ea typeface="Noto Sans SC"/>
                <a:cs typeface="Noto Sans SC"/>
                <a:sym typeface="Noto Sans SC"/>
              </a:rPr>
              <a:t>20K的对话历史记录占据了大量空间，导致模型难以处理新的长文本输入。</a:t>
            </a:r>
          </a:p>
        </p:txBody>
      </p:sp>
      <p:pic>
        <p:nvPicPr>
          <p:cNvPr name="Picture 38" id="38"/>
          <p:cNvPicPr>
            <a:picLocks noChangeAspect="true"/>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rot="0" flipH="false" flipV="false">
            <a:off x="6604000" y="4508500"/>
            <a:ext cx="254000" cy="254000"/>
          </a:xfrm>
          <a:prstGeom prst="rect">
            <a:avLst/>
          </a:prstGeom>
        </p:spPr>
      </p:pic>
      <p:sp>
        <p:nvSpPr>
          <p:cNvPr name="AutoShape 39" id="39"/>
          <p:cNvSpPr/>
          <p:nvPr/>
        </p:nvSpPr>
        <p:spPr>
          <a:xfrm rot="0" flipH="false" flipV="false">
            <a:off x="6985000" y="4470400"/>
            <a:ext cx="4318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FF0000"/>
                </a:solidFill>
                <a:latin typeface="Noto Sans SC"/>
                <a:ea typeface="Noto Sans SC"/>
                <a:cs typeface="Noto Sans SC"/>
                <a:sym typeface="Noto Sans SC"/>
              </a:rPr>
              <a:t>性能瓶颈显现</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200">
                <a:solidFill>
                  <a:srgbClr val="C8C8C8"/>
                </a:solidFill>
                <a:latin typeface="Noto Sans SC"/>
                <a:ea typeface="Noto Sans SC"/>
                <a:cs typeface="Noto Sans SC"/>
                <a:sym typeface="Noto Sans SC"/>
              </a:rPr>
              <a:t>仅剩11K的余量意味着模型无法有效进行复杂的长程推理，响应能力大幅下降。</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0F172A">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F172A">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1016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四大瓶颈</a:t>
            </a:r>
            <a:endParaRPr lang="en-US" sz="1100"/>
          </a:p>
        </p:txBody>
      </p:sp>
      <p:sp>
        <p:nvSpPr>
          <p:cNvPr name="AutoShape 4" id="4"/>
          <p:cNvSpPr/>
          <p:nvPr/>
        </p:nvSpPr>
        <p:spPr>
          <a:xfrm rot="0" flipH="false" flipV="false">
            <a:off x="762000" y="1905000"/>
            <a:ext cx="10668000" cy="3302000"/>
          </a:xfrm>
          <a:prstGeom prst="roundRect">
            <a:avLst>
              <a:gd name="adj" fmla="val 3846"/>
            </a:avLst>
          </a:prstGeom>
          <a:solidFill>
            <a:srgbClr val="FFFFFF">
              <a:alpha val="5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1905000"/>
            <a:ext cx="10668000" cy="609600"/>
          </a:xfrm>
          <a:prstGeom prst="roundRect">
            <a:avLst>
              <a:gd name="adj" fmla="val 20833"/>
            </a:avLst>
          </a:prstGeom>
          <a:solidFill>
            <a:srgbClr val="00BFFF">
              <a:alpha val="2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1016000" y="2019300"/>
            <a:ext cx="254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00BFFF"/>
                </a:solidFill>
                <a:latin typeface="Noto Sans SC"/>
                <a:ea typeface="Noto Sans SC"/>
                <a:cs typeface="Noto Sans SC"/>
                <a:sym typeface="Noto Sans SC"/>
              </a:rPr>
              <a:t>瓶颈类型</a:t>
            </a:r>
            <a:endParaRPr lang="en-US" sz="1100"/>
          </a:p>
        </p:txBody>
      </p:sp>
      <p:sp>
        <p:nvSpPr>
          <p:cNvPr name="AutoShape 7" id="7"/>
          <p:cNvSpPr/>
          <p:nvPr/>
        </p:nvSpPr>
        <p:spPr>
          <a:xfrm rot="0" flipH="false" flipV="false">
            <a:off x="3810000" y="2019300"/>
            <a:ext cx="635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00BFFF"/>
                </a:solidFill>
                <a:latin typeface="Noto Sans SC"/>
                <a:ea typeface="Noto Sans SC"/>
                <a:cs typeface="Noto Sans SC"/>
                <a:sym typeface="Noto Sans SC"/>
              </a:rPr>
              <a:t>具体表现</a:t>
            </a:r>
            <a:endParaRPr lang="en-US" sz="1100"/>
          </a:p>
        </p:txBody>
      </p:sp>
      <p:pic>
        <p:nvPicPr>
          <p:cNvPr name="Picture 8" id="8"/>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16000" y="2667000"/>
            <a:ext cx="304800" cy="304800"/>
          </a:xfrm>
          <a:prstGeom prst="rect">
            <a:avLst/>
          </a:prstGeom>
        </p:spPr>
      </p:pic>
      <p:sp>
        <p:nvSpPr>
          <p:cNvPr name="AutoShape 9" id="9"/>
          <p:cNvSpPr/>
          <p:nvPr/>
        </p:nvSpPr>
        <p:spPr>
          <a:xfrm rot="0" flipH="false" flipV="false">
            <a:off x="1397000" y="2641600"/>
            <a:ext cx="2286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solidFill>
                <a:latin typeface="Noto Sans SC"/>
                <a:ea typeface="Noto Sans SC"/>
                <a:cs typeface="Noto Sans SC"/>
                <a:sym typeface="Noto Sans SC"/>
              </a:rPr>
              <a:t>上下文竞争</a:t>
            </a:r>
            <a:endParaRPr lang="en-US" sz="1100"/>
          </a:p>
        </p:txBody>
      </p:sp>
      <p:sp>
        <p:nvSpPr>
          <p:cNvPr name="AutoShape 10" id="10"/>
          <p:cNvSpPr/>
          <p:nvPr/>
        </p:nvSpPr>
        <p:spPr>
          <a:xfrm rot="0" flipH="false" flipV="false">
            <a:off x="3810000" y="2641600"/>
            <a:ext cx="6604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80000"/>
                  </a:srgbClr>
                </a:solidFill>
                <a:latin typeface="Noto Sans SC"/>
                <a:ea typeface="Noto Sans SC"/>
                <a:cs typeface="Noto Sans SC"/>
                <a:sym typeface="Noto Sans SC"/>
              </a:rPr>
              <a:t>多领域知识争夺有限窗口空间，导致信息过载或丢失</a:t>
            </a:r>
            <a:endParaRPr lang="en-US" sz="1100"/>
          </a:p>
        </p:txBody>
      </p:sp>
      <p:cxnSp>
        <p:nvCxnSpPr>
          <p:cNvPr name="Connector 11" id="11"/>
          <p:cNvCxnSpPr/>
          <p:nvPr/>
        </p:nvCxnSpPr>
        <p:spPr>
          <a:xfrm rot="-4092" flipH="false" flipV="false">
            <a:off x="762004" y="3041650"/>
            <a:ext cx="10668000" cy="12700"/>
          </a:xfrm>
          <a:prstGeom prst="straightConnector1">
            <a:avLst/>
          </a:prstGeom>
          <a:solidFill>
            <a:srgbClr val="DEE0E3">
              <a:alpha val="100000"/>
            </a:srgbClr>
          </a:solidFill>
          <a:ln w="12700" cmpd="sng" cap="flat">
            <a:solidFill>
              <a:srgbClr val="FFFFFF">
                <a:alpha val="10000"/>
              </a:srgbClr>
            </a:solidFill>
            <a:prstDash val="solid"/>
            <a:round/>
            <a:headEnd type="none" w="med" len="med"/>
            <a:tailEnd type="none" w="med" len="med"/>
          </a:ln>
        </p:spPr>
      </p:cxnSp>
      <p:pic>
        <p:nvPicPr>
          <p:cNvPr name="Picture 12" id="12"/>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1016000" y="3175000"/>
            <a:ext cx="304800" cy="304800"/>
          </a:xfrm>
          <a:prstGeom prst="rect">
            <a:avLst/>
          </a:prstGeom>
        </p:spPr>
      </p:pic>
      <p:sp>
        <p:nvSpPr>
          <p:cNvPr name="AutoShape 13" id="13"/>
          <p:cNvSpPr/>
          <p:nvPr/>
        </p:nvSpPr>
        <p:spPr>
          <a:xfrm rot="0" flipH="false" flipV="false">
            <a:off x="1397000" y="3149600"/>
            <a:ext cx="2286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solidFill>
                <a:latin typeface="Noto Sans SC"/>
                <a:ea typeface="Noto Sans SC"/>
                <a:cs typeface="Noto Sans SC"/>
                <a:sym typeface="Noto Sans SC"/>
              </a:rPr>
              <a:t>领域干扰</a:t>
            </a:r>
            <a:endParaRPr lang="en-US" sz="1100"/>
          </a:p>
        </p:txBody>
      </p:sp>
      <p:sp>
        <p:nvSpPr>
          <p:cNvPr name="AutoShape 14" id="14"/>
          <p:cNvSpPr/>
          <p:nvPr/>
        </p:nvSpPr>
        <p:spPr>
          <a:xfrm rot="0" flipH="false" flipV="false">
            <a:off x="3810000" y="3149600"/>
            <a:ext cx="6604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80000"/>
                  </a:srgbClr>
                </a:solidFill>
                <a:latin typeface="Noto Sans SC"/>
                <a:ea typeface="Noto Sans SC"/>
                <a:cs typeface="Noto Sans SC"/>
                <a:sym typeface="Noto Sans SC"/>
              </a:rPr>
              <a:t>“严谨分析师”与“创意写手”人设打架，导致输出矛盾</a:t>
            </a:r>
            <a:endParaRPr lang="en-US" sz="1100"/>
          </a:p>
        </p:txBody>
      </p:sp>
      <p:cxnSp>
        <p:nvCxnSpPr>
          <p:cNvPr name="Connector 15" id="15"/>
          <p:cNvCxnSpPr/>
          <p:nvPr/>
        </p:nvCxnSpPr>
        <p:spPr>
          <a:xfrm rot="-4092" flipH="false" flipV="false">
            <a:off x="762004" y="3549650"/>
            <a:ext cx="10668000" cy="12700"/>
          </a:xfrm>
          <a:prstGeom prst="straightConnector1">
            <a:avLst/>
          </a:prstGeom>
          <a:solidFill>
            <a:srgbClr val="DEE0E3">
              <a:alpha val="100000"/>
            </a:srgbClr>
          </a:solidFill>
          <a:ln w="12700" cmpd="sng" cap="flat">
            <a:solidFill>
              <a:srgbClr val="FFFFFF">
                <a:alpha val="10000"/>
              </a:srgbClr>
            </a:solidFill>
            <a:prstDash val="solid"/>
            <a:round/>
            <a:headEnd type="none" w="med" len="med"/>
            <a:tailEnd type="none" w="med" len="med"/>
          </a:ln>
        </p:spPr>
      </p:cxnSp>
      <p:pic>
        <p:nvPicPr>
          <p:cNvPr name="Picture 16" id="16"/>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1016000" y="3683000"/>
            <a:ext cx="304800" cy="304800"/>
          </a:xfrm>
          <a:prstGeom prst="rect">
            <a:avLst/>
          </a:prstGeom>
        </p:spPr>
      </p:pic>
      <p:sp>
        <p:nvSpPr>
          <p:cNvPr name="AutoShape 17" id="17"/>
          <p:cNvSpPr/>
          <p:nvPr/>
        </p:nvSpPr>
        <p:spPr>
          <a:xfrm rot="0" flipH="false" flipV="false">
            <a:off x="1397000" y="3657600"/>
            <a:ext cx="2286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solidFill>
                <a:latin typeface="Noto Sans SC"/>
                <a:ea typeface="Noto Sans SC"/>
                <a:cs typeface="Noto Sans SC"/>
                <a:sym typeface="Noto Sans SC"/>
              </a:rPr>
              <a:t>并行限制</a:t>
            </a:r>
            <a:endParaRPr lang="en-US" sz="1100"/>
          </a:p>
        </p:txBody>
      </p:sp>
      <p:sp>
        <p:nvSpPr>
          <p:cNvPr name="AutoShape 18" id="18"/>
          <p:cNvSpPr/>
          <p:nvPr/>
        </p:nvSpPr>
        <p:spPr>
          <a:xfrm rot="0" flipH="false" flipV="false">
            <a:off x="3810000" y="3657600"/>
            <a:ext cx="6604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80000"/>
                  </a:srgbClr>
                </a:solidFill>
                <a:latin typeface="Noto Sans SC"/>
                <a:ea typeface="Noto Sans SC"/>
                <a:cs typeface="Noto Sans SC"/>
                <a:sym typeface="Noto Sans SC"/>
              </a:rPr>
              <a:t>同一时间只能处理一个任务，无法高效利用资源</a:t>
            </a:r>
            <a:endParaRPr lang="en-US" sz="1100"/>
          </a:p>
        </p:txBody>
      </p:sp>
      <p:cxnSp>
        <p:nvCxnSpPr>
          <p:cNvPr name="Connector 19" id="19"/>
          <p:cNvCxnSpPr/>
          <p:nvPr/>
        </p:nvCxnSpPr>
        <p:spPr>
          <a:xfrm rot="-4092" flipH="false" flipV="false">
            <a:off x="762004" y="4057650"/>
            <a:ext cx="10668000" cy="12700"/>
          </a:xfrm>
          <a:prstGeom prst="straightConnector1">
            <a:avLst/>
          </a:prstGeom>
          <a:solidFill>
            <a:srgbClr val="DEE0E3">
              <a:alpha val="100000"/>
            </a:srgbClr>
          </a:solidFill>
          <a:ln w="12700" cmpd="sng" cap="flat">
            <a:solidFill>
              <a:srgbClr val="FFFFFF">
                <a:alpha val="10000"/>
              </a:srgbClr>
            </a:solidFill>
            <a:prstDash val="solid"/>
            <a:round/>
            <a:headEnd type="none" w="med" len="med"/>
            <a:tailEnd type="none" w="med" len="med"/>
          </a:ln>
        </p:spPr>
      </p:cxnSp>
      <p:pic>
        <p:nvPicPr>
          <p:cNvPr name="Picture 20" id="20"/>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1016000" y="4191000"/>
            <a:ext cx="304800" cy="304800"/>
          </a:xfrm>
          <a:prstGeom prst="rect">
            <a:avLst/>
          </a:prstGeom>
        </p:spPr>
      </p:pic>
      <p:sp>
        <p:nvSpPr>
          <p:cNvPr name="AutoShape 21" id="21"/>
          <p:cNvSpPr/>
          <p:nvPr/>
        </p:nvSpPr>
        <p:spPr>
          <a:xfrm rot="0" flipH="false" flipV="false">
            <a:off x="1397000" y="4165600"/>
            <a:ext cx="2286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solidFill>
                <a:latin typeface="Noto Sans SC"/>
                <a:ea typeface="Noto Sans SC"/>
                <a:cs typeface="Noto Sans SC"/>
                <a:sym typeface="Noto Sans SC"/>
              </a:rPr>
              <a:t>单点故障</a:t>
            </a:r>
            <a:endParaRPr lang="en-US" sz="1100"/>
          </a:p>
        </p:txBody>
      </p:sp>
      <p:sp>
        <p:nvSpPr>
          <p:cNvPr name="AutoShape 22" id="22"/>
          <p:cNvSpPr/>
          <p:nvPr/>
        </p:nvSpPr>
        <p:spPr>
          <a:xfrm rot="0" flipH="false" flipV="false">
            <a:off x="3810000" y="4165600"/>
            <a:ext cx="6604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80000"/>
                  </a:srgbClr>
                </a:solidFill>
                <a:latin typeface="Noto Sans SC"/>
                <a:ea typeface="Noto Sans SC"/>
                <a:cs typeface="Noto Sans SC"/>
                <a:sym typeface="Noto Sans SC"/>
              </a:rPr>
              <a:t>一个模块出错，整个Agent崩溃，系统鲁棒性差</a:t>
            </a:r>
            <a:endParaRPr lang="en-US" sz="1100"/>
          </a:p>
        </p:txBody>
      </p:sp>
      <p:sp>
        <p:nvSpPr>
          <p:cNvPr name="AutoShape 23" id="23"/>
          <p:cNvSpPr/>
          <p:nvPr/>
        </p:nvSpPr>
        <p:spPr>
          <a:xfrm rot="0" flipH="false" flipV="false">
            <a:off x="762000" y="5461000"/>
            <a:ext cx="10668000" cy="762000"/>
          </a:xfrm>
          <a:prstGeom prst="roundRect">
            <a:avLst>
              <a:gd name="adj" fmla="val 16666"/>
            </a:avLst>
          </a:prstGeom>
          <a:solidFill>
            <a:srgbClr val="00BFFF">
              <a:alpha val="15000"/>
            </a:srgbClr>
          </a:solidFill>
          <a:ln w="12700" cmpd="sng" cap="flat">
            <a:solidFill>
              <a:srgbClr val="00BFFF">
                <a:alpha val="50000"/>
              </a:srgbClr>
            </a:solidFill>
            <a:prstDash val="solid"/>
            <a:round/>
          </a:ln>
        </p:spPr>
        <p:txBody>
          <a:bodyPr anchor="ctr" rtlCol="false" vert="horz" wrap="square" lIns="63500" rIns="63500" tIns="63500" bIns="63500"/>
          <a:lstStyle/>
          <a:p>
            <a:pPr algn="ctr">
              <a:defRPr/>
            </a:pPr>
            <a:endParaRPr/>
          </a:p>
        </p:txBody>
      </p:sp>
      <p:pic>
        <p:nvPicPr>
          <p:cNvPr name="Picture 24" id="24"/>
          <p:cNvPicPr>
            <a:picLocks noChangeAspect="true"/>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0" flipH="false" flipV="false">
            <a:off x="1016000" y="5689600"/>
            <a:ext cx="304800" cy="304800"/>
          </a:xfrm>
          <a:prstGeom prst="rect">
            <a:avLst/>
          </a:prstGeom>
        </p:spPr>
      </p:pic>
      <p:sp>
        <p:nvSpPr>
          <p:cNvPr name="AutoShape 25" id="25"/>
          <p:cNvSpPr/>
          <p:nvPr/>
        </p:nvSpPr>
        <p:spPr>
          <a:xfrm rot="0" flipH="false" flipV="false">
            <a:off x="1460500" y="5651500"/>
            <a:ext cx="9652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solidFill>
                <a:latin typeface="Noto Sans SC"/>
                <a:ea typeface="Noto Sans SC"/>
                <a:cs typeface="Noto Sans SC"/>
                <a:sym typeface="Noto Sans SC"/>
              </a:rPr>
              <a:t>本质原因：违反了软件工程中的</a:t>
            </a:r>
            <a:r>
              <a:rPr lang="en-US" b="true" i="false" strike="noStrike" u="none" sz="1400">
                <a:solidFill>
                  <a:srgbClr val="00BFFF"/>
                </a:solidFill>
                <a:latin typeface="Noto Sans SC"/>
                <a:ea typeface="Noto Sans SC"/>
                <a:cs typeface="Noto Sans SC"/>
                <a:sym typeface="Noto Sans SC"/>
              </a:rPr>
              <a:t>单一职责原则 (Single Responsibility Principle)</a:t>
            </a:r>
            <a:endParaRPr lang="en-US" sz="1100"/>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0A0F1E">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A192F">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1016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哪个瓶颈无法靠增大窗口解决？</a:t>
            </a:r>
            <a:endParaRPr lang="en-US" sz="1100"/>
          </a:p>
        </p:txBody>
      </p:sp>
      <p:sp>
        <p:nvSpPr>
          <p:cNvPr name="AutoShape 4" id="4"/>
          <p:cNvSpPr/>
          <p:nvPr/>
        </p:nvSpPr>
        <p:spPr>
          <a:xfrm rot="0" flipH="false" flipV="false">
            <a:off x="762000" y="1778000"/>
            <a:ext cx="10668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600">
                <a:solidFill>
                  <a:srgbClr val="FFFFFF">
                    <a:alpha val="80000"/>
                  </a:srgbClr>
                </a:solidFill>
                <a:latin typeface="Noto Sans SC"/>
                <a:ea typeface="Noto Sans SC"/>
                <a:cs typeface="Noto Sans SC"/>
                <a:sym typeface="Noto Sans SC"/>
              </a:rPr>
              <a:t>在上下文竞争、领域干扰、并行限制、单点故障这四个瓶颈中，哪一个是硬伤？</a:t>
            </a:r>
            <a:endParaRPr lang="en-US" sz="1100"/>
          </a:p>
        </p:txBody>
      </p:sp>
      <p:sp>
        <p:nvSpPr>
          <p:cNvPr name="AutoShape 5" id="5"/>
          <p:cNvSpPr/>
          <p:nvPr/>
        </p:nvSpPr>
        <p:spPr>
          <a:xfrm rot="0" flipH="false" flipV="false">
            <a:off x="762000" y="2540000"/>
            <a:ext cx="2476500" cy="2032000"/>
          </a:xfrm>
          <a:prstGeom prst="roundRect">
            <a:avLst>
              <a:gd name="adj" fmla="val 6250"/>
            </a:avLst>
          </a:prstGeom>
          <a:solidFill>
            <a:srgbClr val="FFFFFF">
              <a:alpha val="5000"/>
            </a:srgbClr>
          </a:solidFill>
          <a:ln w="12700" cmpd="sng" cap="flat">
            <a:solidFill>
              <a:srgbClr val="FFFFFF">
                <a:alpha val="10000"/>
              </a:srgbClr>
            </a:solid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16000" y="2794000"/>
            <a:ext cx="406400" cy="406400"/>
          </a:xfrm>
          <a:prstGeom prst="rect">
            <a:avLst/>
          </a:prstGeom>
        </p:spPr>
      </p:pic>
      <p:sp>
        <p:nvSpPr>
          <p:cNvPr name="AutoShape 7" id="7"/>
          <p:cNvSpPr/>
          <p:nvPr/>
        </p:nvSpPr>
        <p:spPr>
          <a:xfrm rot="0" flipH="false" flipV="false">
            <a:off x="1016000" y="3302000"/>
            <a:ext cx="19685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上下文竞争</a:t>
            </a:r>
            <a:endParaRPr lang="en-US" sz="1100"/>
          </a:p>
        </p:txBody>
      </p:sp>
      <p:sp>
        <p:nvSpPr>
          <p:cNvPr name="AutoShape 8" id="8"/>
          <p:cNvSpPr/>
          <p:nvPr/>
        </p:nvSpPr>
        <p:spPr>
          <a:xfrm rot="0" flipH="false" flipV="false">
            <a:off x="1016000" y="3683000"/>
            <a:ext cx="19685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200">
                <a:solidFill>
                  <a:srgbClr val="FFFFFF">
                    <a:alpha val="60000"/>
                  </a:srgbClr>
                </a:solidFill>
                <a:latin typeface="Noto Sans SC"/>
                <a:ea typeface="Noto Sans SC"/>
                <a:cs typeface="Noto Sans SC"/>
                <a:sym typeface="Noto Sans SC"/>
              </a:rPr>
              <a:t>可通过增大窗口缓解，属于资源问题。</a:t>
            </a:r>
            <a:endParaRPr lang="en-US" sz="1100"/>
          </a:p>
        </p:txBody>
      </p:sp>
      <p:sp>
        <p:nvSpPr>
          <p:cNvPr name="AutoShape 9" id="9"/>
          <p:cNvSpPr/>
          <p:nvPr/>
        </p:nvSpPr>
        <p:spPr>
          <a:xfrm rot="0" flipH="false" flipV="false">
            <a:off x="3492500" y="2540000"/>
            <a:ext cx="2476500" cy="2032000"/>
          </a:xfrm>
          <a:prstGeom prst="roundRect">
            <a:avLst>
              <a:gd name="adj" fmla="val 6250"/>
            </a:avLst>
          </a:prstGeom>
          <a:solidFill>
            <a:srgbClr val="FFFF00">
              <a:alpha val="10000"/>
            </a:srgbClr>
          </a:solidFill>
          <a:ln w="25400" cmpd="sng" cap="flat">
            <a:solidFill>
              <a:srgbClr val="FFFF00">
                <a:alpha val="100000"/>
              </a:srgbClr>
            </a:solid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3746500" y="2794000"/>
            <a:ext cx="406400" cy="406400"/>
          </a:xfrm>
          <a:prstGeom prst="rect">
            <a:avLst/>
          </a:prstGeom>
        </p:spPr>
      </p:pic>
      <p:sp>
        <p:nvSpPr>
          <p:cNvPr name="AutoShape 11" id="11"/>
          <p:cNvSpPr/>
          <p:nvPr/>
        </p:nvSpPr>
        <p:spPr>
          <a:xfrm rot="0" flipH="false" flipV="false">
            <a:off x="3746500" y="3302000"/>
            <a:ext cx="19685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00"/>
                </a:solidFill>
                <a:latin typeface="Noto Sans SC"/>
                <a:ea typeface="Noto Sans SC"/>
                <a:cs typeface="Noto Sans SC"/>
                <a:sym typeface="Noto Sans SC"/>
              </a:rPr>
              <a:t>领域干扰</a:t>
            </a:r>
            <a:endParaRPr lang="en-US" sz="1100"/>
          </a:p>
        </p:txBody>
      </p:sp>
      <p:sp>
        <p:nvSpPr>
          <p:cNvPr name="AutoShape 12" id="12"/>
          <p:cNvSpPr/>
          <p:nvPr/>
        </p:nvSpPr>
        <p:spPr>
          <a:xfrm rot="0" flipH="false" flipV="false">
            <a:off x="3746500" y="3683000"/>
            <a:ext cx="19685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200">
                <a:solidFill>
                  <a:srgbClr val="FFFFFF">
                    <a:alpha val="80000"/>
                  </a:srgbClr>
                </a:solidFill>
                <a:latin typeface="Noto Sans SC"/>
                <a:ea typeface="Noto Sans SC"/>
                <a:cs typeface="Noto Sans SC"/>
                <a:sym typeface="Noto Sans SC"/>
              </a:rPr>
              <a:t>思维模式冲突，窗口再大也无法调和。</a:t>
            </a:r>
            <a:endParaRPr lang="en-US" sz="1100"/>
          </a:p>
        </p:txBody>
      </p:sp>
      <p:sp>
        <p:nvSpPr>
          <p:cNvPr name="AutoShape 13" id="13"/>
          <p:cNvSpPr/>
          <p:nvPr/>
        </p:nvSpPr>
        <p:spPr>
          <a:xfrm rot="0" flipH="false" flipV="false">
            <a:off x="6223000" y="2540000"/>
            <a:ext cx="2476500" cy="2032000"/>
          </a:xfrm>
          <a:prstGeom prst="roundRect">
            <a:avLst>
              <a:gd name="adj" fmla="val 6250"/>
            </a:avLst>
          </a:prstGeom>
          <a:solidFill>
            <a:srgbClr val="FFFFFF">
              <a:alpha val="5000"/>
            </a:srgbClr>
          </a:solidFill>
          <a:ln w="12700" cmpd="sng" cap="flat">
            <a:solidFill>
              <a:srgbClr val="FFFFFF">
                <a:alpha val="10000"/>
              </a:srgbClr>
            </a:solidFill>
            <a:prstDash val="solid"/>
            <a:round/>
          </a:ln>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6477000" y="2794000"/>
            <a:ext cx="406400" cy="406400"/>
          </a:xfrm>
          <a:prstGeom prst="rect">
            <a:avLst/>
          </a:prstGeom>
        </p:spPr>
      </p:pic>
      <p:sp>
        <p:nvSpPr>
          <p:cNvPr name="AutoShape 15" id="15"/>
          <p:cNvSpPr/>
          <p:nvPr/>
        </p:nvSpPr>
        <p:spPr>
          <a:xfrm rot="0" flipH="false" flipV="false">
            <a:off x="6477000" y="3302000"/>
            <a:ext cx="19685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并行限制</a:t>
            </a:r>
            <a:endParaRPr lang="en-US" sz="1100"/>
          </a:p>
        </p:txBody>
      </p:sp>
      <p:sp>
        <p:nvSpPr>
          <p:cNvPr name="AutoShape 16" id="16"/>
          <p:cNvSpPr/>
          <p:nvPr/>
        </p:nvSpPr>
        <p:spPr>
          <a:xfrm rot="0" flipH="false" flipV="false">
            <a:off x="6477000" y="3683000"/>
            <a:ext cx="19685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200">
                <a:solidFill>
                  <a:srgbClr val="FFFFFF">
                    <a:alpha val="60000"/>
                  </a:srgbClr>
                </a:solidFill>
                <a:latin typeface="Noto Sans SC"/>
                <a:ea typeface="Noto Sans SC"/>
                <a:cs typeface="Noto Sans SC"/>
                <a:sym typeface="Noto Sans SC"/>
              </a:rPr>
              <a:t>属于计算能力问题，可通过并行计算解决。</a:t>
            </a:r>
            <a:endParaRPr lang="en-US" sz="1100"/>
          </a:p>
        </p:txBody>
      </p:sp>
      <p:sp>
        <p:nvSpPr>
          <p:cNvPr name="AutoShape 17" id="17"/>
          <p:cNvSpPr/>
          <p:nvPr/>
        </p:nvSpPr>
        <p:spPr>
          <a:xfrm rot="0" flipH="false" flipV="false">
            <a:off x="8953500" y="2540000"/>
            <a:ext cx="2476500" cy="2032000"/>
          </a:xfrm>
          <a:prstGeom prst="roundRect">
            <a:avLst>
              <a:gd name="adj" fmla="val 6250"/>
            </a:avLst>
          </a:prstGeom>
          <a:solidFill>
            <a:srgbClr val="FFFFFF">
              <a:alpha val="5000"/>
            </a:srgbClr>
          </a:solidFill>
          <a:ln w="12700" cmpd="sng" cap="flat">
            <a:solidFill>
              <a:srgbClr val="FFFFFF">
                <a:alpha val="10000"/>
              </a:srgbClr>
            </a:solidFill>
            <a:prstDash val="solid"/>
            <a:round/>
          </a:ln>
        </p:spPr>
        <p:txBody>
          <a:bodyPr anchor="ctr" rtlCol="false" vert="horz" wrap="square" lIns="63500" rIns="63500" tIns="63500" bIns="63500"/>
          <a:lstStyle/>
          <a:p>
            <a:pPr algn="ctr">
              <a:defRPr/>
            </a:pPr>
            <a:endParaRPr/>
          </a:p>
        </p:txBody>
      </p:sp>
      <p:pic>
        <p:nvPicPr>
          <p:cNvPr name="Picture 18" id="18"/>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9207500" y="2794000"/>
            <a:ext cx="406400" cy="406400"/>
          </a:xfrm>
          <a:prstGeom prst="rect">
            <a:avLst/>
          </a:prstGeom>
        </p:spPr>
      </p:pic>
      <p:sp>
        <p:nvSpPr>
          <p:cNvPr name="AutoShape 19" id="19"/>
          <p:cNvSpPr/>
          <p:nvPr/>
        </p:nvSpPr>
        <p:spPr>
          <a:xfrm rot="0" flipH="false" flipV="false">
            <a:off x="9207500" y="3302000"/>
            <a:ext cx="19685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单点故障</a:t>
            </a:r>
            <a:endParaRPr lang="en-US" sz="1100"/>
          </a:p>
        </p:txBody>
      </p:sp>
      <p:sp>
        <p:nvSpPr>
          <p:cNvPr name="AutoShape 20" id="20"/>
          <p:cNvSpPr/>
          <p:nvPr/>
        </p:nvSpPr>
        <p:spPr>
          <a:xfrm rot="0" flipH="false" flipV="false">
            <a:off x="9207500" y="3683000"/>
            <a:ext cx="19685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200">
                <a:solidFill>
                  <a:srgbClr val="FFFFFF">
                    <a:alpha val="60000"/>
                  </a:srgbClr>
                </a:solidFill>
                <a:latin typeface="Noto Sans SC"/>
                <a:ea typeface="Noto Sans SC"/>
                <a:cs typeface="Noto Sans SC"/>
                <a:sym typeface="Noto Sans SC"/>
              </a:rPr>
              <a:t>属于架构稳定性问题，需冗余备份。</a:t>
            </a:r>
            <a:endParaRPr lang="en-US" sz="1100"/>
          </a:p>
        </p:txBody>
      </p:sp>
      <p:sp>
        <p:nvSpPr>
          <p:cNvPr name="AutoShape 21" id="21"/>
          <p:cNvSpPr/>
          <p:nvPr/>
        </p:nvSpPr>
        <p:spPr>
          <a:xfrm rot="0" flipH="false" flipV="false">
            <a:off x="762000" y="4826000"/>
            <a:ext cx="10668000" cy="1016000"/>
          </a:xfrm>
          <a:prstGeom prst="roundRect">
            <a:avLst>
              <a:gd name="adj" fmla="val 12500"/>
            </a:avLst>
          </a:prstGeom>
          <a:solidFill>
            <a:srgbClr val="00BFFF">
              <a:alpha val="10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22" id="22"/>
          <p:cNvPicPr>
            <a:picLocks noChangeAspect="true"/>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0" flipH="false" flipV="false">
            <a:off x="1016000" y="5016500"/>
            <a:ext cx="304800" cy="304800"/>
          </a:xfrm>
          <a:prstGeom prst="rect">
            <a:avLst/>
          </a:prstGeom>
        </p:spPr>
      </p:pic>
      <p:sp>
        <p:nvSpPr>
          <p:cNvPr name="AutoShape 23" id="23"/>
          <p:cNvSpPr/>
          <p:nvPr/>
        </p:nvSpPr>
        <p:spPr>
          <a:xfrm rot="0" flipH="false" flipV="false">
            <a:off x="1397000" y="4978400"/>
            <a:ext cx="9906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FFFFFF"/>
                </a:solidFill>
                <a:latin typeface="Noto Sans SC"/>
                <a:ea typeface="Noto Sans SC"/>
                <a:cs typeface="Noto Sans SC"/>
                <a:sym typeface="Noto Sans SC"/>
              </a:rPr>
              <a:t>核心洞察：</a:t>
            </a:r>
            <a:r>
              <a:rPr lang="en-US" b="false" i="false" strike="noStrike" u="none" sz="1400">
                <a:solidFill>
                  <a:srgbClr val="FFFFFF">
                    <a:alpha val="80000"/>
                  </a:srgbClr>
                </a:solidFill>
                <a:latin typeface="Noto Sans SC"/>
                <a:ea typeface="Noto Sans SC"/>
                <a:cs typeface="Noto Sans SC"/>
                <a:sym typeface="Noto Sans SC"/>
              </a:rPr>
              <a:t>即使窗口无限大，“严谨分析师”和“创意写手”的思维冲突依然存在，这是引入多Agent架构的根本原因。</a:t>
            </a:r>
            <a:endParaRPr lang="en-US" sz="1100"/>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0A192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A192F">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1016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解决方案</a:t>
            </a:r>
            <a:endParaRPr lang="en-US" sz="1100"/>
          </a:p>
        </p:txBody>
      </p:sp>
      <p:sp>
        <p:nvSpPr>
          <p:cNvPr name="AutoShape 4" id="4"/>
          <p:cNvSpPr/>
          <p:nvPr/>
        </p:nvSpPr>
        <p:spPr>
          <a:xfrm rot="0" flipH="false" flipV="false">
            <a:off x="762000" y="2032000"/>
            <a:ext cx="4826000" cy="3048000"/>
          </a:xfrm>
          <a:prstGeom prst="roundRect">
            <a:avLst>
              <a:gd name="adj" fmla="val 4166"/>
            </a:avLst>
          </a:prstGeom>
          <a:solidFill>
            <a:srgbClr val="FFFFFF">
              <a:alpha val="5000"/>
            </a:srgbClr>
          </a:solidFill>
          <a:ln w="12700" cmpd="sng" cap="flat">
            <a:solidFill>
              <a:srgbClr val="FFFFFF">
                <a:alpha val="10000"/>
              </a:srgbClr>
            </a:solid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143000" y="2413000"/>
            <a:ext cx="609600" cy="609600"/>
          </a:xfrm>
          <a:prstGeom prst="rect">
            <a:avLst/>
          </a:prstGeom>
        </p:spPr>
      </p:pic>
      <p:sp>
        <p:nvSpPr>
          <p:cNvPr name="AutoShape 6" id="6"/>
          <p:cNvSpPr/>
          <p:nvPr/>
        </p:nvSpPr>
        <p:spPr>
          <a:xfrm rot="0" flipH="false" flipV="false">
            <a:off x="1905000" y="2476500"/>
            <a:ext cx="3556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D1D5DB"/>
                </a:solidFill>
                <a:latin typeface="Noto Sans SC"/>
                <a:ea typeface="Noto Sans SC"/>
                <a:cs typeface="Noto Sans SC"/>
                <a:sym typeface="Noto Sans SC"/>
              </a:rPr>
              <a:t>传统模式：单一Agent</a:t>
            </a:r>
            <a:endParaRPr lang="en-US" sz="1100"/>
          </a:p>
        </p:txBody>
      </p:sp>
      <p:cxnSp>
        <p:nvCxnSpPr>
          <p:cNvPr name="Connector 7" id="7"/>
          <p:cNvCxnSpPr/>
          <p:nvPr/>
        </p:nvCxnSpPr>
        <p:spPr>
          <a:xfrm rot="-10742" flipH="false" flipV="false">
            <a:off x="1143010" y="3105150"/>
            <a:ext cx="4064000" cy="12700"/>
          </a:xfrm>
          <a:prstGeom prst="straightConnector1">
            <a:avLst/>
          </a:prstGeom>
          <a:solidFill>
            <a:srgbClr val="DEE0E3">
              <a:alpha val="100000"/>
            </a:srgbClr>
          </a:solidFill>
          <a:ln w="12700" cmpd="sng" cap="flat">
            <a:solidFill>
              <a:srgbClr val="FFFFFF">
                <a:alpha val="10000"/>
              </a:srgbClr>
            </a:solidFill>
            <a:prstDash val="solid"/>
            <a:round/>
            <a:headEnd type="none" w="med" len="med"/>
            <a:tailEnd type="none" w="med" len="med"/>
          </a:ln>
        </p:spPr>
      </p:cxnSp>
      <p:sp>
        <p:nvSpPr>
          <p:cNvPr name="AutoShape 8" id="8"/>
          <p:cNvSpPr/>
          <p:nvPr/>
        </p:nvSpPr>
        <p:spPr>
          <a:xfrm rot="0" flipH="false" flipV="false">
            <a:off x="1143000" y="3302000"/>
            <a:ext cx="4064000" cy="1270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600">
                <a:solidFill>
                  <a:srgbClr val="9CA3AF"/>
                </a:solidFill>
                <a:latin typeface="Noto Sans SC"/>
                <a:ea typeface="Noto Sans SC"/>
                <a:cs typeface="Noto Sans SC"/>
                <a:sym typeface="Noto Sans SC"/>
              </a:rPr>
              <a:t>试图通过一个“全能”模型解决所有问题，结果往往是</a:t>
            </a:r>
            <a:r>
              <a:rPr lang="en-US" b="true" i="false" strike="noStrike" u="none" sz="1600">
                <a:solidFill>
                  <a:srgbClr val="FFFF00"/>
                </a:solidFill>
                <a:latin typeface="Noto Sans SC"/>
                <a:ea typeface="Noto Sans SC"/>
                <a:cs typeface="Noto Sans SC"/>
                <a:sym typeface="Noto Sans SC"/>
              </a:rPr>
              <a:t>平庸且低效</a:t>
            </a:r>
            <a:r>
              <a:rPr lang="en-US" b="false" i="false" strike="noStrike" u="none" sz="1600">
                <a:solidFill>
                  <a:srgbClr val="9CA3AF"/>
                </a:solidFill>
                <a:latin typeface="Noto Sans SC"/>
                <a:ea typeface="Noto Sans SC"/>
                <a:cs typeface="Noto Sans SC"/>
                <a:sym typeface="Noto Sans SC"/>
              </a:rPr>
              <a:t>。</a:t>
            </a:r>
            <a:endParaRPr lang="en-US" sz="1100"/>
          </a:p>
        </p:txBody>
      </p:sp>
      <p:pic>
        <p:nvPicPr>
          <p:cNvPr name="Picture 9" id="9"/>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5842000" y="3302000"/>
            <a:ext cx="508000" cy="508000"/>
          </a:xfrm>
          <a:prstGeom prst="rect">
            <a:avLst/>
          </a:prstGeom>
        </p:spPr>
      </p:pic>
      <p:sp>
        <p:nvSpPr>
          <p:cNvPr name="AutoShape 10" id="10"/>
          <p:cNvSpPr/>
          <p:nvPr/>
        </p:nvSpPr>
        <p:spPr>
          <a:xfrm rot="0" flipH="false" flipV="false">
            <a:off x="6604000" y="2032000"/>
            <a:ext cx="4826000" cy="3048000"/>
          </a:xfrm>
          <a:prstGeom prst="roundRect">
            <a:avLst>
              <a:gd name="adj" fmla="val 4166"/>
            </a:avLst>
          </a:prstGeom>
          <a:solidFill>
            <a:srgbClr val="00BFFF">
              <a:alpha val="10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6985000" y="2413000"/>
            <a:ext cx="609600" cy="609600"/>
          </a:xfrm>
          <a:prstGeom prst="rect">
            <a:avLst/>
          </a:prstGeom>
        </p:spPr>
      </p:pic>
      <p:sp>
        <p:nvSpPr>
          <p:cNvPr name="AutoShape 12" id="12"/>
          <p:cNvSpPr/>
          <p:nvPr/>
        </p:nvSpPr>
        <p:spPr>
          <a:xfrm rot="0" flipH="false" flipV="false">
            <a:off x="7747000" y="2476500"/>
            <a:ext cx="3556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创新方案：多Agent架构</a:t>
            </a:r>
            <a:endParaRPr lang="en-US" sz="1100"/>
          </a:p>
        </p:txBody>
      </p:sp>
      <p:cxnSp>
        <p:nvCxnSpPr>
          <p:cNvPr name="Connector 13" id="13"/>
          <p:cNvCxnSpPr/>
          <p:nvPr/>
        </p:nvCxnSpPr>
        <p:spPr>
          <a:xfrm rot="-10742" flipH="false" flipV="false">
            <a:off x="6985010" y="3105150"/>
            <a:ext cx="4064000" cy="12700"/>
          </a:xfrm>
          <a:prstGeom prst="straightConnector1">
            <a:avLst/>
          </a:prstGeom>
          <a:solidFill>
            <a:srgbClr val="DEE0E3">
              <a:alpha val="100000"/>
            </a:srgbClr>
          </a:solidFill>
          <a:ln w="12700" cmpd="sng" cap="flat">
            <a:solidFill>
              <a:srgbClr val="00BFFF">
                <a:alpha val="30000"/>
              </a:srgbClr>
            </a:solidFill>
            <a:prstDash val="solid"/>
            <a:round/>
            <a:headEnd type="none" w="med" len="med"/>
            <a:tailEnd type="none" w="med" len="med"/>
          </a:ln>
        </p:spPr>
      </p:cxnSp>
      <p:sp>
        <p:nvSpPr>
          <p:cNvPr name="AutoShape 14" id="14"/>
          <p:cNvSpPr/>
          <p:nvPr/>
        </p:nvSpPr>
        <p:spPr>
          <a:xfrm rot="0" flipH="false" flipV="false">
            <a:off x="6985000" y="3302000"/>
            <a:ext cx="4064000" cy="1270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600">
                <a:solidFill>
                  <a:srgbClr val="E5E7EB"/>
                </a:solidFill>
                <a:latin typeface="Noto Sans SC"/>
                <a:ea typeface="Noto Sans SC"/>
                <a:cs typeface="Noto Sans SC"/>
                <a:sym typeface="Noto Sans SC"/>
              </a:rPr>
              <a:t>将任务拆解，由多个</a:t>
            </a:r>
            <a:r>
              <a:rPr lang="en-US" b="true" i="false" strike="noStrike" u="none" sz="1600">
                <a:solidFill>
                  <a:srgbClr val="FFFF00"/>
                </a:solidFill>
                <a:latin typeface="Noto Sans SC"/>
                <a:ea typeface="Noto Sans SC"/>
                <a:cs typeface="Noto Sans SC"/>
                <a:sym typeface="Noto Sans SC"/>
              </a:rPr>
              <a:t>专精且高效</a:t>
            </a:r>
            <a:r>
              <a:rPr lang="en-US" b="false" i="false" strike="noStrike" u="none" sz="1600">
                <a:solidFill>
                  <a:srgbClr val="E5E7EB"/>
                </a:solidFill>
                <a:latin typeface="Noto Sans SC"/>
                <a:ea typeface="Noto Sans SC"/>
                <a:cs typeface="Noto Sans SC"/>
                <a:sym typeface="Noto Sans SC"/>
              </a:rPr>
              <a:t>的Agent协同工作，各司其职。</a:t>
            </a:r>
            <a:endParaRPr lang="en-US" sz="1100"/>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0A192F">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7812" b="7812"/>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A192F">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762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OpenClaw 三层架构设计</a:t>
            </a:r>
            <a:endParaRPr lang="en-US" sz="1100"/>
          </a:p>
        </p:txBody>
      </p:sp>
      <p:sp>
        <p:nvSpPr>
          <p:cNvPr name="AutoShape 5" id="5"/>
          <p:cNvSpPr/>
          <p:nvPr/>
        </p:nvSpPr>
        <p:spPr>
          <a:xfrm rot="0" flipH="false" flipV="false">
            <a:off x="762000" y="1651000"/>
            <a:ext cx="10668000" cy="1397000"/>
          </a:xfrm>
          <a:prstGeom prst="roundRect">
            <a:avLst>
              <a:gd name="adj" fmla="val 9090"/>
            </a:avLst>
          </a:prstGeom>
          <a:solidFill>
            <a:srgbClr val="00BFFF">
              <a:alpha val="10000"/>
            </a:srgbClr>
          </a:solidFill>
          <a:ln w="12700" cmpd="sng" cap="flat">
            <a:solidFill>
              <a:srgbClr val="00BFFF">
                <a:alpha val="50000"/>
              </a:srgbClr>
            </a:solid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2044700"/>
            <a:ext cx="609600" cy="609600"/>
          </a:xfrm>
          <a:prstGeom prst="rect">
            <a:avLst/>
          </a:prstGeom>
        </p:spPr>
      </p:pic>
      <p:sp>
        <p:nvSpPr>
          <p:cNvPr name="AutoShape 7" id="7"/>
          <p:cNvSpPr/>
          <p:nvPr/>
        </p:nvSpPr>
        <p:spPr>
          <a:xfrm rot="0" flipH="false" flipV="false">
            <a:off x="1778000" y="1841500"/>
            <a:ext cx="254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第一层：主Agent (Friday)</a:t>
            </a:r>
            <a:endParaRPr lang="en-US" sz="1100"/>
          </a:p>
        </p:txBody>
      </p:sp>
      <p:sp>
        <p:nvSpPr>
          <p:cNvPr name="AutoShape 8" id="8"/>
          <p:cNvSpPr/>
          <p:nvPr/>
        </p:nvSpPr>
        <p:spPr>
          <a:xfrm rot="0" flipH="false" flipV="false">
            <a:off x="1778000" y="2222500"/>
            <a:ext cx="8255000" cy="635000"/>
          </a:xfrm>
          <a:prstGeom prst="rect">
            <a:avLst/>
          </a:prstGeom>
          <a:noFill/>
          <a:ln w="12700" cmpd="sng" cap="flat">
            <a:noFill/>
            <a:prstDash val="solid"/>
            <a:round/>
          </a:ln>
        </p:spPr>
        <p:txBody>
          <a:bodyPr anchor="ctr" rtlCol="false" anchorCtr="false" vert="horz" wrap="square" lIns="0" rIns="0" tIns="0" bIns="0"/>
          <a:lstStyle/>
          <a:p>
            <a:pPr algn="l" indent="-177800" marL="177800">
              <a:lnSpc>
                <a:spcPct val="125000"/>
              </a:lnSpc>
              <a:buClr>
                <a:srgbClr val="FFFFFF"/>
              </a:buClr>
              <a:buChar char="•"/>
              <a:defRPr/>
            </a:pPr>
            <a:r>
              <a:rPr lang="en-US" b="false" i="false" strike="noStrike" u="none" sz="1400">
                <a:solidFill>
                  <a:srgbClr val="FFFFFF">
                    <a:alpha val="80000"/>
                  </a:srgbClr>
                </a:solidFill>
                <a:latin typeface="Noto Sans SC"/>
                <a:ea typeface="Noto Sans SC"/>
                <a:cs typeface="Noto Sans SC"/>
                <a:sym typeface="Noto Sans SC"/>
              </a:rPr>
              <a:t>用户交互的唯一入口（门面模式），统一接收指令</a:t>
            </a:r>
            <a:r>
              <a:rPr lang="en-US" b="false" i="false" strike="noStrike" u="none" sz="1400">
                <a:solidFill>
                  <a:srgbClr val="FFFFFF">
                    <a:alpha val="80000"/>
                  </a:srgbClr>
                </a:solidFill>
                <a:latin typeface="Noto Sans SC"/>
                <a:ea typeface="Noto Sans SC"/>
                <a:cs typeface="Noto Sans SC"/>
                <a:sym typeface="Noto Sans SC"/>
              </a:rPr>
              <a:t/>
            </a:r>
            <a:endParaRPr lang="en-US" sz="1100"/>
          </a:p>
          <a:p>
            <a:pPr algn="l" indent="-177800" marL="177800">
              <a:lnSpc>
                <a:spcPct val="125000"/>
              </a:lnSpc>
              <a:buClr>
                <a:srgbClr val="FFFFFF"/>
              </a:buClr>
              <a:buChar char="•"/>
            </a:pPr>
            <a:r>
              <a:rPr lang="en-US" b="false" i="false" strike="noStrike" u="none" sz="1400">
                <a:solidFill>
                  <a:srgbClr val="FFFFFF">
                    <a:alpha val="80000"/>
                  </a:srgbClr>
                </a:solidFill>
                <a:latin typeface="Noto Sans SC"/>
                <a:ea typeface="Noto Sans SC"/>
                <a:cs typeface="Noto Sans SC"/>
                <a:sym typeface="Noto Sans SC"/>
              </a:rPr>
              <a:t>负责全局任务分发、协调与记忆同步</a:t>
            </a:r>
          </a:p>
        </p:txBody>
      </p:sp>
      <p:sp>
        <p:nvSpPr>
          <p:cNvPr name="AutoShape 9" id="9"/>
          <p:cNvSpPr/>
          <p:nvPr/>
        </p:nvSpPr>
        <p:spPr>
          <a:xfrm rot="0" flipH="false" flipV="false">
            <a:off x="762000" y="3238500"/>
            <a:ext cx="10668000" cy="1651000"/>
          </a:xfrm>
          <a:prstGeom prst="roundRect">
            <a:avLst>
              <a:gd name="adj" fmla="val 7692"/>
            </a:avLst>
          </a:prstGeom>
          <a:solidFill>
            <a:srgbClr val="00BFFF">
              <a:alpha val="10000"/>
            </a:srgbClr>
          </a:solidFill>
          <a:ln w="12700" cmpd="sng" cap="flat">
            <a:solidFill>
              <a:srgbClr val="00BFFF">
                <a:alpha val="50000"/>
              </a:srgbClr>
            </a:solid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1016000" y="3759200"/>
            <a:ext cx="609600" cy="609600"/>
          </a:xfrm>
          <a:prstGeom prst="rect">
            <a:avLst/>
          </a:prstGeom>
        </p:spPr>
      </p:pic>
      <p:sp>
        <p:nvSpPr>
          <p:cNvPr name="AutoShape 11" id="11"/>
          <p:cNvSpPr/>
          <p:nvPr/>
        </p:nvSpPr>
        <p:spPr>
          <a:xfrm rot="0" flipH="false" flipV="false">
            <a:off x="1778000" y="3429000"/>
            <a:ext cx="254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第二层：专业Agent集群</a:t>
            </a:r>
            <a:endParaRPr lang="en-US" sz="1100"/>
          </a:p>
        </p:txBody>
      </p:sp>
      <p:sp>
        <p:nvSpPr>
          <p:cNvPr name="AutoShape 12" id="12"/>
          <p:cNvSpPr/>
          <p:nvPr/>
        </p:nvSpPr>
        <p:spPr>
          <a:xfrm rot="0" flipH="false" flipV="false">
            <a:off x="1778000" y="3873500"/>
            <a:ext cx="1270000" cy="762000"/>
          </a:xfrm>
          <a:prstGeom prst="roundRect">
            <a:avLst>
              <a:gd name="adj" fmla="val 8333"/>
            </a:avLst>
          </a:prstGeom>
          <a:solidFill>
            <a:srgbClr val="FFFFFF">
              <a:alpha val="10000"/>
            </a:srgbClr>
          </a:solidFill>
          <a:ln w="254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400">
                <a:solidFill>
                  <a:srgbClr val="00BFFF"/>
                </a:solidFill>
                <a:latin typeface="Noto Sans SC"/>
                <a:ea typeface="Noto Sans SC"/>
                <a:cs typeface="Noto Sans SC"/>
                <a:sym typeface="Noto Sans SC"/>
              </a:rPr>
              <a:t>桑丘</a:t>
            </a:r>
            <a:r>
              <a:rPr lang="en-US" b="false" i="false" strike="noStrike" u="none" sz="1600">
                <a:solidFill>
                  <a:srgbClr val="1F2329"/>
                </a:solidFill>
                <a:latin typeface="Noto Sans SC"/>
                <a:ea typeface="Noto Sans SC"/>
                <a:cs typeface="Noto Sans SC"/>
                <a:sym typeface="Noto Sans SC"/>
              </a:rPr>
              <a:t/>
            </a:r>
            <a:endParaRPr lang="en-US" sz="1100"/>
          </a:p>
          <a:p>
            <a:pPr algn="ctr" indent="0">
              <a:lnSpc>
                <a:spcPct val="125000"/>
              </a:lnSpc>
            </a:pPr>
            <a:r>
              <a:rPr lang="en-US" b="false" i="false" strike="noStrike" u="none" sz="1200">
                <a:solidFill>
                  <a:srgbClr val="FFFFFF">
                    <a:alpha val="70196"/>
                  </a:srgbClr>
                </a:solidFill>
                <a:latin typeface="Noto Sans SC"/>
                <a:ea typeface="Noto Sans SC"/>
                <a:cs typeface="Noto Sans SC"/>
                <a:sym typeface="Noto Sans SC"/>
              </a:rPr>
              <a:t>Trading</a:t>
            </a:r>
          </a:p>
        </p:txBody>
      </p:sp>
      <p:sp>
        <p:nvSpPr>
          <p:cNvPr name="AutoShape 13" id="13"/>
          <p:cNvSpPr/>
          <p:nvPr/>
        </p:nvSpPr>
        <p:spPr>
          <a:xfrm rot="0" flipH="false" flipV="false">
            <a:off x="3175000" y="3873500"/>
            <a:ext cx="1270000" cy="762000"/>
          </a:xfrm>
          <a:prstGeom prst="roundRect">
            <a:avLst>
              <a:gd name="adj" fmla="val 8333"/>
            </a:avLst>
          </a:prstGeom>
          <a:solidFill>
            <a:srgbClr val="FFFFFF">
              <a:alpha val="10000"/>
            </a:srgbClr>
          </a:solidFill>
          <a:ln w="254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400">
                <a:solidFill>
                  <a:srgbClr val="00BFFF"/>
                </a:solidFill>
                <a:latin typeface="Noto Sans SC"/>
                <a:ea typeface="Noto Sans SC"/>
                <a:cs typeface="Noto Sans SC"/>
                <a:sym typeface="Noto Sans SC"/>
              </a:rPr>
              <a:t>参孙</a:t>
            </a:r>
            <a:r>
              <a:rPr lang="en-US" b="false" i="false" strike="noStrike" u="none" sz="1600">
                <a:solidFill>
                  <a:srgbClr val="1F2329"/>
                </a:solidFill>
                <a:latin typeface="Noto Sans SC"/>
                <a:ea typeface="Noto Sans SC"/>
                <a:cs typeface="Noto Sans SC"/>
                <a:sym typeface="Noto Sans SC"/>
              </a:rPr>
              <a:t/>
            </a:r>
            <a:endParaRPr lang="en-US" sz="1100"/>
          </a:p>
          <a:p>
            <a:pPr algn="ctr" indent="0">
              <a:lnSpc>
                <a:spcPct val="125000"/>
              </a:lnSpc>
            </a:pPr>
            <a:r>
              <a:rPr lang="en-US" b="false" i="false" strike="noStrike" u="none" sz="1200">
                <a:solidFill>
                  <a:srgbClr val="FFFFFF">
                    <a:alpha val="70196"/>
                  </a:srgbClr>
                </a:solidFill>
                <a:latin typeface="Noto Sans SC"/>
                <a:ea typeface="Noto Sans SC"/>
                <a:cs typeface="Noto Sans SC"/>
                <a:sym typeface="Noto Sans SC"/>
              </a:rPr>
              <a:t>Learning</a:t>
            </a:r>
          </a:p>
        </p:txBody>
      </p:sp>
      <p:sp>
        <p:nvSpPr>
          <p:cNvPr name="AutoShape 14" id="14"/>
          <p:cNvSpPr/>
          <p:nvPr/>
        </p:nvSpPr>
        <p:spPr>
          <a:xfrm rot="0" flipH="false" flipV="false">
            <a:off x="4572000" y="3873500"/>
            <a:ext cx="1270000" cy="762000"/>
          </a:xfrm>
          <a:prstGeom prst="roundRect">
            <a:avLst>
              <a:gd name="adj" fmla="val 8333"/>
            </a:avLst>
          </a:prstGeom>
          <a:solidFill>
            <a:srgbClr val="FFFFFF">
              <a:alpha val="10000"/>
            </a:srgbClr>
          </a:solidFill>
          <a:ln w="254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400">
                <a:solidFill>
                  <a:srgbClr val="00BFFF"/>
                </a:solidFill>
                <a:latin typeface="Noto Sans SC"/>
                <a:ea typeface="Noto Sans SC"/>
                <a:cs typeface="Noto Sans SC"/>
                <a:sym typeface="Noto Sans SC"/>
              </a:rPr>
              <a:t>建筑师</a:t>
            </a:r>
            <a:r>
              <a:rPr lang="en-US" b="false" i="false" strike="noStrike" u="none" sz="1600">
                <a:solidFill>
                  <a:srgbClr val="1F2329"/>
                </a:solidFill>
                <a:latin typeface="Noto Sans SC"/>
                <a:ea typeface="Noto Sans SC"/>
                <a:cs typeface="Noto Sans SC"/>
                <a:sym typeface="Noto Sans SC"/>
              </a:rPr>
              <a:t/>
            </a:r>
            <a:endParaRPr lang="en-US" sz="1100"/>
          </a:p>
          <a:p>
            <a:pPr algn="ctr" indent="0">
              <a:lnSpc>
                <a:spcPct val="125000"/>
              </a:lnSpc>
            </a:pPr>
            <a:r>
              <a:rPr lang="en-US" b="false" i="false" strike="noStrike" u="none" sz="1200">
                <a:solidFill>
                  <a:srgbClr val="FFFFFF">
                    <a:alpha val="70196"/>
                  </a:srgbClr>
                </a:solidFill>
                <a:latin typeface="Noto Sans SC"/>
                <a:ea typeface="Noto Sans SC"/>
                <a:cs typeface="Noto Sans SC"/>
                <a:sym typeface="Noto Sans SC"/>
              </a:rPr>
              <a:t>Architecture</a:t>
            </a:r>
          </a:p>
        </p:txBody>
      </p:sp>
      <p:sp>
        <p:nvSpPr>
          <p:cNvPr name="AutoShape 15" id="15"/>
          <p:cNvSpPr/>
          <p:nvPr/>
        </p:nvSpPr>
        <p:spPr>
          <a:xfrm rot="0" flipH="false" flipV="false">
            <a:off x="5969000" y="3873500"/>
            <a:ext cx="1270000" cy="762000"/>
          </a:xfrm>
          <a:prstGeom prst="roundRect">
            <a:avLst>
              <a:gd name="adj" fmla="val 8333"/>
            </a:avLst>
          </a:prstGeom>
          <a:solidFill>
            <a:srgbClr val="FFFFFF">
              <a:alpha val="10000"/>
            </a:srgbClr>
          </a:solidFill>
          <a:ln w="254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400">
                <a:solidFill>
                  <a:srgbClr val="00BFFF"/>
                </a:solidFill>
                <a:latin typeface="Noto Sans SC"/>
                <a:ea typeface="Noto Sans SC"/>
                <a:cs typeface="Noto Sans SC"/>
                <a:sym typeface="Noto Sans SC"/>
              </a:rPr>
              <a:t>PM</a:t>
            </a:r>
            <a:r>
              <a:rPr lang="en-US" b="false" i="false" strike="noStrike" u="none" sz="1600">
                <a:solidFill>
                  <a:srgbClr val="1F2329"/>
                </a:solidFill>
                <a:latin typeface="Noto Sans SC"/>
                <a:ea typeface="Noto Sans SC"/>
                <a:cs typeface="Noto Sans SC"/>
                <a:sym typeface="Noto Sans SC"/>
              </a:rPr>
              <a:t/>
            </a:r>
            <a:endParaRPr lang="en-US" sz="1100"/>
          </a:p>
          <a:p>
            <a:pPr algn="ctr" indent="0">
              <a:lnSpc>
                <a:spcPct val="125000"/>
              </a:lnSpc>
            </a:pPr>
            <a:r>
              <a:rPr lang="en-US" b="false" i="false" strike="noStrike" u="none" sz="1200">
                <a:solidFill>
                  <a:srgbClr val="FFFFFF">
                    <a:alpha val="70196"/>
                  </a:srgbClr>
                </a:solidFill>
                <a:latin typeface="Noto Sans SC"/>
                <a:ea typeface="Noto Sans SC"/>
                <a:cs typeface="Noto Sans SC"/>
                <a:sym typeface="Noto Sans SC"/>
              </a:rPr>
              <a:t>Management</a:t>
            </a:r>
          </a:p>
        </p:txBody>
      </p:sp>
      <p:sp>
        <p:nvSpPr>
          <p:cNvPr name="AutoShape 16" id="16"/>
          <p:cNvSpPr/>
          <p:nvPr/>
        </p:nvSpPr>
        <p:spPr>
          <a:xfrm rot="0" flipH="false" flipV="false">
            <a:off x="7366000" y="3873500"/>
            <a:ext cx="1270000" cy="762000"/>
          </a:xfrm>
          <a:prstGeom prst="roundRect">
            <a:avLst>
              <a:gd name="adj" fmla="val 8333"/>
            </a:avLst>
          </a:prstGeom>
          <a:solidFill>
            <a:srgbClr val="FFFFFF">
              <a:alpha val="10000"/>
            </a:srgbClr>
          </a:solidFill>
          <a:ln w="254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400">
                <a:solidFill>
                  <a:srgbClr val="00BFFF"/>
                </a:solidFill>
                <a:latin typeface="Noto Sans SC"/>
                <a:ea typeface="Noto Sans SC"/>
                <a:cs typeface="Noto Sans SC"/>
                <a:sym typeface="Noto Sans SC"/>
              </a:rPr>
              <a:t>前端</a:t>
            </a:r>
            <a:r>
              <a:rPr lang="en-US" b="false" i="false" strike="noStrike" u="none" sz="1600">
                <a:solidFill>
                  <a:srgbClr val="1F2329"/>
                </a:solidFill>
                <a:latin typeface="Noto Sans SC"/>
                <a:ea typeface="Noto Sans SC"/>
                <a:cs typeface="Noto Sans SC"/>
                <a:sym typeface="Noto Sans SC"/>
              </a:rPr>
              <a:t/>
            </a:r>
            <a:endParaRPr lang="en-US" sz="1100"/>
          </a:p>
          <a:p>
            <a:pPr algn="ctr" indent="0">
              <a:lnSpc>
                <a:spcPct val="125000"/>
              </a:lnSpc>
            </a:pPr>
            <a:r>
              <a:rPr lang="en-US" b="false" i="false" strike="noStrike" u="none" sz="1200">
                <a:solidFill>
                  <a:srgbClr val="FFFFFF">
                    <a:alpha val="70196"/>
                  </a:srgbClr>
                </a:solidFill>
                <a:latin typeface="Noto Sans SC"/>
                <a:ea typeface="Noto Sans SC"/>
                <a:cs typeface="Noto Sans SC"/>
                <a:sym typeface="Noto Sans SC"/>
              </a:rPr>
              <a:t>Frontend</a:t>
            </a:r>
          </a:p>
        </p:txBody>
      </p:sp>
      <p:sp>
        <p:nvSpPr>
          <p:cNvPr name="AutoShape 17" id="17"/>
          <p:cNvSpPr/>
          <p:nvPr/>
        </p:nvSpPr>
        <p:spPr>
          <a:xfrm rot="0" flipH="false" flipV="false">
            <a:off x="8763000" y="3873500"/>
            <a:ext cx="1270000" cy="762000"/>
          </a:xfrm>
          <a:prstGeom prst="roundRect">
            <a:avLst>
              <a:gd name="adj" fmla="val 8333"/>
            </a:avLst>
          </a:prstGeom>
          <a:solidFill>
            <a:srgbClr val="FFFFFF">
              <a:alpha val="10000"/>
            </a:srgbClr>
          </a:solidFill>
          <a:ln w="254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400">
                <a:solidFill>
                  <a:srgbClr val="00BFFF"/>
                </a:solidFill>
                <a:latin typeface="Noto Sans SC"/>
                <a:ea typeface="Noto Sans SC"/>
                <a:cs typeface="Noto Sans SC"/>
                <a:sym typeface="Noto Sans SC"/>
              </a:rPr>
              <a:t>后端</a:t>
            </a:r>
            <a:r>
              <a:rPr lang="en-US" b="false" i="false" strike="noStrike" u="none" sz="1600">
                <a:solidFill>
                  <a:srgbClr val="1F2329"/>
                </a:solidFill>
                <a:latin typeface="Noto Sans SC"/>
                <a:ea typeface="Noto Sans SC"/>
                <a:cs typeface="Noto Sans SC"/>
                <a:sym typeface="Noto Sans SC"/>
              </a:rPr>
              <a:t/>
            </a:r>
            <a:endParaRPr lang="en-US" sz="1100"/>
          </a:p>
          <a:p>
            <a:pPr algn="ctr" indent="0">
              <a:lnSpc>
                <a:spcPct val="125000"/>
              </a:lnSpc>
            </a:pPr>
            <a:r>
              <a:rPr lang="en-US" b="false" i="false" strike="noStrike" u="none" sz="1200">
                <a:solidFill>
                  <a:srgbClr val="FFFFFF">
                    <a:alpha val="70196"/>
                  </a:srgbClr>
                </a:solidFill>
                <a:latin typeface="Noto Sans SC"/>
                <a:ea typeface="Noto Sans SC"/>
                <a:cs typeface="Noto Sans SC"/>
                <a:sym typeface="Noto Sans SC"/>
              </a:rPr>
              <a:t>Backend</a:t>
            </a:r>
          </a:p>
        </p:txBody>
      </p:sp>
      <p:sp>
        <p:nvSpPr>
          <p:cNvPr name="AutoShape 18" id="18"/>
          <p:cNvSpPr/>
          <p:nvPr/>
        </p:nvSpPr>
        <p:spPr>
          <a:xfrm rot="0" flipH="false" flipV="false">
            <a:off x="762000" y="5080000"/>
            <a:ext cx="10668000" cy="1270000"/>
          </a:xfrm>
          <a:prstGeom prst="roundRect">
            <a:avLst>
              <a:gd name="adj" fmla="val 10000"/>
            </a:avLst>
          </a:prstGeom>
          <a:solidFill>
            <a:srgbClr val="00BFFF">
              <a:alpha val="10000"/>
            </a:srgbClr>
          </a:solidFill>
          <a:ln w="12700" cmpd="sng" cap="flat">
            <a:solidFill>
              <a:srgbClr val="00BFFF">
                <a:alpha val="50000"/>
              </a:srgbClr>
            </a:solidFill>
            <a:prstDash val="solid"/>
            <a:round/>
          </a:ln>
        </p:spPr>
        <p:txBody>
          <a:bodyPr anchor="ctr" rtlCol="false" vert="horz" wrap="square" lIns="63500" rIns="63500" tIns="63500" bIns="63500"/>
          <a:lstStyle/>
          <a:p>
            <a:pPr algn="ctr">
              <a:defRPr/>
            </a:pPr>
            <a:endParaRPr/>
          </a:p>
        </p:txBody>
      </p:sp>
      <p:pic>
        <p:nvPicPr>
          <p:cNvPr name="Picture 19" id="19"/>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1016000" y="5410200"/>
            <a:ext cx="609600" cy="609600"/>
          </a:xfrm>
          <a:prstGeom prst="rect">
            <a:avLst/>
          </a:prstGeom>
        </p:spPr>
      </p:pic>
      <p:sp>
        <p:nvSpPr>
          <p:cNvPr name="AutoShape 20" id="20"/>
          <p:cNvSpPr/>
          <p:nvPr/>
        </p:nvSpPr>
        <p:spPr>
          <a:xfrm rot="0" flipH="false" flipV="false">
            <a:off x="1778000" y="5270500"/>
            <a:ext cx="254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第三层：共享基础设施</a:t>
            </a:r>
            <a:endParaRPr lang="en-US" sz="1100"/>
          </a:p>
        </p:txBody>
      </p:sp>
      <p:sp>
        <p:nvSpPr>
          <p:cNvPr name="AutoShape 21" id="21"/>
          <p:cNvSpPr/>
          <p:nvPr/>
        </p:nvSpPr>
        <p:spPr>
          <a:xfrm rot="0" flipH="false" flipV="false">
            <a:off x="1778000" y="5651500"/>
            <a:ext cx="8255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80000"/>
                  </a:srgbClr>
                </a:solidFill>
                <a:latin typeface="Noto Sans SC"/>
                <a:ea typeface="Noto Sans SC"/>
                <a:cs typeface="Noto Sans SC"/>
                <a:sym typeface="Noto Sans SC"/>
              </a:rPr>
              <a:t>核心组件：QMD记忆系统 | 消息总线 | 定时调度服务 | 配置管理中心</a:t>
            </a:r>
            <a:endParaRPr lang="en-US" sz="1100"/>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0A0F1E">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7812" b="7812"/>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A1428">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762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Friday -- 门面模式 (Facade Pattern)</a:t>
            </a:r>
            <a:endParaRPr lang="en-US" sz="1100"/>
          </a:p>
        </p:txBody>
      </p:sp>
      <p:sp>
        <p:nvSpPr>
          <p:cNvPr name="AutoShape 5" id="5"/>
          <p:cNvSpPr/>
          <p:nvPr/>
        </p:nvSpPr>
        <p:spPr>
          <a:xfrm rot="0" flipH="false" flipV="false">
            <a:off x="762000" y="1651000"/>
            <a:ext cx="10668000" cy="889000"/>
          </a:xfrm>
          <a:prstGeom prst="roundRect">
            <a:avLst>
              <a:gd name="adj" fmla="val 14285"/>
            </a:avLst>
          </a:prstGeom>
          <a:solidFill>
            <a:srgbClr val="FFFFFF">
              <a:alpha val="10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1892300"/>
            <a:ext cx="406400" cy="406400"/>
          </a:xfrm>
          <a:prstGeom prst="rect">
            <a:avLst/>
          </a:prstGeom>
        </p:spPr>
      </p:pic>
      <p:sp>
        <p:nvSpPr>
          <p:cNvPr name="AutoShape 7" id="7"/>
          <p:cNvSpPr/>
          <p:nvPr/>
        </p:nvSpPr>
        <p:spPr>
          <a:xfrm rot="0" flipH="false" flipV="false">
            <a:off x="1524000" y="1841500"/>
            <a:ext cx="8890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600">
                <a:solidFill>
                  <a:srgbClr val="FFFFFF"/>
                </a:solidFill>
                <a:latin typeface="Noto Sans SC"/>
                <a:ea typeface="Noto Sans SC"/>
                <a:cs typeface="Noto Sans SC"/>
                <a:sym typeface="Noto Sans SC"/>
              </a:rPr>
              <a:t>核心思想：用户只需与 Friday 单一接口交互，无需关心背后复杂的 Agent 协作网络。</a:t>
            </a:r>
            <a:endParaRPr lang="en-US" sz="1100"/>
          </a:p>
        </p:txBody>
      </p:sp>
      <p:sp>
        <p:nvSpPr>
          <p:cNvPr name="AutoShape 8" id="8"/>
          <p:cNvSpPr/>
          <p:nvPr/>
        </p:nvSpPr>
        <p:spPr>
          <a:xfrm rot="0" flipH="false" flipV="false">
            <a:off x="762000" y="2921000"/>
            <a:ext cx="3302000" cy="2794000"/>
          </a:xfrm>
          <a:prstGeom prst="roundRect">
            <a:avLst>
              <a:gd name="adj" fmla="val 4545"/>
            </a:avLst>
          </a:prstGeom>
          <a:solidFill>
            <a:srgbClr val="FFFFFF">
              <a:alpha val="8000"/>
            </a:srgbClr>
          </a:solidFill>
          <a:ln w="12700" cmpd="sng" cap="flat">
            <a:solidFill>
              <a:srgbClr val="FFFFFF">
                <a:alpha val="10000"/>
              </a:srgbClr>
            </a:solidFill>
            <a:prstDash val="solid"/>
            <a:round/>
          </a:ln>
        </p:spPr>
        <p:txBody>
          <a:bodyPr anchor="ctr" rtlCol="false" vert="horz" wrap="square" lIns="63500" rIns="63500" tIns="63500" bIns="63500"/>
          <a:lstStyle/>
          <a:p>
            <a:pPr algn="ctr">
              <a:defRPr/>
            </a:pPr>
            <a:endParaRPr/>
          </a:p>
        </p:txBody>
      </p:sp>
      <p:pic>
        <p:nvPicPr>
          <p:cNvPr name="Picture 9" id="9"/>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2108200" y="3175000"/>
            <a:ext cx="609600" cy="609600"/>
          </a:xfrm>
          <a:prstGeom prst="rect">
            <a:avLst/>
          </a:prstGeom>
        </p:spPr>
      </p:pic>
      <p:sp>
        <p:nvSpPr>
          <p:cNvPr name="AutoShape 10" id="10"/>
          <p:cNvSpPr/>
          <p:nvPr/>
        </p:nvSpPr>
        <p:spPr>
          <a:xfrm rot="0" flipH="false" flipV="false">
            <a:off x="1016000" y="3873500"/>
            <a:ext cx="2794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800">
                <a:solidFill>
                  <a:srgbClr val="FFFFFF"/>
                </a:solidFill>
                <a:latin typeface="Noto Sans SC"/>
                <a:ea typeface="Noto Sans SC"/>
                <a:cs typeface="Noto Sans SC"/>
                <a:sym typeface="Noto Sans SC"/>
              </a:rPr>
              <a:t>公司前台角色</a:t>
            </a:r>
            <a:endParaRPr lang="en-US" sz="1100"/>
          </a:p>
        </p:txBody>
      </p:sp>
      <p:cxnSp>
        <p:nvCxnSpPr>
          <p:cNvPr name="Connector 11" id="11"/>
          <p:cNvCxnSpPr/>
          <p:nvPr/>
        </p:nvCxnSpPr>
        <p:spPr>
          <a:xfrm rot="-15626" flipH="false" flipV="false">
            <a:off x="1016014" y="4311650"/>
            <a:ext cx="2794000" cy="12700"/>
          </a:xfrm>
          <a:prstGeom prst="straightConnector1">
            <a:avLst/>
          </a:prstGeom>
          <a:solidFill>
            <a:srgbClr val="DEE0E3">
              <a:alpha val="100000"/>
            </a:srgbClr>
          </a:solidFill>
          <a:ln w="12700" cmpd="sng" cap="flat">
            <a:solidFill>
              <a:srgbClr val="FFFFFF">
                <a:alpha val="20000"/>
              </a:srgbClr>
            </a:solidFill>
            <a:prstDash val="solid"/>
            <a:round/>
            <a:headEnd type="none" w="med" len="med"/>
            <a:tailEnd type="none" w="med" len="med"/>
          </a:ln>
        </p:spPr>
      </p:cxnSp>
      <p:sp>
        <p:nvSpPr>
          <p:cNvPr name="AutoShape 12" id="12"/>
          <p:cNvSpPr/>
          <p:nvPr/>
        </p:nvSpPr>
        <p:spPr>
          <a:xfrm rot="0" flipH="false" flipV="false">
            <a:off x="1016000" y="4445000"/>
            <a:ext cx="2794000" cy="1016000"/>
          </a:xfrm>
          <a:prstGeom prst="rect">
            <a:avLst/>
          </a:prstGeom>
          <a:noFill/>
          <a:ln w="12700" cmpd="sng" cap="flat">
            <a:noFill/>
            <a:prstDash val="solid"/>
            <a:round/>
          </a:ln>
        </p:spPr>
        <p:txBody>
          <a:bodyPr anchor="ctr" rtlCol="false" anchorCtr="false" vert="horz" wrap="square" lIns="0" rIns="0" tIns="0" bIns="0"/>
          <a:lstStyle/>
          <a:p>
            <a:pPr algn="ctr" indent="0">
              <a:lnSpc>
                <a:spcPct val="108333"/>
              </a:lnSpc>
              <a:defRPr/>
            </a:pPr>
            <a:r>
              <a:rPr lang="en-US" b="false" i="false" strike="noStrike" u="none" sz="1400">
                <a:solidFill>
                  <a:srgbClr val="FFFFFF">
                    <a:alpha val="80000"/>
                  </a:srgbClr>
                </a:solidFill>
                <a:latin typeface="Noto Sans SC"/>
                <a:ea typeface="Noto Sans SC"/>
                <a:cs typeface="Noto Sans SC"/>
                <a:sym typeface="Noto Sans SC"/>
              </a:rPr>
              <a:t>作为系统的统一入口，负责接收所有用户请求，隐藏内部实现细节。</a:t>
            </a:r>
            <a:endParaRPr lang="en-US" sz="1100"/>
          </a:p>
        </p:txBody>
      </p:sp>
      <p:sp>
        <p:nvSpPr>
          <p:cNvPr name="AutoShape 13" id="13"/>
          <p:cNvSpPr/>
          <p:nvPr/>
        </p:nvSpPr>
        <p:spPr>
          <a:xfrm rot="0" flipH="false" flipV="false">
            <a:off x="4445000" y="2921000"/>
            <a:ext cx="3302000" cy="2794000"/>
          </a:xfrm>
          <a:prstGeom prst="roundRect">
            <a:avLst>
              <a:gd name="adj" fmla="val 4545"/>
            </a:avLst>
          </a:prstGeom>
          <a:solidFill>
            <a:srgbClr val="FFFFFF">
              <a:alpha val="8000"/>
            </a:srgbClr>
          </a:solidFill>
          <a:ln w="12700" cmpd="sng" cap="flat">
            <a:solidFill>
              <a:srgbClr val="FFFFFF">
                <a:alpha val="10000"/>
              </a:srgbClr>
            </a:solidFill>
            <a:prstDash val="solid"/>
            <a:round/>
          </a:ln>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5791200" y="3175000"/>
            <a:ext cx="609600" cy="609600"/>
          </a:xfrm>
          <a:prstGeom prst="rect">
            <a:avLst/>
          </a:prstGeom>
        </p:spPr>
      </p:pic>
      <p:sp>
        <p:nvSpPr>
          <p:cNvPr name="AutoShape 15" id="15"/>
          <p:cNvSpPr/>
          <p:nvPr/>
        </p:nvSpPr>
        <p:spPr>
          <a:xfrm rot="0" flipH="false" flipV="false">
            <a:off x="4699000" y="3873500"/>
            <a:ext cx="2794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800">
                <a:solidFill>
                  <a:srgbClr val="FFFFFF"/>
                </a:solidFill>
                <a:latin typeface="Noto Sans SC"/>
                <a:ea typeface="Noto Sans SC"/>
                <a:cs typeface="Noto Sans SC"/>
                <a:sym typeface="Noto Sans SC"/>
              </a:rPr>
              <a:t>请求分发与结果聚合</a:t>
            </a:r>
            <a:endParaRPr lang="en-US" sz="1100"/>
          </a:p>
        </p:txBody>
      </p:sp>
      <p:cxnSp>
        <p:nvCxnSpPr>
          <p:cNvPr name="Connector 16" id="16"/>
          <p:cNvCxnSpPr/>
          <p:nvPr/>
        </p:nvCxnSpPr>
        <p:spPr>
          <a:xfrm rot="-15626" flipH="false" flipV="false">
            <a:off x="4699014" y="4311650"/>
            <a:ext cx="2794000" cy="12700"/>
          </a:xfrm>
          <a:prstGeom prst="straightConnector1">
            <a:avLst/>
          </a:prstGeom>
          <a:solidFill>
            <a:srgbClr val="DEE0E3">
              <a:alpha val="100000"/>
            </a:srgbClr>
          </a:solidFill>
          <a:ln w="12700" cmpd="sng" cap="flat">
            <a:solidFill>
              <a:srgbClr val="FFFFFF">
                <a:alpha val="20000"/>
              </a:srgbClr>
            </a:solidFill>
            <a:prstDash val="solid"/>
            <a:round/>
            <a:headEnd type="none" w="med" len="med"/>
            <a:tailEnd type="none" w="med" len="med"/>
          </a:ln>
        </p:spPr>
      </p:cxnSp>
      <p:sp>
        <p:nvSpPr>
          <p:cNvPr name="AutoShape 17" id="17"/>
          <p:cNvSpPr/>
          <p:nvPr/>
        </p:nvSpPr>
        <p:spPr>
          <a:xfrm rot="0" flipH="false" flipV="false">
            <a:off x="4699000" y="4445000"/>
            <a:ext cx="2794000" cy="1016000"/>
          </a:xfrm>
          <a:prstGeom prst="rect">
            <a:avLst/>
          </a:prstGeom>
          <a:noFill/>
          <a:ln w="12700" cmpd="sng" cap="flat">
            <a:noFill/>
            <a:prstDash val="solid"/>
            <a:round/>
          </a:ln>
        </p:spPr>
        <p:txBody>
          <a:bodyPr anchor="ctr" rtlCol="false" anchorCtr="false" vert="horz" wrap="square" lIns="0" rIns="0" tIns="0" bIns="0"/>
          <a:lstStyle/>
          <a:p>
            <a:pPr algn="ctr" indent="0">
              <a:lnSpc>
                <a:spcPct val="108333"/>
              </a:lnSpc>
              <a:defRPr/>
            </a:pPr>
            <a:r>
              <a:rPr lang="en-US" b="false" i="false" strike="noStrike" u="none" sz="1400">
                <a:solidFill>
                  <a:srgbClr val="FFFFFF">
                    <a:alpha val="80000"/>
                  </a:srgbClr>
                </a:solidFill>
                <a:latin typeface="Noto Sans SC"/>
                <a:ea typeface="Noto Sans SC"/>
                <a:cs typeface="Noto Sans SC"/>
                <a:sym typeface="Noto Sans SC"/>
              </a:rPr>
              <a:t>将复杂请求拆解并分发给专业 Agent 处理，收集结果后统一返回给用户。</a:t>
            </a:r>
            <a:endParaRPr lang="en-US" sz="1100"/>
          </a:p>
        </p:txBody>
      </p:sp>
      <p:sp>
        <p:nvSpPr>
          <p:cNvPr name="AutoShape 18" id="18"/>
          <p:cNvSpPr/>
          <p:nvPr/>
        </p:nvSpPr>
        <p:spPr>
          <a:xfrm rot="0" flipH="false" flipV="false">
            <a:off x="8128000" y="2921000"/>
            <a:ext cx="3302000" cy="2794000"/>
          </a:xfrm>
          <a:prstGeom prst="roundRect">
            <a:avLst>
              <a:gd name="adj" fmla="val 4545"/>
            </a:avLst>
          </a:prstGeom>
          <a:solidFill>
            <a:srgbClr val="FFFFFF">
              <a:alpha val="8000"/>
            </a:srgbClr>
          </a:solidFill>
          <a:ln w="12700" cmpd="sng" cap="flat">
            <a:solidFill>
              <a:srgbClr val="FFFFFF">
                <a:alpha val="10000"/>
              </a:srgbClr>
            </a:solidFill>
            <a:prstDash val="solid"/>
            <a:round/>
          </a:ln>
        </p:spPr>
        <p:txBody>
          <a:bodyPr anchor="ctr" rtlCol="false" vert="horz" wrap="square" lIns="63500" rIns="63500" tIns="63500" bIns="63500"/>
          <a:lstStyle/>
          <a:p>
            <a:pPr algn="ctr">
              <a:defRPr/>
            </a:pPr>
            <a:endParaRPr/>
          </a:p>
        </p:txBody>
      </p:sp>
      <p:pic>
        <p:nvPicPr>
          <p:cNvPr name="Picture 19" id="19"/>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9474200" y="3175000"/>
            <a:ext cx="609600" cy="609600"/>
          </a:xfrm>
          <a:prstGeom prst="rect">
            <a:avLst/>
          </a:prstGeom>
        </p:spPr>
      </p:pic>
      <p:sp>
        <p:nvSpPr>
          <p:cNvPr name="AutoShape 20" id="20"/>
          <p:cNvSpPr/>
          <p:nvPr/>
        </p:nvSpPr>
        <p:spPr>
          <a:xfrm rot="0" flipH="false" flipV="false">
            <a:off x="8382000" y="3873500"/>
            <a:ext cx="2794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800">
                <a:solidFill>
                  <a:srgbClr val="FFFFFF"/>
                </a:solidFill>
                <a:latin typeface="Noto Sans SC"/>
                <a:ea typeface="Noto Sans SC"/>
                <a:cs typeface="Noto Sans SC"/>
                <a:sym typeface="Noto Sans SC"/>
              </a:rPr>
              <a:t>一致性与安全性</a:t>
            </a:r>
            <a:endParaRPr lang="en-US" sz="1100"/>
          </a:p>
        </p:txBody>
      </p:sp>
      <p:cxnSp>
        <p:nvCxnSpPr>
          <p:cNvPr name="Connector 21" id="21"/>
          <p:cNvCxnSpPr/>
          <p:nvPr/>
        </p:nvCxnSpPr>
        <p:spPr>
          <a:xfrm rot="-15626" flipH="false" flipV="false">
            <a:off x="8382014" y="4311650"/>
            <a:ext cx="2794000" cy="12700"/>
          </a:xfrm>
          <a:prstGeom prst="straightConnector1">
            <a:avLst/>
          </a:prstGeom>
          <a:solidFill>
            <a:srgbClr val="DEE0E3">
              <a:alpha val="100000"/>
            </a:srgbClr>
          </a:solidFill>
          <a:ln w="12700" cmpd="sng" cap="flat">
            <a:solidFill>
              <a:srgbClr val="FFFFFF">
                <a:alpha val="20000"/>
              </a:srgbClr>
            </a:solidFill>
            <a:prstDash val="solid"/>
            <a:round/>
            <a:headEnd type="none" w="med" len="med"/>
            <a:tailEnd type="none" w="med" len="med"/>
          </a:ln>
        </p:spPr>
      </p:cxnSp>
      <p:sp>
        <p:nvSpPr>
          <p:cNvPr name="AutoShape 22" id="22"/>
          <p:cNvSpPr/>
          <p:nvPr/>
        </p:nvSpPr>
        <p:spPr>
          <a:xfrm rot="0" flipH="false" flipV="false">
            <a:off x="8382000" y="4445000"/>
            <a:ext cx="2794000" cy="1016000"/>
          </a:xfrm>
          <a:prstGeom prst="rect">
            <a:avLst/>
          </a:prstGeom>
          <a:noFill/>
          <a:ln w="12700" cmpd="sng" cap="flat">
            <a:noFill/>
            <a:prstDash val="solid"/>
            <a:round/>
          </a:ln>
        </p:spPr>
        <p:txBody>
          <a:bodyPr anchor="ctr" rtlCol="false" anchorCtr="false" vert="horz" wrap="square" lIns="0" rIns="0" tIns="0" bIns="0"/>
          <a:lstStyle/>
          <a:p>
            <a:pPr algn="ctr" indent="0">
              <a:lnSpc>
                <a:spcPct val="108333"/>
              </a:lnSpc>
              <a:defRPr/>
            </a:pPr>
            <a:r>
              <a:rPr lang="en-US" b="false" i="false" strike="noStrike" u="none" sz="1400">
                <a:solidFill>
                  <a:srgbClr val="FFFFFF">
                    <a:alpha val="80000"/>
                  </a:srgbClr>
                </a:solidFill>
                <a:latin typeface="Noto Sans SC"/>
                <a:ea typeface="Noto Sans SC"/>
                <a:cs typeface="Noto Sans SC"/>
                <a:sym typeface="Noto Sans SC"/>
              </a:rPr>
              <a:t>同步记忆确保团队信息一致，同时屏蔽底层复杂性，降低用户认知负担。</a:t>
            </a:r>
            <a:endParaRPr lang="en-US" sz="1100"/>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0A192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A192F">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1016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四大瓶颈如何被解决</a:t>
            </a:r>
            <a:endParaRPr lang="en-US" sz="1100"/>
          </a:p>
        </p:txBody>
      </p:sp>
      <p:sp>
        <p:nvSpPr>
          <p:cNvPr name="AutoShape 4" id="4"/>
          <p:cNvSpPr/>
          <p:nvPr/>
        </p:nvSpPr>
        <p:spPr>
          <a:xfrm rot="0" flipH="false" flipV="false">
            <a:off x="762000" y="2032000"/>
            <a:ext cx="5207000" cy="1905000"/>
          </a:xfrm>
          <a:prstGeom prst="roundRect">
            <a:avLst>
              <a:gd name="adj" fmla="val 6666"/>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16000" y="2286000"/>
            <a:ext cx="406400" cy="406400"/>
          </a:xfrm>
          <a:prstGeom prst="rect">
            <a:avLst/>
          </a:prstGeom>
        </p:spPr>
      </p:pic>
      <p:sp>
        <p:nvSpPr>
          <p:cNvPr name="AutoShape 6" id="6"/>
          <p:cNvSpPr/>
          <p:nvPr/>
        </p:nvSpPr>
        <p:spPr>
          <a:xfrm rot="0" flipH="false" flipV="false">
            <a:off x="1524000" y="2286000"/>
            <a:ext cx="4318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00BFFF"/>
                </a:solidFill>
                <a:latin typeface="Noto Sans SC"/>
                <a:ea typeface="Noto Sans SC"/>
                <a:cs typeface="Noto Sans SC"/>
                <a:sym typeface="Noto Sans SC"/>
              </a:rPr>
              <a:t>上下文竞争</a:t>
            </a:r>
            <a:endParaRPr lang="en-US" sz="1100"/>
          </a:p>
        </p:txBody>
      </p:sp>
      <p:cxnSp>
        <p:nvCxnSpPr>
          <p:cNvPr name="Connector 7" id="7"/>
          <p:cNvCxnSpPr/>
          <p:nvPr/>
        </p:nvCxnSpPr>
        <p:spPr>
          <a:xfrm rot="-9291" flipH="false" flipV="false">
            <a:off x="1016009" y="2724150"/>
            <a:ext cx="4699000" cy="12700"/>
          </a:xfrm>
          <a:prstGeom prst="straightConnector1">
            <a:avLst/>
          </a:prstGeom>
          <a:solidFill>
            <a:srgbClr val="DEE0E3">
              <a:alpha val="100000"/>
            </a:srgbClr>
          </a:solidFill>
          <a:ln w="12700" cmpd="sng" cap="flat">
            <a:solidFill>
              <a:srgbClr val="FFFFFF">
                <a:alpha val="10000"/>
              </a:srgbClr>
            </a:solidFill>
            <a:prstDash val="solid"/>
            <a:round/>
            <a:headEnd type="none" w="med" len="med"/>
            <a:tailEnd type="none" w="med" len="med"/>
          </a:ln>
        </p:spPr>
      </p:cxnSp>
      <p:sp>
        <p:nvSpPr>
          <p:cNvPr name="AutoShape 8" id="8"/>
          <p:cNvSpPr/>
          <p:nvPr/>
        </p:nvSpPr>
        <p:spPr>
          <a:xfrm rot="0" flipH="false" flipV="false">
            <a:off x="1016000" y="2857500"/>
            <a:ext cx="4699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90196"/>
                  </a:srgbClr>
                </a:solidFill>
                <a:latin typeface="Noto Sans SC"/>
                <a:ea typeface="Noto Sans SC"/>
                <a:cs typeface="Noto Sans SC"/>
                <a:sym typeface="Noto Sans SC"/>
              </a:rPr>
              <a:t>每个Agent只加载自己领域的上下文，避免了资源争夺，确保信息处理的精准性。</a:t>
            </a:r>
            <a:endParaRPr lang="en-US" sz="1100"/>
          </a:p>
        </p:txBody>
      </p:sp>
      <p:sp>
        <p:nvSpPr>
          <p:cNvPr name="AutoShape 9" id="9"/>
          <p:cNvSpPr/>
          <p:nvPr/>
        </p:nvSpPr>
        <p:spPr>
          <a:xfrm rot="0" flipH="false" flipV="false">
            <a:off x="6223000" y="2032000"/>
            <a:ext cx="5207000" cy="1905000"/>
          </a:xfrm>
          <a:prstGeom prst="roundRect">
            <a:avLst>
              <a:gd name="adj" fmla="val 6666"/>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6477000" y="2286000"/>
            <a:ext cx="406400" cy="406400"/>
          </a:xfrm>
          <a:prstGeom prst="rect">
            <a:avLst/>
          </a:prstGeom>
        </p:spPr>
      </p:pic>
      <p:sp>
        <p:nvSpPr>
          <p:cNvPr name="AutoShape 11" id="11"/>
          <p:cNvSpPr/>
          <p:nvPr/>
        </p:nvSpPr>
        <p:spPr>
          <a:xfrm rot="0" flipH="false" flipV="false">
            <a:off x="6985000" y="2286000"/>
            <a:ext cx="4318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00BFFF"/>
                </a:solidFill>
                <a:latin typeface="Noto Sans SC"/>
                <a:ea typeface="Noto Sans SC"/>
                <a:cs typeface="Noto Sans SC"/>
                <a:sym typeface="Noto Sans SC"/>
              </a:rPr>
              <a:t>领域干扰</a:t>
            </a:r>
            <a:endParaRPr lang="en-US" sz="1100"/>
          </a:p>
        </p:txBody>
      </p:sp>
      <p:cxnSp>
        <p:nvCxnSpPr>
          <p:cNvPr name="Connector 12" id="12"/>
          <p:cNvCxnSpPr/>
          <p:nvPr/>
        </p:nvCxnSpPr>
        <p:spPr>
          <a:xfrm rot="-9291" flipH="false" flipV="false">
            <a:off x="6477009" y="2724150"/>
            <a:ext cx="4699000" cy="12700"/>
          </a:xfrm>
          <a:prstGeom prst="straightConnector1">
            <a:avLst/>
          </a:prstGeom>
          <a:solidFill>
            <a:srgbClr val="DEE0E3">
              <a:alpha val="100000"/>
            </a:srgbClr>
          </a:solidFill>
          <a:ln w="12700" cmpd="sng" cap="flat">
            <a:solidFill>
              <a:srgbClr val="FFFFFF">
                <a:alpha val="10000"/>
              </a:srgbClr>
            </a:solidFill>
            <a:prstDash val="solid"/>
            <a:round/>
            <a:headEnd type="none" w="med" len="med"/>
            <a:tailEnd type="none" w="med" len="med"/>
          </a:ln>
        </p:spPr>
      </p:cxnSp>
      <p:sp>
        <p:nvSpPr>
          <p:cNvPr name="AutoShape 13" id="13"/>
          <p:cNvSpPr/>
          <p:nvPr/>
        </p:nvSpPr>
        <p:spPr>
          <a:xfrm rot="0" flipH="false" flipV="false">
            <a:off x="6477000" y="2857500"/>
            <a:ext cx="4699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90196"/>
                  </a:srgbClr>
                </a:solidFill>
                <a:latin typeface="Noto Sans SC"/>
                <a:ea typeface="Noto Sans SC"/>
                <a:cs typeface="Noto Sans SC"/>
                <a:sym typeface="Noto Sans SC"/>
              </a:rPr>
              <a:t>每个Agent拥有独立的系统提示词，角色定位清晰，避免了跨领域指令的混淆。</a:t>
            </a:r>
            <a:endParaRPr lang="en-US" sz="1100"/>
          </a:p>
        </p:txBody>
      </p:sp>
      <p:sp>
        <p:nvSpPr>
          <p:cNvPr name="AutoShape 14" id="14"/>
          <p:cNvSpPr/>
          <p:nvPr/>
        </p:nvSpPr>
        <p:spPr>
          <a:xfrm rot="0" flipH="false" flipV="false">
            <a:off x="762000" y="4191000"/>
            <a:ext cx="5207000" cy="1905000"/>
          </a:xfrm>
          <a:prstGeom prst="roundRect">
            <a:avLst>
              <a:gd name="adj" fmla="val 6666"/>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15" id="15"/>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1016000" y="4445000"/>
            <a:ext cx="406400" cy="406400"/>
          </a:xfrm>
          <a:prstGeom prst="rect">
            <a:avLst/>
          </a:prstGeom>
        </p:spPr>
      </p:pic>
      <p:sp>
        <p:nvSpPr>
          <p:cNvPr name="AutoShape 16" id="16"/>
          <p:cNvSpPr/>
          <p:nvPr/>
        </p:nvSpPr>
        <p:spPr>
          <a:xfrm rot="0" flipH="false" flipV="false">
            <a:off x="1524000" y="4445000"/>
            <a:ext cx="4318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00BFFF"/>
                </a:solidFill>
                <a:latin typeface="Noto Sans SC"/>
                <a:ea typeface="Noto Sans SC"/>
                <a:cs typeface="Noto Sans SC"/>
                <a:sym typeface="Noto Sans SC"/>
              </a:rPr>
              <a:t>并行限制</a:t>
            </a:r>
            <a:endParaRPr lang="en-US" sz="1100"/>
          </a:p>
        </p:txBody>
      </p:sp>
      <p:cxnSp>
        <p:nvCxnSpPr>
          <p:cNvPr name="Connector 17" id="17"/>
          <p:cNvCxnSpPr/>
          <p:nvPr/>
        </p:nvCxnSpPr>
        <p:spPr>
          <a:xfrm rot="-9291" flipH="false" flipV="false">
            <a:off x="1016009" y="4883150"/>
            <a:ext cx="4699000" cy="12700"/>
          </a:xfrm>
          <a:prstGeom prst="straightConnector1">
            <a:avLst/>
          </a:prstGeom>
          <a:solidFill>
            <a:srgbClr val="DEE0E3">
              <a:alpha val="100000"/>
            </a:srgbClr>
          </a:solidFill>
          <a:ln w="12700" cmpd="sng" cap="flat">
            <a:solidFill>
              <a:srgbClr val="FFFFFF">
                <a:alpha val="10000"/>
              </a:srgbClr>
            </a:solidFill>
            <a:prstDash val="solid"/>
            <a:round/>
            <a:headEnd type="none" w="med" len="med"/>
            <a:tailEnd type="none" w="med" len="med"/>
          </a:ln>
        </p:spPr>
      </p:cxnSp>
      <p:sp>
        <p:nvSpPr>
          <p:cNvPr name="AutoShape 18" id="18"/>
          <p:cNvSpPr/>
          <p:nvPr/>
        </p:nvSpPr>
        <p:spPr>
          <a:xfrm rot="0" flipH="false" flipV="false">
            <a:off x="1016000" y="5016500"/>
            <a:ext cx="4699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90196"/>
                  </a:srgbClr>
                </a:solidFill>
                <a:latin typeface="Noto Sans SC"/>
                <a:ea typeface="Noto Sans SC"/>
                <a:cs typeface="Noto Sans SC"/>
                <a:sym typeface="Noto Sans SC"/>
              </a:rPr>
              <a:t>不同Agent可以并行处理不同任务，打破了单线程的效率瓶颈，大幅提升吞吐量。</a:t>
            </a:r>
            <a:endParaRPr lang="en-US" sz="1100"/>
          </a:p>
        </p:txBody>
      </p:sp>
      <p:sp>
        <p:nvSpPr>
          <p:cNvPr name="AutoShape 19" id="19"/>
          <p:cNvSpPr/>
          <p:nvPr/>
        </p:nvSpPr>
        <p:spPr>
          <a:xfrm rot="0" flipH="false" flipV="false">
            <a:off x="6223000" y="4191000"/>
            <a:ext cx="5207000" cy="1905000"/>
          </a:xfrm>
          <a:prstGeom prst="roundRect">
            <a:avLst>
              <a:gd name="adj" fmla="val 6666"/>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20" id="20"/>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6477000" y="4445000"/>
            <a:ext cx="406400" cy="406400"/>
          </a:xfrm>
          <a:prstGeom prst="rect">
            <a:avLst/>
          </a:prstGeom>
        </p:spPr>
      </p:pic>
      <p:sp>
        <p:nvSpPr>
          <p:cNvPr name="AutoShape 21" id="21"/>
          <p:cNvSpPr/>
          <p:nvPr/>
        </p:nvSpPr>
        <p:spPr>
          <a:xfrm rot="0" flipH="false" flipV="false">
            <a:off x="6985000" y="4445000"/>
            <a:ext cx="4318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00BFFF"/>
                </a:solidFill>
                <a:latin typeface="Noto Sans SC"/>
                <a:ea typeface="Noto Sans SC"/>
                <a:cs typeface="Noto Sans SC"/>
                <a:sym typeface="Noto Sans SC"/>
              </a:rPr>
              <a:t>单点故障</a:t>
            </a:r>
            <a:endParaRPr lang="en-US" sz="1100"/>
          </a:p>
        </p:txBody>
      </p:sp>
      <p:cxnSp>
        <p:nvCxnSpPr>
          <p:cNvPr name="Connector 22" id="22"/>
          <p:cNvCxnSpPr/>
          <p:nvPr/>
        </p:nvCxnSpPr>
        <p:spPr>
          <a:xfrm rot="-9291" flipH="false" flipV="false">
            <a:off x="6477009" y="4883150"/>
            <a:ext cx="4699000" cy="12700"/>
          </a:xfrm>
          <a:prstGeom prst="straightConnector1">
            <a:avLst/>
          </a:prstGeom>
          <a:solidFill>
            <a:srgbClr val="DEE0E3">
              <a:alpha val="100000"/>
            </a:srgbClr>
          </a:solidFill>
          <a:ln w="12700" cmpd="sng" cap="flat">
            <a:solidFill>
              <a:srgbClr val="FFFFFF">
                <a:alpha val="10000"/>
              </a:srgbClr>
            </a:solidFill>
            <a:prstDash val="solid"/>
            <a:round/>
            <a:headEnd type="none" w="med" len="med"/>
            <a:tailEnd type="none" w="med" len="med"/>
          </a:ln>
        </p:spPr>
      </p:cxnSp>
      <p:sp>
        <p:nvSpPr>
          <p:cNvPr name="AutoShape 23" id="23"/>
          <p:cNvSpPr/>
          <p:nvPr/>
        </p:nvSpPr>
        <p:spPr>
          <a:xfrm rot="0" flipH="false" flipV="false">
            <a:off x="6477000" y="5016500"/>
            <a:ext cx="4699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90196"/>
                  </a:srgbClr>
                </a:solidFill>
                <a:latin typeface="Noto Sans SC"/>
                <a:ea typeface="Noto Sans SC"/>
                <a:cs typeface="Noto Sans SC"/>
                <a:sym typeface="Noto Sans SC"/>
              </a:rPr>
              <a:t>系统架构去中心化，一个Agent的故障不会影响其他Agent的正常工作，系统更加健壮。</a:t>
            </a:r>
            <a:endParaRPr lang="en-US" sz="1100"/>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0A192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A192F">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1016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为什么基础设施要共享？</a:t>
            </a:r>
            <a:endParaRPr lang="en-US" sz="1100"/>
          </a:p>
        </p:txBody>
      </p:sp>
      <p:sp>
        <p:nvSpPr>
          <p:cNvPr name="AutoShape 4" id="4"/>
          <p:cNvSpPr/>
          <p:nvPr/>
        </p:nvSpPr>
        <p:spPr>
          <a:xfrm rot="0" flipH="false" flipV="false">
            <a:off x="762000" y="2032000"/>
            <a:ext cx="5080000" cy="3556000"/>
          </a:xfrm>
          <a:prstGeom prst="roundRect">
            <a:avLst>
              <a:gd name="adj" fmla="val 3571"/>
            </a:avLst>
          </a:prstGeom>
          <a:solidFill>
            <a:srgbClr val="FFFFFF">
              <a:alpha val="8000"/>
            </a:srgbClr>
          </a:solidFill>
          <a:ln w="12700" cmpd="sng" cap="flat">
            <a:solidFill>
              <a:srgbClr val="FFFFFF">
                <a:alpha val="20000"/>
              </a:srgbClr>
            </a:solid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66800" y="2336800"/>
            <a:ext cx="609600" cy="609600"/>
          </a:xfrm>
          <a:prstGeom prst="rect">
            <a:avLst/>
          </a:prstGeom>
        </p:spPr>
      </p:pic>
      <p:sp>
        <p:nvSpPr>
          <p:cNvPr name="AutoShape 6" id="6"/>
          <p:cNvSpPr/>
          <p:nvPr/>
        </p:nvSpPr>
        <p:spPr>
          <a:xfrm rot="0" flipH="false" flipV="false">
            <a:off x="1778000" y="2413000"/>
            <a:ext cx="381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传统模式：点对点连接</a:t>
            </a:r>
            <a:endParaRPr lang="en-US" sz="1100"/>
          </a:p>
        </p:txBody>
      </p:sp>
      <p:cxnSp>
        <p:nvCxnSpPr>
          <p:cNvPr name="Connector 7" id="7"/>
          <p:cNvCxnSpPr/>
          <p:nvPr/>
        </p:nvCxnSpPr>
        <p:spPr>
          <a:xfrm rot="-9766" flipH="false" flipV="false">
            <a:off x="1066809" y="3041650"/>
            <a:ext cx="4470400" cy="12700"/>
          </a:xfrm>
          <a:prstGeom prst="straightConnector1">
            <a:avLst/>
          </a:prstGeom>
          <a:solidFill>
            <a:srgbClr val="DEE0E3">
              <a:alpha val="100000"/>
            </a:srgbClr>
          </a:solidFill>
          <a:ln w="12700" cmpd="sng" cap="flat">
            <a:solidFill>
              <a:srgbClr val="FFFFFF">
                <a:alpha val="20000"/>
              </a:srgbClr>
            </a:solidFill>
            <a:prstDash val="solid"/>
            <a:round/>
            <a:headEnd type="none" w="med" len="med"/>
            <a:tailEnd type="none" w="med" len="med"/>
          </a:ln>
        </p:spPr>
      </p:cxnSp>
      <p:sp>
        <p:nvSpPr>
          <p:cNvPr name="AutoShape 8" id="8"/>
          <p:cNvSpPr/>
          <p:nvPr/>
        </p:nvSpPr>
        <p:spPr>
          <a:xfrm rot="0" flipH="false" flipV="false">
            <a:off x="1066800" y="3238500"/>
            <a:ext cx="44704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80000"/>
                  </a:srgbClr>
                </a:solidFill>
                <a:latin typeface="Noto Sans SC"/>
                <a:ea typeface="Noto Sans SC"/>
                <a:cs typeface="Noto Sans SC"/>
                <a:sym typeface="Noto Sans SC"/>
              </a:rPr>
              <a:t>8个Agent之间若两两直连，连接数呈指数级增长，管理成本极高。</a:t>
            </a:r>
            <a:endParaRPr lang="en-US" sz="1100"/>
          </a:p>
        </p:txBody>
      </p:sp>
      <p:sp>
        <p:nvSpPr>
          <p:cNvPr name="AutoShape 9" id="9"/>
          <p:cNvSpPr/>
          <p:nvPr/>
        </p:nvSpPr>
        <p:spPr>
          <a:xfrm rot="0" flipH="false" flipV="false">
            <a:off x="1066800" y="4064000"/>
            <a:ext cx="44704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60000"/>
                  </a:srgbClr>
                </a:solidFill>
                <a:latin typeface="Noto Sans SC"/>
                <a:ea typeface="Noto Sans SC"/>
                <a:cs typeface="Noto Sans SC"/>
                <a:sym typeface="Noto Sans SC"/>
              </a:rPr>
              <a:t>连接总数：</a:t>
            </a:r>
            <a:r>
              <a:rPr lang="en-US" b="true" i="false" strike="noStrike" u="none" sz="2800">
                <a:solidFill>
                  <a:srgbClr val="FFD700"/>
                </a:solidFill>
                <a:latin typeface="Noto Sans SC"/>
                <a:ea typeface="Noto Sans SC"/>
                <a:cs typeface="Noto Sans SC"/>
                <a:sym typeface="Noto Sans SC"/>
              </a:rPr>
              <a:t>28 条</a:t>
            </a:r>
            <a:endParaRPr lang="en-US" sz="1100"/>
          </a:p>
        </p:txBody>
      </p:sp>
      <p:sp>
        <p:nvSpPr>
          <p:cNvPr name="AutoShape 10" id="10"/>
          <p:cNvSpPr/>
          <p:nvPr/>
        </p:nvSpPr>
        <p:spPr>
          <a:xfrm rot="0" flipH="false" flipV="false">
            <a:off x="6096000" y="2032000"/>
            <a:ext cx="5080000" cy="3556000"/>
          </a:xfrm>
          <a:prstGeom prst="roundRect">
            <a:avLst>
              <a:gd name="adj" fmla="val 3571"/>
            </a:avLst>
          </a:prstGeom>
          <a:solidFill>
            <a:srgbClr val="FFFFFF">
              <a:alpha val="8000"/>
            </a:srgbClr>
          </a:solidFill>
          <a:ln w="12700" cmpd="sng" cap="flat">
            <a:solidFill>
              <a:srgbClr val="FFFFFF">
                <a:alpha val="20000"/>
              </a:srgbClr>
            </a:solidFill>
            <a:prstDash val="solid"/>
            <a:round/>
          </a:ln>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6400800" y="2336800"/>
            <a:ext cx="609600" cy="609600"/>
          </a:xfrm>
          <a:prstGeom prst="rect">
            <a:avLst/>
          </a:prstGeom>
        </p:spPr>
      </p:pic>
      <p:sp>
        <p:nvSpPr>
          <p:cNvPr name="AutoShape 12" id="12"/>
          <p:cNvSpPr/>
          <p:nvPr/>
        </p:nvSpPr>
        <p:spPr>
          <a:xfrm rot="0" flipH="false" flipV="false">
            <a:off x="7112000" y="2413000"/>
            <a:ext cx="381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共享模式：消息总线</a:t>
            </a:r>
            <a:endParaRPr lang="en-US" sz="1100"/>
          </a:p>
        </p:txBody>
      </p:sp>
      <p:cxnSp>
        <p:nvCxnSpPr>
          <p:cNvPr name="Connector 13" id="13"/>
          <p:cNvCxnSpPr/>
          <p:nvPr/>
        </p:nvCxnSpPr>
        <p:spPr>
          <a:xfrm rot="-9766" flipH="false" flipV="false">
            <a:off x="6400809" y="3041650"/>
            <a:ext cx="4470400" cy="12700"/>
          </a:xfrm>
          <a:prstGeom prst="straightConnector1">
            <a:avLst/>
          </a:prstGeom>
          <a:solidFill>
            <a:srgbClr val="DEE0E3">
              <a:alpha val="100000"/>
            </a:srgbClr>
          </a:solidFill>
          <a:ln w="12700" cmpd="sng" cap="flat">
            <a:solidFill>
              <a:srgbClr val="FFFFFF">
                <a:alpha val="20000"/>
              </a:srgbClr>
            </a:solidFill>
            <a:prstDash val="solid"/>
            <a:round/>
            <a:headEnd type="none" w="med" len="med"/>
            <a:tailEnd type="none" w="med" len="med"/>
          </a:ln>
        </p:spPr>
      </p:cxnSp>
      <p:sp>
        <p:nvSpPr>
          <p:cNvPr name="AutoShape 14" id="14"/>
          <p:cNvSpPr/>
          <p:nvPr/>
        </p:nvSpPr>
        <p:spPr>
          <a:xfrm rot="0" flipH="false" flipV="false">
            <a:off x="6400800" y="3238500"/>
            <a:ext cx="44704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80000"/>
                  </a:srgbClr>
                </a:solidFill>
                <a:latin typeface="Noto Sans SC"/>
                <a:ea typeface="Noto Sans SC"/>
                <a:cs typeface="Noto Sans SC"/>
                <a:sym typeface="Noto Sans SC"/>
              </a:rPr>
              <a:t>所有Agent连接到统一总线，结构清晰，易于扩展和维护。</a:t>
            </a:r>
            <a:endParaRPr lang="en-US" sz="1100"/>
          </a:p>
        </p:txBody>
      </p:sp>
      <p:sp>
        <p:nvSpPr>
          <p:cNvPr name="AutoShape 15" id="15"/>
          <p:cNvSpPr/>
          <p:nvPr/>
        </p:nvSpPr>
        <p:spPr>
          <a:xfrm rot="0" flipH="false" flipV="false">
            <a:off x="6400800" y="4064000"/>
            <a:ext cx="44704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60000"/>
                  </a:srgbClr>
                </a:solidFill>
                <a:latin typeface="Noto Sans SC"/>
                <a:ea typeface="Noto Sans SC"/>
                <a:cs typeface="Noto Sans SC"/>
                <a:sym typeface="Noto Sans SC"/>
              </a:rPr>
              <a:t>连接总数：</a:t>
            </a:r>
            <a:r>
              <a:rPr lang="en-US" b="true" i="false" strike="noStrike" u="none" sz="2800">
                <a:solidFill>
                  <a:srgbClr val="FFD700"/>
                </a:solidFill>
                <a:latin typeface="Noto Sans SC"/>
                <a:ea typeface="Noto Sans SC"/>
                <a:cs typeface="Noto Sans SC"/>
                <a:sym typeface="Noto Sans SC"/>
              </a:rPr>
              <a:t>8 条</a:t>
            </a:r>
            <a:endParaRPr lang="en-US" sz="1100"/>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0A0F1E">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F172A">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1016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共享 vs 独立：基础设施组件的协同效应</a:t>
            </a:r>
            <a:endParaRPr lang="en-US" sz="1100"/>
          </a:p>
        </p:txBody>
      </p:sp>
      <p:sp>
        <p:nvSpPr>
          <p:cNvPr name="AutoShape 4" id="4"/>
          <p:cNvSpPr/>
          <p:nvPr/>
        </p:nvSpPr>
        <p:spPr>
          <a:xfrm rot="0" flipH="false" flipV="false">
            <a:off x="762000" y="2032000"/>
            <a:ext cx="5207000" cy="1905000"/>
          </a:xfrm>
          <a:prstGeom prst="roundRect">
            <a:avLst>
              <a:gd name="adj" fmla="val 6666"/>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16000" y="2286000"/>
            <a:ext cx="406400" cy="406400"/>
          </a:xfrm>
          <a:prstGeom prst="rect">
            <a:avLst/>
          </a:prstGeom>
        </p:spPr>
      </p:pic>
      <p:sp>
        <p:nvSpPr>
          <p:cNvPr name="AutoShape 6" id="6"/>
          <p:cNvSpPr/>
          <p:nvPr/>
        </p:nvSpPr>
        <p:spPr>
          <a:xfrm rot="0" flipH="false" flipV="false">
            <a:off x="1524000" y="2286000"/>
            <a:ext cx="4318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QMD记忆共享</a:t>
            </a:r>
            <a:endParaRPr lang="en-US" sz="1100"/>
          </a:p>
        </p:txBody>
      </p:sp>
      <p:cxnSp>
        <p:nvCxnSpPr>
          <p:cNvPr name="Connector 7" id="7"/>
          <p:cNvCxnSpPr/>
          <p:nvPr/>
        </p:nvCxnSpPr>
        <p:spPr>
          <a:xfrm rot="-9291" flipH="false" flipV="false">
            <a:off x="1016009" y="2724150"/>
            <a:ext cx="4699000" cy="12700"/>
          </a:xfrm>
          <a:prstGeom prst="straightConnector1">
            <a:avLst/>
          </a:prstGeom>
          <a:solidFill>
            <a:srgbClr val="DEE0E3">
              <a:alpha val="100000"/>
            </a:srgbClr>
          </a:solidFill>
          <a:ln w="12700" cmpd="sng" cap="flat">
            <a:solidFill>
              <a:srgbClr val="FFFFFF">
                <a:alpha val="10000"/>
              </a:srgbClr>
            </a:solidFill>
            <a:prstDash val="solid"/>
            <a:round/>
            <a:headEnd type="none" w="med" len="med"/>
            <a:tailEnd type="none" w="med" len="med"/>
          </a:ln>
        </p:spPr>
      </p:cxnSp>
      <p:sp>
        <p:nvSpPr>
          <p:cNvPr name="AutoShape 8" id="8"/>
          <p:cNvSpPr/>
          <p:nvPr/>
        </p:nvSpPr>
        <p:spPr>
          <a:xfrm rot="0" flipH="false" flipV="false">
            <a:off x="1016000" y="2857500"/>
            <a:ext cx="4699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E5E7EB">
                    <a:alpha val="90196"/>
                  </a:srgbClr>
                </a:solidFill>
                <a:latin typeface="Noto Sans SC"/>
                <a:ea typeface="Noto Sans SC"/>
                <a:cs typeface="Noto Sans SC"/>
                <a:sym typeface="Noto Sans SC"/>
              </a:rPr>
              <a:t>打破Agent间的知识壁垒，避免形成信息孤岛，确保过往经验与知识在全局范围内实时可用。</a:t>
            </a:r>
            <a:endParaRPr lang="en-US" sz="1100"/>
          </a:p>
        </p:txBody>
      </p:sp>
      <p:sp>
        <p:nvSpPr>
          <p:cNvPr name="AutoShape 9" id="9"/>
          <p:cNvSpPr/>
          <p:nvPr/>
        </p:nvSpPr>
        <p:spPr>
          <a:xfrm rot="0" flipH="false" flipV="false">
            <a:off x="6223000" y="2032000"/>
            <a:ext cx="5207000" cy="1905000"/>
          </a:xfrm>
          <a:prstGeom prst="roundRect">
            <a:avLst>
              <a:gd name="adj" fmla="val 6666"/>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6477000" y="2286000"/>
            <a:ext cx="406400" cy="406400"/>
          </a:xfrm>
          <a:prstGeom prst="rect">
            <a:avLst/>
          </a:prstGeom>
        </p:spPr>
      </p:pic>
      <p:sp>
        <p:nvSpPr>
          <p:cNvPr name="AutoShape 11" id="11"/>
          <p:cNvSpPr/>
          <p:nvPr/>
        </p:nvSpPr>
        <p:spPr>
          <a:xfrm rot="0" flipH="false" flipV="false">
            <a:off x="6985000" y="2286000"/>
            <a:ext cx="4318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消息总线共享</a:t>
            </a:r>
            <a:endParaRPr lang="en-US" sz="1100"/>
          </a:p>
        </p:txBody>
      </p:sp>
      <p:cxnSp>
        <p:nvCxnSpPr>
          <p:cNvPr name="Connector 12" id="12"/>
          <p:cNvCxnSpPr/>
          <p:nvPr/>
        </p:nvCxnSpPr>
        <p:spPr>
          <a:xfrm rot="-9291" flipH="false" flipV="false">
            <a:off x="6477009" y="2724150"/>
            <a:ext cx="4699000" cy="12700"/>
          </a:xfrm>
          <a:prstGeom prst="straightConnector1">
            <a:avLst/>
          </a:prstGeom>
          <a:solidFill>
            <a:srgbClr val="DEE0E3">
              <a:alpha val="100000"/>
            </a:srgbClr>
          </a:solidFill>
          <a:ln w="12700" cmpd="sng" cap="flat">
            <a:solidFill>
              <a:srgbClr val="FFFFFF">
                <a:alpha val="10000"/>
              </a:srgbClr>
            </a:solidFill>
            <a:prstDash val="solid"/>
            <a:round/>
            <a:headEnd type="none" w="med" len="med"/>
            <a:tailEnd type="none" w="med" len="med"/>
          </a:ln>
        </p:spPr>
      </p:cxnSp>
      <p:sp>
        <p:nvSpPr>
          <p:cNvPr name="AutoShape 13" id="13"/>
          <p:cNvSpPr/>
          <p:nvPr/>
        </p:nvSpPr>
        <p:spPr>
          <a:xfrm rot="0" flipH="false" flipV="false">
            <a:off x="6477000" y="2857500"/>
            <a:ext cx="4699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E5E7EB">
                    <a:alpha val="90196"/>
                  </a:srgbClr>
                </a:solidFill>
                <a:latin typeface="Noto Sans SC"/>
                <a:ea typeface="Noto Sans SC"/>
                <a:cs typeface="Noto Sans SC"/>
                <a:sym typeface="Noto Sans SC"/>
              </a:rPr>
              <a:t>将连接复杂度从 O(N²) 降低至 O(N)，实现高效的松耦合通信，减少系统维护成本。</a:t>
            </a:r>
            <a:endParaRPr lang="en-US" sz="1100"/>
          </a:p>
        </p:txBody>
      </p:sp>
      <p:sp>
        <p:nvSpPr>
          <p:cNvPr name="AutoShape 14" id="14"/>
          <p:cNvSpPr/>
          <p:nvPr/>
        </p:nvSpPr>
        <p:spPr>
          <a:xfrm rot="0" flipH="false" flipV="false">
            <a:off x="762000" y="4191000"/>
            <a:ext cx="5207000" cy="1905000"/>
          </a:xfrm>
          <a:prstGeom prst="roundRect">
            <a:avLst>
              <a:gd name="adj" fmla="val 6666"/>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15" id="15"/>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1016000" y="4445000"/>
            <a:ext cx="406400" cy="406400"/>
          </a:xfrm>
          <a:prstGeom prst="rect">
            <a:avLst/>
          </a:prstGeom>
        </p:spPr>
      </p:pic>
      <p:sp>
        <p:nvSpPr>
          <p:cNvPr name="AutoShape 16" id="16"/>
          <p:cNvSpPr/>
          <p:nvPr/>
        </p:nvSpPr>
        <p:spPr>
          <a:xfrm rot="0" flipH="false" flipV="false">
            <a:off x="1524000" y="4445000"/>
            <a:ext cx="4318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定时调度共享</a:t>
            </a:r>
            <a:endParaRPr lang="en-US" sz="1100"/>
          </a:p>
        </p:txBody>
      </p:sp>
      <p:cxnSp>
        <p:nvCxnSpPr>
          <p:cNvPr name="Connector 17" id="17"/>
          <p:cNvCxnSpPr/>
          <p:nvPr/>
        </p:nvCxnSpPr>
        <p:spPr>
          <a:xfrm rot="-9291" flipH="false" flipV="false">
            <a:off x="1016009" y="4883150"/>
            <a:ext cx="4699000" cy="12700"/>
          </a:xfrm>
          <a:prstGeom prst="straightConnector1">
            <a:avLst/>
          </a:prstGeom>
          <a:solidFill>
            <a:srgbClr val="DEE0E3">
              <a:alpha val="100000"/>
            </a:srgbClr>
          </a:solidFill>
          <a:ln w="12700" cmpd="sng" cap="flat">
            <a:solidFill>
              <a:srgbClr val="FFFFFF">
                <a:alpha val="10000"/>
              </a:srgbClr>
            </a:solidFill>
            <a:prstDash val="solid"/>
            <a:round/>
            <a:headEnd type="none" w="med" len="med"/>
            <a:tailEnd type="none" w="med" len="med"/>
          </a:ln>
        </p:spPr>
      </p:cxnSp>
      <p:sp>
        <p:nvSpPr>
          <p:cNvPr name="AutoShape 18" id="18"/>
          <p:cNvSpPr/>
          <p:nvPr/>
        </p:nvSpPr>
        <p:spPr>
          <a:xfrm rot="0" flipH="false" flipV="false">
            <a:off x="1016000" y="5016500"/>
            <a:ext cx="4699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E5E7EB">
                    <a:alpha val="90196"/>
                  </a:srgbClr>
                </a:solidFill>
                <a:latin typeface="Noto Sans SC"/>
                <a:ea typeface="Noto Sans SC"/>
                <a:cs typeface="Noto Sans SC"/>
                <a:sym typeface="Noto Sans SC"/>
              </a:rPr>
              <a:t>统一管理任务执行时间，有效避免不同Agent的任务在时间维度上发生冲突，优化资源利用率。</a:t>
            </a:r>
            <a:endParaRPr lang="en-US" sz="1100"/>
          </a:p>
        </p:txBody>
      </p:sp>
      <p:sp>
        <p:nvSpPr>
          <p:cNvPr name="AutoShape 19" id="19"/>
          <p:cNvSpPr/>
          <p:nvPr/>
        </p:nvSpPr>
        <p:spPr>
          <a:xfrm rot="0" flipH="false" flipV="false">
            <a:off x="6223000" y="4191000"/>
            <a:ext cx="5207000" cy="1905000"/>
          </a:xfrm>
          <a:prstGeom prst="roundRect">
            <a:avLst>
              <a:gd name="adj" fmla="val 6666"/>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20" id="20"/>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6477000" y="4445000"/>
            <a:ext cx="406400" cy="406400"/>
          </a:xfrm>
          <a:prstGeom prst="rect">
            <a:avLst/>
          </a:prstGeom>
        </p:spPr>
      </p:pic>
      <p:sp>
        <p:nvSpPr>
          <p:cNvPr name="AutoShape 21" id="21"/>
          <p:cNvSpPr/>
          <p:nvPr/>
        </p:nvSpPr>
        <p:spPr>
          <a:xfrm rot="0" flipH="false" flipV="false">
            <a:off x="6985000" y="4445000"/>
            <a:ext cx="4318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配置管理共享</a:t>
            </a:r>
            <a:endParaRPr lang="en-US" sz="1100"/>
          </a:p>
        </p:txBody>
      </p:sp>
      <p:cxnSp>
        <p:nvCxnSpPr>
          <p:cNvPr name="Connector 22" id="22"/>
          <p:cNvCxnSpPr/>
          <p:nvPr/>
        </p:nvCxnSpPr>
        <p:spPr>
          <a:xfrm rot="-9291" flipH="false" flipV="false">
            <a:off x="6477009" y="4883150"/>
            <a:ext cx="4699000" cy="12700"/>
          </a:xfrm>
          <a:prstGeom prst="straightConnector1">
            <a:avLst/>
          </a:prstGeom>
          <a:solidFill>
            <a:srgbClr val="DEE0E3">
              <a:alpha val="100000"/>
            </a:srgbClr>
          </a:solidFill>
          <a:ln w="12700" cmpd="sng" cap="flat">
            <a:solidFill>
              <a:srgbClr val="FFFFFF">
                <a:alpha val="10000"/>
              </a:srgbClr>
            </a:solidFill>
            <a:prstDash val="solid"/>
            <a:round/>
            <a:headEnd type="none" w="med" len="med"/>
            <a:tailEnd type="none" w="med" len="med"/>
          </a:ln>
        </p:spPr>
      </p:cxnSp>
      <p:sp>
        <p:nvSpPr>
          <p:cNvPr name="AutoShape 23" id="23"/>
          <p:cNvSpPr/>
          <p:nvPr/>
        </p:nvSpPr>
        <p:spPr>
          <a:xfrm rot="0" flipH="false" flipV="false">
            <a:off x="6477000" y="5016500"/>
            <a:ext cx="4699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E5E7EB">
                    <a:alpha val="90196"/>
                  </a:srgbClr>
                </a:solidFill>
                <a:latin typeface="Noto Sans SC"/>
                <a:ea typeface="Noto Sans SC"/>
                <a:cs typeface="Noto Sans SC"/>
                <a:sym typeface="Noto Sans SC"/>
              </a:rPr>
              <a:t>实现一处修改，全局生效，极大简化了系统配置的维护工作，确保所有组件行为的一致性。</a:t>
            </a:r>
            <a:endParaRPr lang="en-US" sz="1100"/>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0A0F1E">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A0F1E">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1016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六个关键配置字段</a:t>
            </a:r>
            <a:endParaRPr lang="en-US" sz="1100"/>
          </a:p>
        </p:txBody>
      </p:sp>
      <p:sp>
        <p:nvSpPr>
          <p:cNvPr name="AutoShape 4" id="4"/>
          <p:cNvSpPr/>
          <p:nvPr/>
        </p:nvSpPr>
        <p:spPr>
          <a:xfrm rot="0" flipH="false" flipV="false">
            <a:off x="762000" y="1714500"/>
            <a:ext cx="10668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800">
                <a:solidFill>
                  <a:srgbClr val="FFFFFF">
                    <a:alpha val="70196"/>
                  </a:srgbClr>
                </a:solidFill>
                <a:latin typeface="Noto Sans SC"/>
                <a:ea typeface="Noto Sans SC"/>
                <a:cs typeface="Noto Sans SC"/>
                <a:sym typeface="Noto Sans SC"/>
              </a:rPr>
              <a:t>模块 3.3 -- Agent定义规范</a:t>
            </a:r>
            <a:endParaRPr lang="en-US" sz="1100"/>
          </a:p>
        </p:txBody>
      </p:sp>
      <p:sp>
        <p:nvSpPr>
          <p:cNvPr name="AutoShape 5" id="5"/>
          <p:cNvSpPr/>
          <p:nvPr/>
        </p:nvSpPr>
        <p:spPr>
          <a:xfrm rot="0" flipH="false" flipV="false">
            <a:off x="762000" y="2286000"/>
            <a:ext cx="3302000" cy="1778000"/>
          </a:xfrm>
          <a:prstGeom prst="roundRect">
            <a:avLst>
              <a:gd name="adj" fmla="val 7142"/>
            </a:avLst>
          </a:prstGeom>
          <a:solidFill>
            <a:srgbClr val="FFFFFF">
              <a:alpha val="5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16000" y="2540000"/>
            <a:ext cx="304800" cy="304800"/>
          </a:xfrm>
          <a:prstGeom prst="rect">
            <a:avLst/>
          </a:prstGeom>
        </p:spPr>
      </p:pic>
      <p:sp>
        <p:nvSpPr>
          <p:cNvPr name="AutoShape 7" id="7"/>
          <p:cNvSpPr/>
          <p:nvPr/>
        </p:nvSpPr>
        <p:spPr>
          <a:xfrm rot="0" flipH="false" flipV="false">
            <a:off x="1397000" y="2501900"/>
            <a:ext cx="254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name</a:t>
            </a:r>
            <a:endParaRPr lang="en-US" sz="1100"/>
          </a:p>
        </p:txBody>
      </p:sp>
      <p:sp>
        <p:nvSpPr>
          <p:cNvPr name="AutoShape 8" id="8"/>
          <p:cNvSpPr/>
          <p:nvPr/>
        </p:nvSpPr>
        <p:spPr>
          <a:xfrm rot="0" flipH="false" flipV="false">
            <a:off x="1016000" y="2984500"/>
            <a:ext cx="2794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300">
                <a:solidFill>
                  <a:srgbClr val="FFFFFF">
                    <a:alpha val="70196"/>
                  </a:srgbClr>
                </a:solidFill>
                <a:latin typeface="Noto Sans SC"/>
                <a:ea typeface="Noto Sans SC"/>
                <a:cs typeface="Noto Sans SC"/>
                <a:sym typeface="Noto Sans SC"/>
              </a:rPr>
              <a:t>人类可读名称，主要用于日志记录和系统监控标识。</a:t>
            </a:r>
            <a:endParaRPr lang="en-US" sz="1100"/>
          </a:p>
        </p:txBody>
      </p:sp>
      <p:sp>
        <p:nvSpPr>
          <p:cNvPr name="AutoShape 9" id="9"/>
          <p:cNvSpPr/>
          <p:nvPr/>
        </p:nvSpPr>
        <p:spPr>
          <a:xfrm rot="0" flipH="false" flipV="false">
            <a:off x="4445000" y="2286000"/>
            <a:ext cx="3302000" cy="1778000"/>
          </a:xfrm>
          <a:prstGeom prst="roundRect">
            <a:avLst>
              <a:gd name="adj" fmla="val 7142"/>
            </a:avLst>
          </a:prstGeom>
          <a:solidFill>
            <a:srgbClr val="FFFFFF">
              <a:alpha val="5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4699000" y="2540000"/>
            <a:ext cx="304800" cy="304800"/>
          </a:xfrm>
          <a:prstGeom prst="rect">
            <a:avLst/>
          </a:prstGeom>
        </p:spPr>
      </p:pic>
      <p:sp>
        <p:nvSpPr>
          <p:cNvPr name="AutoShape 11" id="11"/>
          <p:cNvSpPr/>
          <p:nvPr/>
        </p:nvSpPr>
        <p:spPr>
          <a:xfrm rot="0" flipH="false" flipV="false">
            <a:off x="5080000" y="2501900"/>
            <a:ext cx="254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role</a:t>
            </a:r>
            <a:endParaRPr lang="en-US" sz="1100"/>
          </a:p>
        </p:txBody>
      </p:sp>
      <p:sp>
        <p:nvSpPr>
          <p:cNvPr name="AutoShape 12" id="12"/>
          <p:cNvSpPr/>
          <p:nvPr/>
        </p:nvSpPr>
        <p:spPr>
          <a:xfrm rot="0" flipH="false" flipV="false">
            <a:off x="4699000" y="2984500"/>
            <a:ext cx="2794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300">
                <a:solidFill>
                  <a:srgbClr val="FFFFFF">
                    <a:alpha val="70196"/>
                  </a:srgbClr>
                </a:solidFill>
                <a:latin typeface="Noto Sans SC"/>
                <a:ea typeface="Noto Sans SC"/>
                <a:cs typeface="Noto Sans SC"/>
                <a:sym typeface="Noto Sans SC"/>
              </a:rPr>
              <a:t>角色定位，决定了系统提示词的基调与行为模式。</a:t>
            </a:r>
            <a:endParaRPr lang="en-US" sz="1100"/>
          </a:p>
        </p:txBody>
      </p:sp>
      <p:sp>
        <p:nvSpPr>
          <p:cNvPr name="AutoShape 13" id="13"/>
          <p:cNvSpPr/>
          <p:nvPr/>
        </p:nvSpPr>
        <p:spPr>
          <a:xfrm rot="0" flipH="false" flipV="false">
            <a:off x="8128000" y="2286000"/>
            <a:ext cx="3302000" cy="1778000"/>
          </a:xfrm>
          <a:prstGeom prst="roundRect">
            <a:avLst>
              <a:gd name="adj" fmla="val 7142"/>
            </a:avLst>
          </a:prstGeom>
          <a:solidFill>
            <a:srgbClr val="FFFFFF">
              <a:alpha val="5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8382000" y="2540000"/>
            <a:ext cx="304800" cy="304800"/>
          </a:xfrm>
          <a:prstGeom prst="rect">
            <a:avLst/>
          </a:prstGeom>
        </p:spPr>
      </p:pic>
      <p:sp>
        <p:nvSpPr>
          <p:cNvPr name="AutoShape 15" id="15"/>
          <p:cNvSpPr/>
          <p:nvPr/>
        </p:nvSpPr>
        <p:spPr>
          <a:xfrm rot="0" flipH="false" flipV="false">
            <a:off x="8763000" y="2501900"/>
            <a:ext cx="254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workspace</a:t>
            </a:r>
            <a:endParaRPr lang="en-US" sz="1100"/>
          </a:p>
        </p:txBody>
      </p:sp>
      <p:sp>
        <p:nvSpPr>
          <p:cNvPr name="AutoShape 16" id="16"/>
          <p:cNvSpPr/>
          <p:nvPr/>
        </p:nvSpPr>
        <p:spPr>
          <a:xfrm rot="0" flipH="false" flipV="false">
            <a:off x="8382000" y="2984500"/>
            <a:ext cx="2794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300">
                <a:solidFill>
                  <a:srgbClr val="FFFFFF">
                    <a:alpha val="70196"/>
                  </a:srgbClr>
                </a:solidFill>
                <a:latin typeface="Noto Sans SC"/>
                <a:ea typeface="Noto Sans SC"/>
                <a:cs typeface="Noto Sans SC"/>
                <a:sym typeface="Noto Sans SC"/>
              </a:rPr>
              <a:t>独立工作空间，实现不同Agent间的文件隔离与管理。</a:t>
            </a:r>
            <a:endParaRPr lang="en-US" sz="1100"/>
          </a:p>
        </p:txBody>
      </p:sp>
      <p:sp>
        <p:nvSpPr>
          <p:cNvPr name="AutoShape 17" id="17"/>
          <p:cNvSpPr/>
          <p:nvPr/>
        </p:nvSpPr>
        <p:spPr>
          <a:xfrm rot="0" flipH="false" flipV="false">
            <a:off x="762000" y="4318000"/>
            <a:ext cx="3302000" cy="1778000"/>
          </a:xfrm>
          <a:prstGeom prst="roundRect">
            <a:avLst>
              <a:gd name="adj" fmla="val 7142"/>
            </a:avLst>
          </a:prstGeom>
          <a:solidFill>
            <a:srgbClr val="FFFFFF">
              <a:alpha val="5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18" id="18"/>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1016000" y="4572000"/>
            <a:ext cx="304800" cy="304800"/>
          </a:xfrm>
          <a:prstGeom prst="rect">
            <a:avLst/>
          </a:prstGeom>
        </p:spPr>
      </p:pic>
      <p:sp>
        <p:nvSpPr>
          <p:cNvPr name="AutoShape 19" id="19"/>
          <p:cNvSpPr/>
          <p:nvPr/>
        </p:nvSpPr>
        <p:spPr>
          <a:xfrm rot="0" flipH="false" flipV="false">
            <a:off x="1397000" y="4533900"/>
            <a:ext cx="254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model</a:t>
            </a:r>
            <a:endParaRPr lang="en-US" sz="1100"/>
          </a:p>
        </p:txBody>
      </p:sp>
      <p:sp>
        <p:nvSpPr>
          <p:cNvPr name="AutoShape 20" id="20"/>
          <p:cNvSpPr/>
          <p:nvPr/>
        </p:nvSpPr>
        <p:spPr>
          <a:xfrm rot="0" flipH="false" flipV="false">
            <a:off x="1016000" y="5016500"/>
            <a:ext cx="2794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300">
                <a:solidFill>
                  <a:srgbClr val="FFFFFF">
                    <a:alpha val="70196"/>
                  </a:srgbClr>
                </a:solidFill>
                <a:latin typeface="Noto Sans SC"/>
                <a:ea typeface="Noto Sans SC"/>
                <a:cs typeface="Noto Sans SC"/>
                <a:sym typeface="Noto Sans SC"/>
              </a:rPr>
              <a:t>指定使用的LLM模型，需根据任务类型进行匹配。</a:t>
            </a:r>
            <a:endParaRPr lang="en-US" sz="1100"/>
          </a:p>
        </p:txBody>
      </p:sp>
      <p:sp>
        <p:nvSpPr>
          <p:cNvPr name="AutoShape 21" id="21"/>
          <p:cNvSpPr/>
          <p:nvPr/>
        </p:nvSpPr>
        <p:spPr>
          <a:xfrm rot="0" flipH="false" flipV="false">
            <a:off x="4445000" y="4318000"/>
            <a:ext cx="3302000" cy="1778000"/>
          </a:xfrm>
          <a:prstGeom prst="roundRect">
            <a:avLst>
              <a:gd name="adj" fmla="val 7142"/>
            </a:avLst>
          </a:prstGeom>
          <a:solidFill>
            <a:srgbClr val="FFFFFF">
              <a:alpha val="5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22" id="22"/>
          <p:cNvPicPr>
            <a:picLocks noChangeAspect="true"/>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0" flipH="false" flipV="false">
            <a:off x="4699000" y="4572000"/>
            <a:ext cx="304800" cy="304800"/>
          </a:xfrm>
          <a:prstGeom prst="rect">
            <a:avLst/>
          </a:prstGeom>
        </p:spPr>
      </p:pic>
      <p:sp>
        <p:nvSpPr>
          <p:cNvPr name="AutoShape 23" id="23"/>
          <p:cNvSpPr/>
          <p:nvPr/>
        </p:nvSpPr>
        <p:spPr>
          <a:xfrm rot="0" flipH="false" flipV="false">
            <a:off x="5080000" y="4533900"/>
            <a:ext cx="254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responsibilities</a:t>
            </a:r>
            <a:endParaRPr lang="en-US" sz="1100"/>
          </a:p>
        </p:txBody>
      </p:sp>
      <p:sp>
        <p:nvSpPr>
          <p:cNvPr name="AutoShape 24" id="24"/>
          <p:cNvSpPr/>
          <p:nvPr/>
        </p:nvSpPr>
        <p:spPr>
          <a:xfrm rot="0" flipH="false" flipV="false">
            <a:off x="4699000" y="5016500"/>
            <a:ext cx="2794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300">
                <a:solidFill>
                  <a:srgbClr val="FFFFFF">
                    <a:alpha val="70196"/>
                  </a:srgbClr>
                </a:solidFill>
                <a:latin typeface="Noto Sans SC"/>
                <a:ea typeface="Noto Sans SC"/>
                <a:cs typeface="Noto Sans SC"/>
                <a:sym typeface="Noto Sans SC"/>
              </a:rPr>
              <a:t>定义Agent的职责范围，是任务分发的核心依据。</a:t>
            </a:r>
            <a:endParaRPr lang="en-US" sz="1100"/>
          </a:p>
        </p:txBody>
      </p:sp>
      <p:sp>
        <p:nvSpPr>
          <p:cNvPr name="AutoShape 25" id="25"/>
          <p:cNvSpPr/>
          <p:nvPr/>
        </p:nvSpPr>
        <p:spPr>
          <a:xfrm rot="0" flipH="false" flipV="false">
            <a:off x="8128000" y="4318000"/>
            <a:ext cx="3302000" cy="1778000"/>
          </a:xfrm>
          <a:prstGeom prst="roundRect">
            <a:avLst>
              <a:gd name="adj" fmla="val 7142"/>
            </a:avLst>
          </a:prstGeom>
          <a:solidFill>
            <a:srgbClr val="FFFFFF">
              <a:alpha val="5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26" id="26"/>
          <p:cNvPicPr>
            <a:picLocks noChangeAspect="true"/>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rot="0" flipH="false" flipV="false">
            <a:off x="8382000" y="4572000"/>
            <a:ext cx="304800" cy="304800"/>
          </a:xfrm>
          <a:prstGeom prst="rect">
            <a:avLst/>
          </a:prstGeom>
        </p:spPr>
      </p:pic>
      <p:sp>
        <p:nvSpPr>
          <p:cNvPr name="AutoShape 27" id="27"/>
          <p:cNvSpPr/>
          <p:nvPr/>
        </p:nvSpPr>
        <p:spPr>
          <a:xfrm rot="0" flipH="false" flipV="false">
            <a:off x="8763000" y="4533900"/>
            <a:ext cx="254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skills</a:t>
            </a:r>
            <a:endParaRPr lang="en-US" sz="1100"/>
          </a:p>
        </p:txBody>
      </p:sp>
      <p:sp>
        <p:nvSpPr>
          <p:cNvPr name="AutoShape 28" id="28"/>
          <p:cNvSpPr/>
          <p:nvPr/>
        </p:nvSpPr>
        <p:spPr>
          <a:xfrm rot="0" flipH="false" flipV="false">
            <a:off x="8382000" y="5016500"/>
            <a:ext cx="2794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300">
                <a:solidFill>
                  <a:srgbClr val="FFFFFF">
                    <a:alpha val="70196"/>
                  </a:srgbClr>
                </a:solidFill>
                <a:latin typeface="Noto Sans SC"/>
                <a:ea typeface="Noto Sans SC"/>
                <a:cs typeface="Noto Sans SC"/>
                <a:sym typeface="Noto Sans SC"/>
              </a:rPr>
              <a:t>列出掌握的工具和能力，作为能力匹配的关键依据。</a:t>
            </a:r>
            <a:endParaRPr lang="en-US" sz="1100"/>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0A192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A192F">
              <a:alpha val="9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1016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Agent配置YAML示例</a:t>
            </a:r>
            <a:endParaRPr lang="en-US" sz="1100"/>
          </a:p>
        </p:txBody>
      </p:sp>
      <p:sp>
        <p:nvSpPr>
          <p:cNvPr name="AutoShape 4" id="4"/>
          <p:cNvSpPr/>
          <p:nvPr/>
        </p:nvSpPr>
        <p:spPr>
          <a:xfrm rot="0" flipH="false" flipV="false">
            <a:off x="762000" y="2032000"/>
            <a:ext cx="5080000" cy="4318000"/>
          </a:xfrm>
          <a:prstGeom prst="roundRect">
            <a:avLst>
              <a:gd name="adj" fmla="val 2941"/>
            </a:avLst>
          </a:prstGeom>
          <a:solidFill>
            <a:srgbClr val="FFFFFF">
              <a:alpha val="5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16000" y="2286000"/>
            <a:ext cx="304800" cy="304800"/>
          </a:xfrm>
          <a:prstGeom prst="rect">
            <a:avLst/>
          </a:prstGeom>
        </p:spPr>
      </p:pic>
      <p:sp>
        <p:nvSpPr>
          <p:cNvPr name="AutoShape 6" id="6"/>
          <p:cNvSpPr/>
          <p:nvPr/>
        </p:nvSpPr>
        <p:spPr>
          <a:xfrm rot="0" flipH="false" flipV="false">
            <a:off x="1397000" y="2260600"/>
            <a:ext cx="381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主助手 Friday 配置</a:t>
            </a:r>
            <a:endParaRPr lang="en-US" sz="1100"/>
          </a:p>
        </p:txBody>
      </p:sp>
      <p:cxnSp>
        <p:nvCxnSpPr>
          <p:cNvPr name="Connector 7" id="7"/>
          <p:cNvCxnSpPr/>
          <p:nvPr/>
        </p:nvCxnSpPr>
        <p:spPr>
          <a:xfrm rot="-9549" flipH="false" flipV="false">
            <a:off x="1016009" y="2724150"/>
            <a:ext cx="4572000" cy="12700"/>
          </a:xfrm>
          <a:prstGeom prst="straightConnector1">
            <a:avLst/>
          </a:prstGeom>
          <a:solidFill>
            <a:srgbClr val="DEE0E3">
              <a:alpha val="100000"/>
            </a:srgbClr>
          </a:solidFill>
          <a:ln w="12700" cmpd="sng" cap="flat">
            <a:solidFill>
              <a:srgbClr val="FFFFFF">
                <a:alpha val="10000"/>
              </a:srgbClr>
            </a:solidFill>
            <a:prstDash val="solid"/>
            <a:round/>
            <a:headEnd type="none" w="med" len="med"/>
            <a:tailEnd type="none" w="med" len="med"/>
          </a:ln>
        </p:spPr>
      </p:cxnSp>
      <p:sp>
        <p:nvSpPr>
          <p:cNvPr name="AutoShape 8" id="8"/>
          <p:cNvSpPr/>
          <p:nvPr/>
        </p:nvSpPr>
        <p:spPr>
          <a:xfrm rot="0" flipH="false" flipV="false">
            <a:off x="1016000" y="2857500"/>
            <a:ext cx="4572000" cy="330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9CA3AF"/>
                </a:solidFill>
                <a:latin typeface="Noto Sans SC"/>
                <a:ea typeface="Noto Sans SC"/>
                <a:cs typeface="Noto Sans SC"/>
                <a:sym typeface="Noto Sans SC"/>
              </a:rPr>
              <a:t>friday:</a:t>
            </a:r>
            <a:r>
              <a:rPr lang="en-US" b="false" i="false" strike="noStrike" u="none" sz="14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400">
                <a:solidFill>
                  <a:srgbClr val="9CA3AF"/>
                </a:solidFill>
                <a:latin typeface="Noto Sans SC"/>
                <a:ea typeface="Noto Sans SC"/>
                <a:cs typeface="Noto Sans SC"/>
                <a:sym typeface="Noto Sans SC"/>
              </a:rPr>
              <a:t>name: "星期五"</a:t>
            </a:r>
            <a:r>
              <a:rPr lang="en-US" b="false" i="false" strike="noStrike" u="none" sz="1400">
                <a:solidFill>
                  <a:srgbClr val="1F2329"/>
                </a:solidFill>
                <a:latin typeface="Noto Sans SC"/>
                <a:ea typeface="Noto Sans SC"/>
                <a:cs typeface="Noto Sans SC"/>
                <a:sym typeface="Noto Sans SC"/>
              </a:rPr>
              <a:t/>
            </a:r>
          </a:p>
          <a:p>
            <a:pPr algn="l" indent="0">
              <a:lnSpc>
                <a:spcPct val="125000"/>
              </a:lnSpc>
            </a:pPr>
            <a:r>
              <a:rPr lang="en-US" b="false" i="false" strike="noStrike" u="none" sz="1400">
                <a:solidFill>
                  <a:srgbClr val="9CA3AF"/>
                </a:solidFill>
                <a:latin typeface="Noto Sans SC"/>
                <a:ea typeface="Noto Sans SC"/>
                <a:cs typeface="Noto Sans SC"/>
                <a:sym typeface="Noto Sans SC"/>
              </a:rPr>
              <a:t>role:</a:t>
            </a:r>
            <a:r>
              <a:rPr lang="en-US" b="true" i="false" strike="noStrike" u="none" sz="1400">
                <a:solidFill>
                  <a:srgbClr val="FFFF00"/>
                </a:solidFill>
                <a:latin typeface="Noto Sans SC"/>
                <a:ea typeface="Noto Sans SC"/>
                <a:cs typeface="Noto Sans SC"/>
                <a:sym typeface="Noto Sans SC"/>
              </a:rPr>
              <a:t>"主助手"</a:t>
            </a:r>
            <a:r>
              <a:rPr lang="en-US" b="false" i="false" strike="noStrike" u="none" sz="1400">
                <a:solidFill>
                  <a:srgbClr val="1F2329"/>
                </a:solidFill>
                <a:latin typeface="Noto Sans SC"/>
                <a:ea typeface="Noto Sans SC"/>
                <a:cs typeface="Noto Sans SC"/>
                <a:sym typeface="Noto Sans SC"/>
              </a:rPr>
              <a:t/>
            </a:r>
          </a:p>
          <a:p>
            <a:pPr algn="l" indent="0">
              <a:lnSpc>
                <a:spcPct val="125000"/>
              </a:lnSpc>
            </a:pPr>
            <a:r>
              <a:rPr lang="en-US" b="false" i="false" strike="noStrike" u="none" sz="1400">
                <a:solidFill>
                  <a:srgbClr val="9CA3AF"/>
                </a:solidFill>
                <a:latin typeface="Noto Sans SC"/>
                <a:ea typeface="Noto Sans SC"/>
                <a:cs typeface="Noto Sans SC"/>
                <a:sym typeface="Noto Sans SC"/>
              </a:rPr>
              <a:t>workspace: "~/.openclaw/workspace"</a:t>
            </a:r>
            <a:r>
              <a:rPr lang="en-US" b="false" i="false" strike="noStrike" u="none" sz="1400">
                <a:solidFill>
                  <a:srgbClr val="1F2329"/>
                </a:solidFill>
                <a:latin typeface="Noto Sans SC"/>
                <a:ea typeface="Noto Sans SC"/>
                <a:cs typeface="Noto Sans SC"/>
                <a:sym typeface="Noto Sans SC"/>
              </a:rPr>
              <a:t/>
            </a:r>
          </a:p>
          <a:p>
            <a:pPr algn="l" indent="0">
              <a:lnSpc>
                <a:spcPct val="125000"/>
              </a:lnSpc>
            </a:pPr>
            <a:r>
              <a:rPr lang="en-US" b="false" i="false" strike="noStrike" u="none" sz="1400">
                <a:solidFill>
                  <a:srgbClr val="9CA3AF"/>
                </a:solidFill>
                <a:latin typeface="Noto Sans SC"/>
                <a:ea typeface="Noto Sans SC"/>
                <a:cs typeface="Noto Sans SC"/>
                <a:sym typeface="Noto Sans SC"/>
              </a:rPr>
              <a:t>model: "moonshot/kimi-k2.5"</a:t>
            </a:r>
            <a:r>
              <a:rPr lang="en-US" b="false" i="false" strike="noStrike" u="none" sz="1400">
                <a:solidFill>
                  <a:srgbClr val="1F2329"/>
                </a:solidFill>
                <a:latin typeface="Noto Sans SC"/>
                <a:ea typeface="Noto Sans SC"/>
                <a:cs typeface="Noto Sans SC"/>
                <a:sym typeface="Noto Sans SC"/>
              </a:rPr>
              <a:t/>
            </a:r>
          </a:p>
          <a:p>
            <a:pPr algn="l" indent="0">
              <a:lnSpc>
                <a:spcPct val="125000"/>
              </a:lnSpc>
            </a:pPr>
            <a:r>
              <a:rPr lang="en-US" b="false" i="false" strike="noStrike" u="none" sz="1400">
                <a:solidFill>
                  <a:srgbClr val="9CA3AF"/>
                </a:solidFill>
                <a:latin typeface="Noto Sans SC"/>
                <a:ea typeface="Noto Sans SC"/>
                <a:cs typeface="Noto Sans SC"/>
                <a:sym typeface="Noto Sans SC"/>
              </a:rPr>
              <a:t>responsibilities:</a:t>
            </a:r>
            <a:r>
              <a:rPr lang="en-US" b="false" i="false" strike="noStrike" u="none" sz="1400">
                <a:solidFill>
                  <a:srgbClr val="1F2329"/>
                </a:solidFill>
                <a:latin typeface="Noto Sans SC"/>
                <a:ea typeface="Noto Sans SC"/>
                <a:cs typeface="Noto Sans SC"/>
                <a:sym typeface="Noto Sans SC"/>
              </a:rPr>
              <a:t/>
            </a:r>
          </a:p>
          <a:p>
            <a:pPr algn="l" indent="0">
              <a:lnSpc>
                <a:spcPct val="125000"/>
              </a:lnSpc>
            </a:pPr>
            <a:r>
              <a:rPr lang="en-US" b="false" i="false" strike="noStrike" u="none" sz="1400">
                <a:solidFill>
                  <a:srgbClr val="9CA3AF"/>
                </a:solidFill>
                <a:latin typeface="Noto Sans SC"/>
                <a:ea typeface="Noto Sans SC"/>
                <a:cs typeface="Noto Sans SC"/>
                <a:sym typeface="Noto Sans SC"/>
              </a:rPr>
              <a:t>- 用户交互与任务分发</a:t>
            </a:r>
          </a:p>
        </p:txBody>
      </p:sp>
      <p:sp>
        <p:nvSpPr>
          <p:cNvPr name="AutoShape 9" id="9"/>
          <p:cNvSpPr/>
          <p:nvPr/>
        </p:nvSpPr>
        <p:spPr>
          <a:xfrm rot="0" flipH="false" flipV="false">
            <a:off x="6096000" y="2032000"/>
            <a:ext cx="5080000" cy="4318000"/>
          </a:xfrm>
          <a:prstGeom prst="roundRect">
            <a:avLst>
              <a:gd name="adj" fmla="val 2941"/>
            </a:avLst>
          </a:prstGeom>
          <a:solidFill>
            <a:srgbClr val="FFFFFF">
              <a:alpha val="5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6350000" y="2286000"/>
            <a:ext cx="304800" cy="304800"/>
          </a:xfrm>
          <a:prstGeom prst="rect">
            <a:avLst/>
          </a:prstGeom>
        </p:spPr>
      </p:pic>
      <p:sp>
        <p:nvSpPr>
          <p:cNvPr name="AutoShape 11" id="11"/>
          <p:cNvSpPr/>
          <p:nvPr/>
        </p:nvSpPr>
        <p:spPr>
          <a:xfrm rot="0" flipH="false" flipV="false">
            <a:off x="6731000" y="2260600"/>
            <a:ext cx="381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交易助手 桑丘 配置</a:t>
            </a:r>
            <a:endParaRPr lang="en-US" sz="1100"/>
          </a:p>
        </p:txBody>
      </p:sp>
      <p:cxnSp>
        <p:nvCxnSpPr>
          <p:cNvPr name="Connector 12" id="12"/>
          <p:cNvCxnSpPr/>
          <p:nvPr/>
        </p:nvCxnSpPr>
        <p:spPr>
          <a:xfrm rot="-9549" flipH="false" flipV="false">
            <a:off x="6350009" y="2724150"/>
            <a:ext cx="4572000" cy="12700"/>
          </a:xfrm>
          <a:prstGeom prst="straightConnector1">
            <a:avLst/>
          </a:prstGeom>
          <a:solidFill>
            <a:srgbClr val="DEE0E3">
              <a:alpha val="100000"/>
            </a:srgbClr>
          </a:solidFill>
          <a:ln w="12700" cmpd="sng" cap="flat">
            <a:solidFill>
              <a:srgbClr val="FFFFFF">
                <a:alpha val="10000"/>
              </a:srgbClr>
            </a:solidFill>
            <a:prstDash val="solid"/>
            <a:round/>
            <a:headEnd type="none" w="med" len="med"/>
            <a:tailEnd type="none" w="med" len="med"/>
          </a:ln>
        </p:spPr>
      </p:cxnSp>
      <p:sp>
        <p:nvSpPr>
          <p:cNvPr name="AutoShape 13" id="13"/>
          <p:cNvSpPr/>
          <p:nvPr/>
        </p:nvSpPr>
        <p:spPr>
          <a:xfrm rot="0" flipH="false" flipV="false">
            <a:off x="6350000" y="2857500"/>
            <a:ext cx="4572000" cy="330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9CA3AF"/>
                </a:solidFill>
                <a:latin typeface="Noto Sans SC"/>
                <a:ea typeface="Noto Sans SC"/>
                <a:cs typeface="Noto Sans SC"/>
                <a:sym typeface="Noto Sans SC"/>
              </a:rPr>
              <a:t>trading:</a:t>
            </a:r>
            <a:r>
              <a:rPr lang="en-US" b="false" i="false" strike="noStrike" u="none" sz="14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400">
                <a:solidFill>
                  <a:srgbClr val="9CA3AF"/>
                </a:solidFill>
                <a:latin typeface="Noto Sans SC"/>
                <a:ea typeface="Noto Sans SC"/>
                <a:cs typeface="Noto Sans SC"/>
                <a:sym typeface="Noto Sans SC"/>
              </a:rPr>
              <a:t>name: "桑丘"</a:t>
            </a:r>
            <a:r>
              <a:rPr lang="en-US" b="false" i="false" strike="noStrike" u="none" sz="1400">
                <a:solidFill>
                  <a:srgbClr val="1F2329"/>
                </a:solidFill>
                <a:latin typeface="Noto Sans SC"/>
                <a:ea typeface="Noto Sans SC"/>
                <a:cs typeface="Noto Sans SC"/>
                <a:sym typeface="Noto Sans SC"/>
              </a:rPr>
              <a:t/>
            </a:r>
          </a:p>
          <a:p>
            <a:pPr algn="l" indent="0">
              <a:lnSpc>
                <a:spcPct val="125000"/>
              </a:lnSpc>
            </a:pPr>
            <a:r>
              <a:rPr lang="en-US" b="false" i="false" strike="noStrike" u="none" sz="1400">
                <a:solidFill>
                  <a:srgbClr val="9CA3AF"/>
                </a:solidFill>
                <a:latin typeface="Noto Sans SC"/>
                <a:ea typeface="Noto Sans SC"/>
                <a:cs typeface="Noto Sans SC"/>
                <a:sym typeface="Noto Sans SC"/>
              </a:rPr>
              <a:t>role:</a:t>
            </a:r>
            <a:r>
              <a:rPr lang="en-US" b="true" i="false" strike="noStrike" u="none" sz="1400">
                <a:solidFill>
                  <a:srgbClr val="FFFF00"/>
                </a:solidFill>
                <a:latin typeface="Noto Sans SC"/>
                <a:ea typeface="Noto Sans SC"/>
                <a:cs typeface="Noto Sans SC"/>
                <a:sym typeface="Noto Sans SC"/>
              </a:rPr>
              <a:t>"量化交易助手"</a:t>
            </a:r>
            <a:r>
              <a:rPr lang="en-US" b="false" i="false" strike="noStrike" u="none" sz="1400">
                <a:solidFill>
                  <a:srgbClr val="1F2329"/>
                </a:solidFill>
                <a:latin typeface="Noto Sans SC"/>
                <a:ea typeface="Noto Sans SC"/>
                <a:cs typeface="Noto Sans SC"/>
                <a:sym typeface="Noto Sans SC"/>
              </a:rPr>
              <a:t/>
            </a:r>
          </a:p>
          <a:p>
            <a:pPr algn="l" indent="0">
              <a:lnSpc>
                <a:spcPct val="125000"/>
              </a:lnSpc>
            </a:pPr>
            <a:r>
              <a:rPr lang="en-US" b="false" i="false" strike="noStrike" u="none" sz="1400">
                <a:solidFill>
                  <a:srgbClr val="9CA3AF"/>
                </a:solidFill>
                <a:latin typeface="Noto Sans SC"/>
                <a:ea typeface="Noto Sans SC"/>
                <a:cs typeface="Noto Sans SC"/>
                <a:sym typeface="Noto Sans SC"/>
              </a:rPr>
              <a:t>workspace: "~/.openclaw/workspace-trading"</a:t>
            </a:r>
            <a:r>
              <a:rPr lang="en-US" b="false" i="false" strike="noStrike" u="none" sz="1400">
                <a:solidFill>
                  <a:srgbClr val="1F2329"/>
                </a:solidFill>
                <a:latin typeface="Noto Sans SC"/>
                <a:ea typeface="Noto Sans SC"/>
                <a:cs typeface="Noto Sans SC"/>
                <a:sym typeface="Noto Sans SC"/>
              </a:rPr>
              <a:t/>
            </a:r>
          </a:p>
          <a:p>
            <a:pPr algn="l" indent="0">
              <a:lnSpc>
                <a:spcPct val="125000"/>
              </a:lnSpc>
            </a:pPr>
            <a:r>
              <a:rPr lang="en-US" b="false" i="false" strike="noStrike" u="none" sz="1400">
                <a:solidFill>
                  <a:srgbClr val="9CA3AF"/>
                </a:solidFill>
                <a:latin typeface="Noto Sans SC"/>
                <a:ea typeface="Noto Sans SC"/>
                <a:cs typeface="Noto Sans SC"/>
                <a:sym typeface="Noto Sans SC"/>
              </a:rPr>
              <a:t>model: "moonshot/kimi-k2.5"</a:t>
            </a:r>
            <a:r>
              <a:rPr lang="en-US" b="false" i="false" strike="noStrike" u="none" sz="1400">
                <a:solidFill>
                  <a:srgbClr val="1F2329"/>
                </a:solidFill>
                <a:latin typeface="Noto Sans SC"/>
                <a:ea typeface="Noto Sans SC"/>
                <a:cs typeface="Noto Sans SC"/>
                <a:sym typeface="Noto Sans SC"/>
              </a:rPr>
              <a:t/>
            </a:r>
          </a:p>
          <a:p>
            <a:pPr algn="l" indent="0">
              <a:lnSpc>
                <a:spcPct val="125000"/>
              </a:lnSpc>
            </a:pPr>
            <a:r>
              <a:rPr lang="en-US" b="false" i="false" strike="noStrike" u="none" sz="1400">
                <a:solidFill>
                  <a:srgbClr val="9CA3AF"/>
                </a:solidFill>
                <a:latin typeface="Noto Sans SC"/>
                <a:ea typeface="Noto Sans SC"/>
                <a:cs typeface="Noto Sans SC"/>
                <a:sym typeface="Noto Sans SC"/>
              </a:rPr>
              <a:t>skills:</a:t>
            </a:r>
            <a:r>
              <a:rPr lang="en-US" b="false" i="false" strike="noStrike" u="none" sz="1400">
                <a:solidFill>
                  <a:srgbClr val="1F2329"/>
                </a:solidFill>
                <a:latin typeface="Noto Sans SC"/>
                <a:ea typeface="Noto Sans SC"/>
                <a:cs typeface="Noto Sans SC"/>
                <a:sym typeface="Noto Sans SC"/>
              </a:rPr>
              <a:t/>
            </a:r>
          </a:p>
          <a:p>
            <a:pPr algn="l" indent="0">
              <a:lnSpc>
                <a:spcPct val="125000"/>
              </a:lnSpc>
            </a:pPr>
            <a:r>
              <a:rPr lang="en-US" b="false" i="false" strike="noStrike" u="none" sz="1400">
                <a:solidFill>
                  <a:srgbClr val="9CA3AF"/>
                </a:solidFill>
                <a:latin typeface="Noto Sans SC"/>
                <a:ea typeface="Noto Sans SC"/>
                <a:cs typeface="Noto Sans SC"/>
                <a:sym typeface="Noto Sans SC"/>
              </a:rPr>
              <a:t>- 数据分析与策略执行</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0A0F1E">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A0F1E">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1016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responsibilities vs skills</a:t>
            </a:r>
            <a:endParaRPr lang="en-US" sz="1100"/>
          </a:p>
        </p:txBody>
      </p:sp>
      <p:sp>
        <p:nvSpPr>
          <p:cNvPr name="AutoShape 4" id="4"/>
          <p:cNvSpPr/>
          <p:nvPr/>
        </p:nvSpPr>
        <p:spPr>
          <a:xfrm rot="0" flipH="false" flipV="false">
            <a:off x="762000" y="2032000"/>
            <a:ext cx="5080000" cy="3302000"/>
          </a:xfrm>
          <a:prstGeom prst="roundRect">
            <a:avLst>
              <a:gd name="adj" fmla="val 3846"/>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16000" y="2286000"/>
            <a:ext cx="406400" cy="406400"/>
          </a:xfrm>
          <a:prstGeom prst="rect">
            <a:avLst/>
          </a:prstGeom>
        </p:spPr>
      </p:pic>
      <p:sp>
        <p:nvSpPr>
          <p:cNvPr name="AutoShape 6" id="6"/>
          <p:cNvSpPr/>
          <p:nvPr/>
        </p:nvSpPr>
        <p:spPr>
          <a:xfrm rot="0" flipH="false" flipV="false">
            <a:off x="1524000" y="2286000"/>
            <a:ext cx="381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Responsibilities (职责)</a:t>
            </a:r>
            <a:endParaRPr lang="en-US" sz="1100"/>
          </a:p>
        </p:txBody>
      </p:sp>
      <p:cxnSp>
        <p:nvCxnSpPr>
          <p:cNvPr name="Connector 7" id="7"/>
          <p:cNvCxnSpPr/>
          <p:nvPr/>
        </p:nvCxnSpPr>
        <p:spPr>
          <a:xfrm rot="-9549" flipH="false" flipV="false">
            <a:off x="1016009" y="2787650"/>
            <a:ext cx="4572000" cy="12700"/>
          </a:xfrm>
          <a:prstGeom prst="straightConnector1">
            <a:avLst/>
          </a:prstGeom>
          <a:solidFill>
            <a:srgbClr val="DEE0E3">
              <a:alpha val="100000"/>
            </a:srgbClr>
          </a:solidFill>
          <a:ln w="12700" cmpd="sng" cap="flat">
            <a:solidFill>
              <a:srgbClr val="FFFFFF">
                <a:alpha val="20000"/>
              </a:srgbClr>
            </a:solidFill>
            <a:prstDash val="solid"/>
            <a:round/>
            <a:headEnd type="none" w="med" len="med"/>
            <a:tailEnd type="none" w="med" len="med"/>
          </a:ln>
        </p:spPr>
      </p:cxnSp>
      <p:sp>
        <p:nvSpPr>
          <p:cNvPr name="AutoShape 8" id="8"/>
          <p:cNvSpPr/>
          <p:nvPr/>
        </p:nvSpPr>
        <p:spPr>
          <a:xfrm rot="0" flipH="false" flipV="false">
            <a:off x="1016000" y="2921000"/>
            <a:ext cx="4572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C8C8C8"/>
                </a:solidFill>
                <a:latin typeface="Noto Sans SC"/>
                <a:ea typeface="Noto Sans SC"/>
                <a:cs typeface="Noto Sans SC"/>
                <a:sym typeface="Noto Sans SC"/>
              </a:rPr>
              <a:t>核心定义：</a:t>
            </a:r>
            <a:r>
              <a:rPr lang="en-US" b="true" i="false" strike="noStrike" u="none" sz="1600">
                <a:solidFill>
                  <a:srgbClr val="FFFF00"/>
                </a:solidFill>
                <a:latin typeface="Noto Sans SC"/>
                <a:ea typeface="Noto Sans SC"/>
                <a:cs typeface="Noto Sans SC"/>
                <a:sym typeface="Noto Sans SC"/>
              </a:rPr>
              <a:t>“做什么” —— 职责范围</a:t>
            </a:r>
            <a:endParaRPr lang="en-US" sz="1100"/>
          </a:p>
        </p:txBody>
      </p:sp>
      <p:sp>
        <p:nvSpPr>
          <p:cNvPr name="AutoShape 9" id="9"/>
          <p:cNvSpPr/>
          <p:nvPr/>
        </p:nvSpPr>
        <p:spPr>
          <a:xfrm rot="0" flipH="false" flipV="false">
            <a:off x="1016000" y="3365500"/>
            <a:ext cx="4572000" cy="1270000"/>
          </a:xfrm>
          <a:prstGeom prst="rect">
            <a:avLst/>
          </a:prstGeom>
          <a:noFill/>
          <a:ln w="12700" cmpd="sng" cap="flat">
            <a:noFill/>
            <a:prstDash val="solid"/>
            <a:round/>
          </a:ln>
        </p:spPr>
        <p:txBody>
          <a:bodyPr anchor="ctr" rtlCol="false" anchorCtr="false" vert="horz" wrap="square" lIns="0" rIns="0" tIns="0" bIns="0"/>
          <a:lstStyle/>
          <a:p>
            <a:pPr algn="l" indent="-177800" marL="177800">
              <a:lnSpc>
                <a:spcPct val="125000"/>
              </a:lnSpc>
              <a:buClr>
                <a:srgbClr val="DCDCDC"/>
              </a:buClr>
              <a:buChar char="•"/>
              <a:defRPr/>
            </a:pPr>
            <a:r>
              <a:rPr lang="en-US" b="false" i="false" strike="noStrike" u="none" sz="1400">
                <a:solidFill>
                  <a:srgbClr val="DCDCDC"/>
                </a:solidFill>
                <a:latin typeface="Noto Sans SC"/>
                <a:ea typeface="Noto Sans SC"/>
                <a:cs typeface="Noto Sans SC"/>
                <a:sym typeface="Noto Sans SC"/>
              </a:rPr>
              <a:t>加密货币量化策略制定</a:t>
            </a:r>
            <a:r>
              <a:rPr lang="en-US" b="false" i="false" strike="noStrike" u="none" sz="1400">
                <a:solidFill>
                  <a:srgbClr val="DCDCDC"/>
                </a:solidFill>
                <a:latin typeface="Noto Sans SC"/>
                <a:ea typeface="Noto Sans SC"/>
                <a:cs typeface="Noto Sans SC"/>
                <a:sym typeface="Noto Sans SC"/>
              </a:rPr>
              <a:t/>
            </a:r>
            <a:endParaRPr lang="en-US" sz="1100"/>
          </a:p>
          <a:p>
            <a:pPr algn="l" indent="-177800" marL="177800">
              <a:lnSpc>
                <a:spcPct val="125000"/>
              </a:lnSpc>
              <a:buClr>
                <a:srgbClr val="DCDCDC"/>
              </a:buClr>
              <a:buChar char="•"/>
            </a:pPr>
            <a:r>
              <a:rPr lang="en-US" b="false" i="false" strike="noStrike" u="none" sz="1400">
                <a:solidFill>
                  <a:srgbClr val="DCDCDC"/>
                </a:solidFill>
                <a:latin typeface="Noto Sans SC"/>
                <a:ea typeface="Noto Sans SC"/>
                <a:cs typeface="Noto Sans SC"/>
                <a:sym typeface="Noto Sans SC"/>
              </a:rPr>
              <a:t>投资组合风险管理</a:t>
            </a:r>
            <a:r>
              <a:rPr lang="en-US" b="false" i="false" strike="noStrike" u="none" sz="1400">
                <a:solidFill>
                  <a:srgbClr val="DCDCDC"/>
                </a:solidFill>
                <a:latin typeface="Noto Sans SC"/>
                <a:ea typeface="Noto Sans SC"/>
                <a:cs typeface="Noto Sans SC"/>
                <a:sym typeface="Noto Sans SC"/>
              </a:rPr>
              <a:t/>
            </a:r>
          </a:p>
          <a:p>
            <a:pPr algn="l" indent="-177800" marL="177800">
              <a:lnSpc>
                <a:spcPct val="125000"/>
              </a:lnSpc>
              <a:buClr>
                <a:srgbClr val="DCDCDC"/>
              </a:buClr>
              <a:buChar char="•"/>
            </a:pPr>
            <a:r>
              <a:rPr lang="en-US" b="false" i="false" strike="noStrike" u="none" sz="1400">
                <a:solidFill>
                  <a:srgbClr val="DCDCDC"/>
                </a:solidFill>
                <a:latin typeface="Noto Sans SC"/>
                <a:ea typeface="Noto Sans SC"/>
                <a:cs typeface="Noto Sans SC"/>
                <a:sym typeface="Noto Sans SC"/>
              </a:rPr>
              <a:t>实时交易监控与异常处理</a:t>
            </a:r>
          </a:p>
        </p:txBody>
      </p:sp>
      <p:sp>
        <p:nvSpPr>
          <p:cNvPr name="AutoShape 10" id="10"/>
          <p:cNvSpPr/>
          <p:nvPr/>
        </p:nvSpPr>
        <p:spPr>
          <a:xfrm rot="0" flipH="false" flipV="false">
            <a:off x="6350000" y="2032000"/>
            <a:ext cx="5080000" cy="3302000"/>
          </a:xfrm>
          <a:prstGeom prst="roundRect">
            <a:avLst>
              <a:gd name="adj" fmla="val 3846"/>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6604000" y="2286000"/>
            <a:ext cx="406400" cy="406400"/>
          </a:xfrm>
          <a:prstGeom prst="rect">
            <a:avLst/>
          </a:prstGeom>
        </p:spPr>
      </p:pic>
      <p:sp>
        <p:nvSpPr>
          <p:cNvPr name="AutoShape 12" id="12"/>
          <p:cNvSpPr/>
          <p:nvPr/>
        </p:nvSpPr>
        <p:spPr>
          <a:xfrm rot="0" flipH="false" flipV="false">
            <a:off x="7112000" y="2286000"/>
            <a:ext cx="381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Skills (技能/工具)</a:t>
            </a:r>
            <a:endParaRPr lang="en-US" sz="1100"/>
          </a:p>
        </p:txBody>
      </p:sp>
      <p:cxnSp>
        <p:nvCxnSpPr>
          <p:cNvPr name="Connector 13" id="13"/>
          <p:cNvCxnSpPr/>
          <p:nvPr/>
        </p:nvCxnSpPr>
        <p:spPr>
          <a:xfrm rot="-9549" flipH="false" flipV="false">
            <a:off x="6604009" y="2787650"/>
            <a:ext cx="4572000" cy="12700"/>
          </a:xfrm>
          <a:prstGeom prst="straightConnector1">
            <a:avLst/>
          </a:prstGeom>
          <a:solidFill>
            <a:srgbClr val="DEE0E3">
              <a:alpha val="100000"/>
            </a:srgbClr>
          </a:solidFill>
          <a:ln w="12700" cmpd="sng" cap="flat">
            <a:solidFill>
              <a:srgbClr val="FFFFFF">
                <a:alpha val="20000"/>
              </a:srgbClr>
            </a:solidFill>
            <a:prstDash val="solid"/>
            <a:round/>
            <a:headEnd type="none" w="med" len="med"/>
            <a:tailEnd type="none" w="med" len="med"/>
          </a:ln>
        </p:spPr>
      </p:cxnSp>
      <p:sp>
        <p:nvSpPr>
          <p:cNvPr name="AutoShape 14" id="14"/>
          <p:cNvSpPr/>
          <p:nvPr/>
        </p:nvSpPr>
        <p:spPr>
          <a:xfrm rot="0" flipH="false" flipV="false">
            <a:off x="6604000" y="2921000"/>
            <a:ext cx="4572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C8C8C8"/>
                </a:solidFill>
                <a:latin typeface="Noto Sans SC"/>
                <a:ea typeface="Noto Sans SC"/>
                <a:cs typeface="Noto Sans SC"/>
                <a:sym typeface="Noto Sans SC"/>
              </a:rPr>
              <a:t>核心定义：</a:t>
            </a:r>
            <a:r>
              <a:rPr lang="en-US" b="true" i="false" strike="noStrike" u="none" sz="1600">
                <a:solidFill>
                  <a:srgbClr val="FFFF00"/>
                </a:solidFill>
                <a:latin typeface="Noto Sans SC"/>
                <a:ea typeface="Noto Sans SC"/>
                <a:cs typeface="Noto Sans SC"/>
                <a:sym typeface="Noto Sans SC"/>
              </a:rPr>
              <a:t>“用什么” —— 具体工具</a:t>
            </a:r>
            <a:endParaRPr lang="en-US" sz="1100"/>
          </a:p>
        </p:txBody>
      </p:sp>
      <p:sp>
        <p:nvSpPr>
          <p:cNvPr name="AutoShape 15" id="15"/>
          <p:cNvSpPr/>
          <p:nvPr/>
        </p:nvSpPr>
        <p:spPr>
          <a:xfrm rot="0" flipH="false" flipV="false">
            <a:off x="6604000" y="3365500"/>
            <a:ext cx="4572000" cy="1270000"/>
          </a:xfrm>
          <a:prstGeom prst="rect">
            <a:avLst/>
          </a:prstGeom>
          <a:noFill/>
          <a:ln w="12700" cmpd="sng" cap="flat">
            <a:noFill/>
            <a:prstDash val="solid"/>
            <a:round/>
          </a:ln>
        </p:spPr>
        <p:txBody>
          <a:bodyPr anchor="ctr" rtlCol="false" anchorCtr="false" vert="horz" wrap="square" lIns="0" rIns="0" tIns="0" bIns="0"/>
          <a:lstStyle/>
          <a:p>
            <a:pPr algn="l" indent="-177800" marL="177800">
              <a:lnSpc>
                <a:spcPct val="125000"/>
              </a:lnSpc>
              <a:buClr>
                <a:srgbClr val="DCDCDC"/>
              </a:buClr>
              <a:buChar char="•"/>
              <a:defRPr/>
            </a:pPr>
            <a:r>
              <a:rPr lang="en-US" b="false" i="false" strike="noStrike" u="none" sz="1400">
                <a:solidFill>
                  <a:srgbClr val="DCDCDC"/>
                </a:solidFill>
                <a:latin typeface="Noto Sans SC"/>
                <a:ea typeface="Noto Sans SC"/>
                <a:cs typeface="Noto Sans SC"/>
                <a:sym typeface="Noto Sans SC"/>
              </a:rPr>
              <a:t>熟练使用 Binance Pro API</a:t>
            </a:r>
            <a:r>
              <a:rPr lang="en-US" b="false" i="false" strike="noStrike" u="none" sz="1400">
                <a:solidFill>
                  <a:srgbClr val="DCDCDC"/>
                </a:solidFill>
                <a:latin typeface="Noto Sans SC"/>
                <a:ea typeface="Noto Sans SC"/>
                <a:cs typeface="Noto Sans SC"/>
                <a:sym typeface="Noto Sans SC"/>
              </a:rPr>
              <a:t/>
            </a:r>
            <a:endParaRPr lang="en-US" sz="1100"/>
          </a:p>
          <a:p>
            <a:pPr algn="l" indent="-177800" marL="177800">
              <a:lnSpc>
                <a:spcPct val="125000"/>
              </a:lnSpc>
              <a:buClr>
                <a:srgbClr val="DCDCDC"/>
              </a:buClr>
              <a:buChar char="•"/>
            </a:pPr>
            <a:r>
              <a:rPr lang="en-US" b="false" i="false" strike="noStrike" u="none" sz="1400">
                <a:solidFill>
                  <a:srgbClr val="DCDCDC"/>
                </a:solidFill>
                <a:latin typeface="Noto Sans SC"/>
                <a:ea typeface="Noto Sans SC"/>
                <a:cs typeface="Noto Sans SC"/>
                <a:sym typeface="Noto Sans SC"/>
              </a:rPr>
              <a:t>Polymarket 数据分析能力</a:t>
            </a:r>
            <a:r>
              <a:rPr lang="en-US" b="false" i="false" strike="noStrike" u="none" sz="1400">
                <a:solidFill>
                  <a:srgbClr val="DCDCDC"/>
                </a:solidFill>
                <a:latin typeface="Noto Sans SC"/>
                <a:ea typeface="Noto Sans SC"/>
                <a:cs typeface="Noto Sans SC"/>
                <a:sym typeface="Noto Sans SC"/>
              </a:rPr>
              <a:t/>
            </a:r>
          </a:p>
          <a:p>
            <a:pPr algn="l" indent="-177800" marL="177800">
              <a:lnSpc>
                <a:spcPct val="125000"/>
              </a:lnSpc>
              <a:buClr>
                <a:srgbClr val="DCDCDC"/>
              </a:buClr>
              <a:buChar char="•"/>
            </a:pPr>
            <a:r>
              <a:rPr lang="en-US" b="false" i="false" strike="noStrike" u="none" sz="1400">
                <a:solidFill>
                  <a:srgbClr val="DCDCDC"/>
                </a:solidFill>
                <a:latin typeface="Noto Sans SC"/>
                <a:ea typeface="Noto Sans SC"/>
                <a:cs typeface="Noto Sans SC"/>
                <a:sym typeface="Noto Sans SC"/>
              </a:rPr>
              <a:t>Python 量化交易脚本编写</a:t>
            </a:r>
          </a:p>
        </p:txBody>
      </p:sp>
      <p:sp>
        <p:nvSpPr>
          <p:cNvPr name="AutoShape 16" id="16"/>
          <p:cNvSpPr/>
          <p:nvPr/>
        </p:nvSpPr>
        <p:spPr>
          <a:xfrm rot="0" flipH="false" flipV="false">
            <a:off x="762000" y="5588000"/>
            <a:ext cx="10668000" cy="762000"/>
          </a:xfrm>
          <a:prstGeom prst="roundRect">
            <a:avLst>
              <a:gd name="adj" fmla="val 16666"/>
            </a:avLst>
          </a:prstGeom>
          <a:solidFill>
            <a:srgbClr val="00BFFF">
              <a:alpha val="15000"/>
            </a:srgbClr>
          </a:solidFill>
          <a:ln w="12700" cmpd="sng" cap="flat">
            <a:solidFill>
              <a:srgbClr val="00BFFF">
                <a:alpha val="50000"/>
              </a:srgbClr>
            </a:solidFill>
            <a:prstDash val="solid"/>
            <a:round/>
          </a:ln>
        </p:spPr>
        <p:txBody>
          <a:bodyPr anchor="ctr" rtlCol="false" vert="horz" wrap="square" lIns="63500" rIns="63500" tIns="63500" bIns="63500"/>
          <a:lstStyle/>
          <a:p>
            <a:pPr algn="ctr">
              <a:defRPr/>
            </a:pPr>
            <a:endParaRPr/>
          </a:p>
        </p:txBody>
      </p:sp>
      <p:pic>
        <p:nvPicPr>
          <p:cNvPr name="Picture 17" id="17"/>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1016000" y="5816600"/>
            <a:ext cx="304800" cy="304800"/>
          </a:xfrm>
          <a:prstGeom prst="rect">
            <a:avLst/>
          </a:prstGeom>
        </p:spPr>
      </p:pic>
      <p:sp>
        <p:nvSpPr>
          <p:cNvPr name="AutoShape 18" id="18"/>
          <p:cNvSpPr/>
          <p:nvPr/>
        </p:nvSpPr>
        <p:spPr>
          <a:xfrm rot="0" flipH="false" flipV="false">
            <a:off x="1397000" y="5778500"/>
            <a:ext cx="9906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solidFill>
                <a:latin typeface="Noto Sans SC"/>
                <a:ea typeface="Noto Sans SC"/>
                <a:cs typeface="Noto Sans SC"/>
                <a:sym typeface="Noto Sans SC"/>
              </a:rPr>
              <a:t>总结：Responsibilities 是 Agent 的任务清单，Skills 是完成任务所需的工具箱。</a:t>
            </a:r>
            <a:endParaRPr lang="en-US" sz="1100"/>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0A0F1E">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A1428">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1016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Agent设计三原则</a:t>
            </a:r>
            <a:endParaRPr lang="en-US" sz="1100"/>
          </a:p>
        </p:txBody>
      </p:sp>
      <p:sp>
        <p:nvSpPr>
          <p:cNvPr name="AutoShape 4" id="4"/>
          <p:cNvSpPr/>
          <p:nvPr/>
        </p:nvSpPr>
        <p:spPr>
          <a:xfrm rot="0" flipH="false" flipV="false">
            <a:off x="762000" y="2032000"/>
            <a:ext cx="3302000" cy="3556000"/>
          </a:xfrm>
          <a:prstGeom prst="roundRect">
            <a:avLst>
              <a:gd name="adj" fmla="val 3846"/>
            </a:avLst>
          </a:prstGeom>
          <a:solidFill>
            <a:srgbClr val="FFFFFF">
              <a:alpha val="5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66800" y="2336800"/>
            <a:ext cx="609600" cy="609600"/>
          </a:xfrm>
          <a:prstGeom prst="rect">
            <a:avLst/>
          </a:prstGeom>
        </p:spPr>
      </p:pic>
      <p:sp>
        <p:nvSpPr>
          <p:cNvPr name="AutoShape 6" id="6"/>
          <p:cNvSpPr/>
          <p:nvPr/>
        </p:nvSpPr>
        <p:spPr>
          <a:xfrm rot="0" flipH="false" flipV="false">
            <a:off x="1066800" y="3048000"/>
            <a:ext cx="26924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数量要克制</a:t>
            </a:r>
            <a:endParaRPr lang="en-US" sz="1100"/>
          </a:p>
        </p:txBody>
      </p:sp>
      <p:cxnSp>
        <p:nvCxnSpPr>
          <p:cNvPr name="Connector 7" id="7"/>
          <p:cNvCxnSpPr/>
          <p:nvPr/>
        </p:nvCxnSpPr>
        <p:spPr>
          <a:xfrm rot="-16215" flipH="false" flipV="false">
            <a:off x="1066815" y="3486150"/>
            <a:ext cx="2692400" cy="12700"/>
          </a:xfrm>
          <a:prstGeom prst="straightConnector1">
            <a:avLst/>
          </a:prstGeom>
          <a:solidFill>
            <a:srgbClr val="DEE0E3">
              <a:alpha val="100000"/>
            </a:srgbClr>
          </a:solidFill>
          <a:ln w="12700" cmpd="sng" cap="flat">
            <a:solidFill>
              <a:srgbClr val="FFFFFF">
                <a:alpha val="20000"/>
              </a:srgbClr>
            </a:solidFill>
            <a:prstDash val="solid"/>
            <a:round/>
            <a:headEnd type="none" w="med" len="med"/>
            <a:tailEnd type="none" w="med" len="med"/>
          </a:ln>
        </p:spPr>
      </p:cxnSp>
      <p:sp>
        <p:nvSpPr>
          <p:cNvPr name="AutoShape 8" id="8"/>
          <p:cNvSpPr/>
          <p:nvPr/>
        </p:nvSpPr>
        <p:spPr>
          <a:xfrm rot="0" flipH="false" flipV="false">
            <a:off x="1066800" y="3619500"/>
            <a:ext cx="2692400" cy="1524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80000"/>
                  </a:srgbClr>
                </a:solidFill>
                <a:latin typeface="Noto Sans SC"/>
                <a:ea typeface="Noto Sans SC"/>
                <a:cs typeface="Noto Sans SC"/>
                <a:sym typeface="Noto Sans SC"/>
              </a:rPr>
              <a:t>从3个核心Agent起步，避免过度设计。根据实际业务需求，逐步扩展至8个以内。</a:t>
            </a:r>
            <a:endParaRPr lang="en-US" sz="1100"/>
          </a:p>
        </p:txBody>
      </p:sp>
      <p:sp>
        <p:nvSpPr>
          <p:cNvPr name="AutoShape 9" id="9"/>
          <p:cNvSpPr/>
          <p:nvPr/>
        </p:nvSpPr>
        <p:spPr>
          <a:xfrm rot="0" flipH="false" flipV="false">
            <a:off x="4445000" y="2032000"/>
            <a:ext cx="3302000" cy="3556000"/>
          </a:xfrm>
          <a:prstGeom prst="roundRect">
            <a:avLst>
              <a:gd name="adj" fmla="val 3846"/>
            </a:avLst>
          </a:prstGeom>
          <a:solidFill>
            <a:srgbClr val="FFFFFF">
              <a:alpha val="5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4749800" y="2336800"/>
            <a:ext cx="609600" cy="609600"/>
          </a:xfrm>
          <a:prstGeom prst="rect">
            <a:avLst/>
          </a:prstGeom>
        </p:spPr>
      </p:pic>
      <p:sp>
        <p:nvSpPr>
          <p:cNvPr name="AutoShape 11" id="11"/>
          <p:cNvSpPr/>
          <p:nvPr/>
        </p:nvSpPr>
        <p:spPr>
          <a:xfrm rot="0" flipH="false" flipV="false">
            <a:off x="4749800" y="3048000"/>
            <a:ext cx="26924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模型选择要匹配</a:t>
            </a:r>
            <a:endParaRPr lang="en-US" sz="1100"/>
          </a:p>
        </p:txBody>
      </p:sp>
      <p:cxnSp>
        <p:nvCxnSpPr>
          <p:cNvPr name="Connector 12" id="12"/>
          <p:cNvCxnSpPr/>
          <p:nvPr/>
        </p:nvCxnSpPr>
        <p:spPr>
          <a:xfrm rot="-16215" flipH="false" flipV="false">
            <a:off x="4749815" y="3486150"/>
            <a:ext cx="2692400" cy="12700"/>
          </a:xfrm>
          <a:prstGeom prst="straightConnector1">
            <a:avLst/>
          </a:prstGeom>
          <a:solidFill>
            <a:srgbClr val="DEE0E3">
              <a:alpha val="100000"/>
            </a:srgbClr>
          </a:solidFill>
          <a:ln w="12700" cmpd="sng" cap="flat">
            <a:solidFill>
              <a:srgbClr val="FFFFFF">
                <a:alpha val="20000"/>
              </a:srgbClr>
            </a:solidFill>
            <a:prstDash val="solid"/>
            <a:round/>
            <a:headEnd type="none" w="med" len="med"/>
            <a:tailEnd type="none" w="med" len="med"/>
          </a:ln>
        </p:spPr>
      </p:cxnSp>
      <p:sp>
        <p:nvSpPr>
          <p:cNvPr name="AutoShape 13" id="13"/>
          <p:cNvSpPr/>
          <p:nvPr/>
        </p:nvSpPr>
        <p:spPr>
          <a:xfrm rot="0" flipH="false" flipV="false">
            <a:off x="4749800" y="3619500"/>
            <a:ext cx="2692400" cy="1524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80000"/>
                  </a:srgbClr>
                </a:solidFill>
                <a:latin typeface="Noto Sans SC"/>
                <a:ea typeface="Noto Sans SC"/>
                <a:cs typeface="Noto Sans SC"/>
                <a:sym typeface="Noto Sans SC"/>
              </a:rPr>
              <a:t>根据任务类型选择合适的模型：代码Agent使用Claude，分析Agent使用Kimi，发挥各自优势。</a:t>
            </a:r>
            <a:endParaRPr lang="en-US" sz="1100"/>
          </a:p>
        </p:txBody>
      </p:sp>
      <p:sp>
        <p:nvSpPr>
          <p:cNvPr name="AutoShape 14" id="14"/>
          <p:cNvSpPr/>
          <p:nvPr/>
        </p:nvSpPr>
        <p:spPr>
          <a:xfrm rot="0" flipH="false" flipV="false">
            <a:off x="8128000" y="2032000"/>
            <a:ext cx="3302000" cy="3556000"/>
          </a:xfrm>
          <a:prstGeom prst="roundRect">
            <a:avLst>
              <a:gd name="adj" fmla="val 3846"/>
            </a:avLst>
          </a:prstGeom>
          <a:solidFill>
            <a:srgbClr val="FFFFFF">
              <a:alpha val="5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15" id="15"/>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8432800" y="2336800"/>
            <a:ext cx="609600" cy="609600"/>
          </a:xfrm>
          <a:prstGeom prst="rect">
            <a:avLst/>
          </a:prstGeom>
        </p:spPr>
      </p:pic>
      <p:sp>
        <p:nvSpPr>
          <p:cNvPr name="AutoShape 16" id="16"/>
          <p:cNvSpPr/>
          <p:nvPr/>
        </p:nvSpPr>
        <p:spPr>
          <a:xfrm rot="0" flipH="false" flipV="false">
            <a:off x="8432800" y="3048000"/>
            <a:ext cx="26924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职责边界要清晰</a:t>
            </a:r>
            <a:endParaRPr lang="en-US" sz="1100"/>
          </a:p>
        </p:txBody>
      </p:sp>
      <p:cxnSp>
        <p:nvCxnSpPr>
          <p:cNvPr name="Connector 17" id="17"/>
          <p:cNvCxnSpPr/>
          <p:nvPr/>
        </p:nvCxnSpPr>
        <p:spPr>
          <a:xfrm rot="-16215" flipH="false" flipV="false">
            <a:off x="8432815" y="3486150"/>
            <a:ext cx="2692400" cy="12700"/>
          </a:xfrm>
          <a:prstGeom prst="straightConnector1">
            <a:avLst/>
          </a:prstGeom>
          <a:solidFill>
            <a:srgbClr val="DEE0E3">
              <a:alpha val="100000"/>
            </a:srgbClr>
          </a:solidFill>
          <a:ln w="12700" cmpd="sng" cap="flat">
            <a:solidFill>
              <a:srgbClr val="FFFFFF">
                <a:alpha val="20000"/>
              </a:srgbClr>
            </a:solidFill>
            <a:prstDash val="solid"/>
            <a:round/>
            <a:headEnd type="none" w="med" len="med"/>
            <a:tailEnd type="none" w="med" len="med"/>
          </a:ln>
        </p:spPr>
      </p:cxnSp>
      <p:sp>
        <p:nvSpPr>
          <p:cNvPr name="AutoShape 18" id="18"/>
          <p:cNvSpPr/>
          <p:nvPr/>
        </p:nvSpPr>
        <p:spPr>
          <a:xfrm rot="0" flipH="false" flipV="false">
            <a:off x="8432800" y="3619500"/>
            <a:ext cx="2692400" cy="1524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80000"/>
                  </a:srgbClr>
                </a:solidFill>
                <a:latin typeface="Noto Sans SC"/>
                <a:ea typeface="Noto Sans SC"/>
                <a:cs typeface="Noto Sans SC"/>
                <a:sym typeface="Noto Sans SC"/>
              </a:rPr>
              <a:t>严格划分职责范围。若两个Agent的职责重叠超过30%，应考虑合并或重新规划边界。</a:t>
            </a:r>
            <a:endParaRPr lang="en-US" sz="1100"/>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0F172A">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F172A">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1016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发布订阅 vs 点对点</a:t>
            </a:r>
            <a:endParaRPr lang="en-US" sz="1100"/>
          </a:p>
        </p:txBody>
      </p:sp>
      <p:sp>
        <p:nvSpPr>
          <p:cNvPr name="AutoShape 4" id="4"/>
          <p:cNvSpPr/>
          <p:nvPr/>
        </p:nvSpPr>
        <p:spPr>
          <a:xfrm rot="0" flipH="false" flipV="false">
            <a:off x="762000" y="1714500"/>
            <a:ext cx="10668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800">
                <a:solidFill>
                  <a:srgbClr val="FFFFFF">
                    <a:alpha val="70196"/>
                  </a:srgbClr>
                </a:solidFill>
                <a:latin typeface="Noto Sans SC"/>
                <a:ea typeface="Noto Sans SC"/>
                <a:cs typeface="Noto Sans SC"/>
                <a:sym typeface="Noto Sans SC"/>
              </a:rPr>
              <a:t>模块 3.4 -- 通信机制对比与选型</a:t>
            </a:r>
            <a:endParaRPr lang="en-US" sz="1100"/>
          </a:p>
        </p:txBody>
      </p:sp>
      <p:sp>
        <p:nvSpPr>
          <p:cNvPr name="AutoShape 5" id="5"/>
          <p:cNvSpPr/>
          <p:nvPr/>
        </p:nvSpPr>
        <p:spPr>
          <a:xfrm rot="0" flipH="false" flipV="false">
            <a:off x="762000" y="2413000"/>
            <a:ext cx="5080000" cy="2286000"/>
          </a:xfrm>
          <a:prstGeom prst="roundRect">
            <a:avLst>
              <a:gd name="adj" fmla="val 5555"/>
            </a:avLst>
          </a:prstGeom>
          <a:solidFill>
            <a:srgbClr val="FFFFFF">
              <a:alpha val="8000"/>
            </a:srgbClr>
          </a:solidFill>
          <a:ln w="12700" cmpd="sng" cap="flat">
            <a:solidFill>
              <a:srgbClr val="FFFFFF">
                <a:alpha val="20000"/>
              </a:srgbClr>
            </a:solid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66800" y="2717800"/>
            <a:ext cx="406400" cy="406400"/>
          </a:xfrm>
          <a:prstGeom prst="rect">
            <a:avLst/>
          </a:prstGeom>
        </p:spPr>
      </p:pic>
      <p:sp>
        <p:nvSpPr>
          <p:cNvPr name="AutoShape 7" id="7"/>
          <p:cNvSpPr/>
          <p:nvPr/>
        </p:nvSpPr>
        <p:spPr>
          <a:xfrm rot="0" flipH="false" flipV="false">
            <a:off x="1574800" y="2717800"/>
            <a:ext cx="381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点对点通信 (P2P)</a:t>
            </a:r>
            <a:endParaRPr lang="en-US" sz="1100"/>
          </a:p>
        </p:txBody>
      </p:sp>
      <p:cxnSp>
        <p:nvCxnSpPr>
          <p:cNvPr name="Connector 8" id="8"/>
          <p:cNvCxnSpPr/>
          <p:nvPr/>
        </p:nvCxnSpPr>
        <p:spPr>
          <a:xfrm rot="-9766" flipH="false" flipV="false">
            <a:off x="1066809" y="3219450"/>
            <a:ext cx="4470400" cy="12700"/>
          </a:xfrm>
          <a:prstGeom prst="straightConnector1">
            <a:avLst/>
          </a:prstGeom>
          <a:solidFill>
            <a:srgbClr val="DEE0E3">
              <a:alpha val="100000"/>
            </a:srgbClr>
          </a:solidFill>
          <a:ln w="12700" cmpd="sng" cap="flat">
            <a:solidFill>
              <a:srgbClr val="FFFFFF">
                <a:alpha val="10000"/>
              </a:srgbClr>
            </a:solidFill>
            <a:prstDash val="solid"/>
            <a:round/>
            <a:headEnd type="none" w="med" len="med"/>
            <a:tailEnd type="none" w="med" len="med"/>
          </a:ln>
        </p:spPr>
      </p:cxnSp>
      <p:sp>
        <p:nvSpPr>
          <p:cNvPr name="AutoShape 9" id="9"/>
          <p:cNvSpPr/>
          <p:nvPr/>
        </p:nvSpPr>
        <p:spPr>
          <a:xfrm rot="0" flipH="false" flipV="false">
            <a:off x="1066800" y="3352800"/>
            <a:ext cx="4470400" cy="1016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E2E8F0">
                    <a:alpha val="80000"/>
                  </a:srgbClr>
                </a:solidFill>
                <a:latin typeface="Noto Sans SC"/>
                <a:ea typeface="Noto Sans SC"/>
                <a:cs typeface="Noto Sans SC"/>
                <a:sym typeface="Noto Sans SC"/>
              </a:rPr>
              <a:t>特点：节点间直接建立连接，随着节点增加，连接数呈指数级增长。</a:t>
            </a:r>
            <a:r>
              <a:rPr lang="en-US" b="false" i="false" strike="noStrike" u="none" sz="1400">
                <a:solidFill>
                  <a:srgbClr val="E2E8F0">
                    <a:alpha val="80000"/>
                  </a:srgbClr>
                </a:solidFill>
                <a:latin typeface="Noto Sans SC"/>
                <a:ea typeface="Noto Sans SC"/>
                <a:cs typeface="Noto Sans SC"/>
                <a:sym typeface="Noto Sans SC"/>
              </a:rPr>
              <a:t/>
            </a:r>
            <a:endParaRPr lang="en-US" sz="1100"/>
          </a:p>
          <a:p>
            <a:pPr algn="l" indent="0">
              <a:lnSpc>
                <a:spcPct val="125000"/>
              </a:lnSpc>
            </a:pPr>
            <a:r>
              <a:rPr lang="en-US" b="false" i="false" strike="noStrike" u="none" sz="1400">
                <a:solidFill>
                  <a:srgbClr val="E2E8F0">
                    <a:alpha val="80000"/>
                  </a:srgbClr>
                </a:solidFill>
                <a:latin typeface="Noto Sans SC"/>
                <a:ea typeface="Noto Sans SC"/>
                <a:cs typeface="Noto Sans SC"/>
                <a:sym typeface="Noto Sans SC"/>
              </a:rPr>
              <a:t>缺点：网络拓扑复杂，难以管理和扩展。</a:t>
            </a:r>
          </a:p>
        </p:txBody>
      </p:sp>
      <p:sp>
        <p:nvSpPr>
          <p:cNvPr name="AutoShape 10" id="10"/>
          <p:cNvSpPr/>
          <p:nvPr/>
        </p:nvSpPr>
        <p:spPr>
          <a:xfrm rot="0" flipH="false" flipV="false">
            <a:off x="6096000" y="2413000"/>
            <a:ext cx="5080000" cy="2286000"/>
          </a:xfrm>
          <a:prstGeom prst="roundRect">
            <a:avLst>
              <a:gd name="adj" fmla="val 5555"/>
            </a:avLst>
          </a:prstGeom>
          <a:solidFill>
            <a:srgbClr val="00BFFF">
              <a:alpha val="10000"/>
            </a:srgbClr>
          </a:solidFill>
          <a:ln w="12700" cmpd="sng" cap="flat">
            <a:solidFill>
              <a:srgbClr val="00BFFF">
                <a:alpha val="40000"/>
              </a:srgbClr>
            </a:solidFill>
            <a:prstDash val="solid"/>
            <a:round/>
          </a:ln>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6400800" y="2717800"/>
            <a:ext cx="406400" cy="406400"/>
          </a:xfrm>
          <a:prstGeom prst="rect">
            <a:avLst/>
          </a:prstGeom>
        </p:spPr>
      </p:pic>
      <p:sp>
        <p:nvSpPr>
          <p:cNvPr name="AutoShape 12" id="12"/>
          <p:cNvSpPr/>
          <p:nvPr/>
        </p:nvSpPr>
        <p:spPr>
          <a:xfrm rot="0" flipH="false" flipV="false">
            <a:off x="6908800" y="2717800"/>
            <a:ext cx="381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00BFFF"/>
                </a:solidFill>
                <a:latin typeface="Noto Sans SC"/>
                <a:ea typeface="Noto Sans SC"/>
                <a:cs typeface="Noto Sans SC"/>
                <a:sym typeface="Noto Sans SC"/>
              </a:rPr>
              <a:t>发布订阅 (Pub/Sub)</a:t>
            </a:r>
            <a:endParaRPr lang="en-US" sz="1100"/>
          </a:p>
        </p:txBody>
      </p:sp>
      <p:cxnSp>
        <p:nvCxnSpPr>
          <p:cNvPr name="Connector 13" id="13"/>
          <p:cNvCxnSpPr/>
          <p:nvPr/>
        </p:nvCxnSpPr>
        <p:spPr>
          <a:xfrm rot="-9766" flipH="false" flipV="false">
            <a:off x="6400809" y="3219450"/>
            <a:ext cx="4470400" cy="12700"/>
          </a:xfrm>
          <a:prstGeom prst="straightConnector1">
            <a:avLst/>
          </a:prstGeom>
          <a:solidFill>
            <a:srgbClr val="DEE0E3">
              <a:alpha val="100000"/>
            </a:srgbClr>
          </a:solidFill>
          <a:ln w="12700" cmpd="sng" cap="flat">
            <a:solidFill>
              <a:srgbClr val="00BFFF">
                <a:alpha val="30000"/>
              </a:srgbClr>
            </a:solidFill>
            <a:prstDash val="solid"/>
            <a:round/>
            <a:headEnd type="none" w="med" len="med"/>
            <a:tailEnd type="none" w="med" len="med"/>
          </a:ln>
        </p:spPr>
      </p:cxnSp>
      <p:sp>
        <p:nvSpPr>
          <p:cNvPr name="AutoShape 14" id="14"/>
          <p:cNvSpPr/>
          <p:nvPr/>
        </p:nvSpPr>
        <p:spPr>
          <a:xfrm rot="0" flipH="false" flipV="false">
            <a:off x="6400800" y="3352800"/>
            <a:ext cx="4470400" cy="1016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E2E8F0">
                    <a:alpha val="80000"/>
                  </a:srgbClr>
                </a:solidFill>
                <a:latin typeface="Noto Sans SC"/>
                <a:ea typeface="Noto Sans SC"/>
                <a:cs typeface="Noto Sans SC"/>
                <a:sym typeface="Noto Sans SC"/>
              </a:rPr>
              <a:t>特点：引入中间件，节点间解耦，结构清晰。</a:t>
            </a:r>
            <a:r>
              <a:rPr lang="en-US" b="false" i="false" strike="noStrike" u="none" sz="1400">
                <a:solidFill>
                  <a:srgbClr val="E2E8F0">
                    <a:alpha val="80000"/>
                  </a:srgbClr>
                </a:solidFill>
                <a:latin typeface="Noto Sans SC"/>
                <a:ea typeface="Noto Sans SC"/>
                <a:cs typeface="Noto Sans SC"/>
                <a:sym typeface="Noto Sans SC"/>
              </a:rPr>
              <a:t/>
            </a:r>
            <a:endParaRPr lang="en-US" sz="1100"/>
          </a:p>
          <a:p>
            <a:pPr algn="l" indent="0">
              <a:lnSpc>
                <a:spcPct val="125000"/>
              </a:lnSpc>
            </a:pPr>
            <a:r>
              <a:rPr lang="en-US" b="false" i="false" strike="noStrike" u="none" sz="1400">
                <a:solidFill>
                  <a:srgbClr val="E2E8F0">
                    <a:alpha val="80000"/>
                  </a:srgbClr>
                </a:solidFill>
                <a:latin typeface="Noto Sans SC"/>
                <a:ea typeface="Noto Sans SC"/>
                <a:cs typeface="Noto Sans SC"/>
                <a:sym typeface="Noto Sans SC"/>
              </a:rPr>
              <a:t>优点：连接数少，易于扩展和维护，适合大规模分布式系统。</a:t>
            </a:r>
          </a:p>
        </p:txBody>
      </p:sp>
      <p:sp>
        <p:nvSpPr>
          <p:cNvPr name="AutoShape 15" id="15"/>
          <p:cNvSpPr/>
          <p:nvPr/>
        </p:nvSpPr>
        <p:spPr>
          <a:xfrm rot="0" flipH="false" flipV="false">
            <a:off x="762000" y="4953000"/>
            <a:ext cx="10414000" cy="1270000"/>
          </a:xfrm>
          <a:prstGeom prst="roundRect">
            <a:avLst>
              <a:gd name="adj" fmla="val 10000"/>
            </a:avLst>
          </a:prstGeom>
          <a:solidFill>
            <a:srgbClr val="FFFFFF">
              <a:alpha val="5000"/>
            </a:srgbClr>
          </a:solidFill>
          <a:ln w="12700" cmpd="sng" cap="flat">
            <a:solidFill>
              <a:srgbClr val="FFFF00">
                <a:alpha val="30000"/>
              </a:srgbClr>
            </a:solidFill>
            <a:prstDash val="solid"/>
            <a:round/>
          </a:ln>
        </p:spPr>
        <p:txBody>
          <a:bodyPr anchor="ctr" rtlCol="false" vert="horz" wrap="square" lIns="63500" rIns="63500" tIns="63500" bIns="63500"/>
          <a:lstStyle/>
          <a:p>
            <a:pPr algn="ctr">
              <a:defRPr/>
            </a:pPr>
            <a:endParaRPr/>
          </a:p>
        </p:txBody>
      </p:sp>
      <p:pic>
        <p:nvPicPr>
          <p:cNvPr name="Picture 16" id="16"/>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1066800" y="5334000"/>
            <a:ext cx="508000" cy="508000"/>
          </a:xfrm>
          <a:prstGeom prst="rect">
            <a:avLst/>
          </a:prstGeom>
        </p:spPr>
      </p:pic>
      <p:sp>
        <p:nvSpPr>
          <p:cNvPr name="AutoShape 17" id="17"/>
          <p:cNvSpPr/>
          <p:nvPr/>
        </p:nvSpPr>
        <p:spPr>
          <a:xfrm rot="0" flipH="false" flipV="false">
            <a:off x="1701800" y="5270500"/>
            <a:ext cx="889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00"/>
                </a:solidFill>
                <a:latin typeface="Noto Sans SC"/>
                <a:ea typeface="Noto Sans SC"/>
                <a:cs typeface="Noto Sans SC"/>
                <a:sym typeface="Noto Sans SC"/>
              </a:rPr>
              <a:t>OpenClaw 技术选型</a:t>
            </a:r>
            <a:endParaRPr lang="en-US" sz="1100"/>
          </a:p>
        </p:txBody>
      </p:sp>
      <p:sp>
        <p:nvSpPr>
          <p:cNvPr name="AutoShape 18" id="18"/>
          <p:cNvSpPr/>
          <p:nvPr/>
        </p:nvSpPr>
        <p:spPr>
          <a:xfrm rot="0" flipH="false" flipV="false">
            <a:off x="1701800" y="5651500"/>
            <a:ext cx="8890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80000"/>
                  </a:srgbClr>
                </a:solidFill>
                <a:latin typeface="Noto Sans SC"/>
                <a:ea typeface="Noto Sans SC"/>
                <a:cs typeface="Noto Sans SC"/>
                <a:sym typeface="Noto Sans SC"/>
              </a:rPr>
              <a:t>采用</a:t>
            </a:r>
            <a:r>
              <a:rPr lang="en-US" b="true" i="false" strike="noStrike" u="none" sz="1400">
                <a:solidFill>
                  <a:srgbClr val="FFFF00"/>
                </a:solidFill>
                <a:latin typeface="Noto Sans SC"/>
                <a:ea typeface="Noto Sans SC"/>
                <a:cs typeface="Noto Sans SC"/>
                <a:sym typeface="Noto Sans SC"/>
              </a:rPr>
              <a:t>Pub/Sub</a:t>
            </a:r>
            <a:r>
              <a:rPr lang="en-US" b="false" i="false" strike="noStrike" u="none" sz="1400">
                <a:solidFill>
                  <a:srgbClr val="FFFFFF">
                    <a:alpha val="80000"/>
                  </a:srgbClr>
                </a:solidFill>
                <a:latin typeface="Noto Sans SC"/>
                <a:ea typeface="Noto Sans SC"/>
                <a:cs typeface="Noto Sans SC"/>
                <a:sym typeface="Noto Sans SC"/>
              </a:rPr>
              <a:t>模式，使用</a:t>
            </a:r>
            <a:r>
              <a:rPr lang="en-US" b="true" i="false" strike="noStrike" u="none" sz="1400">
                <a:solidFill>
                  <a:srgbClr val="FFFF00"/>
                </a:solidFill>
                <a:latin typeface="Noto Sans SC"/>
                <a:ea typeface="Noto Sans SC"/>
                <a:cs typeface="Noto Sans SC"/>
                <a:sym typeface="Noto Sans SC"/>
              </a:rPr>
              <a:t>Redis</a:t>
            </a:r>
            <a:r>
              <a:rPr lang="en-US" b="false" i="false" strike="noStrike" u="none" sz="1400">
                <a:solidFill>
                  <a:srgbClr val="FFFFFF">
                    <a:alpha val="80000"/>
                  </a:srgbClr>
                </a:solidFill>
                <a:latin typeface="Noto Sans SC"/>
                <a:ea typeface="Noto Sans SC"/>
                <a:cs typeface="Noto Sans SC"/>
                <a:sym typeface="Noto Sans SC"/>
              </a:rPr>
              <a:t>作为高性能消息中间件。</a:t>
            </a:r>
            <a:endParaRPr lang="en-US" sz="1100"/>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0A192F">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7812" b="7812"/>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A192F">
              <a:alpha val="9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762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发布订阅架构</a:t>
            </a:r>
            <a:endParaRPr lang="en-US" sz="1100"/>
          </a:p>
        </p:txBody>
      </p:sp>
      <p:sp>
        <p:nvSpPr>
          <p:cNvPr name="AutoShape 5" id="5"/>
          <p:cNvSpPr/>
          <p:nvPr/>
        </p:nvSpPr>
        <p:spPr>
          <a:xfrm rot="0" flipH="false" flipV="false">
            <a:off x="762000" y="1778000"/>
            <a:ext cx="5588000" cy="4318000"/>
          </a:xfrm>
          <a:prstGeom prst="roundRect">
            <a:avLst>
              <a:gd name="adj" fmla="val 2941"/>
            </a:avLst>
          </a:prstGeom>
          <a:solidFill>
            <a:srgbClr val="FFFFFF">
              <a:alpha val="5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2413000" y="3556000"/>
            <a:ext cx="2286000" cy="762000"/>
          </a:xfrm>
          <a:prstGeom prst="roundRect">
            <a:avLst>
              <a:gd name="adj" fmla="val 16666"/>
            </a:avLst>
          </a:prstGeom>
          <a:solidFill>
            <a:srgbClr val="00BFFF">
              <a:alpha val="20000"/>
            </a:srgbClr>
          </a:solidFill>
          <a:ln w="12700" cmpd="sng" cap="flat">
            <a:solidFill>
              <a:srgbClr val="00BFFF">
                <a:alpha val="100000"/>
              </a:srgbClr>
            </a:solidFill>
            <a:prstDash val="solid"/>
            <a:round/>
          </a:ln>
        </p:spPr>
        <p:txBody>
          <a:bodyPr anchor="ctr" rtlCol="false" vert="horz" wrap="square" lIns="63500" rIns="63500" tIns="63500" bIns="63500"/>
          <a:lstStyle/>
          <a:p>
            <a:pPr algn="ctr">
              <a:defRPr/>
            </a:pPr>
            <a:endParaRPr/>
          </a:p>
        </p:txBody>
      </p:sp>
      <p:pic>
        <p:nvPicPr>
          <p:cNvPr name="Picture 7" id="7"/>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2603500" y="3784600"/>
            <a:ext cx="304800" cy="304800"/>
          </a:xfrm>
          <a:prstGeom prst="rect">
            <a:avLst/>
          </a:prstGeom>
        </p:spPr>
      </p:pic>
      <p:sp>
        <p:nvSpPr>
          <p:cNvPr name="AutoShape 8" id="8"/>
          <p:cNvSpPr/>
          <p:nvPr/>
        </p:nvSpPr>
        <p:spPr>
          <a:xfrm rot="0" flipH="false" flipV="false">
            <a:off x="2984500" y="3746500"/>
            <a:ext cx="1651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Redis 消息总线</a:t>
            </a:r>
            <a:endParaRPr lang="en-US" sz="1100"/>
          </a:p>
        </p:txBody>
      </p:sp>
      <p:sp>
        <p:nvSpPr>
          <p:cNvPr name="AutoShape 9" id="9"/>
          <p:cNvSpPr/>
          <p:nvPr/>
        </p:nvSpPr>
        <p:spPr>
          <a:xfrm rot="0" flipH="false" flipV="false">
            <a:off x="1143000" y="2159000"/>
            <a:ext cx="1778000" cy="635000"/>
          </a:xfrm>
          <a:prstGeom prst="roundRect">
            <a:avLst>
              <a:gd name="adj" fmla="val 20000"/>
            </a:avLst>
          </a:prstGeom>
          <a:solidFill>
            <a:srgbClr val="FFFFFF">
              <a:alpha val="1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1333500" y="2349500"/>
            <a:ext cx="254000" cy="254000"/>
          </a:xfrm>
          <a:prstGeom prst="rect">
            <a:avLst/>
          </a:prstGeom>
        </p:spPr>
      </p:pic>
      <p:sp>
        <p:nvSpPr>
          <p:cNvPr name="AutoShape 11" id="11"/>
          <p:cNvSpPr/>
          <p:nvPr/>
        </p:nvSpPr>
        <p:spPr>
          <a:xfrm rot="0" flipH="false" flipV="false">
            <a:off x="1651000" y="2311400"/>
            <a:ext cx="127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DCDCDC"/>
                </a:solidFill>
                <a:latin typeface="Noto Sans SC"/>
                <a:ea typeface="Noto Sans SC"/>
                <a:cs typeface="Noto Sans SC"/>
                <a:sym typeface="Noto Sans SC"/>
              </a:rPr>
              <a:t>Agent A (Pub)</a:t>
            </a:r>
            <a:endParaRPr lang="en-US" sz="1100"/>
          </a:p>
        </p:txBody>
      </p:sp>
      <p:sp>
        <p:nvSpPr>
          <p:cNvPr name="AutoShape 12" id="12"/>
          <p:cNvSpPr/>
          <p:nvPr/>
        </p:nvSpPr>
        <p:spPr>
          <a:xfrm rot="0" flipH="false" flipV="false">
            <a:off x="1143000" y="3048000"/>
            <a:ext cx="1778000" cy="635000"/>
          </a:xfrm>
          <a:prstGeom prst="roundRect">
            <a:avLst>
              <a:gd name="adj" fmla="val 20000"/>
            </a:avLst>
          </a:prstGeom>
          <a:solidFill>
            <a:srgbClr val="FFFFFF">
              <a:alpha val="1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1333500" y="3238500"/>
            <a:ext cx="254000" cy="254000"/>
          </a:xfrm>
          <a:prstGeom prst="rect">
            <a:avLst/>
          </a:prstGeom>
        </p:spPr>
      </p:pic>
      <p:sp>
        <p:nvSpPr>
          <p:cNvPr name="AutoShape 14" id="14"/>
          <p:cNvSpPr/>
          <p:nvPr/>
        </p:nvSpPr>
        <p:spPr>
          <a:xfrm rot="0" flipH="false" flipV="false">
            <a:off x="1651000" y="3200400"/>
            <a:ext cx="127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DCDCDC"/>
                </a:solidFill>
                <a:latin typeface="Noto Sans SC"/>
                <a:ea typeface="Noto Sans SC"/>
                <a:cs typeface="Noto Sans SC"/>
                <a:sym typeface="Noto Sans SC"/>
              </a:rPr>
              <a:t>Agent B (Pub)</a:t>
            </a:r>
            <a:endParaRPr lang="en-US" sz="1100"/>
          </a:p>
        </p:txBody>
      </p:sp>
      <p:sp>
        <p:nvSpPr>
          <p:cNvPr name="AutoShape 15" id="15"/>
          <p:cNvSpPr/>
          <p:nvPr/>
        </p:nvSpPr>
        <p:spPr>
          <a:xfrm rot="0" flipH="false" flipV="false">
            <a:off x="4191000" y="2159000"/>
            <a:ext cx="1778000" cy="635000"/>
          </a:xfrm>
          <a:prstGeom prst="roundRect">
            <a:avLst>
              <a:gd name="adj" fmla="val 20000"/>
            </a:avLst>
          </a:prstGeom>
          <a:solidFill>
            <a:srgbClr val="FFFFFF">
              <a:alpha val="1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6" id="16"/>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4381500" y="2349500"/>
            <a:ext cx="254000" cy="254000"/>
          </a:xfrm>
          <a:prstGeom prst="rect">
            <a:avLst/>
          </a:prstGeom>
        </p:spPr>
      </p:pic>
      <p:sp>
        <p:nvSpPr>
          <p:cNvPr name="AutoShape 17" id="17"/>
          <p:cNvSpPr/>
          <p:nvPr/>
        </p:nvSpPr>
        <p:spPr>
          <a:xfrm rot="0" flipH="false" flipV="false">
            <a:off x="4699000" y="2311400"/>
            <a:ext cx="127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DCDCDC"/>
                </a:solidFill>
                <a:latin typeface="Noto Sans SC"/>
                <a:ea typeface="Noto Sans SC"/>
                <a:cs typeface="Noto Sans SC"/>
                <a:sym typeface="Noto Sans SC"/>
              </a:rPr>
              <a:t>Agent A (Sub)</a:t>
            </a:r>
            <a:endParaRPr lang="en-US" sz="1100"/>
          </a:p>
        </p:txBody>
      </p:sp>
      <p:sp>
        <p:nvSpPr>
          <p:cNvPr name="AutoShape 18" id="18"/>
          <p:cNvSpPr/>
          <p:nvPr/>
        </p:nvSpPr>
        <p:spPr>
          <a:xfrm rot="0" flipH="false" flipV="false">
            <a:off x="4191000" y="3048000"/>
            <a:ext cx="1778000" cy="635000"/>
          </a:xfrm>
          <a:prstGeom prst="roundRect">
            <a:avLst>
              <a:gd name="adj" fmla="val 20000"/>
            </a:avLst>
          </a:prstGeom>
          <a:solidFill>
            <a:srgbClr val="FFFFFF">
              <a:alpha val="1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9" id="19"/>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4381500" y="3238500"/>
            <a:ext cx="254000" cy="254000"/>
          </a:xfrm>
          <a:prstGeom prst="rect">
            <a:avLst/>
          </a:prstGeom>
        </p:spPr>
      </p:pic>
      <p:sp>
        <p:nvSpPr>
          <p:cNvPr name="AutoShape 20" id="20"/>
          <p:cNvSpPr/>
          <p:nvPr/>
        </p:nvSpPr>
        <p:spPr>
          <a:xfrm rot="0" flipH="false" flipV="false">
            <a:off x="4699000" y="3200400"/>
            <a:ext cx="127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DCDCDC"/>
                </a:solidFill>
                <a:latin typeface="Noto Sans SC"/>
                <a:ea typeface="Noto Sans SC"/>
                <a:cs typeface="Noto Sans SC"/>
                <a:sym typeface="Noto Sans SC"/>
              </a:rPr>
              <a:t>Agent B (Sub)</a:t>
            </a:r>
            <a:endParaRPr lang="en-US" sz="1100"/>
          </a:p>
        </p:txBody>
      </p:sp>
      <p:cxnSp>
        <p:nvCxnSpPr>
          <p:cNvPr name="Connector 21" id="21"/>
          <p:cNvCxnSpPr/>
          <p:nvPr/>
        </p:nvCxnSpPr>
        <p:spPr>
          <a:xfrm rot="3537208" flipH="false" flipV="false">
            <a:off x="2612308" y="3009928"/>
            <a:ext cx="1252416" cy="12700"/>
          </a:xfrm>
          <a:prstGeom prst="straightConnector1">
            <a:avLst/>
          </a:prstGeom>
          <a:solidFill>
            <a:srgbClr val="DEE0E3">
              <a:alpha val="100000"/>
            </a:srgbClr>
          </a:solidFill>
          <a:ln w="12700" cmpd="sng" cap="flat">
            <a:solidFill>
              <a:srgbClr val="00BFFF">
                <a:alpha val="50000"/>
              </a:srgbClr>
            </a:solidFill>
            <a:prstDash val="solid"/>
            <a:round/>
            <a:headEnd type="none" w="med" len="med"/>
            <a:tailEnd type="arrow" w="sm" len="sm"/>
          </a:ln>
        </p:spPr>
      </p:cxnSp>
      <p:cxnSp>
        <p:nvCxnSpPr>
          <p:cNvPr name="Connector 22" id="22"/>
          <p:cNvCxnSpPr/>
          <p:nvPr/>
        </p:nvCxnSpPr>
        <p:spPr>
          <a:xfrm rot="936107" flipH="false" flipV="false">
            <a:off x="2907079" y="3454417"/>
            <a:ext cx="662959" cy="12700"/>
          </a:xfrm>
          <a:prstGeom prst="straightConnector1">
            <a:avLst/>
          </a:prstGeom>
          <a:solidFill>
            <a:srgbClr val="DEE0E3">
              <a:alpha val="100000"/>
            </a:srgbClr>
          </a:solidFill>
          <a:ln w="12700" cmpd="sng" cap="flat">
            <a:solidFill>
              <a:srgbClr val="00BFFF">
                <a:alpha val="50000"/>
              </a:srgbClr>
            </a:solidFill>
            <a:prstDash val="solid"/>
            <a:round/>
            <a:headEnd type="none" w="med" len="med"/>
            <a:tailEnd type="arrow" w="sm" len="sm"/>
          </a:ln>
        </p:spPr>
      </p:cxnSp>
      <p:cxnSp>
        <p:nvCxnSpPr>
          <p:cNvPr name="Connector 23" id="23"/>
          <p:cNvCxnSpPr/>
          <p:nvPr/>
        </p:nvCxnSpPr>
        <p:spPr>
          <a:xfrm rot="-5131595" flipH="false" flipV="false">
            <a:off x="4029497" y="3200373"/>
            <a:ext cx="1466011" cy="12700"/>
          </a:xfrm>
          <a:prstGeom prst="straightConnector1">
            <a:avLst/>
          </a:prstGeom>
          <a:solidFill>
            <a:srgbClr val="DEE0E3">
              <a:alpha val="100000"/>
            </a:srgbClr>
          </a:solidFill>
          <a:ln w="12700" cmpd="sng" cap="flat">
            <a:solidFill>
              <a:srgbClr val="00BFFF">
                <a:alpha val="50000"/>
              </a:srgbClr>
            </a:solidFill>
            <a:prstDash val="solid"/>
            <a:round/>
            <a:headEnd type="none" w="med" len="med"/>
            <a:tailEnd type="arrow" w="sm" len="sm"/>
          </a:ln>
        </p:spPr>
      </p:cxnSp>
      <p:cxnSp>
        <p:nvCxnSpPr>
          <p:cNvPr name="Connector 24" id="24"/>
          <p:cNvCxnSpPr/>
          <p:nvPr/>
        </p:nvCxnSpPr>
        <p:spPr>
          <a:xfrm rot="-4722835" flipH="false" flipV="false">
            <a:off x="4469794" y="3644833"/>
            <a:ext cx="585441" cy="12700"/>
          </a:xfrm>
          <a:prstGeom prst="straightConnector1">
            <a:avLst/>
          </a:prstGeom>
          <a:solidFill>
            <a:srgbClr val="DEE0E3">
              <a:alpha val="100000"/>
            </a:srgbClr>
          </a:solidFill>
          <a:ln w="12700" cmpd="sng" cap="flat">
            <a:solidFill>
              <a:srgbClr val="00BFFF">
                <a:alpha val="50000"/>
              </a:srgbClr>
            </a:solidFill>
            <a:prstDash val="solid"/>
            <a:round/>
            <a:headEnd type="none" w="med" len="med"/>
            <a:tailEnd type="arrow" w="sm" len="sm"/>
          </a:ln>
        </p:spPr>
      </p:cxnSp>
      <p:sp>
        <p:nvSpPr>
          <p:cNvPr name="AutoShape 25" id="25"/>
          <p:cNvSpPr/>
          <p:nvPr/>
        </p:nvSpPr>
        <p:spPr>
          <a:xfrm rot="0" flipH="false" flipV="false">
            <a:off x="6604000" y="1778000"/>
            <a:ext cx="4826000" cy="1270000"/>
          </a:xfrm>
          <a:prstGeom prst="roundRect">
            <a:avLst>
              <a:gd name="adj" fmla="val 10000"/>
            </a:avLst>
          </a:prstGeom>
          <a:solidFill>
            <a:srgbClr val="FFFFFF">
              <a:alpha val="5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26" id="26"/>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6858000" y="1968500"/>
            <a:ext cx="406400" cy="406400"/>
          </a:xfrm>
          <a:prstGeom prst="rect">
            <a:avLst/>
          </a:prstGeom>
        </p:spPr>
      </p:pic>
      <p:sp>
        <p:nvSpPr>
          <p:cNvPr name="AutoShape 27" id="27"/>
          <p:cNvSpPr/>
          <p:nvPr/>
        </p:nvSpPr>
        <p:spPr>
          <a:xfrm rot="0" flipH="false" flipV="false">
            <a:off x="7366000" y="1968500"/>
            <a:ext cx="381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高扩展性 (Loose Coupling)</a:t>
            </a:r>
            <a:endParaRPr lang="en-US" sz="1100"/>
          </a:p>
        </p:txBody>
      </p:sp>
      <p:sp>
        <p:nvSpPr>
          <p:cNvPr name="AutoShape 28" id="28"/>
          <p:cNvSpPr/>
          <p:nvPr/>
        </p:nvSpPr>
        <p:spPr>
          <a:xfrm rot="0" flipH="false" flipV="false">
            <a:off x="7366000" y="2349500"/>
            <a:ext cx="3810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C8C8C8"/>
                </a:solidFill>
                <a:latin typeface="Noto Sans SC"/>
                <a:ea typeface="Noto Sans SC"/>
                <a:cs typeface="Noto Sans SC"/>
                <a:sym typeface="Noto Sans SC"/>
              </a:rPr>
              <a:t>所有Agent仅连接消息总线，新增Agent只需添加一条连接，无需修改现有系统。</a:t>
            </a:r>
            <a:endParaRPr lang="en-US" sz="1100"/>
          </a:p>
        </p:txBody>
      </p:sp>
      <p:sp>
        <p:nvSpPr>
          <p:cNvPr name="AutoShape 29" id="29"/>
          <p:cNvSpPr/>
          <p:nvPr/>
        </p:nvSpPr>
        <p:spPr>
          <a:xfrm rot="0" flipH="false" flipV="false">
            <a:off x="6604000" y="3302000"/>
            <a:ext cx="4826000" cy="1270000"/>
          </a:xfrm>
          <a:prstGeom prst="roundRect">
            <a:avLst>
              <a:gd name="adj" fmla="val 10000"/>
            </a:avLst>
          </a:prstGeom>
          <a:solidFill>
            <a:srgbClr val="FFFFFF">
              <a:alpha val="5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30" id="30"/>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6858000" y="3492500"/>
            <a:ext cx="406400" cy="406400"/>
          </a:xfrm>
          <a:prstGeom prst="rect">
            <a:avLst/>
          </a:prstGeom>
        </p:spPr>
      </p:pic>
      <p:sp>
        <p:nvSpPr>
          <p:cNvPr name="AutoShape 31" id="31"/>
          <p:cNvSpPr/>
          <p:nvPr/>
        </p:nvSpPr>
        <p:spPr>
          <a:xfrm rot="0" flipH="false" flipV="false">
            <a:off x="7366000" y="3492500"/>
            <a:ext cx="381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频道隔离机制 (Channel Isolation)</a:t>
            </a:r>
            <a:endParaRPr lang="en-US" sz="1100"/>
          </a:p>
        </p:txBody>
      </p:sp>
      <p:sp>
        <p:nvSpPr>
          <p:cNvPr name="AutoShape 32" id="32"/>
          <p:cNvSpPr/>
          <p:nvPr/>
        </p:nvSpPr>
        <p:spPr>
          <a:xfrm rot="0" flipH="false" flipV="false">
            <a:off x="7366000" y="3873500"/>
            <a:ext cx="3810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C8C8C8"/>
                </a:solidFill>
                <a:latin typeface="Noto Sans SC"/>
                <a:ea typeface="Noto Sans SC"/>
                <a:cs typeface="Noto Sans SC"/>
                <a:sym typeface="Noto Sans SC"/>
              </a:rPr>
              <a:t>通过不同频道（如 agent:trading, agent:frontend）隔离消息，确保通信有序。</a:t>
            </a:r>
            <a:endParaRPr lang="en-US" sz="1100"/>
          </a:p>
        </p:txBody>
      </p:sp>
      <p:sp>
        <p:nvSpPr>
          <p:cNvPr name="AutoShape 33" id="33"/>
          <p:cNvSpPr/>
          <p:nvPr/>
        </p:nvSpPr>
        <p:spPr>
          <a:xfrm rot="0" flipH="false" flipV="false">
            <a:off x="6604000" y="4826000"/>
            <a:ext cx="4826000" cy="1016000"/>
          </a:xfrm>
          <a:prstGeom prst="roundRect">
            <a:avLst>
              <a:gd name="adj" fmla="val 12500"/>
            </a:avLst>
          </a:prstGeom>
          <a:solidFill>
            <a:srgbClr val="00BFFF">
              <a:alpha val="1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4" id="34"/>
          <p:cNvSpPr/>
          <p:nvPr/>
        </p:nvSpPr>
        <p:spPr>
          <a:xfrm rot="0" flipH="false" flipV="false">
            <a:off x="6731000" y="4953000"/>
            <a:ext cx="4572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B4D2FF"/>
                </a:solidFill>
                <a:latin typeface="Noto Sans SC"/>
                <a:ea typeface="Noto Sans SC"/>
                <a:cs typeface="Noto Sans SC"/>
                <a:sym typeface="Noto Sans SC"/>
              </a:rPr>
              <a:t>核心价值：实现了发布者与订阅者的解耦，极大提升了系统的灵活性和可维护性。</a:t>
            </a:r>
            <a:endParaRPr lang="en-US" sz="1100"/>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0A192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A192F">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1016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send() 的双通道设计</a:t>
            </a:r>
            <a:endParaRPr lang="en-US" sz="1100"/>
          </a:p>
        </p:txBody>
      </p:sp>
      <p:sp>
        <p:nvSpPr>
          <p:cNvPr name="AutoShape 4" id="4"/>
          <p:cNvSpPr/>
          <p:nvPr/>
        </p:nvSpPr>
        <p:spPr>
          <a:xfrm rot="0" flipH="false" flipV="false">
            <a:off x="4191000" y="2032000"/>
            <a:ext cx="3810000" cy="889000"/>
          </a:xfrm>
          <a:prstGeom prst="roundRect">
            <a:avLst>
              <a:gd name="adj" fmla="val 14285"/>
            </a:avLst>
          </a:prstGeom>
          <a:solidFill>
            <a:srgbClr val="00BFFF">
              <a:alpha val="15000"/>
            </a:srgbClr>
          </a:solidFill>
          <a:ln w="25400" cmpd="sng" cap="flat">
            <a:solidFill>
              <a:srgbClr val="00BFFF">
                <a:alpha val="100000"/>
              </a:srgbClr>
            </a:solid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4445000" y="2273300"/>
            <a:ext cx="406400" cy="406400"/>
          </a:xfrm>
          <a:prstGeom prst="rect">
            <a:avLst/>
          </a:prstGeom>
        </p:spPr>
      </p:pic>
      <p:sp>
        <p:nvSpPr>
          <p:cNvPr name="AutoShape 6" id="6"/>
          <p:cNvSpPr/>
          <p:nvPr/>
        </p:nvSpPr>
        <p:spPr>
          <a:xfrm rot="0" flipH="false" flipV="false">
            <a:off x="4953000" y="2286000"/>
            <a:ext cx="2794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AgentBus.send(msg)</a:t>
            </a:r>
            <a:endParaRPr lang="en-US" sz="1100"/>
          </a:p>
        </p:txBody>
      </p:sp>
      <p:cxnSp>
        <p:nvCxnSpPr>
          <p:cNvPr name="Connector 7" id="7"/>
          <p:cNvCxnSpPr/>
          <p:nvPr/>
        </p:nvCxnSpPr>
        <p:spPr>
          <a:xfrm rot="5228255" flipH="false" flipV="false">
            <a:off x="5969000" y="3041809"/>
            <a:ext cx="254000" cy="12700"/>
          </a:xfrm>
          <a:prstGeom prst="straightConnector1">
            <a:avLst/>
          </a:prstGeom>
          <a:solidFill>
            <a:srgbClr val="DEE0E3">
              <a:alpha val="100000"/>
            </a:srgbClr>
          </a:solidFill>
          <a:ln w="25400" cmpd="sng" cap="flat">
            <a:solidFill>
              <a:srgbClr val="FFFFFF">
                <a:alpha val="50000"/>
              </a:srgbClr>
            </a:solidFill>
            <a:prstDash val="solid"/>
            <a:round/>
            <a:headEnd type="none" w="lg" len="lg"/>
            <a:tailEnd type="none" w="lg" len="lg"/>
          </a:ln>
        </p:spPr>
      </p:cxnSp>
      <p:cxnSp>
        <p:nvCxnSpPr>
          <p:cNvPr name="Connector 8" id="8"/>
          <p:cNvCxnSpPr/>
          <p:nvPr/>
        </p:nvCxnSpPr>
        <p:spPr>
          <a:xfrm rot="-7813" flipH="false" flipV="false">
            <a:off x="3302007" y="3168650"/>
            <a:ext cx="5588000" cy="12700"/>
          </a:xfrm>
          <a:prstGeom prst="straightConnector1">
            <a:avLst/>
          </a:prstGeom>
          <a:solidFill>
            <a:srgbClr val="DEE0E3">
              <a:alpha val="100000"/>
            </a:srgbClr>
          </a:solidFill>
          <a:ln w="25400" cmpd="sng" cap="flat">
            <a:solidFill>
              <a:srgbClr val="FFFFFF">
                <a:alpha val="50000"/>
              </a:srgbClr>
            </a:solidFill>
            <a:prstDash val="solid"/>
            <a:round/>
            <a:headEnd type="none" w="lg" len="lg"/>
            <a:tailEnd type="none" w="lg" len="lg"/>
          </a:ln>
        </p:spPr>
      </p:cxnSp>
      <p:cxnSp>
        <p:nvCxnSpPr>
          <p:cNvPr name="Connector 9" id="9"/>
          <p:cNvCxnSpPr/>
          <p:nvPr/>
        </p:nvCxnSpPr>
        <p:spPr>
          <a:xfrm rot="5228255" flipH="false" flipV="false">
            <a:off x="3175000" y="3295809"/>
            <a:ext cx="254000" cy="12700"/>
          </a:xfrm>
          <a:prstGeom prst="straightConnector1">
            <a:avLst/>
          </a:prstGeom>
          <a:solidFill>
            <a:srgbClr val="DEE0E3">
              <a:alpha val="100000"/>
            </a:srgbClr>
          </a:solidFill>
          <a:ln w="25400" cmpd="sng" cap="flat">
            <a:solidFill>
              <a:srgbClr val="FFFFFF">
                <a:alpha val="50000"/>
              </a:srgbClr>
            </a:solidFill>
            <a:prstDash val="solid"/>
            <a:round/>
            <a:headEnd type="none" w="lg" len="lg"/>
            <a:tailEnd type="none" w="lg" len="lg"/>
          </a:ln>
        </p:spPr>
      </p:cxnSp>
      <p:cxnSp>
        <p:nvCxnSpPr>
          <p:cNvPr name="Connector 10" id="10"/>
          <p:cNvCxnSpPr/>
          <p:nvPr/>
        </p:nvCxnSpPr>
        <p:spPr>
          <a:xfrm rot="5228255" flipH="false" flipV="false">
            <a:off x="8763000" y="3295809"/>
            <a:ext cx="254000" cy="12700"/>
          </a:xfrm>
          <a:prstGeom prst="straightConnector1">
            <a:avLst/>
          </a:prstGeom>
          <a:solidFill>
            <a:srgbClr val="DEE0E3">
              <a:alpha val="100000"/>
            </a:srgbClr>
          </a:solidFill>
          <a:ln w="25400" cmpd="sng" cap="flat">
            <a:solidFill>
              <a:srgbClr val="FFFFFF">
                <a:alpha val="50000"/>
              </a:srgbClr>
            </a:solidFill>
            <a:prstDash val="solid"/>
            <a:round/>
            <a:headEnd type="none" w="lg" len="lg"/>
            <a:tailEnd type="none" w="lg" len="lg"/>
          </a:ln>
        </p:spPr>
      </p:cxnSp>
      <p:sp>
        <p:nvSpPr>
          <p:cNvPr name="AutoShape 11" id="11"/>
          <p:cNvSpPr/>
          <p:nvPr/>
        </p:nvSpPr>
        <p:spPr>
          <a:xfrm rot="0" flipH="false" flipV="false">
            <a:off x="762000" y="3429000"/>
            <a:ext cx="4572000" cy="1524000"/>
          </a:xfrm>
          <a:prstGeom prst="roundRect">
            <a:avLst>
              <a:gd name="adj" fmla="val 8333"/>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12" id="12"/>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1016000" y="3683000"/>
            <a:ext cx="508000" cy="508000"/>
          </a:xfrm>
          <a:prstGeom prst="rect">
            <a:avLst/>
          </a:prstGeom>
        </p:spPr>
      </p:pic>
      <p:sp>
        <p:nvSpPr>
          <p:cNvPr name="AutoShape 13" id="13"/>
          <p:cNvSpPr/>
          <p:nvPr/>
        </p:nvSpPr>
        <p:spPr>
          <a:xfrm rot="0" flipH="false" flipV="false">
            <a:off x="1651000" y="3683000"/>
            <a:ext cx="3556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通道 1: Redis Pub/Sub</a:t>
            </a:r>
            <a:endParaRPr lang="en-US" sz="1100"/>
          </a:p>
        </p:txBody>
      </p:sp>
      <p:sp>
        <p:nvSpPr>
          <p:cNvPr name="AutoShape 14" id="14"/>
          <p:cNvSpPr/>
          <p:nvPr/>
        </p:nvSpPr>
        <p:spPr>
          <a:xfrm rot="0" flipH="false" flipV="false">
            <a:off x="1651000" y="4127500"/>
            <a:ext cx="3556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70196"/>
                  </a:srgbClr>
                </a:solidFill>
                <a:latin typeface="Noto Sans SC"/>
                <a:ea typeface="Noto Sans SC"/>
                <a:cs typeface="Noto Sans SC"/>
                <a:sym typeface="Noto Sans SC"/>
              </a:rPr>
              <a:t>实时推送模式，确保在线 Agent 立即收到消息</a:t>
            </a:r>
            <a:endParaRPr lang="en-US" sz="1100"/>
          </a:p>
        </p:txBody>
      </p:sp>
      <p:sp>
        <p:nvSpPr>
          <p:cNvPr name="AutoShape 15" id="15"/>
          <p:cNvSpPr/>
          <p:nvPr/>
        </p:nvSpPr>
        <p:spPr>
          <a:xfrm rot="0" flipH="false" flipV="false">
            <a:off x="6858000" y="3429000"/>
            <a:ext cx="4572000" cy="1524000"/>
          </a:xfrm>
          <a:prstGeom prst="roundRect">
            <a:avLst>
              <a:gd name="adj" fmla="val 8333"/>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16" id="16"/>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7112000" y="3683000"/>
            <a:ext cx="508000" cy="508000"/>
          </a:xfrm>
          <a:prstGeom prst="rect">
            <a:avLst/>
          </a:prstGeom>
        </p:spPr>
      </p:pic>
      <p:sp>
        <p:nvSpPr>
          <p:cNvPr name="AutoShape 17" id="17"/>
          <p:cNvSpPr/>
          <p:nvPr/>
        </p:nvSpPr>
        <p:spPr>
          <a:xfrm rot="0" flipH="false" flipV="false">
            <a:off x="7747000" y="3683000"/>
            <a:ext cx="3556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通道 2: Redis 列表 (lpush)</a:t>
            </a:r>
            <a:endParaRPr lang="en-US" sz="1100"/>
          </a:p>
        </p:txBody>
      </p:sp>
      <p:sp>
        <p:nvSpPr>
          <p:cNvPr name="AutoShape 18" id="18"/>
          <p:cNvSpPr/>
          <p:nvPr/>
        </p:nvSpPr>
        <p:spPr>
          <a:xfrm rot="0" flipH="false" flipV="false">
            <a:off x="7747000" y="4127500"/>
            <a:ext cx="3556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70196"/>
                  </a:srgbClr>
                </a:solidFill>
                <a:latin typeface="Noto Sans SC"/>
                <a:ea typeface="Noto Sans SC"/>
                <a:cs typeface="Noto Sans SC"/>
                <a:sym typeface="Noto Sans SC"/>
              </a:rPr>
              <a:t>持久化存储模式，确保离线 Agent 重连后不丢失消息</a:t>
            </a:r>
            <a:endParaRPr lang="en-US" sz="1100"/>
          </a:p>
        </p:txBody>
      </p:sp>
      <p:sp>
        <p:nvSpPr>
          <p:cNvPr name="AutoShape 19" id="19"/>
          <p:cNvSpPr/>
          <p:nvPr/>
        </p:nvSpPr>
        <p:spPr>
          <a:xfrm rot="0" flipH="false" flipV="false">
            <a:off x="762000" y="5334000"/>
            <a:ext cx="10668000" cy="762000"/>
          </a:xfrm>
          <a:prstGeom prst="roundRect">
            <a:avLst>
              <a:gd name="adj" fmla="val 16666"/>
            </a:avLst>
          </a:prstGeom>
          <a:solidFill>
            <a:srgbClr val="00BFFF">
              <a:alpha val="10000"/>
            </a:srgbClr>
          </a:solidFill>
          <a:ln w="12700" cmpd="sng" cap="flat">
            <a:solidFill>
              <a:srgbClr val="00BFFF">
                <a:alpha val="20000"/>
              </a:srgbClr>
            </a:solidFill>
            <a:prstDash val="solid"/>
            <a:round/>
          </a:ln>
        </p:spPr>
        <p:txBody>
          <a:bodyPr anchor="ctr" rtlCol="false" vert="horz" wrap="square" lIns="63500" rIns="63500" tIns="63500" bIns="63500"/>
          <a:lstStyle/>
          <a:p>
            <a:pPr algn="ctr">
              <a:defRPr/>
            </a:pPr>
            <a:endParaRPr/>
          </a:p>
        </p:txBody>
      </p:sp>
      <p:pic>
        <p:nvPicPr>
          <p:cNvPr name="Picture 20" id="20"/>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1016000" y="5562600"/>
            <a:ext cx="304800" cy="304800"/>
          </a:xfrm>
          <a:prstGeom prst="rect">
            <a:avLst/>
          </a:prstGeom>
        </p:spPr>
      </p:pic>
      <p:sp>
        <p:nvSpPr>
          <p:cNvPr name="AutoShape 21" id="21"/>
          <p:cNvSpPr/>
          <p:nvPr/>
        </p:nvSpPr>
        <p:spPr>
          <a:xfrm rot="0" flipH="false" flipV="false">
            <a:off x="1460500" y="5524500"/>
            <a:ext cx="9652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90196"/>
                  </a:srgbClr>
                </a:solidFill>
                <a:latin typeface="Noto Sans SC"/>
                <a:ea typeface="Noto Sans SC"/>
                <a:cs typeface="Noto Sans SC"/>
                <a:sym typeface="Noto Sans SC"/>
              </a:rPr>
              <a:t>类比：微信消息机制 = 实时推送（Pub/Sub） + 服务器存储（List）</a:t>
            </a:r>
            <a:endParaRPr lang="en-US" sz="1100"/>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0F172A">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F172A">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1016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为什么 send() 用两个通道？</a:t>
            </a:r>
            <a:endParaRPr lang="en-US" sz="1100"/>
          </a:p>
        </p:txBody>
      </p:sp>
      <p:sp>
        <p:nvSpPr>
          <p:cNvPr name="AutoShape 4" id="4"/>
          <p:cNvSpPr/>
          <p:nvPr/>
        </p:nvSpPr>
        <p:spPr>
          <a:xfrm rot="0" flipH="false" flipV="false">
            <a:off x="762000" y="2032000"/>
            <a:ext cx="3302000" cy="3556000"/>
          </a:xfrm>
          <a:prstGeom prst="roundRect">
            <a:avLst>
              <a:gd name="adj" fmla="val 3846"/>
            </a:avLst>
          </a:prstGeom>
          <a:solidFill>
            <a:srgbClr val="FFFFFF">
              <a:alpha val="5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66800" y="2336800"/>
            <a:ext cx="609600" cy="609600"/>
          </a:xfrm>
          <a:prstGeom prst="rect">
            <a:avLst/>
          </a:prstGeom>
        </p:spPr>
      </p:pic>
      <p:sp>
        <p:nvSpPr>
          <p:cNvPr name="AutoShape 6" id="6"/>
          <p:cNvSpPr/>
          <p:nvPr/>
        </p:nvSpPr>
        <p:spPr>
          <a:xfrm rot="0" flipH="false" flipV="false">
            <a:off x="1066800" y="3048000"/>
            <a:ext cx="26924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核心疑问</a:t>
            </a:r>
            <a:endParaRPr lang="en-US" sz="1100"/>
          </a:p>
        </p:txBody>
      </p:sp>
      <p:sp>
        <p:nvSpPr>
          <p:cNvPr name="AutoShape 7" id="7"/>
          <p:cNvSpPr/>
          <p:nvPr/>
        </p:nvSpPr>
        <p:spPr>
          <a:xfrm rot="0" flipH="false" flipV="false">
            <a:off x="1066800" y="3492500"/>
            <a:ext cx="2692400" cy="1524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80000"/>
                  </a:srgbClr>
                </a:solidFill>
                <a:latin typeface="Noto Sans SC"/>
                <a:ea typeface="Noto Sans SC"/>
                <a:cs typeface="Noto Sans SC"/>
                <a:sym typeface="Noto Sans SC"/>
              </a:rPr>
              <a:t>为什么不直接使用一个通道？是否存在性能或可靠性上的缺陷？</a:t>
            </a:r>
            <a:endParaRPr lang="en-US" sz="1100"/>
          </a:p>
        </p:txBody>
      </p:sp>
      <p:sp>
        <p:nvSpPr>
          <p:cNvPr name="AutoShape 8" id="8"/>
          <p:cNvSpPr/>
          <p:nvPr/>
        </p:nvSpPr>
        <p:spPr>
          <a:xfrm rot="0" flipH="false" flipV="false">
            <a:off x="4445000" y="2032000"/>
            <a:ext cx="3302000" cy="3556000"/>
          </a:xfrm>
          <a:prstGeom prst="roundRect">
            <a:avLst>
              <a:gd name="adj" fmla="val 3846"/>
            </a:avLst>
          </a:prstGeom>
          <a:solidFill>
            <a:srgbClr val="FFFFFF">
              <a:alpha val="5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9" id="9"/>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4749800" y="2336800"/>
            <a:ext cx="609600" cy="609600"/>
          </a:xfrm>
          <a:prstGeom prst="rect">
            <a:avLst/>
          </a:prstGeom>
        </p:spPr>
      </p:pic>
      <p:sp>
        <p:nvSpPr>
          <p:cNvPr name="AutoShape 10" id="10"/>
          <p:cNvSpPr/>
          <p:nvPr/>
        </p:nvSpPr>
        <p:spPr>
          <a:xfrm rot="0" flipH="false" flipV="false">
            <a:off x="4749800" y="3048000"/>
            <a:ext cx="26924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Pub/Sub 的局限</a:t>
            </a:r>
            <a:endParaRPr lang="en-US" sz="1100"/>
          </a:p>
        </p:txBody>
      </p:sp>
      <p:sp>
        <p:nvSpPr>
          <p:cNvPr name="AutoShape 11" id="11"/>
          <p:cNvSpPr/>
          <p:nvPr/>
        </p:nvSpPr>
        <p:spPr>
          <a:xfrm rot="0" flipH="false" flipV="false">
            <a:off x="4749800" y="3492500"/>
            <a:ext cx="2692400" cy="1524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80000"/>
                  </a:srgbClr>
                </a:solidFill>
                <a:latin typeface="Noto Sans SC"/>
                <a:ea typeface="Noto Sans SC"/>
                <a:cs typeface="Noto Sans SC"/>
                <a:sym typeface="Noto Sans SC"/>
              </a:rPr>
              <a:t>Pub/Sub 模式是“即发即忘”的。如果接收方 Agent 不在线，消息会直接丢失，无法回溯。</a:t>
            </a:r>
            <a:endParaRPr lang="en-US" sz="1100"/>
          </a:p>
        </p:txBody>
      </p:sp>
      <p:sp>
        <p:nvSpPr>
          <p:cNvPr name="AutoShape 12" id="12"/>
          <p:cNvSpPr/>
          <p:nvPr/>
        </p:nvSpPr>
        <p:spPr>
          <a:xfrm rot="0" flipH="false" flipV="false">
            <a:off x="8128000" y="2032000"/>
            <a:ext cx="3302000" cy="3556000"/>
          </a:xfrm>
          <a:prstGeom prst="roundRect">
            <a:avLst>
              <a:gd name="adj" fmla="val 3846"/>
            </a:avLst>
          </a:prstGeom>
          <a:solidFill>
            <a:srgbClr val="FFFFFF">
              <a:alpha val="5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8432800" y="2336800"/>
            <a:ext cx="609600" cy="609600"/>
          </a:xfrm>
          <a:prstGeom prst="rect">
            <a:avLst/>
          </a:prstGeom>
        </p:spPr>
      </p:pic>
      <p:sp>
        <p:nvSpPr>
          <p:cNvPr name="AutoShape 14" id="14"/>
          <p:cNvSpPr/>
          <p:nvPr/>
        </p:nvSpPr>
        <p:spPr>
          <a:xfrm rot="0" flipH="false" flipV="false">
            <a:off x="8432800" y="3048000"/>
            <a:ext cx="26924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Redis 列表作为收件箱</a:t>
            </a:r>
            <a:endParaRPr lang="en-US" sz="1100"/>
          </a:p>
        </p:txBody>
      </p:sp>
      <p:sp>
        <p:nvSpPr>
          <p:cNvPr name="AutoShape 15" id="15"/>
          <p:cNvSpPr/>
          <p:nvPr/>
        </p:nvSpPr>
        <p:spPr>
          <a:xfrm rot="0" flipH="false" flipV="false">
            <a:off x="8432800" y="3492500"/>
            <a:ext cx="2692400" cy="1524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80000"/>
                  </a:srgbClr>
                </a:solidFill>
                <a:latin typeface="Noto Sans SC"/>
                <a:ea typeface="Noto Sans SC"/>
                <a:cs typeface="Noto Sans SC"/>
                <a:sym typeface="Noto Sans SC"/>
              </a:rPr>
              <a:t>引入 Redis 列表存储消息，充当持久化的“收件箱”。Agent 重启后可从中读取遗漏的消息，确保数据不丢失。</a:t>
            </a:r>
            <a:endParaRPr lang="en-US" sz="1100"/>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0F172A">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7812" b="7812"/>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F172A">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1016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四种消息类型</a:t>
            </a:r>
            <a:endParaRPr lang="en-US" sz="1100"/>
          </a:p>
        </p:txBody>
      </p:sp>
      <p:sp>
        <p:nvSpPr>
          <p:cNvPr name="AutoShape 5" id="5"/>
          <p:cNvSpPr/>
          <p:nvPr/>
        </p:nvSpPr>
        <p:spPr>
          <a:xfrm rot="0" flipH="false" flipV="false">
            <a:off x="762000" y="1905000"/>
            <a:ext cx="10668000" cy="609600"/>
          </a:xfrm>
          <a:prstGeom prst="roundRect">
            <a:avLst>
              <a:gd name="adj" fmla="val 20833"/>
            </a:avLst>
          </a:prstGeom>
          <a:solidFill>
            <a:srgbClr val="00BFFF">
              <a:alpha val="20000"/>
            </a:srgbClr>
          </a:solidFill>
          <a:ln cmpd="sng" cap="flat">
            <a:solidFill>
              <a:srgbClr val="00ACE6">
                <a:alpha val="20000"/>
              </a:srgbClr>
            </a:solid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2082800"/>
            <a:ext cx="254000" cy="254000"/>
          </a:xfrm>
          <a:prstGeom prst="rect">
            <a:avLst/>
          </a:prstGeom>
        </p:spPr>
      </p:pic>
      <p:sp>
        <p:nvSpPr>
          <p:cNvPr name="AutoShape 7" id="7"/>
          <p:cNvSpPr/>
          <p:nvPr/>
        </p:nvSpPr>
        <p:spPr>
          <a:xfrm rot="0" flipH="false" flipV="false">
            <a:off x="1397000" y="2057400"/>
            <a:ext cx="1905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消息类型</a:t>
            </a:r>
            <a:endParaRPr lang="en-US" sz="1100"/>
          </a:p>
        </p:txBody>
      </p:sp>
      <p:pic>
        <p:nvPicPr>
          <p:cNvPr name="Picture 8" id="8"/>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3683000" y="2082800"/>
            <a:ext cx="254000" cy="254000"/>
          </a:xfrm>
          <a:prstGeom prst="rect">
            <a:avLst/>
          </a:prstGeom>
        </p:spPr>
      </p:pic>
      <p:sp>
        <p:nvSpPr>
          <p:cNvPr name="AutoShape 9" id="9"/>
          <p:cNvSpPr/>
          <p:nvPr/>
        </p:nvSpPr>
        <p:spPr>
          <a:xfrm rot="0" flipH="false" flipV="false">
            <a:off x="4064000" y="2057400"/>
            <a:ext cx="2540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传输方向</a:t>
            </a:r>
            <a:endParaRPr lang="en-US" sz="1100"/>
          </a:p>
        </p:txBody>
      </p:sp>
      <p:pic>
        <p:nvPicPr>
          <p:cNvPr name="Picture 10" id="10"/>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6731000" y="2082800"/>
            <a:ext cx="254000" cy="254000"/>
          </a:xfrm>
          <a:prstGeom prst="rect">
            <a:avLst/>
          </a:prstGeom>
        </p:spPr>
      </p:pic>
      <p:sp>
        <p:nvSpPr>
          <p:cNvPr name="AutoShape 11" id="11"/>
          <p:cNvSpPr/>
          <p:nvPr/>
        </p:nvSpPr>
        <p:spPr>
          <a:xfrm rot="0" flipH="false" flipV="false">
            <a:off x="7112000" y="2057400"/>
            <a:ext cx="2540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典型应用场景</a:t>
            </a:r>
            <a:endParaRPr lang="en-US" sz="1100"/>
          </a:p>
        </p:txBody>
      </p:sp>
      <p:sp>
        <p:nvSpPr>
          <p:cNvPr name="AutoShape 12" id="12"/>
          <p:cNvSpPr/>
          <p:nvPr/>
        </p:nvSpPr>
        <p:spPr>
          <a:xfrm rot="0" flipH="false" flipV="false">
            <a:off x="762000" y="2667000"/>
            <a:ext cx="10668000" cy="762000"/>
          </a:xfrm>
          <a:prstGeom prst="roundRect">
            <a:avLst>
              <a:gd name="adj" fmla="val 16666"/>
            </a:avLst>
          </a:prstGeom>
          <a:solidFill>
            <a:srgbClr val="FFFFFF">
              <a:alpha val="5000"/>
            </a:srgbClr>
          </a:solidFill>
          <a:ln w="12700" cmpd="sng" cap="flat">
            <a:solidFill>
              <a:srgbClr val="FFFFFF">
                <a:alpha val="10000"/>
              </a:srgbClr>
            </a:solidFill>
            <a:prstDash val="solid"/>
            <a:round/>
          </a:ln>
        </p:spPr>
        <p:txBody>
          <a:bodyPr anchor="ctr" rtlCol="false" vert="horz" wrap="square" lIns="63500" rIns="63500" tIns="63500" bIns="63500"/>
          <a:lstStyle/>
          <a:p>
            <a:pPr algn="ctr">
              <a:defRPr/>
            </a:pPr>
            <a:endParaRPr/>
          </a:p>
        </p:txBody>
      </p:sp>
      <p:sp>
        <p:nvSpPr>
          <p:cNvPr name="AutoShape 13" id="13"/>
          <p:cNvSpPr/>
          <p:nvPr/>
        </p:nvSpPr>
        <p:spPr>
          <a:xfrm rot="0" flipH="false" flipV="false">
            <a:off x="1016000" y="2857500"/>
            <a:ext cx="254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00BFFF"/>
                </a:solidFill>
                <a:latin typeface="Noto Sans SC"/>
                <a:ea typeface="Noto Sans SC"/>
                <a:cs typeface="Noto Sans SC"/>
                <a:sym typeface="Noto Sans SC"/>
              </a:rPr>
              <a:t>Task</a:t>
            </a:r>
            <a:endParaRPr lang="en-US" sz="1100"/>
          </a:p>
        </p:txBody>
      </p:sp>
      <p:sp>
        <p:nvSpPr>
          <p:cNvPr name="AutoShape 14" id="14"/>
          <p:cNvSpPr/>
          <p:nvPr/>
        </p:nvSpPr>
        <p:spPr>
          <a:xfrm rot="0" flipH="false" flipV="false">
            <a:off x="3683000" y="2857500"/>
            <a:ext cx="2794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E2E8F0"/>
                </a:solidFill>
                <a:latin typeface="Noto Sans SC"/>
                <a:ea typeface="Noto Sans SC"/>
                <a:cs typeface="Noto Sans SC"/>
                <a:sym typeface="Noto Sans SC"/>
              </a:rPr>
              <a:t>Friday → 专业Agent</a:t>
            </a:r>
            <a:endParaRPr lang="en-US" sz="1100"/>
          </a:p>
        </p:txBody>
      </p:sp>
      <p:sp>
        <p:nvSpPr>
          <p:cNvPr name="AutoShape 15" id="15"/>
          <p:cNvSpPr/>
          <p:nvPr/>
        </p:nvSpPr>
        <p:spPr>
          <a:xfrm rot="0" flipH="false" flipV="false">
            <a:off x="6731000" y="2857500"/>
            <a:ext cx="381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E2E8F0"/>
                </a:solidFill>
                <a:latin typeface="Noto Sans SC"/>
                <a:ea typeface="Noto Sans SC"/>
                <a:cs typeface="Noto Sans SC"/>
                <a:sym typeface="Noto Sans SC"/>
              </a:rPr>
              <a:t>"执行ETH回测"</a:t>
            </a:r>
            <a:endParaRPr lang="en-US" sz="1100"/>
          </a:p>
        </p:txBody>
      </p:sp>
      <p:sp>
        <p:nvSpPr>
          <p:cNvPr name="AutoShape 16" id="16"/>
          <p:cNvSpPr/>
          <p:nvPr/>
        </p:nvSpPr>
        <p:spPr>
          <a:xfrm rot="0" flipH="false" flipV="false">
            <a:off x="762000" y="3556000"/>
            <a:ext cx="10668000" cy="762000"/>
          </a:xfrm>
          <a:prstGeom prst="roundRect">
            <a:avLst>
              <a:gd name="adj" fmla="val 16666"/>
            </a:avLst>
          </a:prstGeom>
          <a:solidFill>
            <a:srgbClr val="FFFFFF">
              <a:alpha val="5000"/>
            </a:srgbClr>
          </a:solidFill>
          <a:ln w="12700" cmpd="sng" cap="flat">
            <a:solidFill>
              <a:srgbClr val="FFFFFF">
                <a:alpha val="10000"/>
              </a:srgbClr>
            </a:solidFill>
            <a:prstDash val="solid"/>
            <a:round/>
          </a:ln>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1016000" y="3746500"/>
            <a:ext cx="254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00BFFF"/>
                </a:solidFill>
                <a:latin typeface="Noto Sans SC"/>
                <a:ea typeface="Noto Sans SC"/>
                <a:cs typeface="Noto Sans SC"/>
                <a:sym typeface="Noto Sans SC"/>
              </a:rPr>
              <a:t>Response</a:t>
            </a:r>
            <a:endParaRPr lang="en-US" sz="1100"/>
          </a:p>
        </p:txBody>
      </p:sp>
      <p:sp>
        <p:nvSpPr>
          <p:cNvPr name="AutoShape 18" id="18"/>
          <p:cNvSpPr/>
          <p:nvPr/>
        </p:nvSpPr>
        <p:spPr>
          <a:xfrm rot="0" flipH="false" flipV="false">
            <a:off x="3683000" y="3746500"/>
            <a:ext cx="2794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E2E8F0"/>
                </a:solidFill>
                <a:latin typeface="Noto Sans SC"/>
                <a:ea typeface="Noto Sans SC"/>
                <a:cs typeface="Noto Sans SC"/>
                <a:sym typeface="Noto Sans SC"/>
              </a:rPr>
              <a:t>专业Agent → Friday</a:t>
            </a:r>
            <a:endParaRPr lang="en-US" sz="1100"/>
          </a:p>
        </p:txBody>
      </p:sp>
      <p:sp>
        <p:nvSpPr>
          <p:cNvPr name="AutoShape 19" id="19"/>
          <p:cNvSpPr/>
          <p:nvPr/>
        </p:nvSpPr>
        <p:spPr>
          <a:xfrm rot="0" flipH="false" flipV="false">
            <a:off x="6731000" y="3746500"/>
            <a:ext cx="381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E2E8F0"/>
                </a:solidFill>
                <a:latin typeface="Noto Sans SC"/>
                <a:ea typeface="Noto Sans SC"/>
                <a:cs typeface="Noto Sans SC"/>
                <a:sym typeface="Noto Sans SC"/>
              </a:rPr>
              <a:t>"回测完成，胜率65%"</a:t>
            </a:r>
            <a:endParaRPr lang="en-US" sz="1100"/>
          </a:p>
        </p:txBody>
      </p:sp>
      <p:sp>
        <p:nvSpPr>
          <p:cNvPr name="AutoShape 20" id="20"/>
          <p:cNvSpPr/>
          <p:nvPr/>
        </p:nvSpPr>
        <p:spPr>
          <a:xfrm rot="0" flipH="false" flipV="false">
            <a:off x="762000" y="4445000"/>
            <a:ext cx="10668000" cy="762000"/>
          </a:xfrm>
          <a:prstGeom prst="roundRect">
            <a:avLst>
              <a:gd name="adj" fmla="val 16666"/>
            </a:avLst>
          </a:prstGeom>
          <a:solidFill>
            <a:srgbClr val="FFFFFF">
              <a:alpha val="5000"/>
            </a:srgbClr>
          </a:solidFill>
          <a:ln w="12700" cmpd="sng" cap="flat">
            <a:solidFill>
              <a:srgbClr val="FFFFFF">
                <a:alpha val="10000"/>
              </a:srgbClr>
            </a:solidFill>
            <a:prstDash val="solid"/>
            <a:round/>
          </a:ln>
        </p:spPr>
        <p:txBody>
          <a:bodyPr anchor="ctr" rtlCol="false" vert="horz" wrap="square" lIns="63500" rIns="63500" tIns="63500" bIns="63500"/>
          <a:lstStyle/>
          <a:p>
            <a:pPr algn="ctr">
              <a:defRPr/>
            </a:pPr>
            <a:endParaRPr/>
          </a:p>
        </p:txBody>
      </p:sp>
      <p:sp>
        <p:nvSpPr>
          <p:cNvPr name="AutoShape 21" id="21"/>
          <p:cNvSpPr/>
          <p:nvPr/>
        </p:nvSpPr>
        <p:spPr>
          <a:xfrm rot="0" flipH="false" flipV="false">
            <a:off x="1016000" y="4635500"/>
            <a:ext cx="254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00BFFF"/>
                </a:solidFill>
                <a:latin typeface="Noto Sans SC"/>
                <a:ea typeface="Noto Sans SC"/>
                <a:cs typeface="Noto Sans SC"/>
                <a:sym typeface="Noto Sans SC"/>
              </a:rPr>
              <a:t>Broadcast</a:t>
            </a:r>
            <a:endParaRPr lang="en-US" sz="1100"/>
          </a:p>
        </p:txBody>
      </p:sp>
      <p:sp>
        <p:nvSpPr>
          <p:cNvPr name="AutoShape 22" id="22"/>
          <p:cNvSpPr/>
          <p:nvPr/>
        </p:nvSpPr>
        <p:spPr>
          <a:xfrm rot="0" flipH="false" flipV="false">
            <a:off x="3683000" y="4635500"/>
            <a:ext cx="2794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E2E8F0"/>
                </a:solidFill>
                <a:latin typeface="Noto Sans SC"/>
                <a:ea typeface="Noto Sans SC"/>
                <a:cs typeface="Noto Sans SC"/>
                <a:sym typeface="Noto Sans SC"/>
              </a:rPr>
              <a:t>任何 → 所有Agent</a:t>
            </a:r>
            <a:endParaRPr lang="en-US" sz="1100"/>
          </a:p>
        </p:txBody>
      </p:sp>
      <p:sp>
        <p:nvSpPr>
          <p:cNvPr name="AutoShape 23" id="23"/>
          <p:cNvSpPr/>
          <p:nvPr/>
        </p:nvSpPr>
        <p:spPr>
          <a:xfrm rot="0" flipH="false" flipV="false">
            <a:off x="6731000" y="4635500"/>
            <a:ext cx="381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E2E8F0"/>
                </a:solidFill>
                <a:latin typeface="Noto Sans SC"/>
                <a:ea typeface="Noto Sans SC"/>
                <a:cs typeface="Noto Sans SC"/>
                <a:sym typeface="Noto Sans SC"/>
              </a:rPr>
              <a:t>"配置已更新"</a:t>
            </a:r>
            <a:endParaRPr lang="en-US" sz="1100"/>
          </a:p>
        </p:txBody>
      </p:sp>
      <p:sp>
        <p:nvSpPr>
          <p:cNvPr name="AutoShape 24" id="24"/>
          <p:cNvSpPr/>
          <p:nvPr/>
        </p:nvSpPr>
        <p:spPr>
          <a:xfrm rot="0" flipH="false" flipV="false">
            <a:off x="762000" y="5334000"/>
            <a:ext cx="10668000" cy="762000"/>
          </a:xfrm>
          <a:prstGeom prst="roundRect">
            <a:avLst>
              <a:gd name="adj" fmla="val 16666"/>
            </a:avLst>
          </a:prstGeom>
          <a:solidFill>
            <a:srgbClr val="FFFFFF">
              <a:alpha val="5000"/>
            </a:srgbClr>
          </a:solidFill>
          <a:ln w="12700" cmpd="sng" cap="flat">
            <a:solidFill>
              <a:srgbClr val="FFFFFF">
                <a:alpha val="10000"/>
              </a:srgbClr>
            </a:solidFill>
            <a:prstDash val="solid"/>
            <a:round/>
          </a:ln>
        </p:spPr>
        <p:txBody>
          <a:bodyPr anchor="ctr" rtlCol="false" vert="horz" wrap="square" lIns="63500" rIns="63500" tIns="63500" bIns="63500"/>
          <a:lstStyle/>
          <a:p>
            <a:pPr algn="ctr">
              <a:defRPr/>
            </a:pPr>
            <a:endParaRPr/>
          </a:p>
        </p:txBody>
      </p:sp>
      <p:sp>
        <p:nvSpPr>
          <p:cNvPr name="AutoShape 25" id="25"/>
          <p:cNvSpPr/>
          <p:nvPr/>
        </p:nvSpPr>
        <p:spPr>
          <a:xfrm rot="0" flipH="false" flipV="false">
            <a:off x="1016000" y="5524500"/>
            <a:ext cx="254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00BFFF"/>
                </a:solidFill>
                <a:latin typeface="Noto Sans SC"/>
                <a:ea typeface="Noto Sans SC"/>
                <a:cs typeface="Noto Sans SC"/>
                <a:sym typeface="Noto Sans SC"/>
              </a:rPr>
              <a:t>Heartbeat</a:t>
            </a:r>
            <a:endParaRPr lang="en-US" sz="1100"/>
          </a:p>
        </p:txBody>
      </p:sp>
      <p:sp>
        <p:nvSpPr>
          <p:cNvPr name="AutoShape 26" id="26"/>
          <p:cNvSpPr/>
          <p:nvPr/>
        </p:nvSpPr>
        <p:spPr>
          <a:xfrm rot="0" flipH="false" flipV="false">
            <a:off x="3683000" y="5524500"/>
            <a:ext cx="2794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E2E8F0"/>
                </a:solidFill>
                <a:latin typeface="Noto Sans SC"/>
                <a:ea typeface="Noto Sans SC"/>
                <a:cs typeface="Noto Sans SC"/>
                <a:sym typeface="Noto Sans SC"/>
              </a:rPr>
              <a:t>Friday → 所有Agent</a:t>
            </a:r>
            <a:endParaRPr lang="en-US" sz="1100"/>
          </a:p>
        </p:txBody>
      </p:sp>
      <p:sp>
        <p:nvSpPr>
          <p:cNvPr name="AutoShape 27" id="27"/>
          <p:cNvSpPr/>
          <p:nvPr/>
        </p:nvSpPr>
        <p:spPr>
          <a:xfrm rot="0" flipH="false" flipV="false">
            <a:off x="6731000" y="5524500"/>
            <a:ext cx="381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E2E8F0"/>
                </a:solidFill>
                <a:latin typeface="Noto Sans SC"/>
                <a:ea typeface="Noto Sans SC"/>
                <a:cs typeface="Noto Sans SC"/>
                <a:sym typeface="Noto Sans SC"/>
              </a:rPr>
              <a:t>"请报告当前负载"</a:t>
            </a:r>
            <a:endParaRPr lang="en-US" sz="1100"/>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0F172A">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F172A">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1016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Task生命周期</a:t>
            </a:r>
            <a:endParaRPr lang="en-US" sz="1100"/>
          </a:p>
        </p:txBody>
      </p:sp>
      <p:sp>
        <p:nvSpPr>
          <p:cNvPr name="AutoShape 4" id="4"/>
          <p:cNvSpPr/>
          <p:nvPr/>
        </p:nvSpPr>
        <p:spPr>
          <a:xfrm rot="0" flipH="false" flipV="false">
            <a:off x="762000" y="1714500"/>
            <a:ext cx="10668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800">
                <a:solidFill>
                  <a:srgbClr val="FFFFFF">
                    <a:alpha val="70196"/>
                  </a:srgbClr>
                </a:solidFill>
                <a:latin typeface="Noto Sans SC"/>
                <a:ea typeface="Noto Sans SC"/>
                <a:cs typeface="Noto Sans SC"/>
                <a:sym typeface="Noto Sans SC"/>
              </a:rPr>
              <a:t>模块 3.5 -- 任务编排器：状态流转与调度逻辑</a:t>
            </a:r>
            <a:endParaRPr lang="en-US" sz="1100"/>
          </a:p>
        </p:txBody>
      </p:sp>
      <p:sp>
        <p:nvSpPr>
          <p:cNvPr name="AutoShape 5" id="5"/>
          <p:cNvSpPr/>
          <p:nvPr/>
        </p:nvSpPr>
        <p:spPr>
          <a:xfrm rot="0" flipH="false" flipV="false">
            <a:off x="762000" y="2413000"/>
            <a:ext cx="2413000" cy="2794000"/>
          </a:xfrm>
          <a:prstGeom prst="roundRect">
            <a:avLst>
              <a:gd name="adj" fmla="val 5263"/>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663700" y="2667000"/>
            <a:ext cx="609600" cy="609600"/>
          </a:xfrm>
          <a:prstGeom prst="rect">
            <a:avLst/>
          </a:prstGeom>
        </p:spPr>
      </p:pic>
      <p:sp>
        <p:nvSpPr>
          <p:cNvPr name="AutoShape 7" id="7"/>
          <p:cNvSpPr/>
          <p:nvPr/>
        </p:nvSpPr>
        <p:spPr>
          <a:xfrm rot="0" flipH="false" flipV="false">
            <a:off x="889000" y="3365500"/>
            <a:ext cx="2159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800">
                <a:solidFill>
                  <a:srgbClr val="FFFFFF"/>
                </a:solidFill>
                <a:latin typeface="Noto Sans SC"/>
                <a:ea typeface="Noto Sans SC"/>
                <a:cs typeface="Noto Sans SC"/>
                <a:sym typeface="Noto Sans SC"/>
              </a:rPr>
              <a:t>PENDING</a:t>
            </a:r>
            <a:endParaRPr lang="en-US" sz="1100"/>
          </a:p>
        </p:txBody>
      </p:sp>
      <p:sp>
        <p:nvSpPr>
          <p:cNvPr name="AutoShape 8" id="8"/>
          <p:cNvSpPr/>
          <p:nvPr/>
        </p:nvSpPr>
        <p:spPr>
          <a:xfrm rot="0" flipH="false" flipV="false">
            <a:off x="889000" y="3746500"/>
            <a:ext cx="2159000" cy="762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400">
                <a:solidFill>
                  <a:srgbClr val="FFFFFF">
                    <a:alpha val="70196"/>
                  </a:srgbClr>
                </a:solidFill>
                <a:latin typeface="Noto Sans SC"/>
                <a:ea typeface="Noto Sans SC"/>
                <a:cs typeface="Noto Sans SC"/>
                <a:sym typeface="Noto Sans SC"/>
              </a:rPr>
              <a:t>等待分配</a:t>
            </a:r>
            <a:r>
              <a:rPr lang="en-US" b="false" i="false" strike="noStrike" u="none" sz="1600">
                <a:solidFill>
                  <a:srgbClr val="1F2329"/>
                </a:solidFill>
                <a:latin typeface="Noto Sans SC"/>
                <a:ea typeface="Noto Sans SC"/>
                <a:cs typeface="Noto Sans SC"/>
                <a:sym typeface="Noto Sans SC"/>
              </a:rPr>
              <a:t/>
            </a:r>
            <a:endParaRPr lang="en-US" sz="1100"/>
          </a:p>
          <a:p>
            <a:pPr algn="ctr" indent="0">
              <a:lnSpc>
                <a:spcPct val="125000"/>
              </a:lnSpc>
            </a:pPr>
            <a:r>
              <a:rPr lang="en-US" b="false" i="false" strike="noStrike" u="none" sz="1200">
                <a:solidFill>
                  <a:srgbClr val="FFFFFF">
                    <a:alpha val="50196"/>
                  </a:srgbClr>
                </a:solidFill>
                <a:latin typeface="Noto Sans SC"/>
                <a:ea typeface="Noto Sans SC"/>
                <a:cs typeface="Noto Sans SC"/>
                <a:sym typeface="Noto Sans SC"/>
              </a:rPr>
              <a:t>依赖未完成时等待</a:t>
            </a:r>
          </a:p>
        </p:txBody>
      </p:sp>
      <p:pic>
        <p:nvPicPr>
          <p:cNvPr name="Picture 9" id="9"/>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3302000" y="3657600"/>
            <a:ext cx="304800" cy="304800"/>
          </a:xfrm>
          <a:prstGeom prst="rect">
            <a:avLst/>
          </a:prstGeom>
        </p:spPr>
      </p:pic>
      <p:sp>
        <p:nvSpPr>
          <p:cNvPr name="AutoShape 10" id="10"/>
          <p:cNvSpPr/>
          <p:nvPr/>
        </p:nvSpPr>
        <p:spPr>
          <a:xfrm rot="0" flipH="false" flipV="false">
            <a:off x="3733800" y="2413000"/>
            <a:ext cx="2413000" cy="2794000"/>
          </a:xfrm>
          <a:prstGeom prst="roundRect">
            <a:avLst>
              <a:gd name="adj" fmla="val 5263"/>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4635500" y="2667000"/>
            <a:ext cx="609600" cy="609600"/>
          </a:xfrm>
          <a:prstGeom prst="rect">
            <a:avLst/>
          </a:prstGeom>
        </p:spPr>
      </p:pic>
      <p:sp>
        <p:nvSpPr>
          <p:cNvPr name="AutoShape 12" id="12"/>
          <p:cNvSpPr/>
          <p:nvPr/>
        </p:nvSpPr>
        <p:spPr>
          <a:xfrm rot="0" flipH="false" flipV="false">
            <a:off x="3860800" y="3365500"/>
            <a:ext cx="2159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800">
                <a:solidFill>
                  <a:srgbClr val="FFFFFF"/>
                </a:solidFill>
                <a:latin typeface="Noto Sans SC"/>
                <a:ea typeface="Noto Sans SC"/>
                <a:cs typeface="Noto Sans SC"/>
                <a:sym typeface="Noto Sans SC"/>
              </a:rPr>
              <a:t>ASSIGNED</a:t>
            </a:r>
            <a:endParaRPr lang="en-US" sz="1100"/>
          </a:p>
        </p:txBody>
      </p:sp>
      <p:sp>
        <p:nvSpPr>
          <p:cNvPr name="AutoShape 13" id="13"/>
          <p:cNvSpPr/>
          <p:nvPr/>
        </p:nvSpPr>
        <p:spPr>
          <a:xfrm rot="0" flipH="false" flipV="false">
            <a:off x="3860800" y="3746500"/>
            <a:ext cx="2159000" cy="762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400">
                <a:solidFill>
                  <a:srgbClr val="FFFFFF">
                    <a:alpha val="70196"/>
                  </a:srgbClr>
                </a:solidFill>
                <a:latin typeface="Noto Sans SC"/>
                <a:ea typeface="Noto Sans SC"/>
                <a:cs typeface="Noto Sans SC"/>
                <a:sym typeface="Noto Sans SC"/>
              </a:rPr>
              <a:t>已找到 Agent</a:t>
            </a:r>
            <a:r>
              <a:rPr lang="en-US" b="false" i="false" strike="noStrike" u="none" sz="1600">
                <a:solidFill>
                  <a:srgbClr val="1F2329"/>
                </a:solidFill>
                <a:latin typeface="Noto Sans SC"/>
                <a:ea typeface="Noto Sans SC"/>
                <a:cs typeface="Noto Sans SC"/>
                <a:sym typeface="Noto Sans SC"/>
              </a:rPr>
              <a:t/>
            </a:r>
            <a:endParaRPr lang="en-US" sz="1100"/>
          </a:p>
          <a:p>
            <a:pPr algn="ctr" indent="0">
              <a:lnSpc>
                <a:spcPct val="125000"/>
              </a:lnSpc>
            </a:pPr>
            <a:r>
              <a:rPr lang="en-US" b="false" i="false" strike="noStrike" u="none" sz="1200">
                <a:solidFill>
                  <a:srgbClr val="FFFFFF">
                    <a:alpha val="50196"/>
                  </a:srgbClr>
                </a:solidFill>
                <a:latin typeface="Noto Sans SC"/>
                <a:ea typeface="Noto Sans SC"/>
                <a:cs typeface="Noto Sans SC"/>
                <a:sym typeface="Noto Sans SC"/>
              </a:rPr>
              <a:t>任务已分配至执行节点</a:t>
            </a:r>
          </a:p>
        </p:txBody>
      </p:sp>
      <p:pic>
        <p:nvPicPr>
          <p:cNvPr name="Picture 14" id="14"/>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6273800" y="3657600"/>
            <a:ext cx="304800" cy="304800"/>
          </a:xfrm>
          <a:prstGeom prst="rect">
            <a:avLst/>
          </a:prstGeom>
        </p:spPr>
      </p:pic>
      <p:sp>
        <p:nvSpPr>
          <p:cNvPr name="AutoShape 15" id="15"/>
          <p:cNvSpPr/>
          <p:nvPr/>
        </p:nvSpPr>
        <p:spPr>
          <a:xfrm rot="0" flipH="false" flipV="false">
            <a:off x="6705600" y="2413000"/>
            <a:ext cx="2413000" cy="2794000"/>
          </a:xfrm>
          <a:prstGeom prst="roundRect">
            <a:avLst>
              <a:gd name="adj" fmla="val 5263"/>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16" id="16"/>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7607300" y="2667000"/>
            <a:ext cx="609600" cy="609600"/>
          </a:xfrm>
          <a:prstGeom prst="rect">
            <a:avLst/>
          </a:prstGeom>
        </p:spPr>
      </p:pic>
      <p:sp>
        <p:nvSpPr>
          <p:cNvPr name="AutoShape 17" id="17"/>
          <p:cNvSpPr/>
          <p:nvPr/>
        </p:nvSpPr>
        <p:spPr>
          <a:xfrm rot="0" flipH="false" flipV="false">
            <a:off x="6832600" y="3365500"/>
            <a:ext cx="2159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800">
                <a:solidFill>
                  <a:srgbClr val="FFFFFF"/>
                </a:solidFill>
                <a:latin typeface="Noto Sans SC"/>
                <a:ea typeface="Noto Sans SC"/>
                <a:cs typeface="Noto Sans SC"/>
                <a:sym typeface="Noto Sans SC"/>
              </a:rPr>
              <a:t>RUNNING</a:t>
            </a:r>
            <a:endParaRPr lang="en-US" sz="1100"/>
          </a:p>
        </p:txBody>
      </p:sp>
      <p:sp>
        <p:nvSpPr>
          <p:cNvPr name="AutoShape 18" id="18"/>
          <p:cNvSpPr/>
          <p:nvPr/>
        </p:nvSpPr>
        <p:spPr>
          <a:xfrm rot="0" flipH="false" flipV="false">
            <a:off x="6832600" y="3746500"/>
            <a:ext cx="2159000" cy="762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400">
                <a:solidFill>
                  <a:srgbClr val="FFFFFF">
                    <a:alpha val="70196"/>
                  </a:srgbClr>
                </a:solidFill>
                <a:latin typeface="Noto Sans SC"/>
                <a:ea typeface="Noto Sans SC"/>
                <a:cs typeface="Noto Sans SC"/>
                <a:sym typeface="Noto Sans SC"/>
              </a:rPr>
              <a:t>正在执行</a:t>
            </a:r>
            <a:r>
              <a:rPr lang="en-US" b="false" i="false" strike="noStrike" u="none" sz="1600">
                <a:solidFill>
                  <a:srgbClr val="1F2329"/>
                </a:solidFill>
                <a:latin typeface="Noto Sans SC"/>
                <a:ea typeface="Noto Sans SC"/>
                <a:cs typeface="Noto Sans SC"/>
                <a:sym typeface="Noto Sans SC"/>
              </a:rPr>
              <a:t/>
            </a:r>
            <a:endParaRPr lang="en-US" sz="1100"/>
          </a:p>
          <a:p>
            <a:pPr algn="ctr" indent="0">
              <a:lnSpc>
                <a:spcPct val="125000"/>
              </a:lnSpc>
            </a:pPr>
            <a:r>
              <a:rPr lang="en-US" b="false" i="false" strike="noStrike" u="none" sz="1200">
                <a:solidFill>
                  <a:srgbClr val="FFFFFF">
                    <a:alpha val="50196"/>
                  </a:srgbClr>
                </a:solidFill>
                <a:latin typeface="Noto Sans SC"/>
                <a:ea typeface="Noto Sans SC"/>
                <a:cs typeface="Noto Sans SC"/>
                <a:sym typeface="Noto Sans SC"/>
              </a:rPr>
              <a:t>任务处于运行状态</a:t>
            </a:r>
          </a:p>
        </p:txBody>
      </p:sp>
      <p:pic>
        <p:nvPicPr>
          <p:cNvPr name="Picture 19" id="19"/>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9245600" y="3657600"/>
            <a:ext cx="304800" cy="304800"/>
          </a:xfrm>
          <a:prstGeom prst="rect">
            <a:avLst/>
          </a:prstGeom>
        </p:spPr>
      </p:pic>
      <p:sp>
        <p:nvSpPr>
          <p:cNvPr name="AutoShape 20" id="20"/>
          <p:cNvSpPr/>
          <p:nvPr/>
        </p:nvSpPr>
        <p:spPr>
          <a:xfrm rot="0" flipH="false" flipV="false">
            <a:off x="9677400" y="2413000"/>
            <a:ext cx="2413000" cy="2794000"/>
          </a:xfrm>
          <a:prstGeom prst="roundRect">
            <a:avLst>
              <a:gd name="adj" fmla="val 5263"/>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21" id="21"/>
          <p:cNvPicPr>
            <a:picLocks noChangeAspect="true"/>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0" flipH="false" flipV="false">
            <a:off x="10579100" y="2667000"/>
            <a:ext cx="609600" cy="609600"/>
          </a:xfrm>
          <a:prstGeom prst="rect">
            <a:avLst/>
          </a:prstGeom>
        </p:spPr>
      </p:pic>
      <p:sp>
        <p:nvSpPr>
          <p:cNvPr name="AutoShape 22" id="22"/>
          <p:cNvSpPr/>
          <p:nvPr/>
        </p:nvSpPr>
        <p:spPr>
          <a:xfrm rot="0" flipH="false" flipV="false">
            <a:off x="9804400" y="3365500"/>
            <a:ext cx="2159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800">
                <a:solidFill>
                  <a:srgbClr val="FFFFFF"/>
                </a:solidFill>
                <a:latin typeface="Noto Sans SC"/>
                <a:ea typeface="Noto Sans SC"/>
                <a:cs typeface="Noto Sans SC"/>
                <a:sym typeface="Noto Sans SC"/>
              </a:rPr>
              <a:t>COMPLETED / FAILED</a:t>
            </a:r>
            <a:endParaRPr lang="en-US" sz="1100"/>
          </a:p>
        </p:txBody>
      </p:sp>
      <p:sp>
        <p:nvSpPr>
          <p:cNvPr name="AutoShape 23" id="23"/>
          <p:cNvSpPr/>
          <p:nvPr/>
        </p:nvSpPr>
        <p:spPr>
          <a:xfrm rot="0" flipH="false" flipV="false">
            <a:off x="9804400" y="3746500"/>
            <a:ext cx="2159000" cy="762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400">
                <a:solidFill>
                  <a:srgbClr val="FFFFFF">
                    <a:alpha val="70196"/>
                  </a:srgbClr>
                </a:solidFill>
                <a:latin typeface="Noto Sans SC"/>
                <a:ea typeface="Noto Sans SC"/>
                <a:cs typeface="Noto Sans SC"/>
                <a:sym typeface="Noto Sans SC"/>
              </a:rPr>
              <a:t>完成或失败</a:t>
            </a:r>
            <a:r>
              <a:rPr lang="en-US" b="false" i="false" strike="noStrike" u="none" sz="1600">
                <a:solidFill>
                  <a:srgbClr val="1F2329"/>
                </a:solidFill>
                <a:latin typeface="Noto Sans SC"/>
                <a:ea typeface="Noto Sans SC"/>
                <a:cs typeface="Noto Sans SC"/>
                <a:sym typeface="Noto Sans SC"/>
              </a:rPr>
              <a:t/>
            </a:r>
            <a:endParaRPr lang="en-US" sz="1100"/>
          </a:p>
          <a:p>
            <a:pPr algn="ctr" indent="0">
              <a:lnSpc>
                <a:spcPct val="125000"/>
              </a:lnSpc>
            </a:pPr>
            <a:r>
              <a:rPr lang="en-US" b="false" i="false" strike="noStrike" u="none" sz="1200">
                <a:solidFill>
                  <a:srgbClr val="FFFFFF">
                    <a:alpha val="50196"/>
                  </a:srgbClr>
                </a:solidFill>
                <a:latin typeface="Noto Sans SC"/>
                <a:ea typeface="Noto Sans SC"/>
                <a:cs typeface="Noto Sans SC"/>
                <a:sym typeface="Noto Sans SC"/>
              </a:rPr>
              <a:t>完成后触发依赖任务</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0A0F1E">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A0F1E">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762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Task完整生命周期</a:t>
            </a:r>
            <a:endParaRPr lang="en-US" sz="1100"/>
          </a:p>
        </p:txBody>
      </p:sp>
      <p:sp>
        <p:nvSpPr>
          <p:cNvPr name="AutoShape 4" id="4"/>
          <p:cNvSpPr/>
          <p:nvPr/>
        </p:nvSpPr>
        <p:spPr>
          <a:xfrm rot="0" flipH="false" flipV="false">
            <a:off x="762000" y="2032000"/>
            <a:ext cx="2286000" cy="1270000"/>
          </a:xfrm>
          <a:prstGeom prst="roundRect">
            <a:avLst>
              <a:gd name="adj" fmla="val 10000"/>
            </a:avLst>
          </a:prstGeom>
          <a:solidFill>
            <a:srgbClr val="FFFFFF">
              <a:alpha val="10000"/>
            </a:srgbClr>
          </a:solidFill>
          <a:ln w="12700" cmpd="sng" cap="flat">
            <a:solidFill>
              <a:srgbClr val="00BFFF">
                <a:alpha val="100000"/>
              </a:srgbClr>
            </a:solid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701800" y="2222500"/>
            <a:ext cx="406400" cy="406400"/>
          </a:xfrm>
          <a:prstGeom prst="rect">
            <a:avLst/>
          </a:prstGeom>
        </p:spPr>
      </p:pic>
      <p:sp>
        <p:nvSpPr>
          <p:cNvPr name="AutoShape 6" id="6"/>
          <p:cNvSpPr/>
          <p:nvPr/>
        </p:nvSpPr>
        <p:spPr>
          <a:xfrm rot="0" flipH="false" flipV="false">
            <a:off x="889000" y="2667000"/>
            <a:ext cx="2032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600">
                <a:solidFill>
                  <a:srgbClr val="FFFFFF"/>
                </a:solidFill>
                <a:latin typeface="Noto Sans SC"/>
                <a:ea typeface="Noto Sans SC"/>
                <a:cs typeface="Noto Sans SC"/>
                <a:sym typeface="Noto Sans SC"/>
              </a:rPr>
              <a:t>创建任务</a:t>
            </a:r>
            <a:endParaRPr lang="en-US" sz="1100"/>
          </a:p>
        </p:txBody>
      </p:sp>
      <p:cxnSp>
        <p:nvCxnSpPr>
          <p:cNvPr name="Connector 7" id="7"/>
          <p:cNvCxnSpPr/>
          <p:nvPr/>
        </p:nvCxnSpPr>
        <p:spPr>
          <a:xfrm rot="-85925" flipH="false" flipV="false">
            <a:off x="3111579" y="2660650"/>
            <a:ext cx="508000" cy="12700"/>
          </a:xfrm>
          <a:prstGeom prst="straightConnector1">
            <a:avLst/>
          </a:prstGeom>
          <a:solidFill>
            <a:srgbClr val="DEE0E3">
              <a:alpha val="100000"/>
            </a:srgbClr>
          </a:solidFill>
          <a:ln w="25400" cmpd="sng" cap="flat">
            <a:solidFill>
              <a:srgbClr val="FFFFFF">
                <a:alpha val="50000"/>
              </a:srgbClr>
            </a:solidFill>
            <a:prstDash val="solid"/>
            <a:round/>
            <a:headEnd type="none" w="lg" len="lg"/>
            <a:tailEnd type="arrow" w="med" len="med"/>
          </a:ln>
        </p:spPr>
      </p:cxnSp>
      <p:sp>
        <p:nvSpPr>
          <p:cNvPr name="AutoShape 8" id="8"/>
          <p:cNvSpPr/>
          <p:nvPr/>
        </p:nvSpPr>
        <p:spPr>
          <a:xfrm rot="0" flipH="false" flipV="false">
            <a:off x="3683000" y="2032000"/>
            <a:ext cx="2286000" cy="1270000"/>
          </a:xfrm>
          <a:prstGeom prst="roundRect">
            <a:avLst>
              <a:gd name="adj" fmla="val 10000"/>
            </a:avLst>
          </a:prstGeom>
          <a:solidFill>
            <a:srgbClr val="FFFFFF">
              <a:alpha val="10000"/>
            </a:srgbClr>
          </a:solidFill>
          <a:ln w="12700" cmpd="sng" cap="flat">
            <a:solidFill>
              <a:srgbClr val="00BFFF">
                <a:alpha val="100000"/>
              </a:srgbClr>
            </a:solidFill>
            <a:prstDash val="solid"/>
            <a:round/>
          </a:ln>
        </p:spPr>
        <p:txBody>
          <a:bodyPr anchor="ctr" rtlCol="false" vert="horz" wrap="square" lIns="63500" rIns="63500" tIns="63500" bIns="63500"/>
          <a:lstStyle/>
          <a:p>
            <a:pPr algn="ctr">
              <a:defRPr/>
            </a:pPr>
            <a:endParaRPr/>
          </a:p>
        </p:txBody>
      </p:sp>
      <p:pic>
        <p:nvPicPr>
          <p:cNvPr name="Picture 9" id="9"/>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4622800" y="2222500"/>
            <a:ext cx="406400" cy="406400"/>
          </a:xfrm>
          <a:prstGeom prst="rect">
            <a:avLst/>
          </a:prstGeom>
        </p:spPr>
      </p:pic>
      <p:sp>
        <p:nvSpPr>
          <p:cNvPr name="AutoShape 10" id="10"/>
          <p:cNvSpPr/>
          <p:nvPr/>
        </p:nvSpPr>
        <p:spPr>
          <a:xfrm rot="0" flipH="false" flipV="false">
            <a:off x="3810000" y="2667000"/>
            <a:ext cx="2032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600">
                <a:solidFill>
                  <a:srgbClr val="FFFFFF"/>
                </a:solidFill>
                <a:latin typeface="Noto Sans SC"/>
                <a:ea typeface="Noto Sans SC"/>
                <a:cs typeface="Noto Sans SC"/>
                <a:sym typeface="Noto Sans SC"/>
              </a:rPr>
              <a:t>PENDING (等待)</a:t>
            </a:r>
            <a:endParaRPr lang="en-US" sz="1100"/>
          </a:p>
        </p:txBody>
      </p:sp>
      <p:cxnSp>
        <p:nvCxnSpPr>
          <p:cNvPr name="Connector 11" id="11"/>
          <p:cNvCxnSpPr/>
          <p:nvPr/>
        </p:nvCxnSpPr>
        <p:spPr>
          <a:xfrm rot="-85925" flipH="false" flipV="false">
            <a:off x="6032579" y="2660650"/>
            <a:ext cx="508000" cy="12700"/>
          </a:xfrm>
          <a:prstGeom prst="straightConnector1">
            <a:avLst/>
          </a:prstGeom>
          <a:solidFill>
            <a:srgbClr val="DEE0E3">
              <a:alpha val="100000"/>
            </a:srgbClr>
          </a:solidFill>
          <a:ln w="25400" cmpd="sng" cap="flat">
            <a:solidFill>
              <a:srgbClr val="FFFFFF">
                <a:alpha val="50000"/>
              </a:srgbClr>
            </a:solidFill>
            <a:prstDash val="solid"/>
            <a:round/>
            <a:headEnd type="none" w="lg" len="lg"/>
            <a:tailEnd type="arrow" w="med" len="med"/>
          </a:ln>
        </p:spPr>
      </p:cxnSp>
      <p:sp>
        <p:nvSpPr>
          <p:cNvPr name="AutoShape 12" id="12"/>
          <p:cNvSpPr/>
          <p:nvPr/>
        </p:nvSpPr>
        <p:spPr>
          <a:xfrm rot="0" flipH="false" flipV="false">
            <a:off x="6604000" y="2032000"/>
            <a:ext cx="2286000" cy="1270000"/>
          </a:xfrm>
          <a:prstGeom prst="roundRect">
            <a:avLst>
              <a:gd name="adj" fmla="val 10000"/>
            </a:avLst>
          </a:prstGeom>
          <a:solidFill>
            <a:srgbClr val="FFFFFF">
              <a:alpha val="10000"/>
            </a:srgbClr>
          </a:solidFill>
          <a:ln w="12700" cmpd="sng" cap="flat">
            <a:solidFill>
              <a:srgbClr val="00BFFF">
                <a:alpha val="100000"/>
              </a:srgbClr>
            </a:solidFill>
            <a:prstDash val="solid"/>
            <a:round/>
          </a:ln>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7543800" y="2222500"/>
            <a:ext cx="406400" cy="406400"/>
          </a:xfrm>
          <a:prstGeom prst="rect">
            <a:avLst/>
          </a:prstGeom>
        </p:spPr>
      </p:pic>
      <p:sp>
        <p:nvSpPr>
          <p:cNvPr name="AutoShape 14" id="14"/>
          <p:cNvSpPr/>
          <p:nvPr/>
        </p:nvSpPr>
        <p:spPr>
          <a:xfrm rot="0" flipH="false" flipV="false">
            <a:off x="6731000" y="2667000"/>
            <a:ext cx="2032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600">
                <a:solidFill>
                  <a:srgbClr val="FFFFFF"/>
                </a:solidFill>
                <a:latin typeface="Noto Sans SC"/>
                <a:ea typeface="Noto Sans SC"/>
                <a:cs typeface="Noto Sans SC"/>
                <a:sym typeface="Noto Sans SC"/>
              </a:rPr>
              <a:t>ASSIGNED (分配)</a:t>
            </a:r>
            <a:endParaRPr lang="en-US" sz="1100"/>
          </a:p>
        </p:txBody>
      </p:sp>
      <p:cxnSp>
        <p:nvCxnSpPr>
          <p:cNvPr name="Connector 15" id="15"/>
          <p:cNvCxnSpPr/>
          <p:nvPr/>
        </p:nvCxnSpPr>
        <p:spPr>
          <a:xfrm rot="-85925" flipH="false" flipV="false">
            <a:off x="8953579" y="2660650"/>
            <a:ext cx="508000" cy="12700"/>
          </a:xfrm>
          <a:prstGeom prst="straightConnector1">
            <a:avLst/>
          </a:prstGeom>
          <a:solidFill>
            <a:srgbClr val="DEE0E3">
              <a:alpha val="100000"/>
            </a:srgbClr>
          </a:solidFill>
          <a:ln w="25400" cmpd="sng" cap="flat">
            <a:solidFill>
              <a:srgbClr val="FFFFFF">
                <a:alpha val="50000"/>
              </a:srgbClr>
            </a:solidFill>
            <a:prstDash val="solid"/>
            <a:round/>
            <a:headEnd type="none" w="lg" len="lg"/>
            <a:tailEnd type="arrow" w="med" len="med"/>
          </a:ln>
        </p:spPr>
      </p:cxnSp>
      <p:sp>
        <p:nvSpPr>
          <p:cNvPr name="AutoShape 16" id="16"/>
          <p:cNvSpPr/>
          <p:nvPr/>
        </p:nvSpPr>
        <p:spPr>
          <a:xfrm rot="0" flipH="false" flipV="false">
            <a:off x="9525000" y="2032000"/>
            <a:ext cx="2286000" cy="1270000"/>
          </a:xfrm>
          <a:prstGeom prst="roundRect">
            <a:avLst>
              <a:gd name="adj" fmla="val 10000"/>
            </a:avLst>
          </a:prstGeom>
          <a:solidFill>
            <a:srgbClr val="FFFFFF">
              <a:alpha val="10000"/>
            </a:srgbClr>
          </a:solidFill>
          <a:ln w="12700" cmpd="sng" cap="flat">
            <a:solidFill>
              <a:srgbClr val="00BFFF">
                <a:alpha val="100000"/>
              </a:srgbClr>
            </a:solidFill>
            <a:prstDash val="solid"/>
            <a:round/>
          </a:ln>
        </p:spPr>
        <p:txBody>
          <a:bodyPr anchor="ctr" rtlCol="false" vert="horz" wrap="square" lIns="63500" rIns="63500" tIns="63500" bIns="63500"/>
          <a:lstStyle/>
          <a:p>
            <a:pPr algn="ctr">
              <a:defRPr/>
            </a:pPr>
            <a:endParaRPr/>
          </a:p>
        </p:txBody>
      </p:sp>
      <p:pic>
        <p:nvPicPr>
          <p:cNvPr name="Picture 17" id="17"/>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10464800" y="2222500"/>
            <a:ext cx="406400" cy="406400"/>
          </a:xfrm>
          <a:prstGeom prst="rect">
            <a:avLst/>
          </a:prstGeom>
        </p:spPr>
      </p:pic>
      <p:sp>
        <p:nvSpPr>
          <p:cNvPr name="AutoShape 18" id="18"/>
          <p:cNvSpPr/>
          <p:nvPr/>
        </p:nvSpPr>
        <p:spPr>
          <a:xfrm rot="0" flipH="false" flipV="false">
            <a:off x="9652000" y="2667000"/>
            <a:ext cx="2032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600">
                <a:solidFill>
                  <a:srgbClr val="FFFFFF"/>
                </a:solidFill>
                <a:latin typeface="Noto Sans SC"/>
                <a:ea typeface="Noto Sans SC"/>
                <a:cs typeface="Noto Sans SC"/>
                <a:sym typeface="Noto Sans SC"/>
              </a:rPr>
              <a:t>RUNNING (执行)</a:t>
            </a:r>
            <a:endParaRPr lang="en-US" sz="1100"/>
          </a:p>
        </p:txBody>
      </p:sp>
      <p:cxnSp>
        <p:nvCxnSpPr>
          <p:cNvPr name="Connector 19" id="19"/>
          <p:cNvCxnSpPr/>
          <p:nvPr/>
        </p:nvCxnSpPr>
        <p:spPr>
          <a:xfrm rot="-4092" flipH="false" flipV="false">
            <a:off x="762004" y="3676650"/>
            <a:ext cx="10668000" cy="12700"/>
          </a:xfrm>
          <a:prstGeom prst="line">
            <a:avLst/>
          </a:prstGeom>
          <a:solidFill>
            <a:srgbClr val="DEE0E3">
              <a:alpha val="100000"/>
            </a:srgbClr>
          </a:solidFill>
          <a:ln w="12700" cmpd="sng" cap="flat">
            <a:solidFill>
              <a:srgbClr val="FFFFFF">
                <a:alpha val="20000"/>
              </a:srgbClr>
            </a:solidFill>
            <a:prstDash val="dash"/>
            <a:round/>
            <a:headEnd type="none" w="med" len="med"/>
            <a:tailEnd type="none" w="med" len="med"/>
          </a:ln>
        </p:spPr>
      </p:cxnSp>
      <p:sp>
        <p:nvSpPr>
          <p:cNvPr name="AutoShape 20" id="20"/>
          <p:cNvSpPr/>
          <p:nvPr/>
        </p:nvSpPr>
        <p:spPr>
          <a:xfrm rot="0" flipH="false" flipV="false">
            <a:off x="762000" y="4064000"/>
            <a:ext cx="5207000" cy="1524000"/>
          </a:xfrm>
          <a:prstGeom prst="roundRect">
            <a:avLst>
              <a:gd name="adj" fmla="val 8333"/>
            </a:avLst>
          </a:prstGeom>
          <a:solidFill>
            <a:srgbClr val="10B981">
              <a:alpha val="10000"/>
            </a:srgbClr>
          </a:solidFill>
          <a:ln w="12700" cmpd="sng" cap="flat">
            <a:solidFill>
              <a:srgbClr val="10B981">
                <a:alpha val="100000"/>
              </a:srgbClr>
            </a:solidFill>
            <a:prstDash val="solid"/>
            <a:round/>
          </a:ln>
        </p:spPr>
        <p:txBody>
          <a:bodyPr anchor="ctr" rtlCol="false" vert="horz" wrap="square" lIns="63500" rIns="63500" tIns="63500" bIns="63500"/>
          <a:lstStyle/>
          <a:p>
            <a:pPr algn="ctr">
              <a:defRPr/>
            </a:pPr>
            <a:endParaRPr/>
          </a:p>
        </p:txBody>
      </p:sp>
      <p:pic>
        <p:nvPicPr>
          <p:cNvPr name="Picture 21" id="21"/>
          <p:cNvPicPr>
            <a:picLocks noChangeAspect="true"/>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0" flipH="false" flipV="false">
            <a:off x="1016000" y="4318000"/>
            <a:ext cx="508000" cy="508000"/>
          </a:xfrm>
          <a:prstGeom prst="rect">
            <a:avLst/>
          </a:prstGeom>
        </p:spPr>
      </p:pic>
      <p:sp>
        <p:nvSpPr>
          <p:cNvPr name="AutoShape 22" id="22"/>
          <p:cNvSpPr/>
          <p:nvPr/>
        </p:nvSpPr>
        <p:spPr>
          <a:xfrm rot="0" flipH="false" flipV="false">
            <a:off x="1651000" y="4318000"/>
            <a:ext cx="4318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0B981"/>
                </a:solidFill>
                <a:latin typeface="Noto Sans SC"/>
                <a:ea typeface="Noto Sans SC"/>
                <a:cs typeface="Noto Sans SC"/>
                <a:sym typeface="Noto Sans SC"/>
              </a:rPr>
              <a:t>COMPLETED (完成)</a:t>
            </a:r>
            <a:endParaRPr lang="en-US" sz="1100"/>
          </a:p>
        </p:txBody>
      </p:sp>
      <p:sp>
        <p:nvSpPr>
          <p:cNvPr name="AutoShape 23" id="23"/>
          <p:cNvSpPr/>
          <p:nvPr/>
        </p:nvSpPr>
        <p:spPr>
          <a:xfrm rot="0" flipH="false" flipV="false">
            <a:off x="1651000" y="4699000"/>
            <a:ext cx="431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70196"/>
                  </a:srgbClr>
                </a:solidFill>
                <a:latin typeface="Noto Sans SC"/>
                <a:ea typeface="Noto Sans SC"/>
                <a:cs typeface="Noto Sans SC"/>
                <a:sym typeface="Noto Sans SC"/>
              </a:rPr>
              <a:t>任务执行成功，触发所有依赖于它的后续任务。</a:t>
            </a:r>
            <a:endParaRPr lang="en-US" sz="1100"/>
          </a:p>
        </p:txBody>
      </p:sp>
      <p:sp>
        <p:nvSpPr>
          <p:cNvPr name="AutoShape 24" id="24"/>
          <p:cNvSpPr/>
          <p:nvPr/>
        </p:nvSpPr>
        <p:spPr>
          <a:xfrm rot="0" flipH="false" flipV="false">
            <a:off x="6223000" y="4064000"/>
            <a:ext cx="5207000" cy="1524000"/>
          </a:xfrm>
          <a:prstGeom prst="roundRect">
            <a:avLst>
              <a:gd name="adj" fmla="val 8333"/>
            </a:avLst>
          </a:prstGeom>
          <a:solidFill>
            <a:srgbClr val="EF4444">
              <a:alpha val="10000"/>
            </a:srgbClr>
          </a:solidFill>
          <a:ln w="12700" cmpd="sng" cap="flat">
            <a:solidFill>
              <a:srgbClr val="EF4444">
                <a:alpha val="100000"/>
              </a:srgbClr>
            </a:solidFill>
            <a:prstDash val="solid"/>
            <a:round/>
          </a:ln>
        </p:spPr>
        <p:txBody>
          <a:bodyPr anchor="ctr" rtlCol="false" vert="horz" wrap="square" lIns="63500" rIns="63500" tIns="63500" bIns="63500"/>
          <a:lstStyle/>
          <a:p>
            <a:pPr algn="ctr">
              <a:defRPr/>
            </a:pPr>
            <a:endParaRPr/>
          </a:p>
        </p:txBody>
      </p:sp>
      <p:pic>
        <p:nvPicPr>
          <p:cNvPr name="Picture 25" id="25"/>
          <p:cNvPicPr>
            <a:picLocks noChangeAspect="true"/>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rot="0" flipH="false" flipV="false">
            <a:off x="6477000" y="4318000"/>
            <a:ext cx="508000" cy="508000"/>
          </a:xfrm>
          <a:prstGeom prst="rect">
            <a:avLst/>
          </a:prstGeom>
        </p:spPr>
      </p:pic>
      <p:sp>
        <p:nvSpPr>
          <p:cNvPr name="AutoShape 26" id="26"/>
          <p:cNvSpPr/>
          <p:nvPr/>
        </p:nvSpPr>
        <p:spPr>
          <a:xfrm rot="0" flipH="false" flipV="false">
            <a:off x="7112000" y="4318000"/>
            <a:ext cx="4318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EF4444"/>
                </a:solidFill>
                <a:latin typeface="Noto Sans SC"/>
                <a:ea typeface="Noto Sans SC"/>
                <a:cs typeface="Noto Sans SC"/>
                <a:sym typeface="Noto Sans SC"/>
              </a:rPr>
              <a:t>FAILED (失败)</a:t>
            </a:r>
            <a:endParaRPr lang="en-US" sz="1100"/>
          </a:p>
        </p:txBody>
      </p:sp>
      <p:sp>
        <p:nvSpPr>
          <p:cNvPr name="AutoShape 27" id="27"/>
          <p:cNvSpPr/>
          <p:nvPr/>
        </p:nvSpPr>
        <p:spPr>
          <a:xfrm rot="0" flipH="false" flipV="false">
            <a:off x="7112000" y="4699000"/>
            <a:ext cx="431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70196"/>
                  </a:srgbClr>
                </a:solidFill>
                <a:latin typeface="Noto Sans SC"/>
                <a:ea typeface="Noto Sans SC"/>
                <a:cs typeface="Noto Sans SC"/>
                <a:sym typeface="Noto Sans SC"/>
              </a:rPr>
              <a:t>任务执行出错，停止流程并记录错误日志。</a:t>
            </a:r>
            <a:endParaRPr lang="en-US" sz="1100"/>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0A0F1E">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A1428">
              <a:alpha val="9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762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技能匹配算法</a:t>
            </a:r>
            <a:endParaRPr lang="en-US" sz="1100"/>
          </a:p>
        </p:txBody>
      </p:sp>
      <p:sp>
        <p:nvSpPr>
          <p:cNvPr name="AutoShape 4" id="4"/>
          <p:cNvSpPr/>
          <p:nvPr/>
        </p:nvSpPr>
        <p:spPr>
          <a:xfrm rot="0" flipH="false" flipV="false">
            <a:off x="762000" y="1778000"/>
            <a:ext cx="5080000" cy="4318000"/>
          </a:xfrm>
          <a:prstGeom prst="roundRect">
            <a:avLst>
              <a:gd name="adj" fmla="val 2941"/>
            </a:avLst>
          </a:prstGeom>
          <a:solidFill>
            <a:srgbClr val="FFFFFF">
              <a:alpha val="5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16000" y="2032000"/>
            <a:ext cx="304800" cy="304800"/>
          </a:xfrm>
          <a:prstGeom prst="rect">
            <a:avLst/>
          </a:prstGeom>
        </p:spPr>
      </p:pic>
      <p:sp>
        <p:nvSpPr>
          <p:cNvPr name="AutoShape 6" id="6"/>
          <p:cNvSpPr/>
          <p:nvPr/>
        </p:nvSpPr>
        <p:spPr>
          <a:xfrm rot="0" flipH="false" flipV="false">
            <a:off x="1397000" y="2006600"/>
            <a:ext cx="381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匹配度计算逻辑</a:t>
            </a:r>
            <a:endParaRPr lang="en-US" sz="1100"/>
          </a:p>
        </p:txBody>
      </p:sp>
      <p:cxnSp>
        <p:nvCxnSpPr>
          <p:cNvPr name="Connector 7" id="7"/>
          <p:cNvCxnSpPr/>
          <p:nvPr/>
        </p:nvCxnSpPr>
        <p:spPr>
          <a:xfrm rot="-9549" flipH="false" flipV="false">
            <a:off x="1016009" y="2406650"/>
            <a:ext cx="4572000" cy="12700"/>
          </a:xfrm>
          <a:prstGeom prst="straightConnector1">
            <a:avLst/>
          </a:prstGeom>
          <a:solidFill>
            <a:srgbClr val="DEE0E3">
              <a:alpha val="100000"/>
            </a:srgbClr>
          </a:solidFill>
          <a:ln w="12700" cmpd="sng" cap="flat">
            <a:solidFill>
              <a:srgbClr val="FFFFFF">
                <a:alpha val="20000"/>
              </a:srgbClr>
            </a:solidFill>
            <a:prstDash val="solid"/>
            <a:round/>
            <a:headEnd type="none" w="med" len="med"/>
            <a:tailEnd type="none" w="med" len="med"/>
          </a:ln>
        </p:spPr>
      </p:cxnSp>
      <p:sp>
        <p:nvSpPr>
          <p:cNvPr name="AutoShape 8" id="8"/>
          <p:cNvSpPr/>
          <p:nvPr/>
        </p:nvSpPr>
        <p:spPr>
          <a:xfrm rot="0" flipH="false" flipV="false">
            <a:off x="1016000" y="2603500"/>
            <a:ext cx="4572000" cy="762000"/>
          </a:xfrm>
          <a:prstGeom prst="roundRect">
            <a:avLst>
              <a:gd name="adj" fmla="val 8333"/>
            </a:avLst>
          </a:prstGeom>
          <a:solidFill>
            <a:srgbClr val="00BFFF">
              <a:alpha val="10000"/>
            </a:srgbClr>
          </a:solidFill>
          <a:ln w="254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600">
                <a:solidFill>
                  <a:srgbClr val="DCDCDC"/>
                </a:solidFill>
                <a:latin typeface="Noto Sans SC"/>
                <a:ea typeface="Noto Sans SC"/>
                <a:cs typeface="Noto Sans SC"/>
                <a:sym typeface="Noto Sans SC"/>
              </a:rPr>
              <a:t>匹配度 = 匹配的技能数 / 需要的技能数</a:t>
            </a:r>
            <a:endParaRPr lang="en-US" sz="1100"/>
          </a:p>
        </p:txBody>
      </p:sp>
      <p:sp>
        <p:nvSpPr>
          <p:cNvPr name="AutoShape 9" id="9"/>
          <p:cNvSpPr/>
          <p:nvPr/>
        </p:nvSpPr>
        <p:spPr>
          <a:xfrm rot="0" flipH="false" flipV="false">
            <a:off x="1016000" y="3492500"/>
            <a:ext cx="4572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00BFFF"/>
                </a:solidFill>
                <a:latin typeface="Noto Sans SC"/>
                <a:ea typeface="Noto Sans SC"/>
                <a:cs typeface="Noto Sans SC"/>
                <a:sym typeface="Noto Sans SC"/>
              </a:rPr>
              <a:t>示例场景：任务需求 [数据获取, 数据清洗]</a:t>
            </a:r>
            <a:endParaRPr lang="en-US" sz="1100"/>
          </a:p>
        </p:txBody>
      </p:sp>
      <p:pic>
        <p:nvPicPr>
          <p:cNvPr name="Picture 10" id="10"/>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1016000" y="3873500"/>
            <a:ext cx="254000" cy="254000"/>
          </a:xfrm>
          <a:prstGeom prst="rect">
            <a:avLst/>
          </a:prstGeom>
        </p:spPr>
      </p:pic>
      <p:sp>
        <p:nvSpPr>
          <p:cNvPr name="AutoShape 11" id="11"/>
          <p:cNvSpPr/>
          <p:nvPr/>
        </p:nvSpPr>
        <p:spPr>
          <a:xfrm rot="0" flipH="false" flipV="false">
            <a:off x="1397000" y="3848100"/>
            <a:ext cx="4191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solidFill>
                <a:latin typeface="Noto Sans SC"/>
                <a:ea typeface="Noto Sans SC"/>
                <a:cs typeface="Noto Sans SC"/>
                <a:sym typeface="Noto Sans SC"/>
              </a:rPr>
              <a:t>Data Agent (2/2) → 匹配度 1.0 (最佳)</a:t>
            </a:r>
            <a:endParaRPr lang="en-US" sz="1100"/>
          </a:p>
        </p:txBody>
      </p:sp>
      <p:pic>
        <p:nvPicPr>
          <p:cNvPr name="Picture 12" id="12"/>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1016000" y="4254500"/>
            <a:ext cx="254000" cy="254000"/>
          </a:xfrm>
          <a:prstGeom prst="rect">
            <a:avLst/>
          </a:prstGeom>
        </p:spPr>
      </p:pic>
      <p:sp>
        <p:nvSpPr>
          <p:cNvPr name="AutoShape 13" id="13"/>
          <p:cNvSpPr/>
          <p:nvPr/>
        </p:nvSpPr>
        <p:spPr>
          <a:xfrm rot="0" flipH="false" flipV="false">
            <a:off x="1397000" y="4229100"/>
            <a:ext cx="4191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solidFill>
                <a:latin typeface="Noto Sans SC"/>
                <a:ea typeface="Noto Sans SC"/>
                <a:cs typeface="Noto Sans SC"/>
                <a:sym typeface="Noto Sans SC"/>
              </a:rPr>
              <a:t>ML Agent (1/2) → 匹配度 0.5 (达标)</a:t>
            </a:r>
            <a:endParaRPr lang="en-US" sz="1100"/>
          </a:p>
        </p:txBody>
      </p:sp>
      <p:pic>
        <p:nvPicPr>
          <p:cNvPr name="Picture 14" id="14"/>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1016000" y="4635500"/>
            <a:ext cx="254000" cy="254000"/>
          </a:xfrm>
          <a:prstGeom prst="rect">
            <a:avLst/>
          </a:prstGeom>
        </p:spPr>
      </p:pic>
      <p:sp>
        <p:nvSpPr>
          <p:cNvPr name="AutoShape 15" id="15"/>
          <p:cNvSpPr/>
          <p:nvPr/>
        </p:nvSpPr>
        <p:spPr>
          <a:xfrm rot="0" flipH="false" flipV="false">
            <a:off x="1397000" y="4610100"/>
            <a:ext cx="4191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solidFill>
                <a:latin typeface="Noto Sans SC"/>
                <a:ea typeface="Noto Sans SC"/>
                <a:cs typeface="Noto Sans SC"/>
                <a:sym typeface="Noto Sans SC"/>
              </a:rPr>
              <a:t>Report Agent (1/2) → 匹配度 0.5 (达标)</a:t>
            </a:r>
            <a:endParaRPr lang="en-US" sz="1100"/>
          </a:p>
        </p:txBody>
      </p:sp>
      <p:sp>
        <p:nvSpPr>
          <p:cNvPr name="AutoShape 16" id="16"/>
          <p:cNvSpPr/>
          <p:nvPr/>
        </p:nvSpPr>
        <p:spPr>
          <a:xfrm rot="0" flipH="false" flipV="false">
            <a:off x="6096000" y="1778000"/>
            <a:ext cx="5080000" cy="4318000"/>
          </a:xfrm>
          <a:prstGeom prst="roundRect">
            <a:avLst>
              <a:gd name="adj" fmla="val 2941"/>
            </a:avLst>
          </a:prstGeom>
          <a:solidFill>
            <a:srgbClr val="FFFFFF">
              <a:alpha val="5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17" id="17"/>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6350000" y="2032000"/>
            <a:ext cx="304800" cy="304800"/>
          </a:xfrm>
          <a:prstGeom prst="rect">
            <a:avLst/>
          </a:prstGeom>
        </p:spPr>
      </p:pic>
      <p:sp>
        <p:nvSpPr>
          <p:cNvPr name="AutoShape 18" id="18"/>
          <p:cNvSpPr/>
          <p:nvPr/>
        </p:nvSpPr>
        <p:spPr>
          <a:xfrm rot="0" flipH="false" flipV="false">
            <a:off x="6731000" y="2006600"/>
            <a:ext cx="381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筛选与排序策略</a:t>
            </a:r>
            <a:endParaRPr lang="en-US" sz="1100"/>
          </a:p>
        </p:txBody>
      </p:sp>
      <p:cxnSp>
        <p:nvCxnSpPr>
          <p:cNvPr name="Connector 19" id="19"/>
          <p:cNvCxnSpPr/>
          <p:nvPr/>
        </p:nvCxnSpPr>
        <p:spPr>
          <a:xfrm rot="-9549" flipH="false" flipV="false">
            <a:off x="6350009" y="2406650"/>
            <a:ext cx="4572000" cy="12700"/>
          </a:xfrm>
          <a:prstGeom prst="straightConnector1">
            <a:avLst/>
          </a:prstGeom>
          <a:solidFill>
            <a:srgbClr val="DEE0E3">
              <a:alpha val="100000"/>
            </a:srgbClr>
          </a:solidFill>
          <a:ln w="12700" cmpd="sng" cap="flat">
            <a:solidFill>
              <a:srgbClr val="FFFFFF">
                <a:alpha val="20000"/>
              </a:srgbClr>
            </a:solidFill>
            <a:prstDash val="solid"/>
            <a:round/>
            <a:headEnd type="none" w="med" len="med"/>
            <a:tailEnd type="none" w="med" len="med"/>
          </a:ln>
        </p:spPr>
      </p:cxnSp>
      <p:sp>
        <p:nvSpPr>
          <p:cNvPr name="AutoShape 20" id="20"/>
          <p:cNvSpPr/>
          <p:nvPr/>
        </p:nvSpPr>
        <p:spPr>
          <a:xfrm rot="0" flipH="false" flipV="false">
            <a:off x="6350000" y="2603500"/>
            <a:ext cx="4572000" cy="1016000"/>
          </a:xfrm>
          <a:prstGeom prst="roundRect">
            <a:avLst>
              <a:gd name="adj" fmla="val 6250"/>
            </a:avLst>
          </a:prstGeom>
          <a:solidFill>
            <a:srgbClr val="FFFFFF">
              <a:alpha val="5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1" id="21"/>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6540500" y="2908300"/>
            <a:ext cx="406400" cy="406400"/>
          </a:xfrm>
          <a:prstGeom prst="rect">
            <a:avLst/>
          </a:prstGeom>
        </p:spPr>
      </p:pic>
      <p:sp>
        <p:nvSpPr>
          <p:cNvPr name="AutoShape 22" id="22"/>
          <p:cNvSpPr/>
          <p:nvPr/>
        </p:nvSpPr>
        <p:spPr>
          <a:xfrm rot="0" flipH="false" flipV="false">
            <a:off x="7048500" y="2730500"/>
            <a:ext cx="3810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1. 过滤阶段</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400">
                <a:solidFill>
                  <a:srgbClr val="C8C8C8"/>
                </a:solidFill>
                <a:latin typeface="Noto Sans SC"/>
                <a:ea typeface="Noto Sans SC"/>
                <a:cs typeface="Noto Sans SC"/>
                <a:sym typeface="Noto Sans SC"/>
              </a:rPr>
              <a:t>剔除匹配度低于阈值的 Agent (如 &lt; 0.5)</a:t>
            </a:r>
          </a:p>
        </p:txBody>
      </p:sp>
      <p:pic>
        <p:nvPicPr>
          <p:cNvPr name="Picture 23" id="23"/>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8483600" y="3683000"/>
            <a:ext cx="304800" cy="304800"/>
          </a:xfrm>
          <a:prstGeom prst="rect">
            <a:avLst/>
          </a:prstGeom>
        </p:spPr>
      </p:pic>
      <p:sp>
        <p:nvSpPr>
          <p:cNvPr name="AutoShape 24" id="24"/>
          <p:cNvSpPr/>
          <p:nvPr/>
        </p:nvSpPr>
        <p:spPr>
          <a:xfrm rot="0" flipH="false" flipV="false">
            <a:off x="6350000" y="4064000"/>
            <a:ext cx="4572000" cy="1016000"/>
          </a:xfrm>
          <a:prstGeom prst="roundRect">
            <a:avLst>
              <a:gd name="adj" fmla="val 6250"/>
            </a:avLst>
          </a:prstGeom>
          <a:solidFill>
            <a:srgbClr val="FFFFFF">
              <a:alpha val="5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5" id="25"/>
          <p:cNvPicPr>
            <a:picLocks noChangeAspect="true"/>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0" flipH="false" flipV="false">
            <a:off x="6540500" y="4368800"/>
            <a:ext cx="406400" cy="406400"/>
          </a:xfrm>
          <a:prstGeom prst="rect">
            <a:avLst/>
          </a:prstGeom>
        </p:spPr>
      </p:pic>
      <p:sp>
        <p:nvSpPr>
          <p:cNvPr name="AutoShape 26" id="26"/>
          <p:cNvSpPr/>
          <p:nvPr/>
        </p:nvSpPr>
        <p:spPr>
          <a:xfrm rot="0" flipH="false" flipV="false">
            <a:off x="7048500" y="4191000"/>
            <a:ext cx="3810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2. 排序阶段</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400">
                <a:solidFill>
                  <a:srgbClr val="C8C8C8"/>
                </a:solidFill>
                <a:latin typeface="Noto Sans SC"/>
                <a:ea typeface="Noto Sans SC"/>
                <a:cs typeface="Noto Sans SC"/>
                <a:sym typeface="Noto Sans SC"/>
              </a:rPr>
              <a:t>优先按匹配度降序，再按负载升序</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bg>
      <p:bgPr>
        <a:solidFill>
          <a:srgbClr val="0A0F1E">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A0F1E">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1016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选谁？</a:t>
            </a:r>
            <a:endParaRPr lang="en-US" sz="1100"/>
          </a:p>
        </p:txBody>
      </p:sp>
      <p:sp>
        <p:nvSpPr>
          <p:cNvPr name="AutoShape 4" id="4"/>
          <p:cNvSpPr/>
          <p:nvPr/>
        </p:nvSpPr>
        <p:spPr>
          <a:xfrm rot="0" flipH="false" flipV="false">
            <a:off x="762000" y="2032000"/>
            <a:ext cx="5080000" cy="2286000"/>
          </a:xfrm>
          <a:prstGeom prst="roundRect">
            <a:avLst>
              <a:gd name="adj" fmla="val 5555"/>
            </a:avLst>
          </a:prstGeom>
          <a:solidFill>
            <a:srgbClr val="FFFFFF">
              <a:alpha val="5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16000" y="2286000"/>
            <a:ext cx="609600" cy="609600"/>
          </a:xfrm>
          <a:prstGeom prst="rect">
            <a:avLst/>
          </a:prstGeom>
        </p:spPr>
      </p:pic>
      <p:sp>
        <p:nvSpPr>
          <p:cNvPr name="AutoShape 6" id="6"/>
          <p:cNvSpPr/>
          <p:nvPr/>
        </p:nvSpPr>
        <p:spPr>
          <a:xfrm rot="0" flipH="false" flipV="false">
            <a:off x="1778000" y="2286000"/>
            <a:ext cx="3175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Agent A</a:t>
            </a:r>
            <a:endParaRPr lang="en-US" sz="1100"/>
          </a:p>
        </p:txBody>
      </p:sp>
      <p:pic>
        <p:nvPicPr>
          <p:cNvPr name="Picture 7" id="7"/>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1016000" y="2984500"/>
            <a:ext cx="254000" cy="254000"/>
          </a:xfrm>
          <a:prstGeom prst="rect">
            <a:avLst/>
          </a:prstGeom>
        </p:spPr>
      </p:pic>
      <p:sp>
        <p:nvSpPr>
          <p:cNvPr name="AutoShape 8" id="8"/>
          <p:cNvSpPr/>
          <p:nvPr/>
        </p:nvSpPr>
        <p:spPr>
          <a:xfrm rot="0" flipH="false" flipV="false">
            <a:off x="1397000" y="2959100"/>
            <a:ext cx="3810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C8C8C8"/>
                </a:solidFill>
                <a:latin typeface="Noto Sans SC"/>
                <a:ea typeface="Noto Sans SC"/>
                <a:cs typeface="Noto Sans SC"/>
                <a:sym typeface="Noto Sans SC"/>
              </a:rPr>
              <a:t>匹配度：</a:t>
            </a:r>
            <a:r>
              <a:rPr lang="en-US" b="true" i="false" strike="noStrike" u="none" sz="1600">
                <a:solidFill>
                  <a:srgbClr val="00BFFF"/>
                </a:solidFill>
                <a:latin typeface="Noto Sans SC"/>
                <a:ea typeface="Noto Sans SC"/>
                <a:cs typeface="Noto Sans SC"/>
                <a:sym typeface="Noto Sans SC"/>
              </a:rPr>
              <a:t>0.8 (高)</a:t>
            </a:r>
            <a:endParaRPr lang="en-US" sz="1100"/>
          </a:p>
        </p:txBody>
      </p:sp>
      <p:pic>
        <p:nvPicPr>
          <p:cNvPr name="Picture 9" id="9"/>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1016000" y="3365500"/>
            <a:ext cx="254000" cy="254000"/>
          </a:xfrm>
          <a:prstGeom prst="rect">
            <a:avLst/>
          </a:prstGeom>
        </p:spPr>
      </p:pic>
      <p:sp>
        <p:nvSpPr>
          <p:cNvPr name="AutoShape 10" id="10"/>
          <p:cNvSpPr/>
          <p:nvPr/>
        </p:nvSpPr>
        <p:spPr>
          <a:xfrm rot="0" flipH="false" flipV="false">
            <a:off x="1397000" y="3340100"/>
            <a:ext cx="3810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C8C8C8"/>
                </a:solidFill>
                <a:latin typeface="Noto Sans SC"/>
                <a:ea typeface="Noto Sans SC"/>
                <a:cs typeface="Noto Sans SC"/>
                <a:sym typeface="Noto Sans SC"/>
              </a:rPr>
              <a:t>当前负载：</a:t>
            </a:r>
            <a:r>
              <a:rPr lang="en-US" b="false" i="false" strike="noStrike" u="none" sz="1400">
                <a:solidFill>
                  <a:srgbClr val="FFFFFF"/>
                </a:solidFill>
                <a:latin typeface="Noto Sans SC"/>
                <a:ea typeface="Noto Sans SC"/>
                <a:cs typeface="Noto Sans SC"/>
                <a:sym typeface="Noto Sans SC"/>
              </a:rPr>
              <a:t>3 个任务</a:t>
            </a:r>
            <a:endParaRPr lang="en-US" sz="1100"/>
          </a:p>
        </p:txBody>
      </p:sp>
      <p:sp>
        <p:nvSpPr>
          <p:cNvPr name="AutoShape 11" id="11"/>
          <p:cNvSpPr/>
          <p:nvPr/>
        </p:nvSpPr>
        <p:spPr>
          <a:xfrm rot="0" flipH="false" flipV="false">
            <a:off x="6350000" y="2032000"/>
            <a:ext cx="5080000" cy="2286000"/>
          </a:xfrm>
          <a:prstGeom prst="roundRect">
            <a:avLst>
              <a:gd name="adj" fmla="val 5555"/>
            </a:avLst>
          </a:prstGeom>
          <a:solidFill>
            <a:srgbClr val="FFFFFF">
              <a:alpha val="5000"/>
            </a:srgbClr>
          </a:solidFill>
          <a:ln w="12700" cmpd="sng" cap="flat">
            <a:solidFill>
              <a:srgbClr val="646464">
                <a:alpha val="30000"/>
              </a:srgbClr>
            </a:solidFill>
            <a:prstDash val="solid"/>
            <a:round/>
          </a:ln>
        </p:spPr>
        <p:txBody>
          <a:bodyPr anchor="ctr" rtlCol="false" vert="horz" wrap="square" lIns="63500" rIns="63500" tIns="63500" bIns="63500"/>
          <a:lstStyle/>
          <a:p>
            <a:pPr algn="ctr">
              <a:defRPr/>
            </a:pPr>
            <a:endParaRPr/>
          </a:p>
        </p:txBody>
      </p:sp>
      <p:pic>
        <p:nvPicPr>
          <p:cNvPr name="Picture 12" id="12"/>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6604000" y="2286000"/>
            <a:ext cx="609600" cy="609600"/>
          </a:xfrm>
          <a:prstGeom prst="rect">
            <a:avLst/>
          </a:prstGeom>
        </p:spPr>
      </p:pic>
      <p:sp>
        <p:nvSpPr>
          <p:cNvPr name="AutoShape 13" id="13"/>
          <p:cNvSpPr/>
          <p:nvPr/>
        </p:nvSpPr>
        <p:spPr>
          <a:xfrm rot="0" flipH="false" flipV="false">
            <a:off x="7366000" y="2286000"/>
            <a:ext cx="3175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C8C8C8"/>
                </a:solidFill>
                <a:latin typeface="Noto Sans SC"/>
                <a:ea typeface="Noto Sans SC"/>
                <a:cs typeface="Noto Sans SC"/>
                <a:sym typeface="Noto Sans SC"/>
              </a:rPr>
              <a:t>Agent B</a:t>
            </a:r>
            <a:endParaRPr lang="en-US" sz="1100"/>
          </a:p>
        </p:txBody>
      </p:sp>
      <p:pic>
        <p:nvPicPr>
          <p:cNvPr name="Picture 14" id="14"/>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6604000" y="2984500"/>
            <a:ext cx="254000" cy="254000"/>
          </a:xfrm>
          <a:prstGeom prst="rect">
            <a:avLst/>
          </a:prstGeom>
        </p:spPr>
      </p:pic>
      <p:sp>
        <p:nvSpPr>
          <p:cNvPr name="AutoShape 15" id="15"/>
          <p:cNvSpPr/>
          <p:nvPr/>
        </p:nvSpPr>
        <p:spPr>
          <a:xfrm rot="0" flipH="false" flipV="false">
            <a:off x="6985000" y="2959100"/>
            <a:ext cx="3810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C8C8C8"/>
                </a:solidFill>
                <a:latin typeface="Noto Sans SC"/>
                <a:ea typeface="Noto Sans SC"/>
                <a:cs typeface="Noto Sans SC"/>
                <a:sym typeface="Noto Sans SC"/>
              </a:rPr>
              <a:t>匹配度：</a:t>
            </a:r>
            <a:r>
              <a:rPr lang="en-US" b="false" i="false" strike="noStrike" u="none" sz="1600">
                <a:solidFill>
                  <a:srgbClr val="C8C8C8"/>
                </a:solidFill>
                <a:latin typeface="Noto Sans SC"/>
                <a:ea typeface="Noto Sans SC"/>
                <a:cs typeface="Noto Sans SC"/>
                <a:sym typeface="Noto Sans SC"/>
              </a:rPr>
              <a:t>0.6 (低)</a:t>
            </a:r>
            <a:endParaRPr lang="en-US" sz="1100"/>
          </a:p>
        </p:txBody>
      </p:sp>
      <p:pic>
        <p:nvPicPr>
          <p:cNvPr name="Picture 16" id="16"/>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6604000" y="3365500"/>
            <a:ext cx="254000" cy="254000"/>
          </a:xfrm>
          <a:prstGeom prst="rect">
            <a:avLst/>
          </a:prstGeom>
        </p:spPr>
      </p:pic>
      <p:sp>
        <p:nvSpPr>
          <p:cNvPr name="AutoShape 17" id="17"/>
          <p:cNvSpPr/>
          <p:nvPr/>
        </p:nvSpPr>
        <p:spPr>
          <a:xfrm rot="0" flipH="false" flipV="false">
            <a:off x="6985000" y="3340100"/>
            <a:ext cx="3810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C8C8C8"/>
                </a:solidFill>
                <a:latin typeface="Noto Sans SC"/>
                <a:ea typeface="Noto Sans SC"/>
                <a:cs typeface="Noto Sans SC"/>
                <a:sym typeface="Noto Sans SC"/>
              </a:rPr>
              <a:t>当前负载：</a:t>
            </a:r>
            <a:r>
              <a:rPr lang="en-US" b="false" i="false" strike="noStrike" u="none" sz="1400">
                <a:solidFill>
                  <a:srgbClr val="FFFFFF"/>
                </a:solidFill>
                <a:latin typeface="Noto Sans SC"/>
                <a:ea typeface="Noto Sans SC"/>
                <a:cs typeface="Noto Sans SC"/>
                <a:sym typeface="Noto Sans SC"/>
              </a:rPr>
              <a:t>1 个任务</a:t>
            </a:r>
            <a:endParaRPr lang="en-US" sz="1100"/>
          </a:p>
        </p:txBody>
      </p:sp>
      <p:sp>
        <p:nvSpPr>
          <p:cNvPr name="AutoShape 18" id="18"/>
          <p:cNvSpPr/>
          <p:nvPr/>
        </p:nvSpPr>
        <p:spPr>
          <a:xfrm rot="0" flipH="false" flipV="false">
            <a:off x="762000" y="4572000"/>
            <a:ext cx="10668000" cy="1524000"/>
          </a:xfrm>
          <a:prstGeom prst="roundRect">
            <a:avLst>
              <a:gd name="adj" fmla="val 8333"/>
            </a:avLst>
          </a:prstGeom>
          <a:solidFill>
            <a:srgbClr val="00BFFF">
              <a:alpha val="10000"/>
            </a:srgbClr>
          </a:solidFill>
          <a:ln w="12700" cmpd="sng" cap="flat">
            <a:solidFill>
              <a:srgbClr val="00BFFF">
                <a:alpha val="50000"/>
              </a:srgbClr>
            </a:solidFill>
            <a:prstDash val="solid"/>
            <a:round/>
          </a:ln>
        </p:spPr>
        <p:txBody>
          <a:bodyPr anchor="ctr" rtlCol="false" vert="horz" wrap="square" lIns="63500" rIns="63500" tIns="63500" bIns="63500"/>
          <a:lstStyle/>
          <a:p>
            <a:pPr algn="ctr">
              <a:defRPr/>
            </a:pPr>
            <a:endParaRPr/>
          </a:p>
        </p:txBody>
      </p:sp>
      <p:pic>
        <p:nvPicPr>
          <p:cNvPr name="Picture 19" id="19"/>
          <p:cNvPicPr>
            <a:picLocks noChangeAspect="true"/>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0" flipH="false" flipV="false">
            <a:off x="1016000" y="4826000"/>
            <a:ext cx="406400" cy="406400"/>
          </a:xfrm>
          <a:prstGeom prst="rect">
            <a:avLst/>
          </a:prstGeom>
        </p:spPr>
      </p:pic>
      <p:sp>
        <p:nvSpPr>
          <p:cNvPr name="AutoShape 20" id="20"/>
          <p:cNvSpPr/>
          <p:nvPr/>
        </p:nvSpPr>
        <p:spPr>
          <a:xfrm rot="0" flipH="false" flipV="false">
            <a:off x="1524000" y="4826000"/>
            <a:ext cx="889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00BFFF"/>
                </a:solidFill>
                <a:latin typeface="Noto Sans SC"/>
                <a:ea typeface="Noto Sans SC"/>
                <a:cs typeface="Noto Sans SC"/>
                <a:sym typeface="Noto Sans SC"/>
              </a:rPr>
              <a:t>答案：选 A</a:t>
            </a:r>
            <a:endParaRPr lang="en-US" sz="1100"/>
          </a:p>
        </p:txBody>
      </p:sp>
      <p:cxnSp>
        <p:nvCxnSpPr>
          <p:cNvPr name="Connector 21" id="21"/>
          <p:cNvCxnSpPr/>
          <p:nvPr/>
        </p:nvCxnSpPr>
        <p:spPr>
          <a:xfrm rot="-4297" flipH="false" flipV="false">
            <a:off x="1016004" y="5264150"/>
            <a:ext cx="10160000" cy="12700"/>
          </a:xfrm>
          <a:prstGeom prst="straightConnector1">
            <a:avLst/>
          </a:prstGeom>
          <a:solidFill>
            <a:srgbClr val="DEE0E3">
              <a:alpha val="100000"/>
            </a:srgbClr>
          </a:solidFill>
          <a:ln w="12700" cmpd="sng" cap="flat">
            <a:solidFill>
              <a:srgbClr val="FFFFFF">
                <a:alpha val="20000"/>
              </a:srgbClr>
            </a:solidFill>
            <a:prstDash val="solid"/>
            <a:round/>
            <a:headEnd type="none" w="med" len="med"/>
            <a:tailEnd type="none" w="med" len="med"/>
          </a:ln>
        </p:spPr>
      </p:cxnSp>
      <p:pic>
        <p:nvPicPr>
          <p:cNvPr name="Picture 22" id="22"/>
          <p:cNvPicPr>
            <a:picLocks noChangeAspect="true"/>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rot="0" flipH="false" flipV="false">
            <a:off x="1016000" y="5461000"/>
            <a:ext cx="304800" cy="304800"/>
          </a:xfrm>
          <a:prstGeom prst="rect">
            <a:avLst/>
          </a:prstGeom>
        </p:spPr>
      </p:pic>
      <p:sp>
        <p:nvSpPr>
          <p:cNvPr name="AutoShape 23" id="23"/>
          <p:cNvSpPr/>
          <p:nvPr/>
        </p:nvSpPr>
        <p:spPr>
          <a:xfrm rot="0" flipH="false" flipV="false">
            <a:off x="1397000" y="5435600"/>
            <a:ext cx="9652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DCDCDC"/>
                </a:solidFill>
                <a:latin typeface="Noto Sans SC"/>
                <a:ea typeface="Noto Sans SC"/>
                <a:cs typeface="Noto Sans SC"/>
                <a:sym typeface="Noto Sans SC"/>
              </a:rPr>
              <a:t>核心原则：匹配度是第一排序条件（0.8 &gt; 0.6），</a:t>
            </a:r>
            <a:r>
              <a:rPr lang="en-US" b="true" i="false" strike="noStrike" u="none" sz="1400">
                <a:solidFill>
                  <a:srgbClr val="FFFF00"/>
                </a:solidFill>
                <a:latin typeface="Noto Sans SC"/>
                <a:ea typeface="Noto Sans SC"/>
                <a:cs typeface="Noto Sans SC"/>
                <a:sym typeface="Noto Sans SC"/>
              </a:rPr>
              <a:t>能力匹配优先于负载均衡</a:t>
            </a:r>
            <a:r>
              <a:rPr lang="en-US" b="false" i="false" strike="noStrike" u="none" sz="1400">
                <a:solidFill>
                  <a:srgbClr val="DCDCDC"/>
                </a:solidFill>
                <a:latin typeface="Noto Sans SC"/>
                <a:ea typeface="Noto Sans SC"/>
                <a:cs typeface="Noto Sans SC"/>
                <a:sym typeface="Noto Sans SC"/>
              </a:rPr>
              <a:t>。</a:t>
            </a:r>
            <a:endParaRPr lang="en-US" sz="1100"/>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bg>
      <p:bgPr>
        <a:solidFill>
          <a:srgbClr val="0F172A">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F172A">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1016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依赖触发流程</a:t>
            </a:r>
            <a:endParaRPr lang="en-US" sz="1100"/>
          </a:p>
        </p:txBody>
      </p:sp>
      <p:sp>
        <p:nvSpPr>
          <p:cNvPr name="AutoShape 4" id="4"/>
          <p:cNvSpPr/>
          <p:nvPr/>
        </p:nvSpPr>
        <p:spPr>
          <a:xfrm rot="0" flipH="false" flipV="false">
            <a:off x="762000" y="2032000"/>
            <a:ext cx="3302000" cy="3556000"/>
          </a:xfrm>
          <a:prstGeom prst="roundRect">
            <a:avLst>
              <a:gd name="adj" fmla="val 3846"/>
            </a:avLst>
          </a:prstGeom>
          <a:solidFill>
            <a:srgbClr val="FFFFFF">
              <a:alpha val="5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16000" y="2286000"/>
            <a:ext cx="406400" cy="406400"/>
          </a:xfrm>
          <a:prstGeom prst="rect">
            <a:avLst/>
          </a:prstGeom>
        </p:spPr>
      </p:pic>
      <p:sp>
        <p:nvSpPr>
          <p:cNvPr name="AutoShape 6" id="6"/>
          <p:cNvSpPr/>
          <p:nvPr/>
        </p:nvSpPr>
        <p:spPr>
          <a:xfrm rot="0" flipH="false" flipV="false">
            <a:off x="1524000" y="2286000"/>
            <a:ext cx="254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任务初始状态</a:t>
            </a:r>
            <a:endParaRPr lang="en-US" sz="1100"/>
          </a:p>
        </p:txBody>
      </p:sp>
      <p:cxnSp>
        <p:nvCxnSpPr>
          <p:cNvPr name="Connector 7" id="7"/>
          <p:cNvCxnSpPr/>
          <p:nvPr/>
        </p:nvCxnSpPr>
        <p:spPr>
          <a:xfrm rot="-15626" flipH="false" flipV="false">
            <a:off x="1016014" y="2787650"/>
            <a:ext cx="2794000" cy="12700"/>
          </a:xfrm>
          <a:prstGeom prst="straightConnector1">
            <a:avLst/>
          </a:prstGeom>
          <a:solidFill>
            <a:srgbClr val="DEE0E3">
              <a:alpha val="100000"/>
            </a:srgbClr>
          </a:solidFill>
          <a:ln w="12700" cmpd="sng" cap="flat">
            <a:solidFill>
              <a:srgbClr val="FFFFFF">
                <a:alpha val="20000"/>
              </a:srgbClr>
            </a:solidFill>
            <a:prstDash val="solid"/>
            <a:round/>
            <a:headEnd type="none" w="med" len="med"/>
            <a:tailEnd type="none" w="med" len="med"/>
          </a:ln>
        </p:spPr>
      </p:cxnSp>
      <p:sp>
        <p:nvSpPr>
          <p:cNvPr name="AutoShape 8" id="8"/>
          <p:cNvSpPr/>
          <p:nvPr/>
        </p:nvSpPr>
        <p:spPr>
          <a:xfrm rot="0" flipH="false" flipV="false">
            <a:off x="1016000" y="2921000"/>
            <a:ext cx="2794000" cy="2286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00BFFF"/>
                </a:solidFill>
                <a:latin typeface="Noto Sans SC"/>
                <a:ea typeface="Noto Sans SC"/>
                <a:cs typeface="Noto Sans SC"/>
                <a:sym typeface="Noto Sans SC"/>
              </a:rPr>
              <a:t>Task A (获取ETH数据)</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200">
                <a:solidFill>
                  <a:srgbClr val="FFFFFF">
                    <a:alpha val="70196"/>
                  </a:srgbClr>
                </a:solidFill>
                <a:latin typeface="Noto Sans SC"/>
                <a:ea typeface="Noto Sans SC"/>
                <a:cs typeface="Noto Sans SC"/>
                <a:sym typeface="Noto Sans SC"/>
              </a:rPr>
              <a:t>无依赖，立即分配执行</a:t>
            </a:r>
            <a:r>
              <a:rPr lang="en-US" b="false" i="false" strike="noStrike" u="none" sz="1600">
                <a:solidFill>
                  <a:srgbClr val="1F2329"/>
                </a:solidFill>
                <a:latin typeface="Noto Sans SC"/>
                <a:ea typeface="Noto Sans SC"/>
                <a:cs typeface="Noto Sans SC"/>
                <a:sym typeface="Noto Sans SC"/>
              </a:rPr>
              <a:t/>
            </a:r>
          </a:p>
          <a:p>
            <a:pPr algn="l" indent="0">
              <a:lnSpc>
                <a:spcPct val="125000"/>
              </a:lnSpc>
            </a:pPr>
            <a:r>
              <a:rPr lang="en-US" b="false" i="false" strike="noStrike" u="none" sz="1600">
                <a:solidFill>
                  <a:srgbClr val="1F2329"/>
                </a:solidFill>
                <a:latin typeface="Noto Sans SC"/>
                <a:ea typeface="Noto Sans SC"/>
                <a:cs typeface="Noto Sans SC"/>
                <a:sym typeface="Noto Sans SC"/>
              </a:rPr>
              <a:t/>
            </a:r>
          </a:p>
          <a:p>
            <a:pPr algn="l" indent="0">
              <a:lnSpc>
                <a:spcPct val="125000"/>
              </a:lnSpc>
            </a:pPr>
            <a:r>
              <a:rPr lang="en-US" b="true" i="false" strike="noStrike" u="none" sz="1400">
                <a:solidFill>
                  <a:srgbClr val="FFA500"/>
                </a:solidFill>
                <a:latin typeface="Noto Sans SC"/>
                <a:ea typeface="Noto Sans SC"/>
                <a:cs typeface="Noto Sans SC"/>
                <a:sym typeface="Noto Sans SC"/>
              </a:rPr>
              <a:t>Task B (计算指标)</a:t>
            </a:r>
            <a:r>
              <a:rPr lang="en-US" b="false" i="false" strike="noStrike" u="none" sz="1600">
                <a:solidFill>
                  <a:srgbClr val="1F2329"/>
                </a:solidFill>
                <a:latin typeface="Noto Sans SC"/>
                <a:ea typeface="Noto Sans SC"/>
                <a:cs typeface="Noto Sans SC"/>
                <a:sym typeface="Noto Sans SC"/>
              </a:rPr>
              <a:t/>
            </a:r>
          </a:p>
          <a:p>
            <a:pPr algn="l" indent="0">
              <a:lnSpc>
                <a:spcPct val="125000"/>
              </a:lnSpc>
            </a:pPr>
            <a:r>
              <a:rPr lang="en-US" b="false" i="false" strike="noStrike" u="none" sz="1200">
                <a:solidFill>
                  <a:srgbClr val="FFFFFF">
                    <a:alpha val="70196"/>
                  </a:srgbClr>
                </a:solidFill>
                <a:latin typeface="Noto Sans SC"/>
                <a:ea typeface="Noto Sans SC"/>
                <a:cs typeface="Noto Sans SC"/>
                <a:sym typeface="Noto Sans SC"/>
              </a:rPr>
              <a:t>依赖 Task A，进入 PENDING 状态等待</a:t>
            </a:r>
          </a:p>
        </p:txBody>
      </p:sp>
      <p:pic>
        <p:nvPicPr>
          <p:cNvPr name="Picture 9" id="9"/>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4229100" y="3657600"/>
            <a:ext cx="304800" cy="304800"/>
          </a:xfrm>
          <a:prstGeom prst="rect">
            <a:avLst/>
          </a:prstGeom>
        </p:spPr>
      </p:pic>
      <p:sp>
        <p:nvSpPr>
          <p:cNvPr name="AutoShape 10" id="10"/>
          <p:cNvSpPr/>
          <p:nvPr/>
        </p:nvSpPr>
        <p:spPr>
          <a:xfrm rot="0" flipH="false" flipV="false">
            <a:off x="4699000" y="2032000"/>
            <a:ext cx="3302000" cy="3556000"/>
          </a:xfrm>
          <a:prstGeom prst="roundRect">
            <a:avLst>
              <a:gd name="adj" fmla="val 3846"/>
            </a:avLst>
          </a:prstGeom>
          <a:solidFill>
            <a:srgbClr val="FFFFFF">
              <a:alpha val="5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4953000" y="2286000"/>
            <a:ext cx="406400" cy="406400"/>
          </a:xfrm>
          <a:prstGeom prst="rect">
            <a:avLst/>
          </a:prstGeom>
        </p:spPr>
      </p:pic>
      <p:sp>
        <p:nvSpPr>
          <p:cNvPr name="AutoShape 12" id="12"/>
          <p:cNvSpPr/>
          <p:nvPr/>
        </p:nvSpPr>
        <p:spPr>
          <a:xfrm rot="0" flipH="false" flipV="false">
            <a:off x="5461000" y="2286000"/>
            <a:ext cx="254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任务完成触发</a:t>
            </a:r>
            <a:endParaRPr lang="en-US" sz="1100"/>
          </a:p>
        </p:txBody>
      </p:sp>
      <p:cxnSp>
        <p:nvCxnSpPr>
          <p:cNvPr name="Connector 13" id="13"/>
          <p:cNvCxnSpPr/>
          <p:nvPr/>
        </p:nvCxnSpPr>
        <p:spPr>
          <a:xfrm rot="-15626" flipH="false" flipV="false">
            <a:off x="4953014" y="2787650"/>
            <a:ext cx="2794000" cy="12700"/>
          </a:xfrm>
          <a:prstGeom prst="straightConnector1">
            <a:avLst/>
          </a:prstGeom>
          <a:solidFill>
            <a:srgbClr val="DEE0E3">
              <a:alpha val="100000"/>
            </a:srgbClr>
          </a:solidFill>
          <a:ln w="12700" cmpd="sng" cap="flat">
            <a:solidFill>
              <a:srgbClr val="FFFFFF">
                <a:alpha val="20000"/>
              </a:srgbClr>
            </a:solidFill>
            <a:prstDash val="solid"/>
            <a:round/>
            <a:headEnd type="none" w="med" len="med"/>
            <a:tailEnd type="none" w="med" len="med"/>
          </a:ln>
        </p:spPr>
      </p:cxnSp>
      <p:sp>
        <p:nvSpPr>
          <p:cNvPr name="AutoShape 14" id="14"/>
          <p:cNvSpPr/>
          <p:nvPr/>
        </p:nvSpPr>
        <p:spPr>
          <a:xfrm rot="0" flipH="false" flipV="false">
            <a:off x="4953000" y="2921000"/>
            <a:ext cx="2794000" cy="2286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90196"/>
                  </a:srgbClr>
                </a:solidFill>
                <a:latin typeface="Noto Sans SC"/>
                <a:ea typeface="Noto Sans SC"/>
                <a:cs typeface="Noto Sans SC"/>
                <a:sym typeface="Noto Sans SC"/>
              </a:rPr>
              <a:t>1. Task A 执行完成</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200">
                <a:solidFill>
                  <a:srgbClr val="FFFFFF">
                    <a:alpha val="70196"/>
                  </a:srgbClr>
                </a:solidFill>
                <a:latin typeface="Noto Sans SC"/>
                <a:ea typeface="Noto Sans SC"/>
                <a:cs typeface="Noto Sans SC"/>
                <a:sym typeface="Noto Sans SC"/>
              </a:rPr>
              <a:t>系统自动调用 handle_task_completion(A)</a:t>
            </a:r>
            <a:r>
              <a:rPr lang="en-US" b="false" i="false" strike="noStrike" u="none" sz="1600">
                <a:solidFill>
                  <a:srgbClr val="1F2329"/>
                </a:solidFill>
                <a:latin typeface="Noto Sans SC"/>
                <a:ea typeface="Noto Sans SC"/>
                <a:cs typeface="Noto Sans SC"/>
                <a:sym typeface="Noto Sans SC"/>
              </a:rPr>
              <a:t/>
            </a:r>
          </a:p>
          <a:p>
            <a:pPr algn="l" indent="0">
              <a:lnSpc>
                <a:spcPct val="125000"/>
              </a:lnSpc>
            </a:pPr>
            <a:r>
              <a:rPr lang="en-US" b="false" i="false" strike="noStrike" u="none" sz="1600">
                <a:solidFill>
                  <a:srgbClr val="1F2329"/>
                </a:solidFill>
                <a:latin typeface="Noto Sans SC"/>
                <a:ea typeface="Noto Sans SC"/>
                <a:cs typeface="Noto Sans SC"/>
                <a:sym typeface="Noto Sans SC"/>
              </a:rPr>
              <a:t/>
            </a:r>
          </a:p>
          <a:p>
            <a:pPr algn="l" indent="0">
              <a:lnSpc>
                <a:spcPct val="125000"/>
              </a:lnSpc>
            </a:pPr>
            <a:r>
              <a:rPr lang="en-US" b="false" i="false" strike="noStrike" u="none" sz="1400">
                <a:solidFill>
                  <a:srgbClr val="FFFFFF">
                    <a:alpha val="90196"/>
                  </a:srgbClr>
                </a:solidFill>
                <a:latin typeface="Noto Sans SC"/>
                <a:ea typeface="Noto Sans SC"/>
                <a:cs typeface="Noto Sans SC"/>
                <a:sym typeface="Noto Sans SC"/>
              </a:rPr>
              <a:t>2. 遍历检查</a:t>
            </a:r>
            <a:r>
              <a:rPr lang="en-US" b="false" i="false" strike="noStrike" u="none" sz="1600">
                <a:solidFill>
                  <a:srgbClr val="1F2329"/>
                </a:solidFill>
                <a:latin typeface="Noto Sans SC"/>
                <a:ea typeface="Noto Sans SC"/>
                <a:cs typeface="Noto Sans SC"/>
                <a:sym typeface="Noto Sans SC"/>
              </a:rPr>
              <a:t/>
            </a:r>
          </a:p>
          <a:p>
            <a:pPr algn="l" indent="0">
              <a:lnSpc>
                <a:spcPct val="125000"/>
              </a:lnSpc>
            </a:pPr>
            <a:r>
              <a:rPr lang="en-US" b="false" i="false" strike="noStrike" u="none" sz="1200">
                <a:solidFill>
                  <a:srgbClr val="FFFFFF">
                    <a:alpha val="70196"/>
                  </a:srgbClr>
                </a:solidFill>
                <a:latin typeface="Noto Sans SC"/>
                <a:ea typeface="Noto Sans SC"/>
                <a:cs typeface="Noto Sans SC"/>
                <a:sym typeface="Noto Sans SC"/>
              </a:rPr>
              <a:t>扫描所有处于 PENDING 状态的任务，寻找依赖于 A 的任务</a:t>
            </a:r>
          </a:p>
        </p:txBody>
      </p:sp>
      <p:pic>
        <p:nvPicPr>
          <p:cNvPr name="Picture 15" id="15"/>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8166100" y="3657600"/>
            <a:ext cx="304800" cy="304800"/>
          </a:xfrm>
          <a:prstGeom prst="rect">
            <a:avLst/>
          </a:prstGeom>
        </p:spPr>
      </p:pic>
      <p:sp>
        <p:nvSpPr>
          <p:cNvPr name="AutoShape 16" id="16"/>
          <p:cNvSpPr/>
          <p:nvPr/>
        </p:nvSpPr>
        <p:spPr>
          <a:xfrm rot="0" flipH="false" flipV="false">
            <a:off x="8636000" y="2032000"/>
            <a:ext cx="3302000" cy="3556000"/>
          </a:xfrm>
          <a:prstGeom prst="roundRect">
            <a:avLst>
              <a:gd name="adj" fmla="val 3846"/>
            </a:avLst>
          </a:prstGeom>
          <a:solidFill>
            <a:srgbClr val="FFFFFF">
              <a:alpha val="5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17" id="17"/>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8890000" y="2286000"/>
            <a:ext cx="406400" cy="406400"/>
          </a:xfrm>
          <a:prstGeom prst="rect">
            <a:avLst/>
          </a:prstGeom>
        </p:spPr>
      </p:pic>
      <p:sp>
        <p:nvSpPr>
          <p:cNvPr name="AutoShape 18" id="18"/>
          <p:cNvSpPr/>
          <p:nvPr/>
        </p:nvSpPr>
        <p:spPr>
          <a:xfrm rot="0" flipH="false" flipV="false">
            <a:off x="9398000" y="2286000"/>
            <a:ext cx="254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依赖解析与分配</a:t>
            </a:r>
            <a:endParaRPr lang="en-US" sz="1100"/>
          </a:p>
        </p:txBody>
      </p:sp>
      <p:cxnSp>
        <p:nvCxnSpPr>
          <p:cNvPr name="Connector 19" id="19"/>
          <p:cNvCxnSpPr/>
          <p:nvPr/>
        </p:nvCxnSpPr>
        <p:spPr>
          <a:xfrm rot="-15626" flipH="false" flipV="false">
            <a:off x="8890014" y="2787650"/>
            <a:ext cx="2794000" cy="12700"/>
          </a:xfrm>
          <a:prstGeom prst="straightConnector1">
            <a:avLst/>
          </a:prstGeom>
          <a:solidFill>
            <a:srgbClr val="DEE0E3">
              <a:alpha val="100000"/>
            </a:srgbClr>
          </a:solidFill>
          <a:ln w="12700" cmpd="sng" cap="flat">
            <a:solidFill>
              <a:srgbClr val="FFFFFF">
                <a:alpha val="20000"/>
              </a:srgbClr>
            </a:solidFill>
            <a:prstDash val="solid"/>
            <a:round/>
            <a:headEnd type="none" w="med" len="med"/>
            <a:tailEnd type="none" w="med" len="med"/>
          </a:ln>
        </p:spPr>
      </p:cxnSp>
      <p:sp>
        <p:nvSpPr>
          <p:cNvPr name="AutoShape 20" id="20"/>
          <p:cNvSpPr/>
          <p:nvPr/>
        </p:nvSpPr>
        <p:spPr>
          <a:xfrm rot="0" flipH="false" flipV="false">
            <a:off x="8890000" y="2921000"/>
            <a:ext cx="2794000" cy="2286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90196"/>
                  </a:srgbClr>
                </a:solidFill>
                <a:latin typeface="Noto Sans SC"/>
                <a:ea typeface="Noto Sans SC"/>
                <a:cs typeface="Noto Sans SC"/>
                <a:sym typeface="Noto Sans SC"/>
              </a:rPr>
              <a:t>1. 发现 Task B</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200">
                <a:solidFill>
                  <a:srgbClr val="FFFFFF">
                    <a:alpha val="70196"/>
                  </a:srgbClr>
                </a:solidFill>
                <a:latin typeface="Noto Sans SC"/>
                <a:ea typeface="Noto Sans SC"/>
                <a:cs typeface="Noto Sans SC"/>
                <a:sym typeface="Noto Sans SC"/>
              </a:rPr>
              <a:t>检测到 B 依赖于已完成的 A，调用 _try_assign_task(B)</a:t>
            </a:r>
            <a:r>
              <a:rPr lang="en-US" b="false" i="false" strike="noStrike" u="none" sz="1600">
                <a:solidFill>
                  <a:srgbClr val="1F2329"/>
                </a:solidFill>
                <a:latin typeface="Noto Sans SC"/>
                <a:ea typeface="Noto Sans SC"/>
                <a:cs typeface="Noto Sans SC"/>
                <a:sym typeface="Noto Sans SC"/>
              </a:rPr>
              <a:t/>
            </a:r>
          </a:p>
          <a:p>
            <a:pPr algn="l" indent="0">
              <a:lnSpc>
                <a:spcPct val="125000"/>
              </a:lnSpc>
            </a:pPr>
            <a:r>
              <a:rPr lang="en-US" b="false" i="false" strike="noStrike" u="none" sz="1600">
                <a:solidFill>
                  <a:srgbClr val="1F2329"/>
                </a:solidFill>
                <a:latin typeface="Noto Sans SC"/>
                <a:ea typeface="Noto Sans SC"/>
                <a:cs typeface="Noto Sans SC"/>
                <a:sym typeface="Noto Sans SC"/>
              </a:rPr>
              <a:t/>
            </a:r>
          </a:p>
          <a:p>
            <a:pPr algn="l" indent="0">
              <a:lnSpc>
                <a:spcPct val="125000"/>
              </a:lnSpc>
            </a:pPr>
            <a:r>
              <a:rPr lang="en-US" b="false" i="false" strike="noStrike" u="none" sz="1400">
                <a:solidFill>
                  <a:srgbClr val="FFFFFF">
                    <a:alpha val="90196"/>
                  </a:srgbClr>
                </a:solidFill>
                <a:latin typeface="Noto Sans SC"/>
                <a:ea typeface="Noto Sans SC"/>
                <a:cs typeface="Noto Sans SC"/>
                <a:sym typeface="Noto Sans SC"/>
              </a:rPr>
              <a:t>2. 成功分配</a:t>
            </a:r>
            <a:r>
              <a:rPr lang="en-US" b="false" i="false" strike="noStrike" u="none" sz="1600">
                <a:solidFill>
                  <a:srgbClr val="1F2329"/>
                </a:solidFill>
                <a:latin typeface="Noto Sans SC"/>
                <a:ea typeface="Noto Sans SC"/>
                <a:cs typeface="Noto Sans SC"/>
                <a:sym typeface="Noto Sans SC"/>
              </a:rPr>
              <a:t/>
            </a:r>
          </a:p>
          <a:p>
            <a:pPr algn="l" indent="0">
              <a:lnSpc>
                <a:spcPct val="125000"/>
              </a:lnSpc>
            </a:pPr>
            <a:r>
              <a:rPr lang="en-US" b="false" i="false" strike="noStrike" u="none" sz="1200">
                <a:solidFill>
                  <a:srgbClr val="FFFFFF">
                    <a:alpha val="70196"/>
                  </a:srgbClr>
                </a:solidFill>
                <a:latin typeface="Noto Sans SC"/>
                <a:ea typeface="Noto Sans SC"/>
                <a:cs typeface="Noto Sans SC"/>
                <a:sym typeface="Noto Sans SC"/>
              </a:rPr>
              <a:t>依赖检查通过，Task B 被分配 Agent 并开始执行</a:t>
            </a:r>
          </a:p>
        </p:txBody>
      </p:sp>
    </p:spTree>
  </p:cSld>
  <p:clrMapOvr>
    <a:masterClrMapping/>
  </p:clrMapOvr>
</p:sld>
</file>

<file path=ppt/slides/slide28.xml><?xml version="1.0" encoding="utf-8"?>
<p:sld xmlns:p="http://schemas.openxmlformats.org/presentationml/2006/main" xmlns:a="http://schemas.openxmlformats.org/drawingml/2006/main">
  <p:cSld>
    <p:bg>
      <p:bgPr>
        <a:solidFill>
          <a:srgbClr val="0A0F1E">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A0F1E">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1016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handle_task_completion 核心逻辑</a:t>
            </a:r>
            <a:endParaRPr lang="en-US" sz="1100"/>
          </a:p>
        </p:txBody>
      </p:sp>
      <p:sp>
        <p:nvSpPr>
          <p:cNvPr name="AutoShape 4" id="4"/>
          <p:cNvSpPr/>
          <p:nvPr/>
        </p:nvSpPr>
        <p:spPr>
          <a:xfrm rot="0" flipH="false" flipV="false">
            <a:off x="762000" y="2032000"/>
            <a:ext cx="10668000" cy="4064000"/>
          </a:xfrm>
          <a:prstGeom prst="roundRect">
            <a:avLst>
              <a:gd name="adj" fmla="val 3125"/>
            </a:avLst>
          </a:prstGeom>
          <a:solidFill>
            <a:srgbClr val="FFFFFF">
              <a:alpha val="5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2032000"/>
            <a:ext cx="10668000" cy="457200"/>
          </a:xfrm>
          <a:prstGeom prst="roundRect">
            <a:avLst>
              <a:gd name="adj" fmla="val 0"/>
            </a:avLst>
          </a:prstGeom>
          <a:solidFill>
            <a:srgbClr val="00BFFF">
              <a:alpha val="1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952500" y="2184400"/>
            <a:ext cx="152400" cy="152400"/>
          </a:xfrm>
          <a:prstGeom prst="ellipse">
            <a:avLst/>
          </a:prstGeom>
          <a:solidFill>
            <a:srgbClr val="FF5F5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7" id="7"/>
          <p:cNvSpPr/>
          <p:nvPr/>
        </p:nvSpPr>
        <p:spPr>
          <a:xfrm rot="0" flipH="false" flipV="false">
            <a:off x="1206500" y="2184400"/>
            <a:ext cx="152400" cy="152400"/>
          </a:xfrm>
          <a:prstGeom prst="ellipse">
            <a:avLst/>
          </a:prstGeom>
          <a:solidFill>
            <a:srgbClr val="FFBD2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8" id="8"/>
          <p:cNvSpPr/>
          <p:nvPr/>
        </p:nvSpPr>
        <p:spPr>
          <a:xfrm rot="0" flipH="false" flipV="false">
            <a:off x="1460500" y="2184400"/>
            <a:ext cx="152400" cy="152400"/>
          </a:xfrm>
          <a:prstGeom prst="ellipse">
            <a:avLst/>
          </a:prstGeom>
          <a:solidFill>
            <a:srgbClr val="27C93F">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1778000" y="2108200"/>
            <a:ext cx="2540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60000"/>
                  </a:srgbClr>
                </a:solidFill>
                <a:latin typeface="Noto Sans SC"/>
                <a:ea typeface="Noto Sans SC"/>
                <a:cs typeface="Noto Sans SC"/>
                <a:sym typeface="Noto Sans SC"/>
              </a:rPr>
              <a:t>task_handler.py</a:t>
            </a:r>
            <a:endParaRPr lang="en-US" sz="1100"/>
          </a:p>
        </p:txBody>
      </p:sp>
      <p:sp>
        <p:nvSpPr>
          <p:cNvPr name="AutoShape 10" id="10"/>
          <p:cNvSpPr/>
          <p:nvPr/>
        </p:nvSpPr>
        <p:spPr>
          <a:xfrm rot="0" flipH="false" flipV="false">
            <a:off x="1016000" y="2603500"/>
            <a:ext cx="10160000" cy="3556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C678DD"/>
                </a:solidFill>
                <a:latin typeface="Noto Sans SC"/>
                <a:ea typeface="Noto Sans SC"/>
                <a:cs typeface="Noto Sans SC"/>
                <a:sym typeface="Noto Sans SC"/>
              </a:rPr>
              <a:t>def</a:t>
            </a:r>
            <a:r>
              <a:rPr lang="en-US" b="false" i="false" strike="noStrike" u="none" sz="1400">
                <a:solidFill>
                  <a:srgbClr val="FFFFFF"/>
                </a:solidFill>
                <a:latin typeface="Noto Sans SC"/>
                <a:ea typeface="Noto Sans SC"/>
                <a:cs typeface="Noto Sans SC"/>
                <a:sym typeface="Noto Sans SC"/>
              </a:rPr>
              <a:t>handle_task_completion(self, task_id: str, result: Dict):</a:t>
            </a:r>
            <a:endParaRPr lang="en-US" sz="1100"/>
          </a:p>
        </p:txBody>
      </p:sp>
      <p:sp>
        <p:nvSpPr>
          <p:cNvPr name="AutoShape 11" id="11"/>
          <p:cNvSpPr/>
          <p:nvPr/>
        </p:nvSpPr>
        <p:spPr>
          <a:xfrm rot="0" flipH="false" flipV="false">
            <a:off x="1016000" y="2959100"/>
            <a:ext cx="10160000" cy="3556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solidFill>
                <a:latin typeface="Noto Sans SC"/>
                <a:ea typeface="Noto Sans SC"/>
                <a:cs typeface="Noto Sans SC"/>
                <a:sym typeface="Noto Sans SC"/>
              </a:rPr>
              <a:t>task = self.tasks.get(task_id)</a:t>
            </a:r>
            <a:endParaRPr lang="en-US" sz="1100"/>
          </a:p>
        </p:txBody>
      </p:sp>
      <p:sp>
        <p:nvSpPr>
          <p:cNvPr name="AutoShape 12" id="12"/>
          <p:cNvSpPr/>
          <p:nvPr/>
        </p:nvSpPr>
        <p:spPr>
          <a:xfrm rot="0" flipH="false" flipV="false">
            <a:off x="1016000" y="3314700"/>
            <a:ext cx="10160000" cy="3556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C678DD"/>
                </a:solidFill>
                <a:latin typeface="Noto Sans SC"/>
                <a:ea typeface="Noto Sans SC"/>
                <a:cs typeface="Noto Sans SC"/>
                <a:sym typeface="Noto Sans SC"/>
              </a:rPr>
              <a:t>if not</a:t>
            </a:r>
            <a:r>
              <a:rPr lang="en-US" b="false" i="false" strike="noStrike" u="none" sz="1400">
                <a:solidFill>
                  <a:srgbClr val="FFFFFF"/>
                </a:solidFill>
                <a:latin typeface="Noto Sans SC"/>
                <a:ea typeface="Noto Sans SC"/>
                <a:cs typeface="Noto Sans SC"/>
                <a:sym typeface="Noto Sans SC"/>
              </a:rPr>
              <a:t>task:</a:t>
            </a:r>
            <a:endParaRPr lang="en-US" sz="1100"/>
          </a:p>
        </p:txBody>
      </p:sp>
      <p:sp>
        <p:nvSpPr>
          <p:cNvPr name="AutoShape 13" id="13"/>
          <p:cNvSpPr/>
          <p:nvPr/>
        </p:nvSpPr>
        <p:spPr>
          <a:xfrm rot="0" flipH="false" flipV="false">
            <a:off x="1016000" y="3670300"/>
            <a:ext cx="10160000" cy="3556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C678DD"/>
                </a:solidFill>
                <a:latin typeface="Noto Sans SC"/>
                <a:ea typeface="Noto Sans SC"/>
                <a:cs typeface="Noto Sans SC"/>
                <a:sym typeface="Noto Sans SC"/>
              </a:rPr>
              <a:t>return</a:t>
            </a:r>
            <a:endParaRPr lang="en-US" sz="1100"/>
          </a:p>
        </p:txBody>
      </p:sp>
      <p:sp>
        <p:nvSpPr>
          <p:cNvPr name="AutoShape 14" id="14"/>
          <p:cNvSpPr/>
          <p:nvPr/>
        </p:nvSpPr>
        <p:spPr>
          <a:xfrm rot="0" flipH="false" flipV="false">
            <a:off x="1016000" y="4025900"/>
            <a:ext cx="10160000" cy="355600"/>
          </a:xfrm>
          <a:prstGeom prst="roundRect">
            <a:avLst>
              <a:gd name="adj" fmla="val 17857"/>
            </a:avLst>
          </a:prstGeom>
          <a:solidFill>
            <a:srgbClr val="FFFF00">
              <a:alpha val="1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1016000" y="4025900"/>
            <a:ext cx="10160000" cy="3556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00"/>
                </a:solidFill>
                <a:latin typeface="Noto Sans SC"/>
                <a:ea typeface="Noto Sans SC"/>
                <a:cs typeface="Noto Sans SC"/>
                <a:sym typeface="Noto Sans SC"/>
              </a:rPr>
              <a:t>task.status = TaskStatus.COMPLETED # 更新任务状态</a:t>
            </a:r>
            <a:endParaRPr lang="en-US" sz="1100"/>
          </a:p>
        </p:txBody>
      </p:sp>
      <p:sp>
        <p:nvSpPr>
          <p:cNvPr name="AutoShape 16" id="16"/>
          <p:cNvSpPr/>
          <p:nvPr/>
        </p:nvSpPr>
        <p:spPr>
          <a:xfrm rot="0" flipH="false" flipV="false">
            <a:off x="1016000" y="4381500"/>
            <a:ext cx="10160000" cy="3556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solidFill>
                <a:latin typeface="Noto Sans SC"/>
                <a:ea typeface="Noto Sans SC"/>
                <a:cs typeface="Noto Sans SC"/>
                <a:sym typeface="Noto Sans SC"/>
              </a:rPr>
              <a:t>task.result = result</a:t>
            </a:r>
            <a:endParaRPr lang="en-US" sz="1100"/>
          </a:p>
        </p:txBody>
      </p:sp>
      <p:sp>
        <p:nvSpPr>
          <p:cNvPr name="AutoShape 17" id="17"/>
          <p:cNvSpPr/>
          <p:nvPr/>
        </p:nvSpPr>
        <p:spPr>
          <a:xfrm rot="0" flipH="false" flipV="false">
            <a:off x="1016000" y="4737100"/>
            <a:ext cx="10160000" cy="3556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C678DD"/>
                </a:solidFill>
                <a:latin typeface="Noto Sans SC"/>
                <a:ea typeface="Noto Sans SC"/>
                <a:cs typeface="Noto Sans SC"/>
                <a:sym typeface="Noto Sans SC"/>
              </a:rPr>
              <a:t>for</a:t>
            </a:r>
            <a:r>
              <a:rPr lang="en-US" b="false" i="false" strike="noStrike" u="none" sz="1400">
                <a:solidFill>
                  <a:srgbClr val="FFFFFF"/>
                </a:solidFill>
                <a:latin typeface="Noto Sans SC"/>
                <a:ea typeface="Noto Sans SC"/>
                <a:cs typeface="Noto Sans SC"/>
                <a:sym typeface="Noto Sans SC"/>
              </a:rPr>
              <a:t>t</a:t>
            </a:r>
            <a:r>
              <a:rPr lang="en-US" b="false" i="false" strike="noStrike" u="none" sz="1400">
                <a:solidFill>
                  <a:srgbClr val="C678DD"/>
                </a:solidFill>
                <a:latin typeface="Noto Sans SC"/>
                <a:ea typeface="Noto Sans SC"/>
                <a:cs typeface="Noto Sans SC"/>
                <a:sym typeface="Noto Sans SC"/>
              </a:rPr>
              <a:t>in</a:t>
            </a:r>
            <a:r>
              <a:rPr lang="en-US" b="false" i="false" strike="noStrike" u="none" sz="1400">
                <a:solidFill>
                  <a:srgbClr val="FFFFFF"/>
                </a:solidFill>
                <a:latin typeface="Noto Sans SC"/>
                <a:ea typeface="Noto Sans SC"/>
                <a:cs typeface="Noto Sans SC"/>
                <a:sym typeface="Noto Sans SC"/>
              </a:rPr>
              <a:t>self.tasks.values():</a:t>
            </a:r>
            <a:endParaRPr lang="en-US" sz="1100"/>
          </a:p>
        </p:txBody>
      </p:sp>
      <p:sp>
        <p:nvSpPr>
          <p:cNvPr name="AutoShape 18" id="18"/>
          <p:cNvSpPr/>
          <p:nvPr/>
        </p:nvSpPr>
        <p:spPr>
          <a:xfrm rot="0" flipH="false" flipV="false">
            <a:off x="1016000" y="5092700"/>
            <a:ext cx="10160000" cy="355600"/>
          </a:xfrm>
          <a:prstGeom prst="roundRect">
            <a:avLst>
              <a:gd name="adj" fmla="val 17857"/>
            </a:avLst>
          </a:prstGeom>
          <a:solidFill>
            <a:srgbClr val="FFFF00">
              <a:alpha val="1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9" id="19"/>
          <p:cNvSpPr/>
          <p:nvPr/>
        </p:nvSpPr>
        <p:spPr>
          <a:xfrm rot="0" flipH="false" flipV="false">
            <a:off x="1016000" y="5092700"/>
            <a:ext cx="10160000" cy="3556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00"/>
                </a:solidFill>
                <a:latin typeface="Noto Sans SC"/>
                <a:ea typeface="Noto Sans SC"/>
                <a:cs typeface="Noto Sans SC"/>
                <a:sym typeface="Noto Sans SC"/>
              </a:rPr>
              <a:t>if task_id</a:t>
            </a:r>
            <a:r>
              <a:rPr lang="en-US" b="false" i="false" strike="noStrike" u="none" sz="1400">
                <a:solidFill>
                  <a:srgbClr val="C678DD"/>
                </a:solidFill>
                <a:latin typeface="Noto Sans SC"/>
                <a:ea typeface="Noto Sans SC"/>
                <a:cs typeface="Noto Sans SC"/>
                <a:sym typeface="Noto Sans SC"/>
              </a:rPr>
              <a:t>in</a:t>
            </a:r>
            <a:r>
              <a:rPr lang="en-US" b="false" i="false" strike="noStrike" u="none" sz="1400">
                <a:solidFill>
                  <a:srgbClr val="FFFF00"/>
                </a:solidFill>
                <a:latin typeface="Noto Sans SC"/>
                <a:ea typeface="Noto Sans SC"/>
                <a:cs typeface="Noto Sans SC"/>
                <a:sym typeface="Noto Sans SC"/>
              </a:rPr>
              <a:t>t.dependencies</a:t>
            </a:r>
            <a:r>
              <a:rPr lang="en-US" b="false" i="false" strike="noStrike" u="none" sz="1400">
                <a:solidFill>
                  <a:srgbClr val="C678DD"/>
                </a:solidFill>
                <a:latin typeface="Noto Sans SC"/>
                <a:ea typeface="Noto Sans SC"/>
                <a:cs typeface="Noto Sans SC"/>
                <a:sym typeface="Noto Sans SC"/>
              </a:rPr>
              <a:t>and</a:t>
            </a:r>
            <a:r>
              <a:rPr lang="en-US" b="false" i="false" strike="noStrike" u="none" sz="1400">
                <a:solidFill>
                  <a:srgbClr val="FFFF00"/>
                </a:solidFill>
                <a:latin typeface="Noto Sans SC"/>
                <a:ea typeface="Noto Sans SC"/>
                <a:cs typeface="Noto Sans SC"/>
                <a:sym typeface="Noto Sans SC"/>
              </a:rPr>
              <a:t>t.status == TaskStatus.PENDING:</a:t>
            </a:r>
            <a:endParaRPr lang="en-US" sz="1100"/>
          </a:p>
        </p:txBody>
      </p:sp>
      <p:sp>
        <p:nvSpPr>
          <p:cNvPr name="AutoShape 20" id="20"/>
          <p:cNvSpPr/>
          <p:nvPr/>
        </p:nvSpPr>
        <p:spPr>
          <a:xfrm rot="0" flipH="false" flipV="false">
            <a:off x="1016000" y="5448300"/>
            <a:ext cx="10160000" cy="3556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solidFill>
                <a:latin typeface="Noto Sans SC"/>
                <a:ea typeface="Noto Sans SC"/>
                <a:cs typeface="Noto Sans SC"/>
                <a:sym typeface="Noto Sans SC"/>
              </a:rPr>
              <a:t>self._try_assign_task(t)</a:t>
            </a:r>
            <a:endParaRPr lang="en-US" sz="1100"/>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bg>
      <p:bgPr>
        <a:solidFill>
          <a:srgbClr val="0F172A">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F172A">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1016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练习：实现简化版 TaskOrchestrator</a:t>
            </a:r>
            <a:endParaRPr lang="en-US" sz="1100"/>
          </a:p>
        </p:txBody>
      </p:sp>
      <p:sp>
        <p:nvSpPr>
          <p:cNvPr name="AutoShape 4" id="4"/>
          <p:cNvSpPr/>
          <p:nvPr/>
        </p:nvSpPr>
        <p:spPr>
          <a:xfrm rot="0" flipH="false" flipV="false">
            <a:off x="762000" y="2032000"/>
            <a:ext cx="5207000" cy="2159000"/>
          </a:xfrm>
          <a:prstGeom prst="roundRect">
            <a:avLst>
              <a:gd name="adj" fmla="val 5882"/>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16000" y="2286000"/>
            <a:ext cx="304800" cy="304800"/>
          </a:xfrm>
          <a:prstGeom prst="rect">
            <a:avLst/>
          </a:prstGeom>
        </p:spPr>
      </p:pic>
      <p:sp>
        <p:nvSpPr>
          <p:cNvPr name="AutoShape 6" id="6"/>
          <p:cNvSpPr/>
          <p:nvPr/>
        </p:nvSpPr>
        <p:spPr>
          <a:xfrm rot="0" flipH="false" flipV="false">
            <a:off x="1397000" y="2260600"/>
            <a:ext cx="4318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练习时间与文件</a:t>
            </a:r>
            <a:endParaRPr lang="en-US" sz="1100"/>
          </a:p>
        </p:txBody>
      </p:sp>
      <p:cxnSp>
        <p:nvCxnSpPr>
          <p:cNvPr name="Connector 7" id="7"/>
          <p:cNvCxnSpPr/>
          <p:nvPr/>
        </p:nvCxnSpPr>
        <p:spPr>
          <a:xfrm rot="-9291" flipH="false" flipV="false">
            <a:off x="1016009" y="2660650"/>
            <a:ext cx="4699000" cy="12700"/>
          </a:xfrm>
          <a:prstGeom prst="straightConnector1">
            <a:avLst/>
          </a:prstGeom>
          <a:solidFill>
            <a:srgbClr val="DEE0E3">
              <a:alpha val="100000"/>
            </a:srgbClr>
          </a:solidFill>
          <a:ln w="12700" cmpd="sng" cap="flat">
            <a:solidFill>
              <a:srgbClr val="FFFFFF">
                <a:alpha val="20000"/>
              </a:srgbClr>
            </a:solidFill>
            <a:prstDash val="solid"/>
            <a:round/>
            <a:headEnd type="none" w="med" len="med"/>
            <a:tailEnd type="none" w="med" len="med"/>
          </a:ln>
        </p:spPr>
      </p:cxnSp>
      <p:sp>
        <p:nvSpPr>
          <p:cNvPr name="AutoShape 8" id="8"/>
          <p:cNvSpPr/>
          <p:nvPr/>
        </p:nvSpPr>
        <p:spPr>
          <a:xfrm rot="0" flipH="false" flipV="false">
            <a:off x="1016000" y="2794000"/>
            <a:ext cx="4699000" cy="1270000"/>
          </a:xfrm>
          <a:prstGeom prst="rect">
            <a:avLst/>
          </a:prstGeom>
          <a:noFill/>
          <a:ln w="12700" cmpd="sng" cap="flat">
            <a:noFill/>
            <a:prstDash val="solid"/>
            <a:round/>
          </a:ln>
        </p:spPr>
        <p:txBody>
          <a:bodyPr anchor="ctr" rtlCol="false" anchorCtr="false" vert="horz" wrap="square" lIns="0" rIns="0" tIns="0" bIns="0"/>
          <a:lstStyle/>
          <a:p>
            <a:pPr algn="l" indent="-177800" marL="177800">
              <a:lnSpc>
                <a:spcPct val="125000"/>
              </a:lnSpc>
              <a:buClr>
                <a:srgbClr val="E5E7EB"/>
              </a:buClr>
              <a:buChar char="•"/>
              <a:defRPr/>
            </a:pPr>
            <a:r>
              <a:rPr lang="en-US" b="false" i="false" strike="noStrike" u="none" sz="1400">
                <a:solidFill>
                  <a:srgbClr val="E5E7EB"/>
                </a:solidFill>
                <a:latin typeface="Noto Sans SC"/>
                <a:ea typeface="Noto Sans SC"/>
                <a:cs typeface="Noto Sans SC"/>
                <a:sym typeface="Noto Sans SC"/>
              </a:rPr>
              <a:t>预计耗时：35分钟</a:t>
            </a:r>
            <a:r>
              <a:rPr lang="en-US" b="false" i="false" strike="noStrike" u="none" sz="1400">
                <a:solidFill>
                  <a:srgbClr val="E5E7EB"/>
                </a:solidFill>
                <a:latin typeface="Noto Sans SC"/>
                <a:ea typeface="Noto Sans SC"/>
                <a:cs typeface="Noto Sans SC"/>
                <a:sym typeface="Noto Sans SC"/>
              </a:rPr>
              <a:t/>
            </a:r>
            <a:endParaRPr lang="en-US" sz="1100"/>
          </a:p>
          <a:p>
            <a:pPr algn="l" indent="-177800" marL="177800">
              <a:lnSpc>
                <a:spcPct val="125000"/>
              </a:lnSpc>
              <a:buClr>
                <a:srgbClr val="E5E7EB"/>
              </a:buClr>
              <a:buChar char="•"/>
            </a:pPr>
            <a:r>
              <a:rPr lang="en-US" b="false" i="false" strike="noStrike" u="none" sz="1400">
                <a:solidFill>
                  <a:srgbClr val="E5E7EB"/>
                </a:solidFill>
                <a:latin typeface="Noto Sans SC"/>
                <a:ea typeface="Noto Sans SC"/>
                <a:cs typeface="Noto Sans SC"/>
                <a:sym typeface="Noto Sans SC"/>
              </a:rPr>
              <a:t>目标文件：exercise_05_task_orchestrator.py</a:t>
            </a:r>
          </a:p>
        </p:txBody>
      </p:sp>
      <p:sp>
        <p:nvSpPr>
          <p:cNvPr name="AutoShape 9" id="9"/>
          <p:cNvSpPr/>
          <p:nvPr/>
        </p:nvSpPr>
        <p:spPr>
          <a:xfrm rot="0" flipH="false" flipV="false">
            <a:off x="6223000" y="2032000"/>
            <a:ext cx="5207000" cy="2159000"/>
          </a:xfrm>
          <a:prstGeom prst="roundRect">
            <a:avLst>
              <a:gd name="adj" fmla="val 5882"/>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6477000" y="2286000"/>
            <a:ext cx="304800" cy="304800"/>
          </a:xfrm>
          <a:prstGeom prst="rect">
            <a:avLst/>
          </a:prstGeom>
        </p:spPr>
      </p:pic>
      <p:sp>
        <p:nvSpPr>
          <p:cNvPr name="AutoShape 11" id="11"/>
          <p:cNvSpPr/>
          <p:nvPr/>
        </p:nvSpPr>
        <p:spPr>
          <a:xfrm rot="0" flipH="false" flipV="false">
            <a:off x="6858000" y="2260600"/>
            <a:ext cx="4318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核心函数实现 (TODOs)</a:t>
            </a:r>
            <a:endParaRPr lang="en-US" sz="1100"/>
          </a:p>
        </p:txBody>
      </p:sp>
      <p:cxnSp>
        <p:nvCxnSpPr>
          <p:cNvPr name="Connector 12" id="12"/>
          <p:cNvCxnSpPr/>
          <p:nvPr/>
        </p:nvCxnSpPr>
        <p:spPr>
          <a:xfrm rot="-9291" flipH="false" flipV="false">
            <a:off x="6477009" y="2660650"/>
            <a:ext cx="4699000" cy="12700"/>
          </a:xfrm>
          <a:prstGeom prst="straightConnector1">
            <a:avLst/>
          </a:prstGeom>
          <a:solidFill>
            <a:srgbClr val="DEE0E3">
              <a:alpha val="100000"/>
            </a:srgbClr>
          </a:solidFill>
          <a:ln w="12700" cmpd="sng" cap="flat">
            <a:solidFill>
              <a:srgbClr val="FFFFFF">
                <a:alpha val="20000"/>
              </a:srgbClr>
            </a:solidFill>
            <a:prstDash val="solid"/>
            <a:round/>
            <a:headEnd type="none" w="med" len="med"/>
            <a:tailEnd type="none" w="med" len="med"/>
          </a:ln>
        </p:spPr>
      </p:cxnSp>
      <p:sp>
        <p:nvSpPr>
          <p:cNvPr name="AutoShape 13" id="13"/>
          <p:cNvSpPr/>
          <p:nvPr/>
        </p:nvSpPr>
        <p:spPr>
          <a:xfrm rot="0" flipH="false" flipV="false">
            <a:off x="6477000" y="2794000"/>
            <a:ext cx="4699000" cy="1270000"/>
          </a:xfrm>
          <a:prstGeom prst="rect">
            <a:avLst/>
          </a:prstGeom>
          <a:noFill/>
          <a:ln w="12700" cmpd="sng" cap="flat">
            <a:noFill/>
            <a:prstDash val="solid"/>
            <a:round/>
          </a:ln>
        </p:spPr>
        <p:txBody>
          <a:bodyPr anchor="ctr" rtlCol="false" anchorCtr="false" vert="horz" wrap="square" lIns="0" rIns="0" tIns="0" bIns="0"/>
          <a:lstStyle/>
          <a:p>
            <a:pPr algn="l" indent="-177800" marL="177800">
              <a:lnSpc>
                <a:spcPct val="125000"/>
              </a:lnSpc>
              <a:buClr>
                <a:srgbClr val="E5E7EB"/>
              </a:buClr>
              <a:buChar char="•"/>
              <a:defRPr/>
            </a:pPr>
            <a:r>
              <a:rPr lang="en-US" b="false" i="false" strike="noStrike" u="none" sz="1400">
                <a:solidFill>
                  <a:srgbClr val="E5E7EB"/>
                </a:solidFill>
                <a:latin typeface="Noto Sans SC"/>
                <a:ea typeface="Noto Sans SC"/>
                <a:cs typeface="Noto Sans SC"/>
                <a:sym typeface="Noto Sans SC"/>
              </a:rPr>
              <a:t>create_task / _try_assign_task</a:t>
            </a:r>
            <a:r>
              <a:rPr lang="en-US" b="false" i="false" strike="noStrike" u="none" sz="1400">
                <a:solidFill>
                  <a:srgbClr val="E5E7EB"/>
                </a:solidFill>
                <a:latin typeface="Noto Sans SC"/>
                <a:ea typeface="Noto Sans SC"/>
                <a:cs typeface="Noto Sans SC"/>
                <a:sym typeface="Noto Sans SC"/>
              </a:rPr>
              <a:t/>
            </a:r>
            <a:endParaRPr lang="en-US" sz="1100"/>
          </a:p>
          <a:p>
            <a:pPr algn="l" indent="-177800" marL="177800">
              <a:lnSpc>
                <a:spcPct val="125000"/>
              </a:lnSpc>
              <a:buClr>
                <a:srgbClr val="E5E7EB"/>
              </a:buClr>
              <a:buChar char="•"/>
            </a:pPr>
            <a:r>
              <a:rPr lang="en-US" b="false" i="false" strike="noStrike" u="none" sz="1400">
                <a:solidFill>
                  <a:srgbClr val="E5E7EB"/>
                </a:solidFill>
                <a:latin typeface="Noto Sans SC"/>
                <a:ea typeface="Noto Sans SC"/>
                <a:cs typeface="Noto Sans SC"/>
                <a:sym typeface="Noto Sans SC"/>
              </a:rPr>
              <a:t>_find_best_agent / handle_task_completion</a:t>
            </a:r>
          </a:p>
        </p:txBody>
      </p:sp>
      <p:sp>
        <p:nvSpPr>
          <p:cNvPr name="AutoShape 14" id="14"/>
          <p:cNvSpPr/>
          <p:nvPr/>
        </p:nvSpPr>
        <p:spPr>
          <a:xfrm rot="0" flipH="false" flipV="false">
            <a:off x="762000" y="4318000"/>
            <a:ext cx="5207000" cy="2159000"/>
          </a:xfrm>
          <a:prstGeom prst="roundRect">
            <a:avLst>
              <a:gd name="adj" fmla="val 5882"/>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15" id="15"/>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1016000" y="4572000"/>
            <a:ext cx="304800" cy="304800"/>
          </a:xfrm>
          <a:prstGeom prst="rect">
            <a:avLst/>
          </a:prstGeom>
        </p:spPr>
      </p:pic>
      <p:sp>
        <p:nvSpPr>
          <p:cNvPr name="AutoShape 16" id="16"/>
          <p:cNvSpPr/>
          <p:nvPr/>
        </p:nvSpPr>
        <p:spPr>
          <a:xfrm rot="0" flipH="false" flipV="false">
            <a:off x="1397000" y="4546600"/>
            <a:ext cx="4318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测试场景设定</a:t>
            </a:r>
            <a:endParaRPr lang="en-US" sz="1100"/>
          </a:p>
        </p:txBody>
      </p:sp>
      <p:cxnSp>
        <p:nvCxnSpPr>
          <p:cNvPr name="Connector 17" id="17"/>
          <p:cNvCxnSpPr/>
          <p:nvPr/>
        </p:nvCxnSpPr>
        <p:spPr>
          <a:xfrm rot="-9291" flipH="false" flipV="false">
            <a:off x="1016009" y="4946650"/>
            <a:ext cx="4699000" cy="12700"/>
          </a:xfrm>
          <a:prstGeom prst="straightConnector1">
            <a:avLst/>
          </a:prstGeom>
          <a:solidFill>
            <a:srgbClr val="DEE0E3">
              <a:alpha val="100000"/>
            </a:srgbClr>
          </a:solidFill>
          <a:ln w="12700" cmpd="sng" cap="flat">
            <a:solidFill>
              <a:srgbClr val="FFFFFF">
                <a:alpha val="20000"/>
              </a:srgbClr>
            </a:solidFill>
            <a:prstDash val="solid"/>
            <a:round/>
            <a:headEnd type="none" w="med" len="med"/>
            <a:tailEnd type="none" w="med" len="med"/>
          </a:ln>
        </p:spPr>
      </p:cxnSp>
      <p:sp>
        <p:nvSpPr>
          <p:cNvPr name="AutoShape 18" id="18"/>
          <p:cNvSpPr/>
          <p:nvPr/>
        </p:nvSpPr>
        <p:spPr>
          <a:xfrm rot="0" flipH="false" flipV="false">
            <a:off x="1016000" y="5080000"/>
            <a:ext cx="4699000" cy="1270000"/>
          </a:xfrm>
          <a:prstGeom prst="rect">
            <a:avLst/>
          </a:prstGeom>
          <a:noFill/>
          <a:ln w="12700" cmpd="sng" cap="flat">
            <a:noFill/>
            <a:prstDash val="solid"/>
            <a:round/>
          </a:ln>
        </p:spPr>
        <p:txBody>
          <a:bodyPr anchor="ctr" rtlCol="false" anchorCtr="false" vert="horz" wrap="square" lIns="0" rIns="0" tIns="0" bIns="0"/>
          <a:lstStyle/>
          <a:p>
            <a:pPr algn="l" indent="-177800" marL="177800">
              <a:lnSpc>
                <a:spcPct val="125000"/>
              </a:lnSpc>
              <a:buClr>
                <a:srgbClr val="E5E7EB"/>
              </a:buClr>
              <a:buChar char="•"/>
              <a:defRPr/>
            </a:pPr>
            <a:r>
              <a:rPr lang="en-US" b="false" i="false" strike="noStrike" u="none" sz="1400">
                <a:solidFill>
                  <a:srgbClr val="E5E7EB"/>
                </a:solidFill>
                <a:latin typeface="Noto Sans SC"/>
                <a:ea typeface="Noto Sans SC"/>
                <a:cs typeface="Noto Sans SC"/>
                <a:sym typeface="Noto Sans SC"/>
              </a:rPr>
              <a:t>环境配置：3个Agent + 4个任务</a:t>
            </a:r>
            <a:r>
              <a:rPr lang="en-US" b="false" i="false" strike="noStrike" u="none" sz="1400">
                <a:solidFill>
                  <a:srgbClr val="E5E7EB"/>
                </a:solidFill>
                <a:latin typeface="Noto Sans SC"/>
                <a:ea typeface="Noto Sans SC"/>
                <a:cs typeface="Noto Sans SC"/>
                <a:sym typeface="Noto Sans SC"/>
              </a:rPr>
              <a:t/>
            </a:r>
            <a:endParaRPr lang="en-US" sz="1100"/>
          </a:p>
          <a:p>
            <a:pPr algn="l" indent="-177800" marL="177800">
              <a:lnSpc>
                <a:spcPct val="125000"/>
              </a:lnSpc>
              <a:buClr>
                <a:srgbClr val="E5E7EB"/>
              </a:buClr>
              <a:buChar char="•"/>
            </a:pPr>
            <a:r>
              <a:rPr lang="en-US" b="false" i="false" strike="noStrike" u="none" sz="1400">
                <a:solidFill>
                  <a:srgbClr val="E5E7EB"/>
                </a:solidFill>
                <a:latin typeface="Noto Sans SC"/>
                <a:ea typeface="Noto Sans SC"/>
                <a:cs typeface="Noto Sans SC"/>
                <a:sym typeface="Noto Sans SC"/>
              </a:rPr>
              <a:t>任务关系：包含复杂的依赖关系链</a:t>
            </a:r>
          </a:p>
        </p:txBody>
      </p:sp>
      <p:sp>
        <p:nvSpPr>
          <p:cNvPr name="AutoShape 19" id="19"/>
          <p:cNvSpPr/>
          <p:nvPr/>
        </p:nvSpPr>
        <p:spPr>
          <a:xfrm rot="0" flipH="false" flipV="false">
            <a:off x="6223000" y="4318000"/>
            <a:ext cx="5207000" cy="2159000"/>
          </a:xfrm>
          <a:prstGeom prst="roundRect">
            <a:avLst>
              <a:gd name="adj" fmla="val 5882"/>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20" id="20"/>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6477000" y="4572000"/>
            <a:ext cx="304800" cy="304800"/>
          </a:xfrm>
          <a:prstGeom prst="rect">
            <a:avLst/>
          </a:prstGeom>
        </p:spPr>
      </p:pic>
      <p:sp>
        <p:nvSpPr>
          <p:cNvPr name="AutoShape 21" id="21"/>
          <p:cNvSpPr/>
          <p:nvPr/>
        </p:nvSpPr>
        <p:spPr>
          <a:xfrm rot="0" flipH="false" flipV="false">
            <a:off x="6858000" y="4546600"/>
            <a:ext cx="4318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验证要点</a:t>
            </a:r>
            <a:endParaRPr lang="en-US" sz="1100"/>
          </a:p>
        </p:txBody>
      </p:sp>
      <p:cxnSp>
        <p:nvCxnSpPr>
          <p:cNvPr name="Connector 22" id="22"/>
          <p:cNvCxnSpPr/>
          <p:nvPr/>
        </p:nvCxnSpPr>
        <p:spPr>
          <a:xfrm rot="-9291" flipH="false" flipV="false">
            <a:off x="6477009" y="4946650"/>
            <a:ext cx="4699000" cy="12700"/>
          </a:xfrm>
          <a:prstGeom prst="straightConnector1">
            <a:avLst/>
          </a:prstGeom>
          <a:solidFill>
            <a:srgbClr val="DEE0E3">
              <a:alpha val="100000"/>
            </a:srgbClr>
          </a:solidFill>
          <a:ln w="12700" cmpd="sng" cap="flat">
            <a:solidFill>
              <a:srgbClr val="FFFFFF">
                <a:alpha val="20000"/>
              </a:srgbClr>
            </a:solidFill>
            <a:prstDash val="solid"/>
            <a:round/>
            <a:headEnd type="none" w="med" len="med"/>
            <a:tailEnd type="none" w="med" len="med"/>
          </a:ln>
        </p:spPr>
      </p:cxnSp>
      <p:sp>
        <p:nvSpPr>
          <p:cNvPr name="AutoShape 23" id="23"/>
          <p:cNvSpPr/>
          <p:nvPr/>
        </p:nvSpPr>
        <p:spPr>
          <a:xfrm rot="0" flipH="false" flipV="false">
            <a:off x="6477000" y="5080000"/>
            <a:ext cx="4699000" cy="1270000"/>
          </a:xfrm>
          <a:prstGeom prst="rect">
            <a:avLst/>
          </a:prstGeom>
          <a:noFill/>
          <a:ln w="12700" cmpd="sng" cap="flat">
            <a:noFill/>
            <a:prstDash val="solid"/>
            <a:round/>
          </a:ln>
        </p:spPr>
        <p:txBody>
          <a:bodyPr anchor="ctr" rtlCol="false" anchorCtr="false" vert="horz" wrap="square" lIns="0" rIns="0" tIns="0" bIns="0"/>
          <a:lstStyle/>
          <a:p>
            <a:pPr algn="l" indent="-177800" marL="177800">
              <a:lnSpc>
                <a:spcPct val="125000"/>
              </a:lnSpc>
              <a:buClr>
                <a:srgbClr val="E5E7EB"/>
              </a:buClr>
              <a:buChar char="•"/>
              <a:defRPr/>
            </a:pPr>
            <a:r>
              <a:rPr lang="en-US" b="false" i="false" strike="noStrike" u="none" sz="1400">
                <a:solidFill>
                  <a:srgbClr val="E5E7EB"/>
                </a:solidFill>
                <a:latin typeface="Noto Sans SC"/>
                <a:ea typeface="Noto Sans SC"/>
                <a:cs typeface="Noto Sans SC"/>
                <a:sym typeface="Noto Sans SC"/>
              </a:rPr>
              <a:t>基础验证：无依赖任务的自动分配</a:t>
            </a:r>
            <a:r>
              <a:rPr lang="en-US" b="false" i="false" strike="noStrike" u="none" sz="1400">
                <a:solidFill>
                  <a:srgbClr val="E5E7EB"/>
                </a:solidFill>
                <a:latin typeface="Noto Sans SC"/>
                <a:ea typeface="Noto Sans SC"/>
                <a:cs typeface="Noto Sans SC"/>
                <a:sym typeface="Noto Sans SC"/>
              </a:rPr>
              <a:t/>
            </a:r>
            <a:endParaRPr lang="en-US" sz="1100"/>
          </a:p>
          <a:p>
            <a:pPr algn="l" indent="-177800" marL="177800">
              <a:lnSpc>
                <a:spcPct val="125000"/>
              </a:lnSpc>
              <a:buClr>
                <a:srgbClr val="E5E7EB"/>
              </a:buClr>
              <a:buChar char="•"/>
            </a:pPr>
            <a:r>
              <a:rPr lang="en-US" b="false" i="false" strike="noStrike" u="none" sz="1400">
                <a:solidFill>
                  <a:srgbClr val="E5E7EB"/>
                </a:solidFill>
                <a:latin typeface="Noto Sans SC"/>
                <a:ea typeface="Noto Sans SC"/>
                <a:cs typeface="Noto Sans SC"/>
                <a:sym typeface="Noto Sans SC"/>
              </a:rPr>
              <a:t>进阶验证：依赖等待、触发及多重依赖处理</a:t>
            </a:r>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bg>
      <p:bgPr>
        <a:solidFill>
          <a:srgbClr val="0A0F1E">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7812" b="7812"/>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A0F1E">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1016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没有同步 = 知识孤岛</a:t>
            </a:r>
            <a:endParaRPr lang="en-US" sz="1100"/>
          </a:p>
        </p:txBody>
      </p:sp>
      <p:sp>
        <p:nvSpPr>
          <p:cNvPr name="AutoShape 5" id="5"/>
          <p:cNvSpPr/>
          <p:nvPr/>
        </p:nvSpPr>
        <p:spPr>
          <a:xfrm rot="0" flipH="false" flipV="false">
            <a:off x="762000" y="1778000"/>
            <a:ext cx="10668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800">
                <a:solidFill>
                  <a:srgbClr val="FFFFFF">
                    <a:alpha val="70196"/>
                  </a:srgbClr>
                </a:solidFill>
                <a:latin typeface="Noto Sans SC"/>
                <a:ea typeface="Noto Sans SC"/>
                <a:cs typeface="Noto Sans SC"/>
                <a:sym typeface="Noto Sans SC"/>
              </a:rPr>
              <a:t>模块 3.6 -- 记忆同步</a:t>
            </a:r>
            <a:endParaRPr lang="en-US" sz="1100"/>
          </a:p>
        </p:txBody>
      </p:sp>
      <p:sp>
        <p:nvSpPr>
          <p:cNvPr name="AutoShape 6" id="6"/>
          <p:cNvSpPr/>
          <p:nvPr/>
        </p:nvSpPr>
        <p:spPr>
          <a:xfrm rot="0" flipH="false" flipV="false">
            <a:off x="762000" y="2413000"/>
            <a:ext cx="5080000" cy="2794000"/>
          </a:xfrm>
          <a:prstGeom prst="roundRect">
            <a:avLst>
              <a:gd name="adj" fmla="val 4545"/>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7" id="7"/>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66800" y="2717800"/>
            <a:ext cx="406400" cy="406400"/>
          </a:xfrm>
          <a:prstGeom prst="rect">
            <a:avLst/>
          </a:prstGeom>
        </p:spPr>
      </p:pic>
      <p:sp>
        <p:nvSpPr>
          <p:cNvPr name="AutoShape 8" id="8"/>
          <p:cNvSpPr/>
          <p:nvPr/>
        </p:nvSpPr>
        <p:spPr>
          <a:xfrm rot="0" flipH="false" flipV="false">
            <a:off x="1574800" y="2717800"/>
            <a:ext cx="4064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交易Agent：桑丘的发现</a:t>
            </a:r>
            <a:endParaRPr lang="en-US" sz="1100"/>
          </a:p>
        </p:txBody>
      </p:sp>
      <p:cxnSp>
        <p:nvCxnSpPr>
          <p:cNvPr name="Connector 9" id="9"/>
          <p:cNvCxnSpPr/>
          <p:nvPr/>
        </p:nvCxnSpPr>
        <p:spPr>
          <a:xfrm rot="-9766" flipH="false" flipV="false">
            <a:off x="1066809" y="3219450"/>
            <a:ext cx="4470400" cy="12700"/>
          </a:xfrm>
          <a:prstGeom prst="straightConnector1">
            <a:avLst/>
          </a:prstGeom>
          <a:solidFill>
            <a:srgbClr val="DEE0E3">
              <a:alpha val="100000"/>
            </a:srgbClr>
          </a:solidFill>
          <a:ln w="12700" cmpd="sng" cap="flat">
            <a:solidFill>
              <a:srgbClr val="FFFFFF">
                <a:alpha val="20000"/>
              </a:srgbClr>
            </a:solidFill>
            <a:prstDash val="solid"/>
            <a:round/>
            <a:headEnd type="none" w="med" len="med"/>
            <a:tailEnd type="none" w="med" len="med"/>
          </a:ln>
        </p:spPr>
      </p:cxnSp>
      <p:sp>
        <p:nvSpPr>
          <p:cNvPr name="AutoShape 10" id="10"/>
          <p:cNvSpPr/>
          <p:nvPr/>
        </p:nvSpPr>
        <p:spPr>
          <a:xfrm rot="0" flipH="false" flipV="false">
            <a:off x="1066800" y="3352800"/>
            <a:ext cx="4470400" cy="1524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80000"/>
                  </a:srgbClr>
                </a:solidFill>
                <a:latin typeface="Noto Sans SC"/>
                <a:ea typeface="Noto Sans SC"/>
                <a:cs typeface="Noto Sans SC"/>
                <a:sym typeface="Noto Sans SC"/>
              </a:rPr>
              <a:t>桑丘通过数据分析发现“ETH月底波动率增30%”，并将其记录在自己的 MEMORY.md 文件中。</a:t>
            </a:r>
            <a:endParaRPr lang="en-US" sz="1100"/>
          </a:p>
        </p:txBody>
      </p:sp>
      <p:sp>
        <p:nvSpPr>
          <p:cNvPr name="AutoShape 11" id="11"/>
          <p:cNvSpPr/>
          <p:nvPr/>
        </p:nvSpPr>
        <p:spPr>
          <a:xfrm rot="0" flipH="false" flipV="false">
            <a:off x="6350000" y="2413000"/>
            <a:ext cx="5080000" cy="2794000"/>
          </a:xfrm>
          <a:prstGeom prst="roundRect">
            <a:avLst>
              <a:gd name="adj" fmla="val 4545"/>
            </a:avLst>
          </a:prstGeom>
          <a:solidFill>
            <a:srgbClr val="FFFFFF">
              <a:alpha val="8000"/>
            </a:srgbClr>
          </a:solidFill>
          <a:ln w="12700" cmpd="sng" cap="flat">
            <a:solidFill>
              <a:srgbClr val="FF6347">
                <a:alpha val="30000"/>
              </a:srgbClr>
            </a:solidFill>
            <a:prstDash val="solid"/>
            <a:round/>
          </a:ln>
        </p:spPr>
        <p:txBody>
          <a:bodyPr anchor="ctr" rtlCol="false" vert="horz" wrap="square" lIns="63500" rIns="63500" tIns="63500" bIns="63500"/>
          <a:lstStyle/>
          <a:p>
            <a:pPr algn="ctr">
              <a:defRPr/>
            </a:pPr>
            <a:endParaRPr/>
          </a:p>
        </p:txBody>
      </p:sp>
      <p:pic>
        <p:nvPicPr>
          <p:cNvPr name="Picture 12" id="12"/>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6654800" y="2717800"/>
            <a:ext cx="406400" cy="406400"/>
          </a:xfrm>
          <a:prstGeom prst="rect">
            <a:avLst/>
          </a:prstGeom>
        </p:spPr>
      </p:pic>
      <p:sp>
        <p:nvSpPr>
          <p:cNvPr name="AutoShape 13" id="13"/>
          <p:cNvSpPr/>
          <p:nvPr/>
        </p:nvSpPr>
        <p:spPr>
          <a:xfrm rot="0" flipH="false" flipV="false">
            <a:off x="7162800" y="2717800"/>
            <a:ext cx="4064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监控Agent：建筑师的盲区</a:t>
            </a:r>
            <a:endParaRPr lang="en-US" sz="1100"/>
          </a:p>
        </p:txBody>
      </p:sp>
      <p:cxnSp>
        <p:nvCxnSpPr>
          <p:cNvPr name="Connector 14" id="14"/>
          <p:cNvCxnSpPr/>
          <p:nvPr/>
        </p:nvCxnSpPr>
        <p:spPr>
          <a:xfrm rot="-9766" flipH="false" flipV="false">
            <a:off x="6654809" y="3219450"/>
            <a:ext cx="4470400" cy="12700"/>
          </a:xfrm>
          <a:prstGeom prst="straightConnector1">
            <a:avLst/>
          </a:prstGeom>
          <a:solidFill>
            <a:srgbClr val="DEE0E3">
              <a:alpha val="100000"/>
            </a:srgbClr>
          </a:solidFill>
          <a:ln w="12700" cmpd="sng" cap="flat">
            <a:solidFill>
              <a:srgbClr val="FFFFFF">
                <a:alpha val="20000"/>
              </a:srgbClr>
            </a:solidFill>
            <a:prstDash val="solid"/>
            <a:round/>
            <a:headEnd type="none" w="med" len="med"/>
            <a:tailEnd type="none" w="med" len="med"/>
          </a:ln>
        </p:spPr>
      </p:cxnSp>
      <p:sp>
        <p:nvSpPr>
          <p:cNvPr name="AutoShape 15" id="15"/>
          <p:cNvSpPr/>
          <p:nvPr/>
        </p:nvSpPr>
        <p:spPr>
          <a:xfrm rot="0" flipH="false" flipV="false">
            <a:off x="6654800" y="3352800"/>
            <a:ext cx="4470400" cy="1524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80000"/>
                  </a:srgbClr>
                </a:solidFill>
                <a:latin typeface="Noto Sans SC"/>
                <a:ea typeface="Noto Sans SC"/>
                <a:cs typeface="Noto Sans SC"/>
                <a:sym typeface="Noto Sans SC"/>
              </a:rPr>
              <a:t>建筑师在设计监控系统时，完全不知道桑丘发现的市场规律，导致监控策略存在严重的信息缺失。</a:t>
            </a:r>
            <a:endParaRPr lang="en-US" sz="1100"/>
          </a:p>
        </p:txBody>
      </p:sp>
      <p:sp>
        <p:nvSpPr>
          <p:cNvPr name="AutoShape 16" id="16"/>
          <p:cNvSpPr/>
          <p:nvPr/>
        </p:nvSpPr>
        <p:spPr>
          <a:xfrm rot="0" flipH="false" flipV="false">
            <a:off x="762000" y="5461000"/>
            <a:ext cx="10668000" cy="762000"/>
          </a:xfrm>
          <a:prstGeom prst="roundRect">
            <a:avLst>
              <a:gd name="adj" fmla="val 16666"/>
            </a:avLst>
          </a:prstGeom>
          <a:solidFill>
            <a:srgbClr val="00BFFF">
              <a:alpha val="15000"/>
            </a:srgbClr>
          </a:solidFill>
          <a:ln w="12700" cmpd="sng" cap="flat">
            <a:solidFill>
              <a:srgbClr val="00BFFF">
                <a:alpha val="50000"/>
              </a:srgbClr>
            </a:solidFill>
            <a:prstDash val="solid"/>
            <a:round/>
          </a:ln>
        </p:spPr>
        <p:txBody>
          <a:bodyPr anchor="ctr" rtlCol="false" vert="horz" wrap="square" lIns="63500" rIns="63500" tIns="63500" bIns="63500"/>
          <a:lstStyle/>
          <a:p>
            <a:pPr algn="ctr">
              <a:defRPr/>
            </a:pPr>
            <a:endParaRPr/>
          </a:p>
        </p:txBody>
      </p:sp>
      <p:pic>
        <p:nvPicPr>
          <p:cNvPr name="Picture 17" id="17"/>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1066800" y="5689600"/>
            <a:ext cx="304800" cy="304800"/>
          </a:xfrm>
          <a:prstGeom prst="rect">
            <a:avLst/>
          </a:prstGeom>
        </p:spPr>
      </p:pic>
      <p:sp>
        <p:nvSpPr>
          <p:cNvPr name="AutoShape 18" id="18"/>
          <p:cNvSpPr/>
          <p:nvPr/>
        </p:nvSpPr>
        <p:spPr>
          <a:xfrm rot="0" flipH="false" flipV="false">
            <a:off x="1524000" y="5651500"/>
            <a:ext cx="9652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核心结论：缺乏记忆同步机制，将导致系统内形成严重的“知识孤岛”，降低整体智能。</a:t>
            </a:r>
            <a:endParaRPr lang="en-US" sz="1100"/>
          </a:p>
        </p:txBody>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bg>
      <p:bgPr>
        <a:solidFill>
          <a:srgbClr val="0A192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A192F">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1016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记忆同步数据流</a:t>
            </a:r>
            <a:endParaRPr lang="en-US" sz="1100"/>
          </a:p>
        </p:txBody>
      </p:sp>
      <p:sp>
        <p:nvSpPr>
          <p:cNvPr name="AutoShape 4" id="4"/>
          <p:cNvSpPr/>
          <p:nvPr/>
        </p:nvSpPr>
        <p:spPr>
          <a:xfrm rot="0" flipH="false" flipV="false">
            <a:off x="762000" y="2032000"/>
            <a:ext cx="3302000" cy="3048000"/>
          </a:xfrm>
          <a:prstGeom prst="roundRect">
            <a:avLst>
              <a:gd name="adj" fmla="val 4166"/>
            </a:avLst>
          </a:prstGeom>
          <a:solidFill>
            <a:srgbClr val="FFFFFF">
              <a:alpha val="5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16000" y="2286000"/>
            <a:ext cx="406400" cy="406400"/>
          </a:xfrm>
          <a:prstGeom prst="rect">
            <a:avLst/>
          </a:prstGeom>
        </p:spPr>
      </p:pic>
      <p:sp>
        <p:nvSpPr>
          <p:cNvPr name="AutoShape 6" id="6"/>
          <p:cNvSpPr/>
          <p:nvPr/>
        </p:nvSpPr>
        <p:spPr>
          <a:xfrm rot="0" flipH="false" flipV="false">
            <a:off x="1524000" y="2286000"/>
            <a:ext cx="2286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Agent 独立工作空间</a:t>
            </a:r>
            <a:endParaRPr lang="en-US" sz="1100"/>
          </a:p>
        </p:txBody>
      </p:sp>
      <p:cxnSp>
        <p:nvCxnSpPr>
          <p:cNvPr name="Connector 7" id="7"/>
          <p:cNvCxnSpPr/>
          <p:nvPr/>
        </p:nvCxnSpPr>
        <p:spPr>
          <a:xfrm rot="-15626" flipH="false" flipV="false">
            <a:off x="1016014" y="2724150"/>
            <a:ext cx="2794000" cy="12700"/>
          </a:xfrm>
          <a:prstGeom prst="straightConnector1">
            <a:avLst/>
          </a:prstGeom>
          <a:solidFill>
            <a:srgbClr val="DEE0E3">
              <a:alpha val="100000"/>
            </a:srgbClr>
          </a:solidFill>
          <a:ln w="12700" cmpd="sng" cap="flat">
            <a:solidFill>
              <a:srgbClr val="FFFFFF">
                <a:alpha val="20000"/>
              </a:srgbClr>
            </a:solidFill>
            <a:prstDash val="solid"/>
            <a:round/>
            <a:headEnd type="none" w="med" len="med"/>
            <a:tailEnd type="none" w="med" len="med"/>
          </a:ln>
        </p:spPr>
      </p:cxnSp>
      <p:sp>
        <p:nvSpPr>
          <p:cNvPr name="AutoShape 8" id="8"/>
          <p:cNvSpPr/>
          <p:nvPr/>
        </p:nvSpPr>
        <p:spPr>
          <a:xfrm rot="0" flipH="false" flipV="false">
            <a:off x="1016000" y="2857500"/>
            <a:ext cx="2794000" cy="1524000"/>
          </a:xfrm>
          <a:prstGeom prst="rect">
            <a:avLst/>
          </a:prstGeom>
          <a:noFill/>
          <a:ln w="12700" cmpd="sng" cap="flat">
            <a:noFill/>
            <a:prstDash val="solid"/>
            <a:round/>
          </a:ln>
        </p:spPr>
        <p:txBody>
          <a:bodyPr anchor="ctr" rtlCol="false" anchorCtr="false" vert="horz" wrap="square" lIns="0" rIns="0" tIns="0" bIns="0"/>
          <a:lstStyle/>
          <a:p>
            <a:pPr algn="l" indent="-177800" marL="177800">
              <a:lnSpc>
                <a:spcPct val="125000"/>
              </a:lnSpc>
              <a:buClr>
                <a:srgbClr val="FFFFFF"/>
              </a:buClr>
              <a:buChar char="•"/>
              <a:defRPr/>
            </a:pPr>
            <a:r>
              <a:rPr lang="en-US" b="false" i="false" strike="noStrike" u="none" sz="1400">
                <a:solidFill>
                  <a:srgbClr val="FFFFFF">
                    <a:alpha val="80000"/>
                  </a:srgbClr>
                </a:solidFill>
                <a:latin typeface="Noto Sans SC"/>
                <a:ea typeface="Noto Sans SC"/>
                <a:cs typeface="Noto Sans SC"/>
                <a:sym typeface="Noto Sans SC"/>
              </a:rPr>
              <a:t>Friday 工作流记忆</a:t>
            </a:r>
            <a:r>
              <a:rPr lang="en-US" b="false" i="false" strike="noStrike" u="none" sz="1400">
                <a:solidFill>
                  <a:srgbClr val="FFFFFF">
                    <a:alpha val="80000"/>
                  </a:srgbClr>
                </a:solidFill>
                <a:latin typeface="Noto Sans SC"/>
                <a:ea typeface="Noto Sans SC"/>
                <a:cs typeface="Noto Sans SC"/>
                <a:sym typeface="Noto Sans SC"/>
              </a:rPr>
              <a:t/>
            </a:r>
            <a:endParaRPr lang="en-US" sz="1100"/>
          </a:p>
          <a:p>
            <a:pPr algn="l" indent="-177800" marL="177800">
              <a:lnSpc>
                <a:spcPct val="125000"/>
              </a:lnSpc>
              <a:buClr>
                <a:srgbClr val="FFFFFF"/>
              </a:buClr>
              <a:buChar char="•"/>
            </a:pPr>
            <a:r>
              <a:rPr lang="en-US" b="false" i="false" strike="noStrike" u="none" sz="1400">
                <a:solidFill>
                  <a:srgbClr val="FFFFFF">
                    <a:alpha val="80000"/>
                  </a:srgbClr>
                </a:solidFill>
                <a:latin typeface="Noto Sans SC"/>
                <a:ea typeface="Noto Sans SC"/>
                <a:cs typeface="Noto Sans SC"/>
                <a:sym typeface="Noto Sans SC"/>
              </a:rPr>
              <a:t>Trading 交易记录</a:t>
            </a:r>
            <a:r>
              <a:rPr lang="en-US" b="false" i="false" strike="noStrike" u="none" sz="1400">
                <a:solidFill>
                  <a:srgbClr val="FFFFFF">
                    <a:alpha val="80000"/>
                  </a:srgbClr>
                </a:solidFill>
                <a:latin typeface="Noto Sans SC"/>
                <a:ea typeface="Noto Sans SC"/>
                <a:cs typeface="Noto Sans SC"/>
                <a:sym typeface="Noto Sans SC"/>
              </a:rPr>
              <a:t/>
            </a:r>
          </a:p>
          <a:p>
            <a:pPr algn="l" indent="-177800" marL="177800">
              <a:lnSpc>
                <a:spcPct val="125000"/>
              </a:lnSpc>
              <a:buClr>
                <a:srgbClr val="FFFFFF"/>
              </a:buClr>
              <a:buChar char="•"/>
            </a:pPr>
            <a:r>
              <a:rPr lang="en-US" b="false" i="false" strike="noStrike" u="none" sz="1400">
                <a:solidFill>
                  <a:srgbClr val="FFFFFF">
                    <a:alpha val="80000"/>
                  </a:srgbClr>
                </a:solidFill>
                <a:latin typeface="Noto Sans SC"/>
                <a:ea typeface="Noto Sans SC"/>
                <a:cs typeface="Noto Sans SC"/>
                <a:sym typeface="Noto Sans SC"/>
              </a:rPr>
              <a:t>Architect 架构设计</a:t>
            </a:r>
          </a:p>
        </p:txBody>
      </p:sp>
      <p:pic>
        <p:nvPicPr>
          <p:cNvPr name="Picture 9" id="9"/>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4191000" y="3352800"/>
            <a:ext cx="406400" cy="406400"/>
          </a:xfrm>
          <a:prstGeom prst="rect">
            <a:avLst/>
          </a:prstGeom>
        </p:spPr>
      </p:pic>
      <p:sp>
        <p:nvSpPr>
          <p:cNvPr name="AutoShape 10" id="10"/>
          <p:cNvSpPr/>
          <p:nvPr/>
        </p:nvSpPr>
        <p:spPr>
          <a:xfrm rot="0" flipH="false" flipV="false">
            <a:off x="4699000" y="2032000"/>
            <a:ext cx="3302000" cy="3048000"/>
          </a:xfrm>
          <a:prstGeom prst="roundRect">
            <a:avLst>
              <a:gd name="adj" fmla="val 4166"/>
            </a:avLst>
          </a:prstGeom>
          <a:solidFill>
            <a:srgbClr val="FFFFFF">
              <a:alpha val="5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4953000" y="2286000"/>
            <a:ext cx="406400" cy="406400"/>
          </a:xfrm>
          <a:prstGeom prst="rect">
            <a:avLst/>
          </a:prstGeom>
        </p:spPr>
      </p:pic>
      <p:sp>
        <p:nvSpPr>
          <p:cNvPr name="AutoShape 12" id="12"/>
          <p:cNvSpPr/>
          <p:nvPr/>
        </p:nvSpPr>
        <p:spPr>
          <a:xfrm rot="0" flipH="false" flipV="false">
            <a:off x="5461000" y="2286000"/>
            <a:ext cx="2286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统一存储中心</a:t>
            </a:r>
            <a:endParaRPr lang="en-US" sz="1100"/>
          </a:p>
        </p:txBody>
      </p:sp>
      <p:cxnSp>
        <p:nvCxnSpPr>
          <p:cNvPr name="Connector 13" id="13"/>
          <p:cNvCxnSpPr/>
          <p:nvPr/>
        </p:nvCxnSpPr>
        <p:spPr>
          <a:xfrm rot="-15626" flipH="false" flipV="false">
            <a:off x="4953014" y="2724150"/>
            <a:ext cx="2794000" cy="12700"/>
          </a:xfrm>
          <a:prstGeom prst="straightConnector1">
            <a:avLst/>
          </a:prstGeom>
          <a:solidFill>
            <a:srgbClr val="DEE0E3">
              <a:alpha val="100000"/>
            </a:srgbClr>
          </a:solidFill>
          <a:ln w="12700" cmpd="sng" cap="flat">
            <a:solidFill>
              <a:srgbClr val="FFFFFF">
                <a:alpha val="20000"/>
              </a:srgbClr>
            </a:solidFill>
            <a:prstDash val="solid"/>
            <a:round/>
            <a:headEnd type="none" w="med" len="med"/>
            <a:tailEnd type="none" w="med" len="med"/>
          </a:ln>
        </p:spPr>
      </p:cxnSp>
      <p:sp>
        <p:nvSpPr>
          <p:cNvPr name="AutoShape 14" id="14"/>
          <p:cNvSpPr/>
          <p:nvPr/>
        </p:nvSpPr>
        <p:spPr>
          <a:xfrm rot="0" flipH="false" flipV="false">
            <a:off x="4953000" y="2857500"/>
            <a:ext cx="2794000" cy="1524000"/>
          </a:xfrm>
          <a:prstGeom prst="rect">
            <a:avLst/>
          </a:prstGeom>
          <a:noFill/>
          <a:ln w="12700" cmpd="sng" cap="flat">
            <a:noFill/>
            <a:prstDash val="solid"/>
            <a:round/>
          </a:ln>
        </p:spPr>
        <p:txBody>
          <a:bodyPr anchor="ctr" rtlCol="false" anchorCtr="false" vert="horz" wrap="square" lIns="0" rIns="0" tIns="0" bIns="0"/>
          <a:lstStyle/>
          <a:p>
            <a:pPr algn="l" indent="-177800" marL="177800">
              <a:lnSpc>
                <a:spcPct val="125000"/>
              </a:lnSpc>
              <a:buClr>
                <a:srgbClr val="FFFFFF"/>
              </a:buClr>
              <a:buChar char="•"/>
              <a:defRPr/>
            </a:pPr>
            <a:r>
              <a:rPr lang="en-US" b="false" i="false" strike="noStrike" u="none" sz="1400">
                <a:solidFill>
                  <a:srgbClr val="FFFFFF">
                    <a:alpha val="80000"/>
                  </a:srgbClr>
                </a:solidFill>
                <a:latin typeface="Noto Sans SC"/>
                <a:ea typeface="Noto Sans SC"/>
                <a:cs typeface="Noto Sans SC"/>
                <a:sym typeface="Noto Sans SC"/>
              </a:rPr>
              <a:t>文件同步：合并分散数据</a:t>
            </a:r>
            <a:r>
              <a:rPr lang="en-US" b="false" i="false" strike="noStrike" u="none" sz="1400">
                <a:solidFill>
                  <a:srgbClr val="FFFFFF">
                    <a:alpha val="80000"/>
                  </a:srgbClr>
                </a:solidFill>
                <a:latin typeface="Noto Sans SC"/>
                <a:ea typeface="Noto Sans SC"/>
                <a:cs typeface="Noto Sans SC"/>
                <a:sym typeface="Noto Sans SC"/>
              </a:rPr>
              <a:t/>
            </a:r>
            <a:endParaRPr lang="en-US" sz="1100"/>
          </a:p>
          <a:p>
            <a:pPr algn="l" indent="-177800" marL="177800">
              <a:lnSpc>
                <a:spcPct val="125000"/>
              </a:lnSpc>
              <a:buClr>
                <a:srgbClr val="FFFFFF"/>
              </a:buClr>
              <a:buChar char="•"/>
            </a:pPr>
            <a:r>
              <a:rPr lang="en-US" b="false" i="false" strike="noStrike" u="none" sz="1400">
                <a:solidFill>
                  <a:srgbClr val="FFFFFF">
                    <a:alpha val="80000"/>
                  </a:srgbClr>
                </a:solidFill>
                <a:latin typeface="Noto Sans SC"/>
                <a:ea typeface="Noto Sans SC"/>
                <a:cs typeface="Noto Sans SC"/>
                <a:sym typeface="Noto Sans SC"/>
              </a:rPr>
              <a:t>格式统一：OpenViking Core</a:t>
            </a:r>
            <a:r>
              <a:rPr lang="en-US" b="false" i="false" strike="noStrike" u="none" sz="1400">
                <a:solidFill>
                  <a:srgbClr val="FFFFFF">
                    <a:alpha val="80000"/>
                  </a:srgbClr>
                </a:solidFill>
                <a:latin typeface="Noto Sans SC"/>
                <a:ea typeface="Noto Sans SC"/>
                <a:cs typeface="Noto Sans SC"/>
                <a:sym typeface="Noto Sans SC"/>
              </a:rPr>
              <a:t/>
            </a:r>
          </a:p>
          <a:p>
            <a:pPr algn="l" indent="-177800" marL="177800">
              <a:lnSpc>
                <a:spcPct val="125000"/>
              </a:lnSpc>
              <a:buClr>
                <a:srgbClr val="FFFFFF"/>
              </a:buClr>
              <a:buChar char="•"/>
            </a:pPr>
            <a:r>
              <a:rPr lang="en-US" b="false" i="false" strike="noStrike" u="none" sz="1400">
                <a:solidFill>
                  <a:srgbClr val="FFFFFF">
                    <a:alpha val="80000"/>
                  </a:srgbClr>
                </a:solidFill>
                <a:latin typeface="Noto Sans SC"/>
                <a:ea typeface="Noto Sans SC"/>
                <a:cs typeface="Noto Sans SC"/>
                <a:sym typeface="Noto Sans SC"/>
              </a:rPr>
              <a:t>索引更新：实时同步元数据</a:t>
            </a:r>
          </a:p>
        </p:txBody>
      </p:sp>
      <p:pic>
        <p:nvPicPr>
          <p:cNvPr name="Picture 15" id="15"/>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8128000" y="3352800"/>
            <a:ext cx="406400" cy="406400"/>
          </a:xfrm>
          <a:prstGeom prst="rect">
            <a:avLst/>
          </a:prstGeom>
        </p:spPr>
      </p:pic>
      <p:sp>
        <p:nvSpPr>
          <p:cNvPr name="AutoShape 16" id="16"/>
          <p:cNvSpPr/>
          <p:nvPr/>
        </p:nvSpPr>
        <p:spPr>
          <a:xfrm rot="0" flipH="false" flipV="false">
            <a:off x="8636000" y="2032000"/>
            <a:ext cx="2794000" cy="3048000"/>
          </a:xfrm>
          <a:prstGeom prst="roundRect">
            <a:avLst>
              <a:gd name="adj" fmla="val 4545"/>
            </a:avLst>
          </a:prstGeom>
          <a:solidFill>
            <a:srgbClr val="FFFFFF">
              <a:alpha val="5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17" id="17"/>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8890000" y="2286000"/>
            <a:ext cx="406400" cy="406400"/>
          </a:xfrm>
          <a:prstGeom prst="rect">
            <a:avLst/>
          </a:prstGeom>
        </p:spPr>
      </p:pic>
      <p:sp>
        <p:nvSpPr>
          <p:cNvPr name="AutoShape 18" id="18"/>
          <p:cNvSpPr/>
          <p:nvPr/>
        </p:nvSpPr>
        <p:spPr>
          <a:xfrm rot="0" flipH="false" flipV="false">
            <a:off x="9398000" y="2286000"/>
            <a:ext cx="2032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全局搜索服务</a:t>
            </a:r>
            <a:endParaRPr lang="en-US" sz="1100"/>
          </a:p>
        </p:txBody>
      </p:sp>
      <p:cxnSp>
        <p:nvCxnSpPr>
          <p:cNvPr name="Connector 19" id="19"/>
          <p:cNvCxnSpPr/>
          <p:nvPr/>
        </p:nvCxnSpPr>
        <p:spPr>
          <a:xfrm rot="-19098" flipH="false" flipV="false">
            <a:off x="8890018" y="2724150"/>
            <a:ext cx="2286000" cy="12700"/>
          </a:xfrm>
          <a:prstGeom prst="straightConnector1">
            <a:avLst/>
          </a:prstGeom>
          <a:solidFill>
            <a:srgbClr val="DEE0E3">
              <a:alpha val="100000"/>
            </a:srgbClr>
          </a:solidFill>
          <a:ln w="12700" cmpd="sng" cap="flat">
            <a:solidFill>
              <a:srgbClr val="FFFFFF">
                <a:alpha val="20000"/>
              </a:srgbClr>
            </a:solidFill>
            <a:prstDash val="solid"/>
            <a:round/>
            <a:headEnd type="none" w="med" len="med"/>
            <a:tailEnd type="none" w="med" len="med"/>
          </a:ln>
        </p:spPr>
      </p:cxnSp>
      <p:sp>
        <p:nvSpPr>
          <p:cNvPr name="AutoShape 20" id="20"/>
          <p:cNvSpPr/>
          <p:nvPr/>
        </p:nvSpPr>
        <p:spPr>
          <a:xfrm rot="0" flipH="false" flipV="false">
            <a:off x="8890000" y="2857500"/>
            <a:ext cx="2286000" cy="1524000"/>
          </a:xfrm>
          <a:prstGeom prst="rect">
            <a:avLst/>
          </a:prstGeom>
          <a:noFill/>
          <a:ln w="12700" cmpd="sng" cap="flat">
            <a:noFill/>
            <a:prstDash val="solid"/>
            <a:round/>
          </a:ln>
        </p:spPr>
        <p:txBody>
          <a:bodyPr anchor="ctr" rtlCol="false" anchorCtr="false" vert="horz" wrap="square" lIns="0" rIns="0" tIns="0" bIns="0"/>
          <a:lstStyle/>
          <a:p>
            <a:pPr algn="l" indent="-177800" marL="177800">
              <a:lnSpc>
                <a:spcPct val="125000"/>
              </a:lnSpc>
              <a:buClr>
                <a:srgbClr val="FFFFFF"/>
              </a:buClr>
              <a:buChar char="•"/>
              <a:defRPr/>
            </a:pPr>
            <a:r>
              <a:rPr lang="en-US" b="false" i="false" strike="noStrike" u="none" sz="1400">
                <a:solidFill>
                  <a:srgbClr val="FFFFFF">
                    <a:alpha val="80000"/>
                  </a:srgbClr>
                </a:solidFill>
                <a:latin typeface="Noto Sans SC"/>
                <a:ea typeface="Noto Sans SC"/>
                <a:cs typeface="Noto Sans SC"/>
                <a:sym typeface="Noto Sans SC"/>
              </a:rPr>
              <a:t>QMD 语义索引</a:t>
            </a:r>
            <a:r>
              <a:rPr lang="en-US" b="false" i="false" strike="noStrike" u="none" sz="1400">
                <a:solidFill>
                  <a:srgbClr val="FFFFFF">
                    <a:alpha val="80000"/>
                  </a:srgbClr>
                </a:solidFill>
                <a:latin typeface="Noto Sans SC"/>
                <a:ea typeface="Noto Sans SC"/>
                <a:cs typeface="Noto Sans SC"/>
                <a:sym typeface="Noto Sans SC"/>
              </a:rPr>
              <a:t/>
            </a:r>
            <a:endParaRPr lang="en-US" sz="1100"/>
          </a:p>
          <a:p>
            <a:pPr algn="l" indent="-177800" marL="177800">
              <a:lnSpc>
                <a:spcPct val="125000"/>
              </a:lnSpc>
              <a:buClr>
                <a:srgbClr val="FFFFFF"/>
              </a:buClr>
              <a:buChar char="•"/>
            </a:pPr>
            <a:r>
              <a:rPr lang="en-US" b="false" i="false" strike="noStrike" u="none" sz="1400">
                <a:solidFill>
                  <a:srgbClr val="FFFFFF">
                    <a:alpha val="80000"/>
                  </a:srgbClr>
                </a:solidFill>
                <a:latin typeface="Noto Sans SC"/>
                <a:ea typeface="Noto Sans SC"/>
                <a:cs typeface="Noto Sans SC"/>
                <a:sym typeface="Noto Sans SC"/>
              </a:rPr>
              <a:t>跨Agent 知识检索</a:t>
            </a:r>
            <a:r>
              <a:rPr lang="en-US" b="false" i="false" strike="noStrike" u="none" sz="1400">
                <a:solidFill>
                  <a:srgbClr val="FFFFFF">
                    <a:alpha val="80000"/>
                  </a:srgbClr>
                </a:solidFill>
                <a:latin typeface="Noto Sans SC"/>
                <a:ea typeface="Noto Sans SC"/>
                <a:cs typeface="Noto Sans SC"/>
                <a:sym typeface="Noto Sans SC"/>
              </a:rPr>
              <a:t/>
            </a:r>
          </a:p>
          <a:p>
            <a:pPr algn="l" indent="-177800" marL="177800">
              <a:lnSpc>
                <a:spcPct val="125000"/>
              </a:lnSpc>
              <a:buClr>
                <a:srgbClr val="FFFFFF"/>
              </a:buClr>
              <a:buChar char="•"/>
            </a:pPr>
            <a:r>
              <a:rPr lang="en-US" b="false" i="false" strike="noStrike" u="none" sz="1400">
                <a:solidFill>
                  <a:srgbClr val="FFFFFF">
                    <a:alpha val="80000"/>
                  </a:srgbClr>
                </a:solidFill>
                <a:latin typeface="Noto Sans SC"/>
                <a:ea typeface="Noto Sans SC"/>
                <a:cs typeface="Noto Sans SC"/>
                <a:sym typeface="Noto Sans SC"/>
              </a:rPr>
              <a:t>打破知识孤岛</a:t>
            </a:r>
          </a:p>
        </p:txBody>
      </p:sp>
      <p:sp>
        <p:nvSpPr>
          <p:cNvPr name="AutoShape 21" id="21"/>
          <p:cNvSpPr/>
          <p:nvPr/>
        </p:nvSpPr>
        <p:spPr>
          <a:xfrm rot="0" flipH="false" flipV="false">
            <a:off x="762000" y="5334000"/>
            <a:ext cx="10668000" cy="762000"/>
          </a:xfrm>
          <a:prstGeom prst="roundRect">
            <a:avLst>
              <a:gd name="adj" fmla="val 16666"/>
            </a:avLst>
          </a:prstGeom>
          <a:solidFill>
            <a:srgbClr val="00BFFF">
              <a:alpha val="10000"/>
            </a:srgbClr>
          </a:solidFill>
          <a:ln w="12700" cmpd="sng" cap="flat">
            <a:solidFill>
              <a:srgbClr val="00BFFF">
                <a:alpha val="20000"/>
              </a:srgbClr>
            </a:solidFill>
            <a:prstDash val="solid"/>
            <a:round/>
          </a:ln>
        </p:spPr>
        <p:txBody>
          <a:bodyPr anchor="ctr" rtlCol="false" vert="horz" wrap="square" lIns="63500" rIns="63500" tIns="63500" bIns="63500"/>
          <a:lstStyle/>
          <a:p>
            <a:pPr algn="ctr">
              <a:defRPr/>
            </a:pPr>
            <a:endParaRPr/>
          </a:p>
        </p:txBody>
      </p:sp>
      <p:pic>
        <p:nvPicPr>
          <p:cNvPr name="Picture 22" id="22"/>
          <p:cNvPicPr>
            <a:picLocks noChangeAspect="true"/>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0" flipH="false" flipV="false">
            <a:off x="1016000" y="5562600"/>
            <a:ext cx="304800" cy="304800"/>
          </a:xfrm>
          <a:prstGeom prst="rect">
            <a:avLst/>
          </a:prstGeom>
        </p:spPr>
      </p:pic>
      <p:sp>
        <p:nvSpPr>
          <p:cNvPr name="AutoShape 23" id="23"/>
          <p:cNvSpPr/>
          <p:nvPr/>
        </p:nvSpPr>
        <p:spPr>
          <a:xfrm rot="0" flipH="false" flipV="false">
            <a:off x="1397000" y="5461000"/>
            <a:ext cx="9652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90196"/>
                  </a:srgbClr>
                </a:solidFill>
                <a:latin typeface="Noto Sans SC"/>
                <a:ea typeface="Noto Sans SC"/>
                <a:cs typeface="Noto Sans SC"/>
                <a:sym typeface="Noto Sans SC"/>
              </a:rPr>
              <a:t>核心逻辑：各Agent在独立空间积累经验，通过统一存储进行汇聚，最终实现全局语义搜索，构建共享知识库。</a:t>
            </a:r>
            <a:endParaRPr lang="en-US" sz="1100"/>
          </a:p>
        </p:txBody>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bg>
      <p:bgPr>
        <a:solidFill>
          <a:srgbClr val="0A192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A192F">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1016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为什么不实时同步？</a:t>
            </a:r>
            <a:endParaRPr lang="en-US" sz="1100"/>
          </a:p>
        </p:txBody>
      </p:sp>
      <p:sp>
        <p:nvSpPr>
          <p:cNvPr name="AutoShape 4" id="4"/>
          <p:cNvSpPr/>
          <p:nvPr/>
        </p:nvSpPr>
        <p:spPr>
          <a:xfrm rot="0" flipH="false" flipV="false">
            <a:off x="762000" y="2032000"/>
            <a:ext cx="3302000" cy="3556000"/>
          </a:xfrm>
          <a:prstGeom prst="roundRect">
            <a:avLst>
              <a:gd name="adj" fmla="val 3846"/>
            </a:avLst>
          </a:prstGeom>
          <a:solidFill>
            <a:srgbClr val="FFFFFF">
              <a:alpha val="5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66800" y="2336800"/>
            <a:ext cx="609600" cy="609600"/>
          </a:xfrm>
          <a:prstGeom prst="rect">
            <a:avLst/>
          </a:prstGeom>
        </p:spPr>
      </p:pic>
      <p:sp>
        <p:nvSpPr>
          <p:cNvPr name="AutoShape 6" id="6"/>
          <p:cNvSpPr/>
          <p:nvPr/>
        </p:nvSpPr>
        <p:spPr>
          <a:xfrm rot="0" flipH="false" flipV="false">
            <a:off x="1066800" y="3048000"/>
            <a:ext cx="26924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核心疑问</a:t>
            </a:r>
            <a:endParaRPr lang="en-US" sz="1100"/>
          </a:p>
        </p:txBody>
      </p:sp>
      <p:sp>
        <p:nvSpPr>
          <p:cNvPr name="AutoShape 7" id="7"/>
          <p:cNvSpPr/>
          <p:nvPr/>
        </p:nvSpPr>
        <p:spPr>
          <a:xfrm rot="0" flipH="false" flipV="false">
            <a:off x="1066800" y="3556000"/>
            <a:ext cx="2692400" cy="1270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80000"/>
                  </a:srgbClr>
                </a:solidFill>
                <a:latin typeface="Noto Sans SC"/>
                <a:ea typeface="Noto Sans SC"/>
                <a:cs typeface="Noto Sans SC"/>
                <a:sym typeface="Noto Sans SC"/>
              </a:rPr>
              <a:t>为什么不采用实时同步策略？这是我们在设计初期面临的首要抉择。</a:t>
            </a:r>
            <a:endParaRPr lang="en-US" sz="1100"/>
          </a:p>
        </p:txBody>
      </p:sp>
      <p:sp>
        <p:nvSpPr>
          <p:cNvPr name="AutoShape 8" id="8"/>
          <p:cNvSpPr/>
          <p:nvPr/>
        </p:nvSpPr>
        <p:spPr>
          <a:xfrm rot="0" flipH="false" flipV="false">
            <a:off x="4445000" y="2032000"/>
            <a:ext cx="3302000" cy="3556000"/>
          </a:xfrm>
          <a:prstGeom prst="roundRect">
            <a:avLst>
              <a:gd name="adj" fmla="val 3846"/>
            </a:avLst>
          </a:prstGeom>
          <a:solidFill>
            <a:srgbClr val="FFFFFF">
              <a:alpha val="5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9" id="9"/>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4749800" y="2336800"/>
            <a:ext cx="609600" cy="609600"/>
          </a:xfrm>
          <a:prstGeom prst="rect">
            <a:avLst/>
          </a:prstGeom>
        </p:spPr>
      </p:pic>
      <p:sp>
        <p:nvSpPr>
          <p:cNvPr name="AutoShape 10" id="10"/>
          <p:cNvSpPr/>
          <p:nvPr/>
        </p:nvSpPr>
        <p:spPr>
          <a:xfrm rot="0" flipH="false" flipV="false">
            <a:off x="4749800" y="3048000"/>
            <a:ext cx="26924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性能瓶颈</a:t>
            </a:r>
            <a:endParaRPr lang="en-US" sz="1100"/>
          </a:p>
        </p:txBody>
      </p:sp>
      <p:sp>
        <p:nvSpPr>
          <p:cNvPr name="AutoShape 11" id="11"/>
          <p:cNvSpPr/>
          <p:nvPr/>
        </p:nvSpPr>
        <p:spPr>
          <a:xfrm rot="0" flipH="false" flipV="false">
            <a:off x="4749800" y="3556000"/>
            <a:ext cx="2692400" cy="1270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80000"/>
                  </a:srgbClr>
                </a:solidFill>
                <a:latin typeface="Noto Sans SC"/>
                <a:ea typeface="Noto Sans SC"/>
                <a:cs typeface="Noto Sans SC"/>
                <a:sym typeface="Noto Sans SC"/>
              </a:rPr>
              <a:t>实时同步成本过高。高频的文件复制与索引重建会严重占用系统资源，导致性能下降。</a:t>
            </a:r>
            <a:endParaRPr lang="en-US" sz="1100"/>
          </a:p>
        </p:txBody>
      </p:sp>
      <p:sp>
        <p:nvSpPr>
          <p:cNvPr name="AutoShape 12" id="12"/>
          <p:cNvSpPr/>
          <p:nvPr/>
        </p:nvSpPr>
        <p:spPr>
          <a:xfrm rot="0" flipH="false" flipV="false">
            <a:off x="8128000" y="2032000"/>
            <a:ext cx="3302000" cy="3556000"/>
          </a:xfrm>
          <a:prstGeom prst="roundRect">
            <a:avLst>
              <a:gd name="adj" fmla="val 3846"/>
            </a:avLst>
          </a:prstGeom>
          <a:solidFill>
            <a:srgbClr val="FFFFFF">
              <a:alpha val="5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8432800" y="2336800"/>
            <a:ext cx="609600" cy="609600"/>
          </a:xfrm>
          <a:prstGeom prst="rect">
            <a:avLst/>
          </a:prstGeom>
        </p:spPr>
      </p:pic>
      <p:sp>
        <p:nvSpPr>
          <p:cNvPr name="AutoShape 14" id="14"/>
          <p:cNvSpPr/>
          <p:nvPr/>
        </p:nvSpPr>
        <p:spPr>
          <a:xfrm rot="0" flipH="false" flipV="false">
            <a:off x="8432800" y="3048000"/>
            <a:ext cx="26924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平衡策略</a:t>
            </a:r>
            <a:endParaRPr lang="en-US" sz="1100"/>
          </a:p>
        </p:txBody>
      </p:sp>
      <p:sp>
        <p:nvSpPr>
          <p:cNvPr name="AutoShape 15" id="15"/>
          <p:cNvSpPr/>
          <p:nvPr/>
        </p:nvSpPr>
        <p:spPr>
          <a:xfrm rot="0" flipH="false" flipV="false">
            <a:off x="8432800" y="3556000"/>
            <a:ext cx="2692400" cy="1270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80000"/>
                  </a:srgbClr>
                </a:solidFill>
                <a:latin typeface="Noto Sans SC"/>
                <a:ea typeface="Noto Sans SC"/>
                <a:cs typeface="Noto Sans SC"/>
                <a:sym typeface="Noto Sans SC"/>
              </a:rPr>
              <a:t>采用每日批量同步机制。这是在保证信息新鲜度的前提下，对系统效率的最优平衡。</a:t>
            </a:r>
            <a:endParaRPr lang="en-US" sz="1100"/>
          </a:p>
        </p:txBody>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bg>
      <p:bgPr>
        <a:solidFill>
          <a:srgbClr val="0A0F1E">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7812" b="7812"/>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A1428">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1016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同步设计要点</a:t>
            </a:r>
            <a:endParaRPr lang="en-US" sz="1100"/>
          </a:p>
        </p:txBody>
      </p:sp>
      <p:sp>
        <p:nvSpPr>
          <p:cNvPr name="AutoShape 5" id="5"/>
          <p:cNvSpPr/>
          <p:nvPr/>
        </p:nvSpPr>
        <p:spPr>
          <a:xfrm rot="0" flipH="false" flipV="false">
            <a:off x="762000" y="2032000"/>
            <a:ext cx="3302000" cy="2794000"/>
          </a:xfrm>
          <a:prstGeom prst="roundRect">
            <a:avLst>
              <a:gd name="adj" fmla="val 4545"/>
            </a:avLst>
          </a:prstGeom>
          <a:solidFill>
            <a:srgbClr val="FFFFFF">
              <a:alpha val="5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66800" y="2336800"/>
            <a:ext cx="609600" cy="609600"/>
          </a:xfrm>
          <a:prstGeom prst="rect">
            <a:avLst/>
          </a:prstGeom>
        </p:spPr>
      </p:pic>
      <p:sp>
        <p:nvSpPr>
          <p:cNvPr name="AutoShape 7" id="7"/>
          <p:cNvSpPr/>
          <p:nvPr/>
        </p:nvSpPr>
        <p:spPr>
          <a:xfrm rot="0" flipH="false" flipV="false">
            <a:off x="1066800" y="3048000"/>
            <a:ext cx="26924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增量同步策略</a:t>
            </a:r>
            <a:endParaRPr lang="en-US" sz="1100"/>
          </a:p>
        </p:txBody>
      </p:sp>
      <p:sp>
        <p:nvSpPr>
          <p:cNvPr name="AutoShape 8" id="8"/>
          <p:cNvSpPr/>
          <p:nvPr/>
        </p:nvSpPr>
        <p:spPr>
          <a:xfrm rot="0" flipH="false" flipV="false">
            <a:off x="1066800" y="3492500"/>
            <a:ext cx="2692400" cy="1016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80000"/>
                  </a:srgbClr>
                </a:solidFill>
                <a:latin typeface="Noto Sans SC"/>
                <a:ea typeface="Noto Sans SC"/>
                <a:cs typeface="Noto Sans SC"/>
                <a:sym typeface="Noto Sans SC"/>
              </a:rPr>
              <a:t>只同步修改时间更新的文件，避免重复操作，提升传输效率。</a:t>
            </a:r>
            <a:endParaRPr lang="en-US" sz="1100"/>
          </a:p>
        </p:txBody>
      </p:sp>
      <p:sp>
        <p:nvSpPr>
          <p:cNvPr name="AutoShape 9" id="9"/>
          <p:cNvSpPr/>
          <p:nvPr/>
        </p:nvSpPr>
        <p:spPr>
          <a:xfrm rot="0" flipH="false" flipV="false">
            <a:off x="4445000" y="2032000"/>
            <a:ext cx="3302000" cy="2794000"/>
          </a:xfrm>
          <a:prstGeom prst="roundRect">
            <a:avLst>
              <a:gd name="adj" fmla="val 4545"/>
            </a:avLst>
          </a:prstGeom>
          <a:solidFill>
            <a:srgbClr val="FFFFFF">
              <a:alpha val="5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4749800" y="2336800"/>
            <a:ext cx="609600" cy="609600"/>
          </a:xfrm>
          <a:prstGeom prst="rect">
            <a:avLst/>
          </a:prstGeom>
        </p:spPr>
      </p:pic>
      <p:sp>
        <p:nvSpPr>
          <p:cNvPr name="AutoShape 11" id="11"/>
          <p:cNvSpPr/>
          <p:nvPr/>
        </p:nvSpPr>
        <p:spPr>
          <a:xfrm rot="0" flipH="false" flipV="false">
            <a:off x="4749800" y="3048000"/>
            <a:ext cx="26924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定时执行机制</a:t>
            </a:r>
            <a:endParaRPr lang="en-US" sz="1100"/>
          </a:p>
        </p:txBody>
      </p:sp>
      <p:sp>
        <p:nvSpPr>
          <p:cNvPr name="AutoShape 12" id="12"/>
          <p:cNvSpPr/>
          <p:nvPr/>
        </p:nvSpPr>
        <p:spPr>
          <a:xfrm rot="0" flipH="false" flipV="false">
            <a:off x="4749800" y="3492500"/>
            <a:ext cx="2692400" cy="1016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80000"/>
                  </a:srgbClr>
                </a:solidFill>
                <a:latin typeface="Noto Sans SC"/>
                <a:ea typeface="Noto Sans SC"/>
                <a:cs typeface="Noto Sans SC"/>
                <a:sym typeface="Noto Sans SC"/>
              </a:rPr>
              <a:t>设定每日运行一次，在数据新鲜度与系统负载之间取得最佳平衡。</a:t>
            </a:r>
            <a:endParaRPr lang="en-US" sz="1100"/>
          </a:p>
        </p:txBody>
      </p:sp>
      <p:sp>
        <p:nvSpPr>
          <p:cNvPr name="AutoShape 13" id="13"/>
          <p:cNvSpPr/>
          <p:nvPr/>
        </p:nvSpPr>
        <p:spPr>
          <a:xfrm rot="0" flipH="false" flipV="false">
            <a:off x="8128000" y="2032000"/>
            <a:ext cx="3302000" cy="2794000"/>
          </a:xfrm>
          <a:prstGeom prst="roundRect">
            <a:avLst>
              <a:gd name="adj" fmla="val 4545"/>
            </a:avLst>
          </a:prstGeom>
          <a:solidFill>
            <a:srgbClr val="FFFFFF">
              <a:alpha val="5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8432800" y="2336800"/>
            <a:ext cx="609600" cy="609600"/>
          </a:xfrm>
          <a:prstGeom prst="rect">
            <a:avLst/>
          </a:prstGeom>
        </p:spPr>
      </p:pic>
      <p:sp>
        <p:nvSpPr>
          <p:cNvPr name="AutoShape 15" id="15"/>
          <p:cNvSpPr/>
          <p:nvPr/>
        </p:nvSpPr>
        <p:spPr>
          <a:xfrm rot="0" flipH="false" flipV="false">
            <a:off x="8432800" y="3048000"/>
            <a:ext cx="26924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更新向量索引</a:t>
            </a:r>
            <a:endParaRPr lang="en-US" sz="1100"/>
          </a:p>
        </p:txBody>
      </p:sp>
      <p:sp>
        <p:nvSpPr>
          <p:cNvPr name="AutoShape 16" id="16"/>
          <p:cNvSpPr/>
          <p:nvPr/>
        </p:nvSpPr>
        <p:spPr>
          <a:xfrm rot="0" flipH="false" flipV="false">
            <a:off x="8432800" y="3492500"/>
            <a:ext cx="2692400" cy="1016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80000"/>
                  </a:srgbClr>
                </a:solidFill>
                <a:latin typeface="Noto Sans SC"/>
                <a:ea typeface="Noto Sans SC"/>
                <a:cs typeface="Noto Sans SC"/>
                <a:sym typeface="Noto Sans SC"/>
              </a:rPr>
              <a:t>执行 qmd update 命令，确保新同步内容可被搜索服务索引。</a:t>
            </a:r>
            <a:endParaRPr lang="en-US" sz="1100"/>
          </a:p>
        </p:txBody>
      </p:sp>
      <p:sp>
        <p:nvSpPr>
          <p:cNvPr name="AutoShape 17" id="17"/>
          <p:cNvSpPr/>
          <p:nvPr/>
        </p:nvSpPr>
        <p:spPr>
          <a:xfrm rot="0" flipH="false" flipV="false">
            <a:off x="762000" y="5080000"/>
            <a:ext cx="10668000" cy="762000"/>
          </a:xfrm>
          <a:prstGeom prst="roundRect">
            <a:avLst>
              <a:gd name="adj" fmla="val 16666"/>
            </a:avLst>
          </a:prstGeom>
          <a:solidFill>
            <a:srgbClr val="00BFFF">
              <a:alpha val="10000"/>
            </a:srgbClr>
          </a:solidFill>
          <a:ln w="12700" cmpd="sng" cap="flat">
            <a:solidFill>
              <a:srgbClr val="00BFFF">
                <a:alpha val="50000"/>
              </a:srgbClr>
            </a:solidFill>
            <a:prstDash val="solid"/>
            <a:round/>
          </a:ln>
        </p:spPr>
        <p:txBody>
          <a:bodyPr anchor="ctr" rtlCol="false" vert="horz" wrap="square" lIns="63500" rIns="63500" tIns="63500" bIns="63500"/>
          <a:lstStyle/>
          <a:p>
            <a:pPr algn="ctr">
              <a:defRPr/>
            </a:pPr>
            <a:endParaRPr/>
          </a:p>
        </p:txBody>
      </p:sp>
      <p:pic>
        <p:nvPicPr>
          <p:cNvPr name="Picture 18" id="18"/>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1016000" y="5308600"/>
            <a:ext cx="304800" cy="304800"/>
          </a:xfrm>
          <a:prstGeom prst="rect">
            <a:avLst/>
          </a:prstGeom>
        </p:spPr>
      </p:pic>
      <p:sp>
        <p:nvSpPr>
          <p:cNvPr name="AutoShape 19" id="19"/>
          <p:cNvSpPr/>
          <p:nvPr/>
        </p:nvSpPr>
        <p:spPr>
          <a:xfrm rot="0" flipH="false" flipV="false">
            <a:off x="1460500" y="5270500"/>
            <a:ext cx="9652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DCDCDC"/>
                </a:solidFill>
                <a:latin typeface="Noto Sans SC"/>
                <a:ea typeface="Noto Sans SC"/>
                <a:cs typeface="Noto Sans SC"/>
                <a:sym typeface="Noto Sans SC"/>
              </a:rPr>
              <a:t>关键提示：文件同步了但索引没更新 = 新内容对搜索不可见</a:t>
            </a:r>
            <a:endParaRPr lang="en-US" sz="1100"/>
          </a:p>
        </p:txBody>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bg>
      <p:bgPr>
        <a:solidFill>
          <a:srgbClr val="0A0F1E">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7812" b="7812"/>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A0F1E">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1016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第3课核心总结</a:t>
            </a:r>
            <a:endParaRPr lang="en-US" sz="1100"/>
          </a:p>
        </p:txBody>
      </p:sp>
      <p:sp>
        <p:nvSpPr>
          <p:cNvPr name="AutoShape 5" id="5"/>
          <p:cNvSpPr/>
          <p:nvPr/>
        </p:nvSpPr>
        <p:spPr>
          <a:xfrm rot="0" flipH="false" flipV="false">
            <a:off x="762000" y="2032000"/>
            <a:ext cx="5207000" cy="1270000"/>
          </a:xfrm>
          <a:prstGeom prst="roundRect">
            <a:avLst>
              <a:gd name="adj" fmla="val 10000"/>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2222500"/>
            <a:ext cx="406400" cy="406400"/>
          </a:xfrm>
          <a:prstGeom prst="rect">
            <a:avLst/>
          </a:prstGeom>
        </p:spPr>
      </p:pic>
      <p:sp>
        <p:nvSpPr>
          <p:cNvPr name="AutoShape 7" id="7"/>
          <p:cNvSpPr/>
          <p:nvPr/>
        </p:nvSpPr>
        <p:spPr>
          <a:xfrm rot="0" flipH="false" flipV="false">
            <a:off x="1524000" y="2184400"/>
            <a:ext cx="4318000" cy="889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单Agent瓶颈本质</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400">
                <a:solidFill>
                  <a:srgbClr val="FFFFFF">
                    <a:alpha val="80000"/>
                  </a:srgbClr>
                </a:solidFill>
                <a:latin typeface="Noto Sans SC"/>
                <a:ea typeface="Noto Sans SC"/>
                <a:cs typeface="Noto Sans SC"/>
                <a:sym typeface="Noto Sans SC"/>
              </a:rPr>
              <a:t>违反单一职责原则，导致扩展性受限</a:t>
            </a:r>
          </a:p>
        </p:txBody>
      </p:sp>
      <p:sp>
        <p:nvSpPr>
          <p:cNvPr name="AutoShape 8" id="8"/>
          <p:cNvSpPr/>
          <p:nvPr/>
        </p:nvSpPr>
        <p:spPr>
          <a:xfrm rot="0" flipH="false" flipV="false">
            <a:off x="6223000" y="2032000"/>
            <a:ext cx="5207000" cy="1270000"/>
          </a:xfrm>
          <a:prstGeom prst="roundRect">
            <a:avLst>
              <a:gd name="adj" fmla="val 10000"/>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9" id="9"/>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6477000" y="2222500"/>
            <a:ext cx="406400" cy="406400"/>
          </a:xfrm>
          <a:prstGeom prst="rect">
            <a:avLst/>
          </a:prstGeom>
        </p:spPr>
      </p:pic>
      <p:sp>
        <p:nvSpPr>
          <p:cNvPr name="AutoShape 10" id="10"/>
          <p:cNvSpPr/>
          <p:nvPr/>
        </p:nvSpPr>
        <p:spPr>
          <a:xfrm rot="0" flipH="false" flipV="false">
            <a:off x="6985000" y="2184400"/>
            <a:ext cx="4318000" cy="889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三层架构体系</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400">
                <a:solidFill>
                  <a:srgbClr val="FFFFFF">
                    <a:alpha val="80000"/>
                  </a:srgbClr>
                </a:solidFill>
                <a:latin typeface="Noto Sans SC"/>
                <a:ea typeface="Noto Sans SC"/>
                <a:cs typeface="Noto Sans SC"/>
                <a:sym typeface="Noto Sans SC"/>
              </a:rPr>
              <a:t>主Agent + 专业Agent集群 + 共享基础设施</a:t>
            </a:r>
          </a:p>
        </p:txBody>
      </p:sp>
      <p:sp>
        <p:nvSpPr>
          <p:cNvPr name="AutoShape 11" id="11"/>
          <p:cNvSpPr/>
          <p:nvPr/>
        </p:nvSpPr>
        <p:spPr>
          <a:xfrm rot="0" flipH="false" flipV="false">
            <a:off x="762000" y="3492500"/>
            <a:ext cx="5207000" cy="1270000"/>
          </a:xfrm>
          <a:prstGeom prst="roundRect">
            <a:avLst>
              <a:gd name="adj" fmla="val 10000"/>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12" id="12"/>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1016000" y="3683000"/>
            <a:ext cx="406400" cy="406400"/>
          </a:xfrm>
          <a:prstGeom prst="rect">
            <a:avLst/>
          </a:prstGeom>
        </p:spPr>
      </p:pic>
      <p:sp>
        <p:nvSpPr>
          <p:cNvPr name="AutoShape 13" id="13"/>
          <p:cNvSpPr/>
          <p:nvPr/>
        </p:nvSpPr>
        <p:spPr>
          <a:xfrm rot="0" flipH="false" flipV="false">
            <a:off x="1524000" y="3644900"/>
            <a:ext cx="4318000" cy="889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可靠通信机制</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400">
                <a:solidFill>
                  <a:srgbClr val="FFFFFF">
                    <a:alpha val="80000"/>
                  </a:srgbClr>
                </a:solidFill>
                <a:latin typeface="Noto Sans SC"/>
                <a:ea typeface="Noto Sans SC"/>
                <a:cs typeface="Noto Sans SC"/>
                <a:sym typeface="Noto Sans SC"/>
              </a:rPr>
              <a:t>Pub/Sub + 持久化双通道，确保消息不丢失</a:t>
            </a:r>
          </a:p>
        </p:txBody>
      </p:sp>
      <p:sp>
        <p:nvSpPr>
          <p:cNvPr name="AutoShape 14" id="14"/>
          <p:cNvSpPr/>
          <p:nvPr/>
        </p:nvSpPr>
        <p:spPr>
          <a:xfrm rot="0" flipH="false" flipV="false">
            <a:off x="6223000" y="3492500"/>
            <a:ext cx="5207000" cy="1270000"/>
          </a:xfrm>
          <a:prstGeom prst="roundRect">
            <a:avLst>
              <a:gd name="adj" fmla="val 10000"/>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15" id="15"/>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6477000" y="3683000"/>
            <a:ext cx="406400" cy="406400"/>
          </a:xfrm>
          <a:prstGeom prst="rect">
            <a:avLst/>
          </a:prstGeom>
        </p:spPr>
      </p:pic>
      <p:sp>
        <p:nvSpPr>
          <p:cNvPr name="AutoShape 16" id="16"/>
          <p:cNvSpPr/>
          <p:nvPr/>
        </p:nvSpPr>
        <p:spPr>
          <a:xfrm rot="0" flipH="false" flipV="false">
            <a:off x="6985000" y="3644900"/>
            <a:ext cx="4318000" cy="889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智能任务分配</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400">
                <a:solidFill>
                  <a:srgbClr val="FFFFFF">
                    <a:alpha val="80000"/>
                  </a:srgbClr>
                </a:solidFill>
                <a:latin typeface="Noto Sans SC"/>
                <a:ea typeface="Noto Sans SC"/>
                <a:cs typeface="Noto Sans SC"/>
                <a:sym typeface="Noto Sans SC"/>
              </a:rPr>
              <a:t>技能匹配优先于负载均衡 (阈值 &gt; 0.5)</a:t>
            </a:r>
          </a:p>
        </p:txBody>
      </p:sp>
      <p:sp>
        <p:nvSpPr>
          <p:cNvPr name="AutoShape 17" id="17"/>
          <p:cNvSpPr/>
          <p:nvPr/>
        </p:nvSpPr>
        <p:spPr>
          <a:xfrm rot="0" flipH="false" flipV="false">
            <a:off x="762000" y="4953000"/>
            <a:ext cx="10668000" cy="1270000"/>
          </a:xfrm>
          <a:prstGeom prst="roundRect">
            <a:avLst>
              <a:gd name="adj" fmla="val 10000"/>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18" id="18"/>
          <p:cNvPicPr>
            <a:picLocks noChangeAspect="true"/>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rot="0" flipH="false" flipV="false">
            <a:off x="1016000" y="5143500"/>
            <a:ext cx="406400" cy="406400"/>
          </a:xfrm>
          <a:prstGeom prst="rect">
            <a:avLst/>
          </a:prstGeom>
        </p:spPr>
      </p:pic>
      <p:sp>
        <p:nvSpPr>
          <p:cNvPr name="AutoShape 19" id="19"/>
          <p:cNvSpPr/>
          <p:nvPr/>
        </p:nvSpPr>
        <p:spPr>
          <a:xfrm rot="0" flipH="false" flipV="false">
            <a:off x="1524000" y="5105400"/>
            <a:ext cx="9652000" cy="889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系统的“隐藏英雄”</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400">
                <a:solidFill>
                  <a:srgbClr val="FFFFFF">
                    <a:alpha val="80000"/>
                  </a:srgbClr>
                </a:solidFill>
                <a:latin typeface="Noto Sans SC"/>
                <a:ea typeface="Noto Sans SC"/>
                <a:cs typeface="Noto Sans SC"/>
                <a:sym typeface="Noto Sans SC"/>
              </a:rPr>
              <a:t>记忆同步是多Agent系统维持一致性与智能水平的关键机制</a:t>
            </a:r>
          </a:p>
        </p:txBody>
      </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bg>
      <p:bgPr>
        <a:solidFill>
          <a:srgbClr val="0A192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A192F">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1016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下节课预告</a:t>
            </a:r>
            <a:endParaRPr lang="en-US" sz="1100"/>
          </a:p>
        </p:txBody>
      </p:sp>
      <p:sp>
        <p:nvSpPr>
          <p:cNvPr name="AutoShape 4" id="4"/>
          <p:cNvSpPr/>
          <p:nvPr/>
        </p:nvSpPr>
        <p:spPr>
          <a:xfrm rot="0" flipH="false" flipV="false">
            <a:off x="762000" y="2032000"/>
            <a:ext cx="5143500" cy="4064000"/>
          </a:xfrm>
          <a:prstGeom prst="roundRect">
            <a:avLst>
              <a:gd name="adj" fmla="val 3125"/>
            </a:avLst>
          </a:prstGeom>
          <a:solidFill>
            <a:srgbClr val="FFFFFF">
              <a:alpha val="5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16000" y="2286000"/>
            <a:ext cx="304800" cy="304800"/>
          </a:xfrm>
          <a:prstGeom prst="rect">
            <a:avLst/>
          </a:prstGeom>
        </p:spPr>
      </p:pic>
      <p:sp>
        <p:nvSpPr>
          <p:cNvPr name="AutoShape 6" id="6"/>
          <p:cNvSpPr/>
          <p:nvPr/>
        </p:nvSpPr>
        <p:spPr>
          <a:xfrm rot="0" flipH="false" flipV="false">
            <a:off x="1397000" y="2260600"/>
            <a:ext cx="381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课程回顾：三大基础设施</a:t>
            </a:r>
            <a:endParaRPr lang="en-US" sz="1100"/>
          </a:p>
        </p:txBody>
      </p:sp>
      <p:cxnSp>
        <p:nvCxnSpPr>
          <p:cNvPr name="Connector 7" id="7"/>
          <p:cNvCxnSpPr/>
          <p:nvPr/>
        </p:nvCxnSpPr>
        <p:spPr>
          <a:xfrm rot="-9418" flipH="false" flipV="false">
            <a:off x="1016009" y="2724150"/>
            <a:ext cx="4635500" cy="12700"/>
          </a:xfrm>
          <a:prstGeom prst="straightConnector1">
            <a:avLst/>
          </a:prstGeom>
          <a:solidFill>
            <a:srgbClr val="DEE0E3">
              <a:alpha val="100000"/>
            </a:srgbClr>
          </a:solidFill>
          <a:ln w="12700" cmpd="sng" cap="flat">
            <a:solidFill>
              <a:srgbClr val="FFFFFF">
                <a:alpha val="20000"/>
              </a:srgbClr>
            </a:solidFill>
            <a:prstDash val="solid"/>
            <a:round/>
            <a:headEnd type="none" w="med" len="med"/>
            <a:tailEnd type="none" w="med" len="med"/>
          </a:ln>
        </p:spPr>
      </p:cxnSp>
      <p:pic>
        <p:nvPicPr>
          <p:cNvPr name="Picture 8" id="8"/>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1016000" y="2984500"/>
            <a:ext cx="254000" cy="254000"/>
          </a:xfrm>
          <a:prstGeom prst="rect">
            <a:avLst/>
          </a:prstGeom>
        </p:spPr>
      </p:pic>
      <p:sp>
        <p:nvSpPr>
          <p:cNvPr name="AutoShape 9" id="9"/>
          <p:cNvSpPr/>
          <p:nvPr/>
        </p:nvSpPr>
        <p:spPr>
          <a:xfrm rot="0" flipH="false" flipV="false">
            <a:off x="1397000" y="2946400"/>
            <a:ext cx="4318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DCDCDC"/>
                </a:solidFill>
                <a:latin typeface="Noto Sans SC"/>
                <a:ea typeface="Noto Sans SC"/>
                <a:cs typeface="Noto Sans SC"/>
                <a:sym typeface="Noto Sans SC"/>
              </a:rPr>
              <a:t>第1课：记忆系统 (Memory System)</a:t>
            </a:r>
            <a:endParaRPr lang="en-US" sz="1100"/>
          </a:p>
        </p:txBody>
      </p:sp>
      <p:pic>
        <p:nvPicPr>
          <p:cNvPr name="Picture 10" id="10"/>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1016000" y="3429000"/>
            <a:ext cx="254000" cy="254000"/>
          </a:xfrm>
          <a:prstGeom prst="rect">
            <a:avLst/>
          </a:prstGeom>
        </p:spPr>
      </p:pic>
      <p:sp>
        <p:nvSpPr>
          <p:cNvPr name="AutoShape 11" id="11"/>
          <p:cNvSpPr/>
          <p:nvPr/>
        </p:nvSpPr>
        <p:spPr>
          <a:xfrm rot="0" flipH="false" flipV="false">
            <a:off x="1397000" y="3390900"/>
            <a:ext cx="4318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DCDCDC"/>
                </a:solidFill>
                <a:latin typeface="Noto Sans SC"/>
                <a:ea typeface="Noto Sans SC"/>
                <a:cs typeface="Noto Sans SC"/>
                <a:sym typeface="Noto Sans SC"/>
              </a:rPr>
              <a:t>第2课：模型路由 (Model Routing)</a:t>
            </a:r>
            <a:endParaRPr lang="en-US" sz="1100"/>
          </a:p>
        </p:txBody>
      </p:sp>
      <p:pic>
        <p:nvPicPr>
          <p:cNvPr name="Picture 12" id="12"/>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1016000" y="3873500"/>
            <a:ext cx="254000" cy="254000"/>
          </a:xfrm>
          <a:prstGeom prst="rect">
            <a:avLst/>
          </a:prstGeom>
        </p:spPr>
      </p:pic>
      <p:sp>
        <p:nvSpPr>
          <p:cNvPr name="AutoShape 13" id="13"/>
          <p:cNvSpPr/>
          <p:nvPr/>
        </p:nvSpPr>
        <p:spPr>
          <a:xfrm rot="0" flipH="false" flipV="false">
            <a:off x="1397000" y="3835400"/>
            <a:ext cx="4318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DCDCDC"/>
                </a:solidFill>
                <a:latin typeface="Noto Sans SC"/>
                <a:ea typeface="Noto Sans SC"/>
                <a:cs typeface="Noto Sans SC"/>
                <a:sym typeface="Noto Sans SC"/>
              </a:rPr>
              <a:t>第3课：多Agent架构 (Multi-Agent Architecture)</a:t>
            </a:r>
            <a:endParaRPr lang="en-US" sz="1100"/>
          </a:p>
        </p:txBody>
      </p:sp>
      <p:sp>
        <p:nvSpPr>
          <p:cNvPr name="AutoShape 14" id="14"/>
          <p:cNvSpPr/>
          <p:nvPr/>
        </p:nvSpPr>
        <p:spPr>
          <a:xfrm rot="0" flipH="false" flipV="false">
            <a:off x="6286500" y="2032000"/>
            <a:ext cx="5143500" cy="4064000"/>
          </a:xfrm>
          <a:prstGeom prst="roundRect">
            <a:avLst>
              <a:gd name="adj" fmla="val 3125"/>
            </a:avLst>
          </a:prstGeom>
          <a:solidFill>
            <a:srgbClr val="FFFFFF">
              <a:alpha val="5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15" id="15"/>
          <p:cNvPicPr>
            <a:picLocks noChangeAspect="true"/>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0" flipH="false" flipV="false">
            <a:off x="6540500" y="2286000"/>
            <a:ext cx="304800" cy="304800"/>
          </a:xfrm>
          <a:prstGeom prst="rect">
            <a:avLst/>
          </a:prstGeom>
        </p:spPr>
      </p:pic>
      <p:sp>
        <p:nvSpPr>
          <p:cNvPr name="AutoShape 16" id="16"/>
          <p:cNvSpPr/>
          <p:nvPr/>
        </p:nvSpPr>
        <p:spPr>
          <a:xfrm rot="0" flipH="false" flipV="false">
            <a:off x="6921500" y="2260600"/>
            <a:ext cx="4318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00"/>
                </a:solidFill>
                <a:latin typeface="Noto Sans SC"/>
                <a:ea typeface="Noto Sans SC"/>
                <a:cs typeface="Noto Sans SC"/>
                <a:sym typeface="Noto Sans SC"/>
              </a:rPr>
              <a:t>第4课：让Agent写代码</a:t>
            </a:r>
            <a:endParaRPr lang="en-US" sz="1100"/>
          </a:p>
        </p:txBody>
      </p:sp>
      <p:cxnSp>
        <p:nvCxnSpPr>
          <p:cNvPr name="Connector 17" id="17"/>
          <p:cNvCxnSpPr/>
          <p:nvPr/>
        </p:nvCxnSpPr>
        <p:spPr>
          <a:xfrm rot="-9418" flipH="false" flipV="false">
            <a:off x="6540509" y="2724150"/>
            <a:ext cx="4635500" cy="12700"/>
          </a:xfrm>
          <a:prstGeom prst="straightConnector1">
            <a:avLst/>
          </a:prstGeom>
          <a:solidFill>
            <a:srgbClr val="DEE0E3">
              <a:alpha val="100000"/>
            </a:srgbClr>
          </a:solidFill>
          <a:ln w="12700" cmpd="sng" cap="flat">
            <a:solidFill>
              <a:srgbClr val="FFFFFF">
                <a:alpha val="20000"/>
              </a:srgbClr>
            </a:solidFill>
            <a:prstDash val="solid"/>
            <a:round/>
            <a:headEnd type="none" w="med" len="med"/>
            <a:tailEnd type="none" w="med" len="med"/>
          </a:ln>
        </p:spPr>
      </p:cxnSp>
      <p:sp>
        <p:nvSpPr>
          <p:cNvPr name="AutoShape 18" id="18"/>
          <p:cNvSpPr/>
          <p:nvPr/>
        </p:nvSpPr>
        <p:spPr>
          <a:xfrm rot="0" flipH="false" flipV="false">
            <a:off x="6540500" y="2921000"/>
            <a:ext cx="46355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主题：结构化代码生成工作流</a:t>
            </a:r>
            <a:endParaRPr lang="en-US" sz="1100"/>
          </a:p>
        </p:txBody>
      </p:sp>
      <p:sp>
        <p:nvSpPr>
          <p:cNvPr name="AutoShape 19" id="19"/>
          <p:cNvSpPr/>
          <p:nvPr/>
        </p:nvSpPr>
        <p:spPr>
          <a:xfrm rot="0" flipH="false" flipV="false">
            <a:off x="6540500" y="3556000"/>
            <a:ext cx="1270000" cy="762000"/>
          </a:xfrm>
          <a:prstGeom prst="roundRect">
            <a:avLst>
              <a:gd name="adj" fmla="val 8333"/>
            </a:avLst>
          </a:prstGeom>
          <a:solidFill>
            <a:srgbClr val="00BFFF">
              <a:alpha val="10000"/>
            </a:srgbClr>
          </a:solidFill>
          <a:ln w="12700" cmpd="sng" cap="flat">
            <a:solidFill>
              <a:srgbClr val="00BFFF">
                <a:alpha val="50000"/>
              </a:srgbClr>
            </a:solidFill>
            <a:prstDash val="solid"/>
            <a:round/>
          </a:ln>
        </p:spPr>
        <p:txBody>
          <a:bodyPr anchor="ctr" rtlCol="false" vert="horz" wrap="square" lIns="63500" rIns="63500" tIns="63500" bIns="63500"/>
          <a:lstStyle/>
          <a:p>
            <a:pPr algn="ctr">
              <a:defRPr/>
            </a:pPr>
            <a:endParaRPr/>
          </a:p>
        </p:txBody>
      </p:sp>
      <p:sp>
        <p:nvSpPr>
          <p:cNvPr name="AutoShape 20" id="20"/>
          <p:cNvSpPr/>
          <p:nvPr/>
        </p:nvSpPr>
        <p:spPr>
          <a:xfrm rot="0" flipH="false" flipV="false">
            <a:off x="6540500" y="3657600"/>
            <a:ext cx="1270000" cy="762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400">
                <a:solidFill>
                  <a:srgbClr val="FFFFFF"/>
                </a:solidFill>
                <a:latin typeface="Noto Sans SC"/>
                <a:ea typeface="Noto Sans SC"/>
                <a:cs typeface="Noto Sans SC"/>
                <a:sym typeface="Noto Sans SC"/>
              </a:rPr>
              <a:t>一句需求</a:t>
            </a:r>
            <a:endParaRPr lang="en-US" sz="1100"/>
          </a:p>
        </p:txBody>
      </p:sp>
      <p:pic>
        <p:nvPicPr>
          <p:cNvPr name="Picture 21" id="21"/>
          <p:cNvPicPr>
            <a:picLocks noChangeAspect="true"/>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rot="0" flipH="false" flipV="false">
            <a:off x="7937500" y="3784600"/>
            <a:ext cx="304800" cy="304800"/>
          </a:xfrm>
          <a:prstGeom prst="rect">
            <a:avLst/>
          </a:prstGeom>
        </p:spPr>
      </p:pic>
      <p:sp>
        <p:nvSpPr>
          <p:cNvPr name="AutoShape 22" id="22"/>
          <p:cNvSpPr/>
          <p:nvPr/>
        </p:nvSpPr>
        <p:spPr>
          <a:xfrm rot="0" flipH="false" flipV="false">
            <a:off x="8369300" y="3556000"/>
            <a:ext cx="1270000" cy="762000"/>
          </a:xfrm>
          <a:prstGeom prst="roundRect">
            <a:avLst>
              <a:gd name="adj" fmla="val 8333"/>
            </a:avLst>
          </a:prstGeom>
          <a:solidFill>
            <a:srgbClr val="00BFFF">
              <a:alpha val="10000"/>
            </a:srgbClr>
          </a:solidFill>
          <a:ln w="12700" cmpd="sng" cap="flat">
            <a:solidFill>
              <a:srgbClr val="00BFFF">
                <a:alpha val="50000"/>
              </a:srgbClr>
            </a:solidFill>
            <a:prstDash val="solid"/>
            <a:round/>
          </a:ln>
        </p:spPr>
        <p:txBody>
          <a:bodyPr anchor="ctr" rtlCol="false" vert="horz" wrap="square" lIns="63500" rIns="63500" tIns="63500" bIns="63500"/>
          <a:lstStyle/>
          <a:p>
            <a:pPr algn="ctr">
              <a:defRPr/>
            </a:pPr>
            <a:endParaRPr/>
          </a:p>
        </p:txBody>
      </p:sp>
      <p:sp>
        <p:nvSpPr>
          <p:cNvPr name="AutoShape 23" id="23"/>
          <p:cNvSpPr/>
          <p:nvPr/>
        </p:nvSpPr>
        <p:spPr>
          <a:xfrm rot="0" flipH="false" flipV="false">
            <a:off x="8369300" y="3657600"/>
            <a:ext cx="1270000" cy="762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400">
                <a:solidFill>
                  <a:srgbClr val="FFFFFF"/>
                </a:solidFill>
                <a:latin typeface="Noto Sans SC"/>
                <a:ea typeface="Noto Sans SC"/>
                <a:cs typeface="Noto Sans SC"/>
                <a:sym typeface="Noto Sans SC"/>
              </a:rPr>
              <a:t>6步工作流</a:t>
            </a:r>
            <a:endParaRPr lang="en-US" sz="1100"/>
          </a:p>
        </p:txBody>
      </p:sp>
      <p:pic>
        <p:nvPicPr>
          <p:cNvPr name="Picture 24" id="24"/>
          <p:cNvPicPr>
            <a:picLocks noChangeAspect="true"/>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rot="0" flipH="false" flipV="false">
            <a:off x="9766300" y="3784600"/>
            <a:ext cx="304800" cy="304800"/>
          </a:xfrm>
          <a:prstGeom prst="rect">
            <a:avLst/>
          </a:prstGeom>
        </p:spPr>
      </p:pic>
      <p:sp>
        <p:nvSpPr>
          <p:cNvPr name="AutoShape 25" id="25"/>
          <p:cNvSpPr/>
          <p:nvPr/>
        </p:nvSpPr>
        <p:spPr>
          <a:xfrm rot="0" flipH="false" flipV="false">
            <a:off x="10198100" y="3556000"/>
            <a:ext cx="1270000" cy="762000"/>
          </a:xfrm>
          <a:prstGeom prst="roundRect">
            <a:avLst>
              <a:gd name="adj" fmla="val 8333"/>
            </a:avLst>
          </a:prstGeom>
          <a:solidFill>
            <a:srgbClr val="00BFFF">
              <a:alpha val="10000"/>
            </a:srgbClr>
          </a:solidFill>
          <a:ln w="12700" cmpd="sng" cap="flat">
            <a:solidFill>
              <a:srgbClr val="00BFFF">
                <a:alpha val="50000"/>
              </a:srgbClr>
            </a:solidFill>
            <a:prstDash val="solid"/>
            <a:round/>
          </a:ln>
        </p:spPr>
        <p:txBody>
          <a:bodyPr anchor="ctr" rtlCol="false" vert="horz" wrap="square" lIns="63500" rIns="63500" tIns="63500" bIns="63500"/>
          <a:lstStyle/>
          <a:p>
            <a:pPr algn="ctr">
              <a:defRPr/>
            </a:pPr>
            <a:endParaRPr/>
          </a:p>
        </p:txBody>
      </p:sp>
      <p:sp>
        <p:nvSpPr>
          <p:cNvPr name="AutoShape 26" id="26"/>
          <p:cNvSpPr/>
          <p:nvPr/>
        </p:nvSpPr>
        <p:spPr>
          <a:xfrm rot="0" flipH="false" flipV="false">
            <a:off x="10198100" y="3657600"/>
            <a:ext cx="1270000" cy="762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400">
                <a:solidFill>
                  <a:srgbClr val="FFFFFF"/>
                </a:solidFill>
                <a:latin typeface="Noto Sans SC"/>
                <a:ea typeface="Noto Sans SC"/>
                <a:cs typeface="Noto Sans SC"/>
                <a:sym typeface="Noto Sans SC"/>
              </a:rPr>
              <a:t>7个代码文件</a:t>
            </a:r>
            <a:endParaRPr lang="en-US" sz="1100"/>
          </a:p>
        </p:txBody>
      </p:sp>
      <p:pic>
        <p:nvPicPr>
          <p:cNvPr name="Picture 27" id="27"/>
          <p:cNvPicPr>
            <a:picLocks noChangeAspect="true"/>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rot="0" flipH="false" flipV="false">
            <a:off x="6540500" y="4572000"/>
            <a:ext cx="254000" cy="254000"/>
          </a:xfrm>
          <a:prstGeom prst="rect">
            <a:avLst/>
          </a:prstGeom>
        </p:spPr>
      </p:pic>
      <p:sp>
        <p:nvSpPr>
          <p:cNvPr name="AutoShape 28" id="28"/>
          <p:cNvSpPr/>
          <p:nvPr/>
        </p:nvSpPr>
        <p:spPr>
          <a:xfrm rot="0" flipH="false" flipV="false">
            <a:off x="6858000" y="4546600"/>
            <a:ext cx="46355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DCDCDC"/>
                </a:solidFill>
                <a:latin typeface="Noto Sans SC"/>
                <a:ea typeface="Noto Sans SC"/>
                <a:cs typeface="Noto Sans SC"/>
                <a:sym typeface="Noto Sans SC"/>
              </a:rPr>
              <a:t>难度提示：课程难度将调整为</a:t>
            </a:r>
            <a:r>
              <a:rPr lang="en-US" b="true" i="false" strike="noStrike" u="none" sz="1400">
                <a:solidFill>
                  <a:srgbClr val="FFFF00"/>
                </a:solidFill>
                <a:latin typeface="Noto Sans SC"/>
                <a:ea typeface="Noto Sans SC"/>
                <a:cs typeface="Noto Sans SC"/>
                <a:sym typeface="Noto Sans SC"/>
              </a:rPr>
              <a:t>中级</a:t>
            </a:r>
            <a:endParaRPr lang="en-US" sz="1100"/>
          </a:p>
        </p:txBody>
      </p:sp>
      <p:pic>
        <p:nvPicPr>
          <p:cNvPr name="Picture 29" id="29"/>
          <p:cNvPicPr>
            <a:picLocks noChangeAspect="true"/>
          </p:cNvPicPr>
          <p:nvPr/>
        </p:nvPicPr>
        <p:blipFill>
          <a:blip r:embed="rId17"/>
          <a:stretch>
            <a:fillRect/>
          </a:stretch>
        </p:blipFill>
        <p:spPr>
          <a:xfrm>
            <a:off x="10668000" y="6190112"/>
            <a:ext cx="1524000" cy="667888"/>
          </a:xfrm>
          <a:prstGeom prst="rect">
            <a:avLst/>
          </a:prstGeom>
        </p:spPr>
      </p:pic>
    </p:spTree>
  </p:cSld>
  <p:clrMapOvr>
    <a:masterClrMapping/>
  </p:clrMapOvr>
</p:sld>
</file>

<file path=ppt/theme/theme1.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xsi="http://www.w3.org/2001/XMLSchema-instance"/>
</file>