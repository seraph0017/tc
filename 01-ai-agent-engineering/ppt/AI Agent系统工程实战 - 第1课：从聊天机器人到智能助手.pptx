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对应讲课稿 [互动]：平时用ChatGPT或Claude时，有没有遇到它忘记之前信息的情况？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关键瓶颈：`history[-20:]` 一刀切丢弃旧信息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对应讲课稿 [互动]：这个设计最大的问题是什么？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Agent与ChatBot的本质区别在于"记忆的质量"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对应讲课稿 [互动]：搜索"交易所密钥"能找到"我的币安API key是abc123"吗？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检索优先级：L1 &gt; L2 &gt; L3 &gt; L4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对应讲课稿 [互动]：设计一个客服AI Agent，四层记忆分别放什么内容？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对应讲课稿 [互动]：为什么错误类型没有自动提升规则？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收敛器每天运行多次，正则是成本最优解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RRF奖励"在多个排名中都表现稳定"的文档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对应讲课稿 [互动]：RRF为什么不直接把两个搜索的分数加起来？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00000" cy="6858000"/>
          </a:xfrm>
          <a:prstGeom prst="rect">
            <a:avLst/>
          </a:prstGeom>
          <a:solidFill>
            <a:srgbClr val="0E2A47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400000"/>
            <a:ext cx="120000" cy="9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2350000"/>
            <a:ext cx="6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58E2C"/>
                </a:solidFill>
                <a:latin typeface="微软雅黑"/>
                <a:ea typeface="微软雅黑"/>
              </a:rPr>
              <a:t>AI Agent 系统工程实战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900000"/>
            <a:ext cx="68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第1课：从聊天机器人到智能助手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700000"/>
            <a:ext cx="6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—— AI Agent 的记忆觉醒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900000"/>
            <a:ext cx="6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5E7EB"/>
                </a:solidFill>
                <a:latin typeface="微软雅黑"/>
                <a:ea typeface="微软雅黑"/>
              </a:rPr>
              <a:t>对应原文：第1-2章   |   难度：中级   |   时长：3小时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00000"/>
            <a:ext cx="12192000" cy="3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656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7EB"/>
                </a:solidFill>
                <a:latin typeface="微软雅黑"/>
                <a:ea typeface="微软雅黑"/>
              </a:rPr>
              <a:t>讲义：lesson-01-memory-system.md   ·   讲稿：lesson-01-script.md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0000" y="656000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E5E7EB"/>
                </a:solidFill>
                <a:latin typeface="微软雅黑"/>
                <a:ea typeface="微软雅黑"/>
              </a:rPr>
              <a:t>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今天的旅程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Course Roadmap · 5 modules + 2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0000" y="1500000"/>
          <a:ext cx="1080000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7500000"/>
                <a:gridCol w="2000000"/>
              </a:tblGrid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主题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ChatBot基本结构与记忆局限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0:00-0:50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1.2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向量数据库基础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0:35-1:10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6B14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96B14"/>
                          </a:solidFill>
                          <a:latin typeface="微软雅黑"/>
                        </a:rPr>
                        <a:t>练习1 + 休息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0:50-1:20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1.3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四层记忆架构设计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1:20-1:50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记忆自动收敛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1:50-2:20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QMD向量记忆系统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2:00-2:20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6B14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96B14"/>
                          </a:solidFill>
                          <a:latin typeface="微软雅黑"/>
                        </a:rPr>
                        <a:t>练习2 + 总结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2:20-3:00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互动思考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Question · Think for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3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1700000"/>
            <a:ext cx="10600000" cy="1500000"/>
          </a:xfrm>
          <a:prstGeom prst="roundRect">
            <a:avLst/>
          </a:prstGeom>
          <a:solidFill>
            <a:srgbClr val="E8F0FA"/>
          </a:solidFill>
          <a:ln w="2540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000" y="1900000"/>
            <a:ext cx="900000" cy="90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190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000" y="2050000"/>
            <a:ext cx="9300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2A47"/>
                </a:solidFill>
                <a:latin typeface="微软雅黑"/>
                <a:ea typeface="微软雅黑"/>
              </a:rPr>
              <a:t>你的AI助手"失忆"过吗？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500000"/>
            <a:ext cx="106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用ChatGPT或Claude时，有没有遇到</a:t>
            </a:r>
          </a:p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你说了一个重要信息，下次聊天它完全不记得？</a:t>
            </a:r>
          </a:p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来，遇到过的举个手。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ClawBot v1：一切的起点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模块 1.1 -- ChatBot的基本结构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4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7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>核心工作流四步走：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5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/>
            </a:r>
            <a:r>
              <a:rPr sz="2200" b="1" i="0">
                <a:solidFill>
                  <a:srgbClr val="C96B14"/>
                </a:solidFill>
                <a:latin typeface="微软雅黑"/>
                <a:ea typeface="微软雅黑"/>
              </a:rPr>
              <a:t>记忆加载 -&gt; 上下文构建 -&gt; API调用 -&gt; 记忆保存</a:t>
            </a: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ClawBot v1 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Module 1.1 · 四步工作流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5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0000" y="1500000"/>
            <a:ext cx="4500000" cy="530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1500000"/>
            <a:ext cx="45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2A47"/>
                </a:solidFill>
                <a:latin typeface="微软雅黑"/>
                <a:ea typeface="微软雅黑"/>
              </a:rPr>
              <a:t>用户消息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0000" y="1500000"/>
            <a:ext cx="50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66F7A"/>
                </a:solidFill>
                <a:latin typeface="微软雅黑"/>
                <a:ea typeface="微软雅黑"/>
              </a:rPr>
              <a:t>User Message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50000" y="2070000"/>
            <a:ext cx="0" cy="90000"/>
          </a:xfrm>
          <a:prstGeom prst="line">
            <a:avLst/>
          </a:prstGeom>
          <a:ln w="31750">
            <a:solidFill>
              <a:srgbClr val="1E4F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00000" y="2200000"/>
            <a:ext cx="4500000" cy="530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000" y="2200000"/>
            <a:ext cx="45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2A47"/>
                </a:solidFill>
                <a:latin typeface="微软雅黑"/>
                <a:ea typeface="微软雅黑"/>
              </a:rPr>
              <a:t>加载 memory.json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2200000"/>
            <a:ext cx="50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66F7A"/>
                </a:solidFill>
                <a:latin typeface="微软雅黑"/>
                <a:ea typeface="微软雅黑"/>
              </a:rPr>
              <a:t>全部历史对话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50000" y="2770000"/>
            <a:ext cx="0" cy="90000"/>
          </a:xfrm>
          <a:prstGeom prst="line">
            <a:avLst/>
          </a:prstGeom>
          <a:ln w="31750">
            <a:solidFill>
              <a:srgbClr val="1E4F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400000" y="2900000"/>
            <a:ext cx="4500000" cy="530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00000" y="2900000"/>
            <a:ext cx="45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2A47"/>
                </a:solidFill>
                <a:latin typeface="微软雅黑"/>
                <a:ea typeface="微软雅黑"/>
              </a:rPr>
              <a:t>构建 messages 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0000" y="2900000"/>
            <a:ext cx="50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66F7A"/>
                </a:solidFill>
                <a:latin typeface="微软雅黑"/>
                <a:ea typeface="微软雅黑"/>
              </a:rPr>
              <a:t>system + history[-20:] + 当前消息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50000" y="3470000"/>
            <a:ext cx="0" cy="90000"/>
          </a:xfrm>
          <a:prstGeom prst="line">
            <a:avLst/>
          </a:prstGeom>
          <a:ln w="31750">
            <a:solidFill>
              <a:srgbClr val="1E4F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400000" y="3600000"/>
            <a:ext cx="4500000" cy="530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00000" y="3600000"/>
            <a:ext cx="45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2A47"/>
                </a:solidFill>
                <a:latin typeface="微软雅黑"/>
                <a:ea typeface="微软雅黑"/>
              </a:rPr>
              <a:t>调用 GPT-4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0000" y="3600000"/>
            <a:ext cx="50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66F7A"/>
                </a:solidFill>
                <a:latin typeface="微软雅黑"/>
                <a:ea typeface="微软雅黑"/>
              </a:rPr>
              <a:t>openai.ChatCompletion.create()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50000" y="4170000"/>
            <a:ext cx="0" cy="90000"/>
          </a:xfrm>
          <a:prstGeom prst="line">
            <a:avLst/>
          </a:prstGeom>
          <a:ln w="31750">
            <a:solidFill>
              <a:srgbClr val="1E4F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400000" y="4300000"/>
            <a:ext cx="4500000" cy="530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0000" y="4300000"/>
            <a:ext cx="45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2A47"/>
                </a:solidFill>
                <a:latin typeface="微软雅黑"/>
                <a:ea typeface="微软雅黑"/>
              </a:rPr>
              <a:t>保存到 memory.json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0000" y="4300000"/>
            <a:ext cx="50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66F7A"/>
                </a:solidFill>
                <a:latin typeface="微软雅黑"/>
                <a:ea typeface="微软雅黑"/>
              </a:rPr>
              <a:t>只保留最近 20 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50000" y="4870000"/>
            <a:ext cx="0" cy="90000"/>
          </a:xfrm>
          <a:prstGeom prst="line">
            <a:avLst/>
          </a:prstGeom>
          <a:ln w="31750">
            <a:solidFill>
              <a:srgbClr val="1E4F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400000" y="5000000"/>
            <a:ext cx="4500000" cy="530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00000" y="5000000"/>
            <a:ext cx="45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2A47"/>
                </a:solidFill>
                <a:latin typeface="微软雅黑"/>
                <a:ea typeface="微软雅黑"/>
              </a:rPr>
              <a:t>返回回复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0000" y="5000000"/>
            <a:ext cx="5000000" cy="5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66F7A"/>
                </a:solidFill>
                <a:latin typeface="微软雅黑"/>
                <a:ea typeface="微软雅黑"/>
              </a:rPr>
              <a:t>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0000" y="1500000"/>
            <a:ext cx="4400000" cy="4500000"/>
          </a:xfrm>
          <a:prstGeom prst="roundRect">
            <a:avLst/>
          </a:prstGeom>
          <a:solidFill>
            <a:srgbClr val="FFF3E0"/>
          </a:solidFill>
          <a:ln>
            <a:solidFill>
              <a:srgbClr val="F58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0000" y="1650000"/>
            <a:ext cx="44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C96B14"/>
                </a:solidFill>
                <a:latin typeface="微软雅黑"/>
                <a:ea typeface="微软雅黑"/>
              </a:rPr>
              <a:t>⚠ 关键瓶颈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0000" y="2300000"/>
            <a:ext cx="38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history[-20:]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一刀切丢弃旧信息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• 第 21 轮起永久遗忘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• 不区分重要性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• 跨会话无检索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• 无语义关联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ClawBot v1 核心代码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Python · 代码片段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6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11000000" cy="44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000" y="1500000"/>
            <a:ext cx="11000000" cy="6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0000" y="1660000"/>
            <a:ext cx="180000" cy="180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000" y="1660000"/>
            <a:ext cx="180000" cy="1800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0000" y="1660000"/>
            <a:ext cx="180000" cy="1800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1950000"/>
            <a:ext cx="10760000" cy="3850000"/>
          </a:xfrm>
          <a:prstGeom prst="rect">
            <a:avLst/>
          </a:prstGeom>
          <a:noFill/>
        </p:spPr>
        <p:txBody>
          <a:bodyPr wrap="none" lIns="180000" rIns="180000" tIns="140000" bIns="1400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76B"/>
                </a:solidFill>
                <a:latin typeface="Consolas"/>
              </a:rPr>
              <a:t>def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chat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user_id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str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message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str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-</a:t>
            </a:r>
            <a:r>
              <a:rPr sz="1300">
                <a:solidFill>
                  <a:srgbClr val="E6E6E6"/>
                </a:solidFill>
                <a:latin typeface="Consolas"/>
              </a:rPr>
              <a:t>&gt;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str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history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conversations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get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user_id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messages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{</a:t>
            </a:r>
            <a:r>
              <a:rPr sz="1300">
                <a:solidFill>
                  <a:srgbClr val="A8E0A8"/>
                </a:solidFill>
                <a:latin typeface="Consolas"/>
              </a:rPr>
              <a:t>"role"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"system"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"content"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"你是一个有用的AI助手。"</a:t>
            </a:r>
            <a:r>
              <a:rPr sz="13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+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history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+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{</a:t>
            </a:r>
            <a:r>
              <a:rPr sz="1300">
                <a:solidFill>
                  <a:srgbClr val="A8E0A8"/>
                </a:solidFill>
                <a:latin typeface="Consolas"/>
              </a:rPr>
              <a:t>"role"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"user"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"content"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message</a:t>
            </a:r>
            <a:r>
              <a:rPr sz="13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response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openai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ChatCompletion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create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model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A8E0A8"/>
                </a:solidFill>
                <a:latin typeface="Consolas"/>
              </a:rPr>
              <a:t>"gpt-4"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messages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messages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conversations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E6E6E6"/>
                </a:solidFill>
                <a:latin typeface="Consolas"/>
              </a:rPr>
              <a:t>user_id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history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E6E6E6"/>
                </a:solidFill>
                <a:latin typeface="Consolas"/>
              </a:rPr>
              <a:t>-</a:t>
            </a:r>
            <a:r>
              <a:rPr sz="1300">
                <a:solidFill>
                  <a:srgbClr val="A8E0A8"/>
                </a:solidFill>
                <a:latin typeface="Consolas"/>
              </a:rPr>
              <a:t>20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  </a:t>
            </a:r>
            <a:r>
              <a:rPr sz="1300" i="1">
                <a:solidFill>
                  <a:srgbClr val="8888AA"/>
                </a:solidFill>
                <a:latin typeface="Consolas"/>
              </a:rPr>
              <a:t># &lt;-- 重点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_save_memory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互动思考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Question · Think for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7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1700000"/>
            <a:ext cx="10600000" cy="1500000"/>
          </a:xfrm>
          <a:prstGeom prst="roundRect">
            <a:avLst/>
          </a:prstGeom>
          <a:solidFill>
            <a:srgbClr val="E8F0FA"/>
          </a:solidFill>
          <a:ln w="2540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000" y="1900000"/>
            <a:ext cx="900000" cy="90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190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000" y="2050000"/>
            <a:ext cx="9300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2A47"/>
                </a:solidFill>
                <a:latin typeface="微软雅黑"/>
                <a:ea typeface="微软雅黑"/>
              </a:rPr>
              <a:t>ClawBot v1 最大的问题是什么？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000" y="3500000"/>
            <a:ext cx="3400000" cy="1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6000" y="3600000"/>
            <a:ext cx="34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58E2C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000" y="4200000"/>
            <a:ext cx="3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20轮太少，改成200轮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6000" y="3500000"/>
            <a:ext cx="3400000" cy="1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6000" y="3600000"/>
            <a:ext cx="34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58E2C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6000" y="4200000"/>
            <a:ext cx="3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不区分重要性，一刀切丢弃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6000" y="3500000"/>
            <a:ext cx="3400000" cy="1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6000" y="3600000"/>
            <a:ext cx="34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58E2C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6000" y="4200000"/>
            <a:ext cx="3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应该用数据库替代JSON文件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00" y="5200000"/>
            <a:ext cx="106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思考30秒...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JSON存储的四大缺陷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对比 · 关键洞察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8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0000" y="1600000"/>
          <a:ext cx="108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7000000"/>
              </a:tblGrid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缺陷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具体表现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无法跨会话检索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超过20轮永久丢失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没有语义理解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"API密钥" 搜不到 "API key"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文件膨胀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所有用户数据挤在一个JSON里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无法区分重要性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闲聊和关键信息混在一起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对话记录 ≠ 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9 /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700000"/>
            <a:ext cx="108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0000" y="1700000"/>
            <a:ext cx="120000" cy="7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70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微软雅黑"/>
                <a:ea typeface="微软雅黑"/>
              </a:rPr>
              <a:t>对话记录</a:t>
            </a:r>
            <a:r>
              <a:rPr sz="1800" b="0" i="0">
                <a:solidFill>
                  <a:srgbClr val="666F7A"/>
                </a:solidFill>
                <a:latin typeface="微软雅黑"/>
                <a:ea typeface="微软雅黑"/>
              </a:rPr>
              <a:t>  =  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按时间排列的流水账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2540000"/>
            <a:ext cx="108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0000" y="2540000"/>
            <a:ext cx="120000" cy="7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254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微软雅黑"/>
                <a:ea typeface="微软雅黑"/>
              </a:rPr>
              <a:t>记忆</a:t>
            </a:r>
            <a:r>
              <a:rPr sz="1800" b="0" i="0">
                <a:solidFill>
                  <a:srgbClr val="666F7A"/>
                </a:solidFill>
                <a:latin typeface="微软雅黑"/>
                <a:ea typeface="微软雅黑"/>
              </a:rPr>
              <a:t>  =  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经过理解、筛选、组织的知识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000" y="0"/>
            <a:ext cx="180000" cy="6858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700000"/>
            <a:ext cx="4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E2C"/>
                </a:solidFill>
                <a:latin typeface="微软雅黑"/>
                <a:ea typeface="微软雅黑"/>
              </a:rPr>
              <a:t>— 章节过渡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500000"/>
            <a:ext cx="105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如何让AI理解语义？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90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E5E7EB"/>
                </a:solidFill>
                <a:latin typeface="微软雅黑"/>
                <a:ea typeface="微软雅黑"/>
              </a:rPr>
              <a:t>"API密钥" 和 "API key" 是同一回事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700000"/>
            <a:ext cx="10500000" cy="5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E5E7EB"/>
                </a:solidFill>
                <a:latin typeface="微软雅黑"/>
                <a:ea typeface="微软雅黑"/>
              </a:rPr>
              <a:t>关键词匹配做不到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0000" y="4250000"/>
            <a:ext cx="900000" cy="450000"/>
          </a:xfrm>
          <a:prstGeom prst="rightArrow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0" y="4230000"/>
            <a:ext cx="950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58E2C"/>
                </a:solidFill>
                <a:latin typeface="微软雅黑"/>
                <a:ea typeface="微软雅黑"/>
              </a:rPr>
              <a:t>我们需要向量Embedding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0" y="645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E5E7EB"/>
                </a:solidFill>
                <a:latin typeface="微软雅黑"/>
                <a:ea typeface="微软雅黑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向量Embedding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模块 1.2 -- 向量数据库基础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11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7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>把文本映射到高维数字空间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5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/>
            </a:r>
            <a:r>
              <a:rPr sz="2200" b="1" i="0">
                <a:solidFill>
                  <a:srgbClr val="C96B14"/>
                </a:solidFill>
                <a:latin typeface="微软雅黑"/>
                <a:ea typeface="微软雅黑"/>
              </a:rPr>
              <a:t>语义相近的文本，在空间中距离更近</a:t>
            </a: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Embedding 的直觉理解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语义相近 → 空间距离更近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12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1600000"/>
            <a:ext cx="6500000" cy="4500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200000" y="5700000"/>
            <a:ext cx="5900000" cy="0"/>
          </a:xfrm>
          <a:prstGeom prst="line">
            <a:avLst/>
          </a:prstGeom>
          <a:ln>
            <a:solidFill>
              <a:srgbClr val="666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00000" y="1800000"/>
            <a:ext cx="0" cy="3900000"/>
          </a:xfrm>
          <a:prstGeom prst="line">
            <a:avLst/>
          </a:prstGeom>
          <a:ln>
            <a:solidFill>
              <a:srgbClr val="666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00000" y="5720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维度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0000" y="1680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维度 2</a:t>
            </a:r>
          </a:p>
        </p:txBody>
      </p:sp>
      <p:sp>
        <p:nvSpPr>
          <p:cNvPr id="13" name="Oval 12"/>
          <p:cNvSpPr/>
          <p:nvPr/>
        </p:nvSpPr>
        <p:spPr>
          <a:xfrm>
            <a:off x="1980000" y="5305000"/>
            <a:ext cx="240000" cy="240000"/>
          </a:xfrm>
          <a:prstGeom prst="ellipse">
            <a:avLst/>
          </a:prstGeom>
          <a:solidFill>
            <a:srgbClr val="1E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0000" y="5265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4F8B"/>
                </a:solidFill>
                <a:latin typeface="微软雅黑"/>
                <a:ea typeface="微软雅黑"/>
              </a:rPr>
              <a:t>男人</a:t>
            </a:r>
          </a:p>
        </p:txBody>
      </p:sp>
      <p:sp>
        <p:nvSpPr>
          <p:cNvPr id="15" name="Oval 14"/>
          <p:cNvSpPr/>
          <p:nvPr/>
        </p:nvSpPr>
        <p:spPr>
          <a:xfrm>
            <a:off x="5880000" y="4855000"/>
            <a:ext cx="240000" cy="240000"/>
          </a:xfrm>
          <a:prstGeom prst="ellipse">
            <a:avLst/>
          </a:prstGeom>
          <a:solidFill>
            <a:srgbClr val="1E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0000" y="4815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4F8B"/>
                </a:solidFill>
                <a:latin typeface="微软雅黑"/>
                <a:ea typeface="微软雅黑"/>
              </a:rPr>
              <a:t>国王</a:t>
            </a:r>
          </a:p>
        </p:txBody>
      </p:sp>
      <p:sp>
        <p:nvSpPr>
          <p:cNvPr id="17" name="Oval 16"/>
          <p:cNvSpPr/>
          <p:nvPr/>
        </p:nvSpPr>
        <p:spPr>
          <a:xfrm>
            <a:off x="2630000" y="2830000"/>
            <a:ext cx="240000" cy="24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0000" y="2790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E2C"/>
                </a:solidFill>
                <a:latin typeface="微软雅黑"/>
                <a:ea typeface="微软雅黑"/>
              </a:rPr>
              <a:t>女人</a:t>
            </a:r>
          </a:p>
        </p:txBody>
      </p:sp>
      <p:sp>
        <p:nvSpPr>
          <p:cNvPr id="19" name="Oval 18"/>
          <p:cNvSpPr/>
          <p:nvPr/>
        </p:nvSpPr>
        <p:spPr>
          <a:xfrm>
            <a:off x="6205000" y="2380000"/>
            <a:ext cx="240000" cy="24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5000" y="2340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E2C"/>
                </a:solidFill>
                <a:latin typeface="微软雅黑"/>
                <a:ea typeface="微软雅黑"/>
              </a:rPr>
              <a:t>女王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100000" y="4975000"/>
            <a:ext cx="3900000" cy="450000"/>
          </a:xfrm>
          <a:prstGeom prst="line">
            <a:avLst/>
          </a:prstGeom>
          <a:ln w="19050">
            <a:solidFill>
              <a:srgbClr val="1E4F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50000" y="2500000"/>
            <a:ext cx="3575000" cy="450000"/>
          </a:xfrm>
          <a:prstGeom prst="line">
            <a:avLst/>
          </a:prstGeom>
          <a:ln w="19050">
            <a:solidFill>
              <a:srgbClr val="F58E2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00000" y="1700000"/>
            <a:ext cx="4200000" cy="1500000"/>
          </a:xfrm>
          <a:prstGeom prst="roundRect">
            <a:avLst/>
          </a:prstGeom>
          <a:solidFill>
            <a:srgbClr val="E8F0FA"/>
          </a:solidFill>
          <a:ln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0" y="1850000"/>
            <a:ext cx="42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E2A47"/>
                </a:solidFill>
                <a:latin typeface="微软雅黑"/>
                <a:ea typeface="微软雅黑"/>
              </a:rPr>
              <a:t>向量算术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0000" y="2400000"/>
            <a:ext cx="3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C96B14"/>
                </a:solidFill>
                <a:latin typeface="Consolas"/>
                <a:ea typeface="Consolas"/>
              </a:rPr>
              <a:t>国王 − 男人 + 女人 ≈ 女王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00000" y="3400000"/>
            <a:ext cx="4200000" cy="2500000"/>
          </a:xfrm>
          <a:prstGeom prst="roundRect">
            <a:avLst/>
          </a:prstGeom>
          <a:solidFill>
            <a:srgbClr val="FFF7EC"/>
          </a:solidFill>
          <a:ln>
            <a:solidFill>
              <a:srgbClr val="F58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0" y="3550000"/>
            <a:ext cx="42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96B14"/>
                </a:solidFill>
                <a:latin typeface="微软雅黑"/>
                <a:ea typeface="微软雅黑"/>
              </a:rPr>
              <a:t>同义词自动聚拢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0000" y="4100000"/>
            <a:ext cx="380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API密钥  ≈  API key  ≈  访问令牌</a:t>
            </a:r>
          </a:p>
          <a:p>
            <a:pPr algn="ctr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ctr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交易所密钥  ≈  binance API key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互动思考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Question · Think for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13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1700000"/>
            <a:ext cx="10600000" cy="1500000"/>
          </a:xfrm>
          <a:prstGeom prst="roundRect">
            <a:avLst/>
          </a:prstGeom>
          <a:solidFill>
            <a:srgbClr val="E8F0FA"/>
          </a:solidFill>
          <a:ln w="2540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000" y="1900000"/>
            <a:ext cx="900000" cy="90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190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000" y="2050000"/>
            <a:ext cx="9300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2A47"/>
                </a:solidFill>
                <a:latin typeface="微软雅黑"/>
                <a:ea typeface="微软雅黑"/>
              </a:rPr>
              <a:t>搜索"交易所密钥"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500000"/>
            <a:ext cx="106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能找到内容为</a:t>
            </a:r>
          </a:p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"我的币安API key是abc123" 的记忆吗？</a:t>
            </a:r>
          </a:p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为什么能？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余弦相似度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衡量两个向量方向的接近程度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14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1600000"/>
            <a:ext cx="10600000" cy="90000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1750000"/>
            <a:ext cx="10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58E2C"/>
                </a:solidFill>
                <a:latin typeface="微软雅黑"/>
                <a:ea typeface="微软雅黑"/>
              </a:rPr>
              <a:t>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2050000"/>
            <a:ext cx="106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Consolas"/>
                <a:ea typeface="Consolas"/>
              </a:rPr>
              <a:t>cosine(A, B) = (A · B) / (|A| × |B|)    →    结果范围 0 ~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00" y="2750000"/>
            <a:ext cx="5100000" cy="1900000"/>
          </a:xfrm>
          <a:prstGeom prst="roundRect">
            <a:avLst/>
          </a:prstGeom>
          <a:solidFill>
            <a:srgbClr val="E6F7E6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93000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2E8B57"/>
                </a:solidFill>
                <a:latin typeface="微软雅黑"/>
                <a:ea typeface="微软雅黑"/>
              </a:rPr>
              <a:t>✓ 高度相似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45000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Consolas"/>
                <a:ea typeface="Consolas"/>
              </a:rPr>
              <a:t>cosine("API密钥", "API key")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3950000"/>
            <a:ext cx="49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2E8B57"/>
                </a:solidFill>
                <a:latin typeface="Consolas"/>
                <a:ea typeface="Consolas"/>
              </a:rPr>
              <a:t>≈ 0.92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0" y="2750000"/>
            <a:ext cx="5100000" cy="1900000"/>
          </a:xfrm>
          <a:prstGeom prst="roundRect">
            <a:avLst/>
          </a:prstGeom>
          <a:solidFill>
            <a:srgbClr val="FDEA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0" y="293000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0392B"/>
                </a:solidFill>
                <a:latin typeface="微软雅黑"/>
                <a:ea typeface="微软雅黑"/>
              </a:rPr>
              <a:t>✗ 几乎无关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0" y="345000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Consolas"/>
                <a:ea typeface="Consolas"/>
              </a:rPr>
              <a:t>cosine("API密钥", "天气预报")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000" y="3950000"/>
            <a:ext cx="49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C0392B"/>
                </a:solidFill>
                <a:latin typeface="Consolas"/>
                <a:ea typeface="Consolas"/>
              </a:rPr>
              <a:t>≈ 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00" y="5000000"/>
            <a:ext cx="10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值越接近 1  →  语义越相似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VectorMemory -- add() 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Python · 代码片段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15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11000000" cy="44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000" y="1500000"/>
            <a:ext cx="11000000" cy="6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0000" y="1660000"/>
            <a:ext cx="180000" cy="180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000" y="1660000"/>
            <a:ext cx="180000" cy="1800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0000" y="1660000"/>
            <a:ext cx="180000" cy="1800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1950000"/>
            <a:ext cx="10760000" cy="3850000"/>
          </a:xfrm>
          <a:prstGeom prst="rect">
            <a:avLst/>
          </a:prstGeom>
          <a:noFill/>
        </p:spPr>
        <p:txBody>
          <a:bodyPr wrap="none" lIns="180000" rIns="180000" tIns="140000" bIns="1400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76B"/>
                </a:solidFill>
                <a:latin typeface="Consolas"/>
              </a:rPr>
              <a:t>class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VectorMemory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def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__init__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collection_name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A8E0A8"/>
                </a:solidFill>
                <a:latin typeface="Consolas"/>
              </a:rPr>
              <a:t>"clawbot_memory"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encoder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SentenceTransformer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00">
                <a:solidFill>
                  <a:srgbClr val="A8E0A8"/>
                </a:solidFill>
                <a:latin typeface="Consolas"/>
              </a:rPr>
              <a:t>'all-MiniLM-L6-v2'</a:t>
            </a:r>
            <a:r>
              <a:rPr sz="1300">
                <a:solidFill>
                  <a:srgbClr val="E6E6E6"/>
                </a:solidFill>
                <a:latin typeface="Consolas"/>
              </a:rPr>
              <a:t>                 </a:t>
            </a:r>
            <a:r>
              <a:rPr sz="1300" i="1">
                <a:solidFill>
                  <a:srgbClr val="8888AA"/>
                </a:solidFill>
                <a:latin typeface="Consolas"/>
              </a:rPr>
              <a:t># &lt;-- 重点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client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chromadb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Client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Settings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00">
                <a:solidFill>
                  <a:srgbClr val="E6E6E6"/>
                </a:solidFill>
                <a:latin typeface="Consolas"/>
              </a:rPr>
              <a:t>persist_directory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A8E0A8"/>
                </a:solidFill>
                <a:latin typeface="Consolas"/>
              </a:rPr>
              <a:t>"./chroma_db"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collection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client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get_or_create_collection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00">
                <a:solidFill>
                  <a:srgbClr val="E6E6E6"/>
                </a:solidFill>
                <a:latin typeface="Consolas"/>
              </a:rPr>
              <a:t>name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collection_name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def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add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text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str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metadata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dict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None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embedding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encoder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encode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text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tolist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  </a:t>
            </a:r>
            <a:r>
              <a:rPr sz="1300" i="1">
                <a:solidFill>
                  <a:srgbClr val="8888AA"/>
                </a:solidFill>
                <a:latin typeface="Consolas"/>
              </a:rPr>
              <a:t># &lt;-- 重点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collection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add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00">
                <a:solidFill>
                  <a:srgbClr val="E6E6E6"/>
                </a:solidFill>
                <a:latin typeface="Consolas"/>
              </a:rPr>
              <a:t>embeddings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E6E6E6"/>
                </a:solidFill>
                <a:latin typeface="Consolas"/>
              </a:rPr>
              <a:t>embedding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documents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E6E6E6"/>
                </a:solidFill>
                <a:latin typeface="Consolas"/>
              </a:rPr>
              <a:t>text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00">
                <a:solidFill>
                  <a:srgbClr val="E6E6E6"/>
                </a:solidFill>
                <a:latin typeface="Consolas"/>
              </a:rPr>
              <a:t>metadatas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E6E6E6"/>
                </a:solidFill>
                <a:latin typeface="Consolas"/>
              </a:rPr>
              <a:t>metadata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or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{</a:t>
            </a:r>
            <a:r>
              <a:rPr sz="1300">
                <a:solidFill>
                  <a:srgbClr val="E6E6E6"/>
                </a:solidFill>
                <a:latin typeface="Consolas"/>
              </a:rPr>
              <a:t>}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ids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E6E6E6"/>
                </a:solidFill>
                <a:latin typeface="Consolas"/>
              </a:rPr>
              <a:t>doc_id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VectorMemory -- search() 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Python · 代码片段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16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11000000" cy="44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000" y="1500000"/>
            <a:ext cx="11000000" cy="6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0000" y="1660000"/>
            <a:ext cx="180000" cy="180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000" y="1660000"/>
            <a:ext cx="180000" cy="1800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0000" y="1660000"/>
            <a:ext cx="180000" cy="1800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1950000"/>
            <a:ext cx="10760000" cy="3850000"/>
          </a:xfrm>
          <a:prstGeom prst="rect">
            <a:avLst/>
          </a:prstGeom>
          <a:noFill/>
        </p:spPr>
        <p:txBody>
          <a:bodyPr wrap="none" lIns="180000" rIns="180000" tIns="140000" bIns="1400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76B"/>
                </a:solidFill>
                <a:latin typeface="Consolas"/>
              </a:rPr>
              <a:t>def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search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query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str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n_results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int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5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query_embedding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encoder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encode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query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tolist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results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collection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query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       </a:t>
            </a:r>
            <a:r>
              <a:rPr sz="1300" i="1">
                <a:solidFill>
                  <a:srgbClr val="8888AA"/>
                </a:solidFill>
                <a:latin typeface="Consolas"/>
              </a:rPr>
              <a:t># &lt;-- 重点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query_embeddings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E6E6E6"/>
                </a:solidFill>
                <a:latin typeface="Consolas"/>
              </a:rPr>
              <a:t>query_embedding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>
                <a:solidFill>
                  <a:srgbClr val="E6E6E6"/>
                </a:solidFill>
                <a:latin typeface="Consolas"/>
              </a:rPr>
              <a:t>n_results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n_results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return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results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A8E0A8"/>
                </a:solidFill>
                <a:latin typeface="Consolas"/>
              </a:rPr>
              <a:t>'documents'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A8E0A8"/>
                </a:solidFill>
                <a:latin typeface="Consolas"/>
              </a:rPr>
              <a:t>0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60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C96B14"/>
                </a:solidFill>
                <a:latin typeface="微软雅黑"/>
                <a:ea typeface="微软雅黑"/>
              </a:rPr>
              <a:t>搜索"API key" --&gt; 找到"API密钥"（相似度 ≈ 0.92）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JSON存储 vs 向量存储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对比 · 关键洞察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17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0000" y="1600000"/>
          <a:ext cx="108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4000000"/>
                <a:gridCol w="4000000"/>
              </a:tblGrid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能力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JSON（之前）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向量（之后）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语义理解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"API密钥" ≠ "API key"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"API密钥" ≈ "API key"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跨会话检索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只搜最近20轮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搜索所有历史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关联发现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自动关联相似记忆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存储效率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全量加载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按需检索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动手练习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练习1：基于ChromaDB实现VectorMemory类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18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600000"/>
            <a:ext cx="10800000" cy="8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600000"/>
            <a:ext cx="105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🛠  练习1：基于ChromaDB实现VectorMemory类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2700000"/>
            <a:ext cx="10800000" cy="650000"/>
          </a:xfrm>
          <a:prstGeom prst="roundRect">
            <a:avLst/>
          </a:prstGeom>
          <a:solidFill>
            <a:srgbClr val="E8F0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0000" y="270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00" y="270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时间： 20分钟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3430000"/>
            <a:ext cx="108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0000" y="343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00" y="343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目标： 实现 add() 和 search() 方法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000" y="4160000"/>
            <a:ext cx="10800000" cy="650000"/>
          </a:xfrm>
          <a:prstGeom prst="roundRect">
            <a:avLst/>
          </a:prstGeom>
          <a:solidFill>
            <a:srgbClr val="E8F0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000" y="416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00" y="416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验证： "API密钥"和"API key"能互相检索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000" y="4890000"/>
            <a:ext cx="108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0000" y="489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00" y="489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文件： exercise_01_vector_memory.py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0000" y="5620000"/>
            <a:ext cx="10800000" cy="650000"/>
          </a:xfrm>
          <a:prstGeom prst="roundRect">
            <a:avLst/>
          </a:prstGeom>
          <a:solidFill>
            <a:srgbClr val="E8F0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0000" y="562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00" y="562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参考： 讲义模块1.2 VectorMemory完整代码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000" y="0"/>
            <a:ext cx="180000" cy="6858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700000"/>
            <a:ext cx="4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E2C"/>
                </a:solidFill>
                <a:latin typeface="微软雅黑"/>
                <a:ea typeface="微软雅黑"/>
              </a:rPr>
              <a:t>— 章节过渡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500000"/>
            <a:ext cx="105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新问题出现了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90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E5E7EB"/>
                </a:solidFill>
                <a:latin typeface="微软雅黑"/>
                <a:ea typeface="微软雅黑"/>
              </a:rPr>
              <a:t>所有记忆被平等对待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70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E5E7EB"/>
                </a:solidFill>
                <a:latin typeface="微软雅黑"/>
                <a:ea typeface="微软雅黑"/>
              </a:rPr>
              <a:t>"用户喜欢喝咖啡" 与 "用户的银行密码"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50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E5E7EB"/>
                </a:solidFill>
                <a:latin typeface="微软雅黑"/>
                <a:ea typeface="微软雅黑"/>
              </a:rPr>
              <a:t>被同等存储和检索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00000" y="5300000"/>
            <a:ext cx="900000" cy="450000"/>
          </a:xfrm>
          <a:prstGeom prst="rightArrow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0" y="5280000"/>
            <a:ext cx="950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58E2C"/>
                </a:solidFill>
                <a:latin typeface="微软雅黑"/>
                <a:ea typeface="微软雅黑"/>
              </a:rPr>
              <a:t>我们需要记忆分层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0000" y="645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E5E7EB"/>
                </a:solidFill>
                <a:latin typeface="微软雅黑"/>
                <a:ea typeface="微软雅黑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不是所有记忆都同等重要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模块 1.3 -- 四层记忆架构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20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7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>人类记忆也分层：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2500000"/>
            <a:ext cx="108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000" y="2500000"/>
            <a:ext cx="120000" cy="7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50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微软雅黑"/>
                <a:ea typeface="微软雅黑"/>
              </a:rPr>
              <a:t>正在读的这段话</a:t>
            </a:r>
            <a:r>
              <a:rPr sz="1800" b="0" i="0">
                <a:solidFill>
                  <a:srgbClr val="666F7A"/>
                </a:solidFill>
                <a:latin typeface="微软雅黑"/>
                <a:ea typeface="微软雅黑"/>
              </a:rPr>
              <a:t>  =  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工作记忆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3340000"/>
            <a:ext cx="108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0000" y="3340000"/>
            <a:ext cx="120000" cy="7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334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微软雅黑"/>
                <a:ea typeface="微软雅黑"/>
              </a:rPr>
              <a:t>今天午饭吃了什么</a:t>
            </a:r>
            <a:r>
              <a:rPr sz="1800" b="0" i="0">
                <a:solidFill>
                  <a:srgbClr val="666F7A"/>
                </a:solidFill>
                <a:latin typeface="微软雅黑"/>
                <a:ea typeface="微软雅黑"/>
              </a:rPr>
              <a:t>  =  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短期记忆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4180000"/>
            <a:ext cx="108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0000" y="4180000"/>
            <a:ext cx="120000" cy="7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418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微软雅黑"/>
                <a:ea typeface="微软雅黑"/>
              </a:rPr>
              <a:t>你的名字</a:t>
            </a:r>
            <a:r>
              <a:rPr sz="1800" b="0" i="0">
                <a:solidFill>
                  <a:srgbClr val="666F7A"/>
                </a:solidFill>
                <a:latin typeface="微软雅黑"/>
                <a:ea typeface="微软雅黑"/>
              </a:rPr>
              <a:t>  =  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长期记忆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5020000"/>
            <a:ext cx="108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000" y="5020000"/>
            <a:ext cx="120000" cy="7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502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微软雅黑"/>
                <a:ea typeface="微软雅黑"/>
              </a:rPr>
              <a:t>你的专业知识</a:t>
            </a:r>
            <a:r>
              <a:rPr sz="1800" b="0" i="0">
                <a:solidFill>
                  <a:srgbClr val="666F7A"/>
                </a:solidFill>
                <a:latin typeface="微软雅黑"/>
                <a:ea typeface="微软雅黑"/>
              </a:rPr>
              <a:t>  =  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知识体系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四层记忆架构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Layer 1 → 4 · 检索优先级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21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600000"/>
            <a:ext cx="10800000" cy="90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600000"/>
            <a:ext cx="900000" cy="9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160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58E2C"/>
                </a:solidFill>
                <a:latin typeface="微软雅黑"/>
                <a:ea typeface="微软雅黑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000" y="1600000"/>
            <a:ext cx="2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工作记忆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0" y="160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当前对话上下文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1600000"/>
            <a:ext cx="27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E2A47"/>
                </a:solidFill>
                <a:latin typeface="Consolas"/>
                <a:ea typeface="Consolas"/>
              </a:rPr>
              <a:t>内存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0000" y="1600000"/>
            <a:ext cx="14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96B14"/>
                </a:solidFill>
                <a:latin typeface="微软雅黑"/>
                <a:ea typeface="微软雅黑"/>
              </a:rPr>
              <a:t>会话结束清除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000" y="2580000"/>
            <a:ext cx="10800000" cy="9000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0000" y="2580000"/>
            <a:ext cx="900000" cy="9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58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58E2C"/>
                </a:solidFill>
                <a:latin typeface="微软雅黑"/>
                <a:ea typeface="微软雅黑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000" y="2580000"/>
            <a:ext cx="2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短期记忆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000" y="258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今日对话记录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0000" y="2580000"/>
            <a:ext cx="27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E2A47"/>
                </a:solidFill>
                <a:latin typeface="Consolas"/>
                <a:ea typeface="Consolas"/>
              </a:rPr>
              <a:t>MD 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0000" y="2580000"/>
            <a:ext cx="14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96B14"/>
                </a:solidFill>
                <a:latin typeface="微软雅黑"/>
                <a:ea typeface="微软雅黑"/>
              </a:rPr>
              <a:t>数天到数周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0000" y="3560000"/>
            <a:ext cx="10800000" cy="900000"/>
          </a:xfrm>
          <a:prstGeom prst="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0000" y="3560000"/>
            <a:ext cx="900000" cy="9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00" y="356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58E2C"/>
                </a:solidFill>
                <a:latin typeface="微软雅黑"/>
                <a:ea typeface="微软雅黑"/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0000" y="3560000"/>
            <a:ext cx="2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长期记忆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000" y="356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重要事实 / 偏好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0000" y="3560000"/>
            <a:ext cx="27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E2A47"/>
                </a:solidFill>
                <a:latin typeface="Consolas"/>
                <a:ea typeface="Consolas"/>
              </a:rPr>
              <a:t>MEMORY.md + 向量DB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0000" y="3560000"/>
            <a:ext cx="14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96B14"/>
                </a:solidFill>
                <a:latin typeface="微软雅黑"/>
                <a:ea typeface="微软雅黑"/>
              </a:rPr>
              <a:t>永久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000" y="4540000"/>
            <a:ext cx="10800000" cy="9000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0000" y="4540000"/>
            <a:ext cx="900000" cy="9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000" y="454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58E2C"/>
                </a:solidFill>
                <a:latin typeface="微软雅黑"/>
                <a:ea typeface="微软雅黑"/>
              </a:rPr>
              <a:t>L4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000" y="4540000"/>
            <a:ext cx="2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0000" y="4540000"/>
            <a:ext cx="32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领域知识 / 技能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0000" y="4540000"/>
            <a:ext cx="27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E2A47"/>
                </a:solidFill>
                <a:latin typeface="Consolas"/>
                <a:ea typeface="Consolas"/>
              </a:rPr>
              <a:t>结构化文档 + 索引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0000" y="4540000"/>
            <a:ext cx="14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96B14"/>
                </a:solidFill>
                <a:latin typeface="微软雅黑"/>
                <a:ea typeface="微软雅黑"/>
              </a:rPr>
              <a:t>永久（定期更新）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000" y="1500000"/>
            <a:ext cx="5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58E2C"/>
                </a:solidFill>
                <a:latin typeface="微软雅黑"/>
                <a:ea typeface="微软雅黑"/>
              </a:rPr>
              <a:t>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0000" y="2050000"/>
            <a:ext cx="0" cy="2700000"/>
          </a:xfrm>
          <a:prstGeom prst="line">
            <a:avLst/>
          </a:prstGeom>
          <a:ln w="25400">
            <a:solidFill>
              <a:srgbClr val="F58E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0000" y="4900000"/>
            <a:ext cx="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666F7A"/>
                </a:solidFill>
                <a:latin typeface="微软雅黑"/>
                <a:ea typeface="微软雅黑"/>
              </a:rPr>
              <a:t>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00" y="5400000"/>
            <a:ext cx="68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检索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优先级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互动思考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Question · Think for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22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1700000"/>
            <a:ext cx="10600000" cy="1500000"/>
          </a:xfrm>
          <a:prstGeom prst="roundRect">
            <a:avLst/>
          </a:prstGeom>
          <a:solidFill>
            <a:srgbClr val="E8F0FA"/>
          </a:solidFill>
          <a:ln w="2540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000" y="1900000"/>
            <a:ext cx="900000" cy="90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190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000" y="2050000"/>
            <a:ext cx="9300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2A47"/>
                </a:solidFill>
                <a:latin typeface="微软雅黑"/>
                <a:ea typeface="微软雅黑"/>
              </a:rPr>
              <a:t>设计客服AI Agent的记忆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500000"/>
            <a:ext cx="106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四层分别应该放什么内容？</a:t>
            </a:r>
          </a:p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给大家30秒想一想...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四层协作检索流程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一个真实查询如何穿过四层记忆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23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500000"/>
            <a:ext cx="10800000" cy="70000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500000"/>
            <a:ext cx="104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用户："我之前让你监控的 Polymarket 市场现在怎样？"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2500000"/>
            <a:ext cx="2550000" cy="2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000" y="2650000"/>
            <a:ext cx="255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666F7A"/>
                </a:solidFill>
                <a:latin typeface="微软雅黑"/>
                <a:ea typeface="微软雅黑"/>
              </a:rPr>
              <a:t>步骤 1 · 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3050000"/>
            <a:ext cx="255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工作记忆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00000" y="3600000"/>
            <a:ext cx="1750000" cy="20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000" y="3700000"/>
            <a:ext cx="225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当前对话无相关上下文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4320000"/>
            <a:ext cx="255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666F7A"/>
                </a:solidFill>
                <a:latin typeface="微软雅黑"/>
                <a:ea typeface="微软雅黑"/>
              </a:rPr>
              <a:t>✗ MISS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60000" y="3600000"/>
            <a:ext cx="100000" cy="0"/>
          </a:xfrm>
          <a:prstGeom prst="line">
            <a:avLst/>
          </a:prstGeom>
          <a:ln w="25400">
            <a:solidFill>
              <a:srgbClr val="1E4F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70000" y="2500000"/>
            <a:ext cx="2550000" cy="2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0000" y="2650000"/>
            <a:ext cx="255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666F7A"/>
                </a:solidFill>
                <a:latin typeface="微软雅黑"/>
                <a:ea typeface="微软雅黑"/>
              </a:rPr>
              <a:t>步骤 2 · 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0000" y="3050000"/>
            <a:ext cx="255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短期记忆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0000" y="3600000"/>
            <a:ext cx="1750000" cy="20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000" y="3700000"/>
            <a:ext cx="225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今日无相关记录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0000" y="4320000"/>
            <a:ext cx="255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666F7A"/>
                </a:solidFill>
                <a:latin typeface="微软雅黑"/>
                <a:ea typeface="微软雅黑"/>
              </a:rPr>
              <a:t>✗ MISS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30000" y="3600000"/>
            <a:ext cx="100000" cy="0"/>
          </a:xfrm>
          <a:prstGeom prst="line">
            <a:avLst/>
          </a:prstGeom>
          <a:ln w="25400">
            <a:solidFill>
              <a:srgbClr val="1E4F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40000" y="2500000"/>
            <a:ext cx="2550000" cy="2200000"/>
          </a:xfrm>
          <a:prstGeom prst="roundRect">
            <a:avLst/>
          </a:prstGeom>
          <a:solidFill>
            <a:srgbClr val="E6F7E6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0000" y="2650000"/>
            <a:ext cx="255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2E8B57"/>
                </a:solidFill>
                <a:latin typeface="微软雅黑"/>
                <a:ea typeface="微软雅黑"/>
              </a:rPr>
              <a:t>步骤 3 ·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0000" y="3050000"/>
            <a:ext cx="255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长期记忆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0000" y="3600000"/>
            <a:ext cx="1750000" cy="20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000" y="3700000"/>
            <a:ext cx="225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找到：「启动 Polymarket 套利监控」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0000" y="4320000"/>
            <a:ext cx="255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E8B57"/>
                </a:solidFill>
                <a:latin typeface="微软雅黑"/>
                <a:ea typeface="微软雅黑"/>
              </a:rPr>
              <a:t>✓ HIT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00000" y="3600000"/>
            <a:ext cx="100000" cy="0"/>
          </a:xfrm>
          <a:prstGeom prst="line">
            <a:avLst/>
          </a:prstGeom>
          <a:ln w="25400">
            <a:solidFill>
              <a:srgbClr val="1E4F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710000" y="2500000"/>
            <a:ext cx="2550000" cy="2200000"/>
          </a:xfrm>
          <a:prstGeom prst="roundRect">
            <a:avLst/>
          </a:prstGeom>
          <a:solidFill>
            <a:srgbClr val="E6F7E6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0000" y="2650000"/>
            <a:ext cx="255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2E8B57"/>
                </a:solidFill>
                <a:latin typeface="微软雅黑"/>
                <a:ea typeface="微软雅黑"/>
              </a:rPr>
              <a:t>步骤 4 · L4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0000" y="3050000"/>
            <a:ext cx="255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E2A47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10000" y="3600000"/>
            <a:ext cx="1750000" cy="20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0000" y="3700000"/>
            <a:ext cx="225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找到：「价格监控脚本每小时扫描」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0000" y="4320000"/>
            <a:ext cx="255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E8B57"/>
                </a:solidFill>
                <a:latin typeface="微软雅黑"/>
                <a:ea typeface="微软雅黑"/>
              </a:rPr>
              <a:t>✓ HIT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0000" y="4900000"/>
            <a:ext cx="10800000" cy="700000"/>
          </a:xfrm>
          <a:prstGeom prst="round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0000" y="49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→ 综合回复（融合 L3 + L4 多层信息）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记忆收敛 = 大脑的"睡眠整理"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模块 1.4 -- 记忆自动收敛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24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7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>短期记忆如何"提升"到长期记忆？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5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>灵感来源：人类睡眠中的记忆巩固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3300000"/>
            <a:ext cx="108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/>
            </a:r>
            <a:r>
              <a:rPr sz="2200" b="1" i="0">
                <a:solidFill>
                  <a:srgbClr val="C96B14"/>
                </a:solidFill>
                <a:latin typeface="微软雅黑"/>
                <a:ea typeface="微软雅黑"/>
              </a:rPr>
              <a:t>自动扫描 --&gt; 正则提取 --&gt; 判断重要性 --&gt; 写入长期记忆</a:t>
            </a:r>
            <a:r>
              <a:rPr sz="2200" b="0" i="0">
                <a:solidFill>
                  <a:srgbClr val="0E2A47"/>
                </a:solidFill>
                <a:latin typeface="微软雅黑"/>
                <a:ea typeface="微软雅黑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MemoryConsolidator 关键逻辑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Python · 代码片段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25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11000000" cy="44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000" y="1500000"/>
            <a:ext cx="11000000" cy="6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0000" y="1660000"/>
            <a:ext cx="180000" cy="180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000" y="1660000"/>
            <a:ext cx="180000" cy="1800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0000" y="1660000"/>
            <a:ext cx="180000" cy="1800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1950000"/>
            <a:ext cx="10760000" cy="3850000"/>
          </a:xfrm>
          <a:prstGeom prst="rect">
            <a:avLst/>
          </a:prstGeom>
          <a:noFill/>
        </p:spPr>
        <p:txBody>
          <a:bodyPr wrap="none" lIns="180000" rIns="180000" tIns="140000" bIns="1400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.</a:t>
            </a:r>
            <a:r>
              <a:rPr sz="1300">
                <a:solidFill>
                  <a:srgbClr val="E6E6E6"/>
                </a:solidFill>
                <a:latin typeface="Consolas"/>
              </a:rPr>
              <a:t>patterns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A8E0A8"/>
                </a:solidFill>
                <a:latin typeface="Consolas"/>
              </a:rPr>
              <a:t>'account_info'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r</a:t>
            </a:r>
            <a:r>
              <a:rPr sz="1300">
                <a:solidFill>
                  <a:srgbClr val="A8E0A8"/>
                </a:solidFill>
                <a:latin typeface="Consolas"/>
              </a:rPr>
              <a:t>'(账户|余额|资金).{0,30}(\$?\d+)'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 </a:t>
            </a:r>
            <a:r>
              <a:rPr sz="1300" i="1">
                <a:solidFill>
                  <a:srgbClr val="8888AA"/>
                </a:solidFill>
                <a:latin typeface="Consolas"/>
              </a:rPr>
              <a:t># &lt;-- 重点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A8E0A8"/>
                </a:solidFill>
                <a:latin typeface="Consolas"/>
              </a:rPr>
              <a:t>'decision'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r</a:t>
            </a:r>
            <a:r>
              <a:rPr sz="1300">
                <a:solidFill>
                  <a:srgbClr val="A8E0A8"/>
                </a:solidFill>
                <a:latin typeface="Consolas"/>
              </a:rPr>
              <a:t>'(决定|决策|选择).{0,50}(使用|采用)'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A8E0A8"/>
                </a:solidFill>
                <a:latin typeface="Consolas"/>
              </a:rPr>
              <a:t>'milestone'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r</a:t>
            </a:r>
            <a:r>
              <a:rPr sz="1300">
                <a:solidFill>
                  <a:srgbClr val="A8E0A8"/>
                </a:solidFill>
                <a:latin typeface="Consolas"/>
              </a:rPr>
              <a:t>'(完成|启动|部署).{0,30}(项目|系统)'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>
                <a:solidFill>
                  <a:srgbClr val="A8E0A8"/>
                </a:solidFill>
                <a:latin typeface="Consolas"/>
              </a:rPr>
              <a:t>'error'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r</a:t>
            </a:r>
            <a:r>
              <a:rPr sz="1300">
                <a:solidFill>
                  <a:srgbClr val="A8E0A8"/>
                </a:solidFill>
                <a:latin typeface="Consolas"/>
              </a:rPr>
              <a:t>'(错误|失败|问题|修复).{0,50}'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76B"/>
                </a:solidFill>
                <a:latin typeface="Consolas"/>
              </a:rPr>
              <a:t>def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should_promote_to_longterm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 b="1">
                <a:solidFill>
                  <a:srgbClr val="FFB76B"/>
                </a:solidFill>
                <a:latin typeface="Consolas"/>
              </a:rPr>
              <a:t>self</a:t>
            </a:r>
            <a:r>
              <a:rPr sz="1300">
                <a:solidFill>
                  <a:srgbClr val="E6E6E6"/>
                </a:solidFill>
                <a:latin typeface="Consolas"/>
              </a:rPr>
              <a:t>,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event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if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event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A8E0A8"/>
                </a:solidFill>
                <a:latin typeface="Consolas"/>
              </a:rPr>
              <a:t>'type'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'account_info'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if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float</a:t>
            </a:r>
            <a:r>
              <a:rPr sz="1300">
                <a:solidFill>
                  <a:srgbClr val="E6E6E6"/>
                </a:solidFill>
                <a:latin typeface="Consolas"/>
              </a:rPr>
              <a:t>(</a:t>
            </a:r>
            <a:r>
              <a:rPr sz="1300">
                <a:solidFill>
                  <a:srgbClr val="E6E6E6"/>
                </a:solidFill>
                <a:latin typeface="Consolas"/>
              </a:rPr>
              <a:t>amounts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A8E0A8"/>
                </a:solidFill>
                <a:latin typeface="Consolas"/>
              </a:rPr>
              <a:t>0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)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&gt;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100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  <a:r>
              <a:rPr sz="1300">
                <a:solidFill>
                  <a:srgbClr val="E6E6E6"/>
                </a:solidFill>
                <a:latin typeface="Consolas"/>
              </a:rPr>
              <a:t>       </a:t>
            </a:r>
            <a:r>
              <a:rPr sz="1300" i="1">
                <a:solidFill>
                  <a:srgbClr val="8888AA"/>
                </a:solidFill>
                <a:latin typeface="Consolas"/>
              </a:rPr>
              <a:t># &lt;-- 重点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return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True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if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event</a:t>
            </a:r>
            <a:r>
              <a:rPr sz="1300">
                <a:solidFill>
                  <a:srgbClr val="E6E6E6"/>
                </a:solidFill>
                <a:latin typeface="Consolas"/>
              </a:rPr>
              <a:t>[</a:t>
            </a:r>
            <a:r>
              <a:rPr sz="1300">
                <a:solidFill>
                  <a:srgbClr val="A8E0A8"/>
                </a:solidFill>
                <a:latin typeface="Consolas"/>
              </a:rPr>
              <a:t>'type'</a:t>
            </a:r>
            <a:r>
              <a:rPr sz="1300">
                <a:solidFill>
                  <a:srgbClr val="E6E6E6"/>
                </a:solidFill>
                <a:latin typeface="Consolas"/>
              </a:rPr>
              <a:t>]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=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>
                <a:solidFill>
                  <a:srgbClr val="A8E0A8"/>
                </a:solidFill>
                <a:latin typeface="Consolas"/>
              </a:rPr>
              <a:t>'milestone'</a:t>
            </a:r>
            <a:r>
              <a:rPr sz="13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return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True</a:t>
            </a:r>
            <a:r>
              <a:rPr sz="1300">
                <a:solidFill>
                  <a:srgbClr val="E6E6E6"/>
                </a:solidFill>
                <a:latin typeface="Consolas"/>
              </a:rPr>
              <a:t>                        </a:t>
            </a:r>
            <a:r>
              <a:rPr sz="1300" i="1">
                <a:solidFill>
                  <a:srgbClr val="8888AA"/>
                </a:solidFill>
                <a:latin typeface="Consolas"/>
              </a:rPr>
              <a:t># &lt;-- 重点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</a:t>
            </a:r>
            <a:r>
              <a:rPr sz="1300" b="1">
                <a:solidFill>
                  <a:srgbClr val="FFB76B"/>
                </a:solidFill>
                <a:latin typeface="Consolas"/>
              </a:rPr>
              <a:t>return</a:t>
            </a: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  <a:r>
              <a:rPr sz="1300" b="1">
                <a:solidFill>
                  <a:srgbClr val="FFB76B"/>
                </a:solidFill>
                <a:latin typeface="Consolas"/>
              </a:rPr>
              <a:t>False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互动思考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Question · Think for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26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1700000"/>
            <a:ext cx="10600000" cy="1500000"/>
          </a:xfrm>
          <a:prstGeom prst="roundRect">
            <a:avLst/>
          </a:prstGeom>
          <a:solidFill>
            <a:srgbClr val="E8F0FA"/>
          </a:solidFill>
          <a:ln w="2540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000" y="1900000"/>
            <a:ext cx="900000" cy="90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190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000" y="2050000"/>
            <a:ext cx="9300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2A47"/>
                </a:solidFill>
                <a:latin typeface="微软雅黑"/>
                <a:ea typeface="微软雅黑"/>
              </a:rPr>
              <a:t>为什么"错误"类事件没有自动提升？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500000"/>
            <a:ext cx="106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错误那么重要，不应该全部记住吗？</a:t>
            </a:r>
          </a:p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提示：想想 error 模式匹配的范围有多广...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正则 vs LLM 做收敛判断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对比 · 关键洞察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27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0000" y="1600000"/>
          <a:ext cx="108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4000000"/>
                <a:gridCol w="4000000"/>
              </a:tblGrid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正则匹配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LLM判断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运行成本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接近零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$0.01-0.05/次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运行速度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毫秒级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秒级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可预测性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确定性输出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每次可能不同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微软雅黑"/>
                        </a:rPr>
                        <a:t>适用频率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每小时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</a:rPr>
                        <a:t>每天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混合搜索：BM25 + 向量 + RRF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模块 1.5 -- QMD向量记忆系统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28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700000"/>
            <a:ext cx="10800000" cy="70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70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0E2A47"/>
                </a:solidFill>
                <a:latin typeface="微软雅黑"/>
                <a:ea typeface="微软雅黑"/>
              </a:rPr>
              <a:t>• BM25： 精确关键词匹配（如 "E1001"）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2540000"/>
            <a:ext cx="10800000" cy="70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54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0E2A47"/>
                </a:solidFill>
                <a:latin typeface="微软雅黑"/>
                <a:ea typeface="微软雅黑"/>
              </a:rPr>
              <a:t>• 向量： 语义理解（如 "交易所密钥"）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3380000"/>
            <a:ext cx="10800000" cy="70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3380000"/>
            <a:ext cx="10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0E2A47"/>
                </a:solidFill>
                <a:latin typeface="微软雅黑"/>
                <a:ea typeface="微软雅黑"/>
              </a:rPr>
              <a:t>• RRF： 融合两者排名，取两者之长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RRF 融合算法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Reciprocal Rank Fusion · 双路稳定者胜出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29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550000"/>
            <a:ext cx="10800000" cy="75000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1080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Consolas"/>
                <a:ea typeface="Consolas"/>
              </a:rPr>
              <a:t>RRF_score(d) = Σ  1 / (k + rank + 1)        k =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2550000"/>
            <a:ext cx="3550000" cy="2700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000" y="2700000"/>
            <a:ext cx="35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0E2A47"/>
                </a:solidFill>
                <a:latin typeface="微软雅黑"/>
                <a:ea typeface="微软雅黑"/>
              </a:rPr>
              <a:t>文档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3250000"/>
            <a:ext cx="1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BM25排名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0000" y="325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C96B14"/>
                </a:solidFill>
                <a:latin typeface="Consolas"/>
                <a:ea typeface="Consolas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3670000"/>
            <a:ext cx="1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向量排名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00" y="367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C96B14"/>
                </a:solidFill>
                <a:latin typeface="Consolas"/>
                <a:ea typeface="Consolas"/>
              </a:rPr>
              <a:t>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4250000"/>
            <a:ext cx="355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66F7A"/>
                </a:solidFill>
                <a:latin typeface="Consolas"/>
                <a:ea typeface="Consolas"/>
              </a:rPr>
              <a:t>1/61 + 1/63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00" y="4700000"/>
            <a:ext cx="35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2E8B57"/>
                </a:solidFill>
                <a:latin typeface="Consolas"/>
                <a:ea typeface="Consolas"/>
              </a:rPr>
              <a:t>0.03226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0000" y="2550000"/>
            <a:ext cx="3550000" cy="2700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0000" y="2700000"/>
            <a:ext cx="35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0E2A47"/>
                </a:solidFill>
                <a:latin typeface="微软雅黑"/>
                <a:ea typeface="微软雅黑"/>
              </a:rPr>
              <a:t>文档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0000" y="3250000"/>
            <a:ext cx="1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BM25排名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0" y="325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C96B14"/>
                </a:solidFill>
                <a:latin typeface="Consolas"/>
                <a:ea typeface="Consolas"/>
              </a:rPr>
              <a:t>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0000" y="3670000"/>
            <a:ext cx="1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向量排名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0" y="367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C96B14"/>
                </a:solidFill>
                <a:latin typeface="Consolas"/>
                <a:ea typeface="Consolas"/>
              </a:rP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0000" y="4250000"/>
            <a:ext cx="355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66F7A"/>
                </a:solidFill>
                <a:latin typeface="Consolas"/>
                <a:ea typeface="Consolas"/>
              </a:rPr>
              <a:t>1/62 + 1/62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0000" y="4700000"/>
            <a:ext cx="35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2E8B57"/>
                </a:solidFill>
                <a:latin typeface="Consolas"/>
                <a:ea typeface="Consolas"/>
              </a:rPr>
              <a:t>0.03226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0000" y="2550000"/>
            <a:ext cx="3550000" cy="2700000"/>
          </a:xfrm>
          <a:prstGeom prst="roundRect">
            <a:avLst/>
          </a:prstGeom>
          <a:solidFill>
            <a:srgbClr val="FDEAE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0000" y="2700000"/>
            <a:ext cx="35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0E2A47"/>
                </a:solidFill>
                <a:latin typeface="微软雅黑"/>
                <a:ea typeface="微软雅黑"/>
              </a:rPr>
              <a:t>文档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0000" y="3250000"/>
            <a:ext cx="1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BM25排名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0000" y="325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C96B14"/>
                </a:solidFill>
                <a:latin typeface="Consolas"/>
                <a:ea typeface="Consolas"/>
              </a:rPr>
              <a:t>#1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0000" y="3670000"/>
            <a:ext cx="1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向量排名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0000" y="367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C96B14"/>
                </a:solidFill>
                <a:latin typeface="Consolas"/>
                <a:ea typeface="Consolas"/>
              </a:rPr>
              <a:t>#—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0000" y="4250000"/>
            <a:ext cx="355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66F7A"/>
                </a:solidFill>
                <a:latin typeface="Consolas"/>
                <a:ea typeface="Consolas"/>
              </a:rPr>
              <a:t>仅 1/61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0000" y="4700000"/>
            <a:ext cx="35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C0392B"/>
                </a:solidFill>
                <a:latin typeface="Consolas"/>
                <a:ea typeface="Consolas"/>
              </a:rPr>
              <a:t>0.01639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000" y="5450000"/>
            <a:ext cx="10800000" cy="5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RRF 奖励「在多个排名中都表现稳定」的文档 → 单路出现的文档分数被显著压低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互动思考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Question · Think for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30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1700000"/>
            <a:ext cx="10600000" cy="1500000"/>
          </a:xfrm>
          <a:prstGeom prst="roundRect">
            <a:avLst/>
          </a:prstGeom>
          <a:solidFill>
            <a:srgbClr val="E8F0FA"/>
          </a:solidFill>
          <a:ln w="25400">
            <a:solidFill>
              <a:srgbClr val="1E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000" y="1900000"/>
            <a:ext cx="900000" cy="90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1900000"/>
            <a:ext cx="9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000" y="2050000"/>
            <a:ext cx="9300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2A47"/>
                </a:solidFill>
                <a:latin typeface="微软雅黑"/>
                <a:ea typeface="微软雅黑"/>
              </a:rPr>
              <a:t>RRF为什么用排名而不是分数融合？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500000"/>
            <a:ext cx="106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BM25分数和余弦相似度的量级完全不同</a:t>
            </a:r>
          </a:p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66F7A"/>
                </a:solidFill>
                <a:latin typeface="微软雅黑"/>
                <a:ea typeface="微软雅黑"/>
              </a:rPr>
              <a:t>直接相加会怎样？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动手练习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练习2：实现记忆收敛器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31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600000"/>
            <a:ext cx="10800000" cy="8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600000"/>
            <a:ext cx="105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🛠  练习2：实现记忆收敛器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2700000"/>
            <a:ext cx="10800000" cy="650000"/>
          </a:xfrm>
          <a:prstGeom prst="roundRect">
            <a:avLst/>
          </a:prstGeom>
          <a:solidFill>
            <a:srgbClr val="E8F0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0000" y="270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00" y="270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时间： 25分钟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3430000"/>
            <a:ext cx="108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0000" y="343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00" y="343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目标： 从日志中提取关键事件并判断是否提升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000" y="4160000"/>
            <a:ext cx="10800000" cy="650000"/>
          </a:xfrm>
          <a:prstGeom prst="roundRect">
            <a:avLst/>
          </a:prstGeom>
          <a:solidFill>
            <a:srgbClr val="E8F0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000" y="416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00" y="416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规则： 金额&gt;$500 / 所有里程碑 / "严重"错误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000" y="4890000"/>
            <a:ext cx="108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0000" y="489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00" y="489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文件： exercise_02_memory_consolidator.py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0000" y="5620000"/>
            <a:ext cx="10800000" cy="650000"/>
          </a:xfrm>
          <a:prstGeom prst="roundRect">
            <a:avLst/>
          </a:prstGeom>
          <a:solidFill>
            <a:srgbClr val="E8F0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0000" y="5620000"/>
            <a:ext cx="140000" cy="6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00" y="5620000"/>
            <a:ext cx="10500000" cy="6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参考： 讲义模块1.4 MemoryConsolidator完整代码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000"/>
            <a:ext cx="2200000" cy="5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8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2A47"/>
                </a:solidFill>
                <a:latin typeface="微软雅黑"/>
                <a:ea typeface="微软雅黑"/>
              </a:rPr>
              <a:t>第 1 课  核心总结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900000"/>
            <a:ext cx="90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66F7A"/>
                </a:solidFill>
                <a:latin typeface="微软雅黑"/>
                <a:ea typeface="微软雅黑"/>
              </a:rPr>
              <a:t>5 条关键要点带回家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66F7A"/>
                </a:solidFill>
                <a:latin typeface="微软雅黑"/>
                <a:ea typeface="微软雅黑"/>
              </a:rPr>
              <a:t>32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6400000"/>
            <a:ext cx="6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F7A"/>
                </a:solidFill>
                <a:latin typeface="微软雅黑"/>
                <a:ea typeface="微软雅黑"/>
              </a:rPr>
              <a:t>AI Agent系统工程实战 · 第1课 · 记忆系统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820000"/>
            <a:ext cx="550000" cy="55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820000"/>
            <a:ext cx="55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00000" y="1700000"/>
            <a:ext cx="10100000" cy="75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000" y="1700000"/>
            <a:ext cx="970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E2A47"/>
                </a:solidFill>
                <a:latin typeface="微软雅黑"/>
                <a:ea typeface="微软雅黑"/>
              </a:rPr>
              <a:t>AI Agent与ChatBot的区别 = </a:t>
            </a:r>
            <a:r>
              <a:rPr sz="1800" b="1" i="0">
                <a:solidFill>
                  <a:srgbClr val="C96B14"/>
                </a:solidFill>
                <a:latin typeface="微软雅黑"/>
                <a:ea typeface="微软雅黑"/>
              </a:rPr>
              <a:t>记忆的质量</a:t>
            </a:r>
            <a:r>
              <a:rPr sz="1800" b="0" i="0">
                <a:solidFill>
                  <a:srgbClr val="0E2A4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700000"/>
            <a:ext cx="550000" cy="55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700000"/>
            <a:ext cx="55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0000" y="2580000"/>
            <a:ext cx="10100000" cy="75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0000" y="2580000"/>
            <a:ext cx="970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E2A47"/>
                </a:solidFill>
                <a:latin typeface="微软雅黑"/>
                <a:ea typeface="微软雅黑"/>
              </a:rPr>
              <a:t>向量Embedding让AI理解 "API密钥" ≈ "API key"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580000"/>
            <a:ext cx="550000" cy="55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580000"/>
            <a:ext cx="55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0000" y="3460000"/>
            <a:ext cx="10100000" cy="75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0000" y="3460000"/>
            <a:ext cx="970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E2A47"/>
                </a:solidFill>
                <a:latin typeface="微软雅黑"/>
                <a:ea typeface="微软雅黑"/>
              </a:rPr>
              <a:t>记忆必须</a:t>
            </a:r>
            <a:r>
              <a:rPr sz="1800" b="1" i="0">
                <a:solidFill>
                  <a:srgbClr val="C96B14"/>
                </a:solidFill>
                <a:latin typeface="微软雅黑"/>
                <a:ea typeface="微软雅黑"/>
              </a:rPr>
              <a:t>分层管理</a:t>
            </a:r>
            <a:r>
              <a:rPr sz="1800" b="0" i="0">
                <a:solidFill>
                  <a:srgbClr val="0E2A47"/>
                </a:solidFill>
                <a:latin typeface="微软雅黑"/>
                <a:ea typeface="微软雅黑"/>
              </a:rPr>
              <a:t>（工作/短期/长期/知识库）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460000"/>
            <a:ext cx="550000" cy="55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460000"/>
            <a:ext cx="55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0000" y="4340000"/>
            <a:ext cx="10100000" cy="75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0000" y="4340000"/>
            <a:ext cx="970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E2A47"/>
                </a:solidFill>
                <a:latin typeface="微软雅黑"/>
                <a:ea typeface="微软雅黑"/>
              </a:rPr>
              <a:t>记忆收敛 = 自动从短期提取关键信息到长期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5340000"/>
            <a:ext cx="550000" cy="550000"/>
          </a:xfrm>
          <a:prstGeom prst="ellipse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5340000"/>
            <a:ext cx="55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00000" y="5220000"/>
            <a:ext cx="10100000" cy="75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0000" y="5220000"/>
            <a:ext cx="970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E2A47"/>
                </a:solidFill>
                <a:latin typeface="微软雅黑"/>
                <a:ea typeface="微软雅黑"/>
              </a:rPr>
              <a:t>混合搜索（BM25 + 向量 + RRF）比单一搜索更可靠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00" y="0"/>
            <a:ext cx="53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200000" cy="6858000"/>
          </a:xfrm>
          <a:prstGeom prst="rect">
            <a:avLst/>
          </a:prstGeom>
          <a:solidFill>
            <a:srgbClr val="0E2A47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900000"/>
            <a:ext cx="120000" cy="700000"/>
          </a:xfrm>
          <a:prstGeom prst="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900000"/>
            <a:ext cx="55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E2C"/>
                </a:solidFill>
                <a:latin typeface="微软雅黑"/>
                <a:ea typeface="微软雅黑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1300000"/>
            <a:ext cx="6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下节课预告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400000"/>
            <a:ext cx="5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E5E7EB"/>
                </a:solidFill>
                <a:latin typeface="微软雅黑"/>
                <a:ea typeface="微软雅黑"/>
              </a:rPr>
              <a:t>记忆解决了"Agent知道什么"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3100000"/>
            <a:ext cx="5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E5E7EB"/>
                </a:solidFill>
                <a:latin typeface="微软雅黑"/>
                <a:ea typeface="微软雅黑"/>
              </a:rPr>
              <a:t>但当Agent要同时处理代码、问答、文档...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800000"/>
            <a:ext cx="5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应该用哪个模型？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000" y="4500000"/>
            <a:ext cx="5800000" cy="900000"/>
          </a:xfrm>
          <a:prstGeom prst="roundRect">
            <a:avLst/>
          </a:prstGeom>
          <a:solidFill>
            <a:srgbClr val="F58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00" y="4500000"/>
            <a:ext cx="58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第2课：多模型调度与智能路由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620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5E7EB"/>
                </a:solidFill>
                <a:latin typeface="微软雅黑"/>
                <a:ea typeface="微软雅黑"/>
              </a:rPr>
              <a:t>Thanks · 第 1 课结束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000" y="645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E5E7EB"/>
                </a:solidFill>
                <a:latin typeface="微软雅黑"/>
                <a:ea typeface="微软雅黑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