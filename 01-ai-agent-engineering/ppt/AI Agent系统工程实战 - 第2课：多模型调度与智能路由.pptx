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notesSlides/notesSlide1.xml" Type="http://schemas.openxmlformats.org/officeDocument/2006/relationships/notesSlide"/><Relationship Id="rId41" Target="notesSlides/notesSlide2.xml" Type="http://schemas.openxmlformats.org/officeDocument/2006/relationships/notesSlide"/><Relationship Id="rId42" Target="notesSlides/notesSlide3.xml" Type="http://schemas.openxmlformats.org/officeDocument/2006/relationships/notesSlide"/><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notesSlides/notesSlide8.xml" Type="http://schemas.openxmlformats.org/officeDocument/2006/relationships/notesSlide"/><Relationship Id="rId48" Target="notesSlides/notesSlide9.xml" Type="http://schemas.openxmlformats.org/officeDocument/2006/relationships/notesSlide"/><Relationship Id="rId49" Target="notesSlides/notesSlide10.xml" Type="http://schemas.openxmlformats.org/officeDocument/2006/relationships/notesSlide"/><Relationship Id="rId50" Target="notesSlides/notesSlide11.xml" Type="http://schemas.openxmlformats.org/officeDocument/2006/relationships/notesSlide"/><Relationship Id="rId51" Target="notesSlides/notesSlide12.xml" Type="http://schemas.openxmlformats.org/officeDocument/2006/relationships/notesSlide"/><Relationship Id="rId52" Target="notesSlides/notesSlide13.xml" Type="http://schemas.openxmlformats.org/officeDocument/2006/relationships/notesSlide"/><Relationship Id="rId53" Target="notesSlides/notesSlide14.xml" Type="http://schemas.openxmlformats.org/officeDocument/2006/relationships/notesSlide"/><Relationship Id="rId54" Target="notesSlides/notesSlide15.xml" Type="http://schemas.openxmlformats.org/officeDocument/2006/relationships/notesSlide"/><Relationship Id="rId55" Target="notesSlides/notesSlide16.xml" Type="http://schemas.openxmlformats.org/officeDocument/2006/relationships/notesSlide"/><Relationship Id="rId56" Target="notesSlides/notesSlide17.xml" Type="http://schemas.openxmlformats.org/officeDocument/2006/relationships/notesSlide"/><Relationship Id="rId57" Target="notesSlides/notesSlide18.xml" Type="http://schemas.openxmlformats.org/officeDocument/2006/relationships/notesSlide"/><Relationship Id="rId58" Target="notesSlides/notesSlide19.xml" Type="http://schemas.openxmlformats.org/officeDocument/2006/relationships/notesSlide"/><Relationship Id="rId59" Target="notesSlides/notesSlide20.xml" Type="http://schemas.openxmlformats.org/officeDocument/2006/relationships/notesSlide"/><Relationship Id="rId6" Target="notesMasters/notesMaster1.xml" Type="http://schemas.openxmlformats.org/officeDocument/2006/relationships/notesMaster"/><Relationship Id="rId60" Target="notesSlides/notesSlide21.xml" Type="http://schemas.openxmlformats.org/officeDocument/2006/relationships/notesSlide"/><Relationship Id="rId61" Target="notesSlides/notesSlide22.xml" Type="http://schemas.openxmlformats.org/officeDocument/2006/relationships/notesSlide"/><Relationship Id="rId62" Target="notesSlides/notesSlide23.xml" Type="http://schemas.openxmlformats.org/officeDocument/2006/relationships/notesSlide"/><Relationship Id="rId63" Target="notesSlides/notesSlide24.xml" Type="http://schemas.openxmlformats.org/officeDocument/2006/relationships/notesSlide"/><Relationship Id="rId64" Target="notesSlides/notesSlide25.xml" Type="http://schemas.openxmlformats.org/officeDocument/2006/relationships/notesSlide"/><Relationship Id="rId65" Target="notesSlides/notesSlide26.xml" Type="http://schemas.openxmlformats.org/officeDocument/2006/relationships/notesSlide"/><Relationship Id="rId66" Target="notesSlides/notesSlide27.xml" Type="http://schemas.openxmlformats.org/officeDocument/2006/relationships/notesSlide"/><Relationship Id="rId67" Target="notesSlides/notesSlide28.xml" Type="http://schemas.openxmlformats.org/officeDocument/2006/relationships/notesSlide"/><Relationship Id="rId68" Target="notesSlides/notesSlide29.xml" Type="http://schemas.openxmlformats.org/officeDocument/2006/relationships/notesSlide"/><Relationship Id="rId69" Target="notesSlides/notesSlide30.xml" Type="http://schemas.openxmlformats.org/officeDocument/2006/relationships/notesSlide"/><Relationship Id="rId7" Target="theme/theme2.xml" Type="http://schemas.openxmlformats.org/officeDocument/2006/relationships/theme"/><Relationship Id="rId70" Target="notesSlides/notesSlide31.xml" Type="http://schemas.openxmlformats.org/officeDocument/2006/relationships/notesSlid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大家好，欢迎来到AI Agent系统工程实战课程的第二课。在上一课中，我们探讨了如何为AI Agent构建高质量的记忆系统。今天，我们将聚焦于另一个核心问题：当面对复杂多样的任务时，单一的大语言模型往往显得力不从心。因此，本课的主题是“多模型调度与智能路由”，我们将学习如何为不同的任务选择最合适的模型，以实现效率与成本的最佳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今天课程的整体安排。我们将首先分析不同大语言模型的能力矩阵，然后深入学习路由系统的设计原则和动态模型选择的逻辑。中间会有一个实践练习，帮助大家动手实现一个模型路由器。最后，我们会探讨性能监控体系和成本优化策略，并进行总结。希望大家能跟上节奏，有所收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我们首先来看一个直观的例子。对于“用Python实现一个LRU缓存”这个问题，不同的大语言模型给出了截然不同的表现。</a:t>
            </a:r>
          </a:p>
          <a:p>
            <a:pPr algn="l" indent="0">
              <a:lnSpc>
                <a:spcPct val="100000"/>
              </a:lnSpc>
            </a:pPr>
            <a:r>
              <a:rPr lang="en-US" b="false" i="false" strike="noStrike" u="none" sz="1400">
                <a:solidFill>
                  <a:srgbClr val="000000"/>
                </a:solidFill>
              </a:rPr>
              <a:t>GPT-4o-mini速度最快、成本最低，但代码没有注释；Claude Sonnet生成的代码质量很高，有完整的类型标注，但耗时和成本都较高；Kimi K2.5的中文注释做得很好；而Gemini Pro的回答最为全面，甚至包含了场景分析。</a:t>
            </a:r>
          </a:p>
          <a:p>
            <a:pPr algn="l" indent="0">
              <a:lnSpc>
                <a:spcPct val="100000"/>
              </a:lnSpc>
            </a:pPr>
            <a:r>
              <a:rPr lang="en-US" b="false" i="false" strike="noStrike" u="none" sz="1400">
                <a:solidFill>
                  <a:srgbClr val="000000"/>
                </a:solidFill>
              </a:rPr>
              <a:t>这个例子告诉我们，没有绝对“最好”的模型，只有最适合当前特定任务的模型。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刚才的例子，我想问大家一个问题：如果你是架构师，你会选择哪一个模型来处理所有的用户请求？正确答案是，你不应该只选择一个模型。如果所有请求都用Claude，那么像“你好”这样的简单问候也要花费0.015美元并等待2.5秒，这显然是一种浪费。反之，如果所有请求都用GPT-4o-mini，那么在处理复杂的架构设计任务时，可能会因为模型能力不足而导致质量不达标。因此，单一模型的方案是不可行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为了更好地理解各个模型的特点，我们可以构建一个LLM能力矩阵。这个矩阵从定位、上下文窗口、强项和延迟四个维度对主流模型进行了对比。例如，Kimi K2.5是一个全能主力，擅长推理和中文；GPT-4o-mini是飞毛腿，以速度和低成本著称；Claude Sonnet是代码大师，在代码生成和调试方面表现出色；而Gemini Pro则像一个图书馆员，拥有超大的上下文窗口，非常适合处理长文档任务。理解这个矩阵是进行智能路由的基础。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选择模型时，成本是一个至关重要的因素。这是大语言模型API调用的成本计算公式，它由输入token和输出token的费用共同构成。我们来看一个具体的例子：对于1000个输入token和500个输出token的请求，使用GPT-4o的成本约为0.0075美元，而使用GPT-4o-mini的成本仅为0.00045美元，两者相差约17倍。这个巨大的价格差距，是驱动我们进行智能路由的核心动力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算一笔账。假设我们的系统每天有1000个请求，其中80%是像“你好”这样的简单问答。如果我们能将这80%的简单请求从昂贵的GPT-4模型切换到廉价的GPT-4o-mini模型，那么一个月下来能节省多少钱呢？大家可以估算一下，这将是一个非常可观的数字，这也充分说明了智能路由在成本控制方面的巨大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模型选择中，我们面临一个经典的“不可能三角”困境：质量、成本和速度三者无法同时达到最优。追求高质量和高速度，必然导致高成本；追求高质量和低成本，往往意味着要牺牲速度；而追求高速度和低成本，则需要在质量上做出折中。智能路由的核心目标，就是为每一个具体的任务，在这个三角中找到最适合它的平衡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二个模块：路由系统设计。一个灵活、可配置的路由系统是实现智能模型选择的关键。我们设计的路由系统，其核心是一个YAML配置文件。这意味着，我们可以通过修改配置文件来改变系统的行为，而无需修改任何代码。这个配置文件主要包含两部分内容：模型定义和路由规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这是模型定义部分的示例。我们为每个模型起一个别名，比如primary、fast、coding，并指定它们的ID、上下文窗口大小，以及最重要的——它们的强项。例如，primary模型（Kimi K2.5）的强项是推理、编码和中文；fast模型（GPT-4o-mini）的强项是速度和成本效益；coding模型（Claude Sonnet）的强项是代码生成和调试。这些强项定义是后续路由规则匹配的基础。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路由规则部分的示例。每一条规则都包含一个正则表达式模式、一个目标模型和一个优先级。系统会按照优先级从高到低的顺序，用这些正则表达式去匹配用户的输入。例如，最高优先级（1）的规则会匹配包含“代码”、“编程”、“debug”或“报错”的请求，并将其路由到coding模型。如果没有任何规则匹配成功，系统会使用default指定的primary模型作为兜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来测试一下大家对路由规则的理解。对于用户输入“帮我总结这段代码的功能”，系统会匹配到哪个模型呢？这个输入既包含了“总结”，也包含了“代码”。根据我们刚才看到的规则，包含“代码”的规则优先级是1，而包含“总结”的规则优先级是2。因此，系统会选择优先级更高的规则，将请求路由到coding模型。这体现了优先级在规则匹配中的决定性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设计路由规则时，我们需要遵循三个核心原则。第一，高优先级的规则应该更具体，这样可以确保特殊的、重要的任务被精确匹配。第二，兜底规则不可省略，它能保证所有未匹配到规则的请求都能得到处理。第三，规则的数量要克制，不要试图覆盖所有可能的情况，通常3到5条规则加上一个默认值，就可以覆盖80%以上的常见场景，过多的规则会增加系统的复杂性和维护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接下来我们进入第三个模块：动态模型选择。我们的select_model()函数采用了三层递进的决策逻辑。</a:t>
            </a:r>
          </a:p>
          <a:p>
            <a:pPr algn="l" indent="0">
              <a:lnSpc>
                <a:spcPct val="100000"/>
              </a:lnSpc>
            </a:pPr>
            <a:r>
              <a:rPr lang="en-US" b="false" i="false" strike="noStrike" u="none" sz="1400">
                <a:solidFill>
                  <a:srgbClr val="000000"/>
                </a:solidFill>
              </a:rPr>
              <a:t>第一层是基于正则表达式的规则匹配，这是我们人工经验的体现。</a:t>
            </a:r>
          </a:p>
          <a:p>
            <a:pPr algn="l" indent="0">
              <a:lnSpc>
                <a:spcPct val="100000"/>
              </a:lnSpc>
            </a:pPr>
            <a:r>
              <a:rPr lang="en-US" b="false" i="false" strike="noStrike" u="none" sz="1400">
                <a:solidFill>
                  <a:srgbClr val="000000"/>
                </a:solidFill>
              </a:rPr>
              <a:t>如果第一层没有匹配到合适的模型，系统会进入第二层，检查上下文的长度，如果上下文过长，会自动选择支持长上下文的模型，比如Gemini Pro。</a:t>
            </a:r>
          </a:p>
          <a:p>
            <a:pPr algn="l" indent="0">
              <a:lnSpc>
                <a:spcPct val="100000"/>
              </a:lnSpc>
            </a:pPr>
            <a:r>
              <a:rPr lang="en-US" b="false" i="false" strike="noStrike" u="none" sz="1400">
                <a:solidFill>
                  <a:srgbClr val="000000"/>
                </a:solidFill>
              </a:rPr>
              <a:t>如果前两层都没有做出决策，系统会进入第三层，通过算法来估计请求的复杂度，从而选择最合适的模型。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我们来看一个具体的例子。当用户输入“帮我debug这段代码”时，系统首先进入第一层正则匹配，成功命中了包含“debug”的规则，选择了“coding”模型。接着，系统会进行容量检查，确保当前的上下文长度（5000 tokens）没有超过该模型上下文窗口（200K）的80%，检查通过后，最终确定使用Claude 3.5 Sonnet模型来处理这个请求。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再来看一个简单的例子：用户输入“你好”。第一层正则匹配没有命中任何规则。第二层上下文检查也没有触发，因为上下文长度很小。于是系统进入第三层复杂度估计。通过计算请求的长度、代码块数量、技术术语和推理指标，得出总复杂度为0.002，远低于0.3的阈值。因此，系统判定这是一个简单请求，并选择了“fast”模型，也就是GPT-4o-mini来处理，实现了成本和速度的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复杂度估计算法的具体实现。它通过四个因子来综合评估一个请求的复杂度：请求的长度、包含的代码块数量、技术术语的数量，以及推理相关的指示词数量。每个因子都有不同的权重，例如代码块和推理指示词的权重较高。最后，将所有因子的得分相加，得到一个0到1之间的复杂度分数。这个算法虽然简单，但对于区分简单请求和复杂请求非常有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动手计算一个例子的复杂度。对于问题“为什么数据库的API响应变慢了？”，我们分别计算四个因子的得分：长度是0.016，没有代码块，包含两个技术术语（数据库、API）得0.2分，包含一个推理指示词（为什么）得0.15分。总分为0.366，属于中等复杂度。根据这个分数，系统可能会选择一个平衡了质量和速度的模型来处理这个请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选择模型后，我们还需要进行一次容量检查，确保当前的上下文长度不超过模型上下文窗口的80%。为什么要保留20%的余量呢？主要有三个原因：首先，如果输入把窗口填满了，模型就没有空间生成输出了；其次，系统提示词本身也会占用一部分token空间；最后，Token的计数并不总是精确的，保留余量可以作为一个安全网，防止出现上下文溢出的错误。这就像我们的磁盘空间，用到90%就应该报警，而不是等到100%才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部分就到这里，现在是动手实践的时间。第一个练习，希望大家在30分钟内，实现一个完整的ModelRouter类，重点是完成select_model()、_estimate_complexity()和_check_capacity()这三个核心方法。完成后，请用5个不同的场景进行测试，确保所有测试都能通过。大家可以参考讲义中的完整代码。现在开始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路由系统上线后，我们的工作并没有结束。一个好的系统必须具备完善的监控体系，因为“没有监控就没有优化”。我们需要持续监控并回答这些问题：每个模型被调用了多少次？它们的成功率如何？延迟表现怎么样？整体的成本分布是否在预算之内？只有掌握了这些数据，我们才能发现问题，并不断优化我们的路由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需要重点关注五个核心监控指标：总调用次数，它能反映出各个模型的使用分布是否合理；成功率，健康的系统成功率应该不低于95%；平均延迟，不同模型的延迟基准不同；P95延迟，这是一个非常关键的指标，它代表了95%用户的真实体验，健康阈值通常应低于10秒；以及总成本，确保花费在预算之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里有一个非常重要的概念需要大家理解：为什么P95延迟比平均延迟更有参考价值？我们来看一个例子：100个请求中，99个耗时1秒，1个耗时30秒。计算下来，平均延迟是1.29秒，看起来似乎还不错。但P95延迟是1秒，这意味着95%的用户都体验到了1秒的快速响应，只有极少数用户遇到了30秒的极端延迟。因此，P95延迟能够更好地排除极端异常值，反映出绝大多数用户的真实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计算P95延迟的方法其实很简单。首先，我们收集一段时间内所有请求的延迟数据，然后将这些数据进行排序。最后，取排序后列表中位置为95%分位数的数据点，这个值就是P95延迟。在代码中，我们通过sorted(latencies)[int(len(latencies) * 0.95)]这行代码来实现这个计算。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收集到的监控数据，我们可以实现一个自动推荐策略。系统会定期遍历所有模型最近7天的数据，首先检查成功率，如果某个模型的成功率低于95%，系统会建议检查API的稳定性或重试逻辑。接着检查P95延迟，如果延迟超过10秒，系统会建议考虑降级或切换模型。如果一切正常，系统则认为当前状态健康，无需干预。这个自动化的策略能帮助我们及时发现并解决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这是我们的智能路由系统在实际运行中的效果展示。对于简单的问候“你好”，系统选择了速度最快、成本最低的GPT-4o-mini；对于代码调试任务，系统选择了专业的Claude Sonnet；对于总结长PDF的任务，系统选择了拥有超大上下文窗口的Gemini Pro；而对于复杂的架构设计任务，系统则选择了全能的Kimi K2.5。可以看到，系统能够根据任务的不同特点，做出最合理的模型选择。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来看一下智能路由带来的实际收益。这张表格对比了在有无路由的情况下，不同场景的成本差异。可以看到，对于简单请求，成本节省高达98%；对于其他任务，也有40%到50%的节省。综合来看，智能路由系统能够帮助我们降低约60%的成本，同时将响应速度提升约40%，效果非常显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成本优化的四个核心原则：第一，要善于识别“杀鸡用牛刀”的场景，因为大部分请求其实是简单的；第二，优化策略要先粗后细，先用少量规则覆盖大部分场景；第三，优化必须由监控数据驱动，用数据说话，而不是凭感觉；最后，一定要保留一个强大的兜底模型，确保所有复杂任务都能得到妥善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是第二个练习时间。这次的任务是一个更贴近实际的场景设计。假设我们有一个混合场景，包含每天300次的客服请求、50次的内容创作请求和30次的数据分析请求，并且每月的预算是500美元。请大家以小组为单位，在25分钟内设计出一套合理的路由规则YAML配置，并进行成本估算。这个练习能帮助大家更好地理解如何将今天学到的知识应用到实际项目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好了，我们来总结一下本节课的核心内容。首先，我们认识到没有最好的模型，只有最适合当前任务的模型。其次，简单的路由规则往往最有效，几条正则规则就能带来显著的成本节约。第三，复杂度估计不需要依赖AI，简单的启发式算法就足够用了。第四，监控是优化的基础，特别是P95延迟数据，为我们指明了优化方向。最后，容量检查是保障系统稳定运行的安全网。希望大家都掌握了这些核心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我们解决了“用什么模型”的问题，实现了智能的多模型调度。但当一个Agent需要同时处理多种复杂任务时，比如交易、写代码、写文章，单一的上下文窗口会被各种信息挤占，不同任务的提示词也会互相干扰。如何解决这个问题呢？这就是我们下一节课要探讨的主题：多Agent架构设计与实现。下节课的难度会有所升级，建议大家提前预习一下Redis Pub/Sub的基础知识。感谢大家的参与，我们下次课再见！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notesSlides/notesSlide4.xml" Type="http://schemas.openxmlformats.org/officeDocument/2006/relationships/notesSlid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notesSlides/notesSlide5.xml" Type="http://schemas.openxmlformats.org/officeDocument/2006/relationships/notesSlide"/><Relationship Id="rId2" Target="../media/image25.png" Type="http://schemas.openxmlformats.org/officeDocument/2006/relationships/image"/><Relationship Id="rId3" Target="../media/image2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notesSlides/notesSlide6.xml" Type="http://schemas.openxmlformats.org/officeDocument/2006/relationships/notesSlid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3.png" Type="http://schemas.openxmlformats.org/officeDocument/2006/relationships/image"/><Relationship Id="rId11" Target="../media/image54.svg" Type="http://schemas.openxmlformats.org/officeDocument/2006/relationships/image"/><Relationship Id="rId12" Target="../notesSlides/notesSlide8.xml" Type="http://schemas.openxmlformats.org/officeDocument/2006/relationships/notesSlide"/><Relationship Id="rId2" Target="../media/image47.png" Type="http://schemas.openxmlformats.org/officeDocument/2006/relationships/image"/><Relationship Id="rId3" Target="../media/image48.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5.png" Type="http://schemas.openxmlformats.org/officeDocument/2006/relationships/image"/><Relationship Id="rId3" Target="../media/image56.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2.xml" Type="http://schemas.openxmlformats.org/officeDocument/2006/relationships/notesSlide"/><Relationship Id="rId2" Target="../media/image63.png" Type="http://schemas.openxmlformats.org/officeDocument/2006/relationships/image"/><Relationship Id="rId3" Target="../media/image64.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1.png" Type="http://schemas.openxmlformats.org/officeDocument/2006/relationships/image"/><Relationship Id="rId3" Target="../media/image72.sv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 Id="rId4" Target="../media/image75.png" Type="http://schemas.openxmlformats.org/officeDocument/2006/relationships/image"/><Relationship Id="rId5" Target="../media/image76.svg" Type="http://schemas.openxmlformats.org/officeDocument/2006/relationships/image"/><Relationship Id="rId6" Target="../media/image77.png" Type="http://schemas.openxmlformats.org/officeDocument/2006/relationships/image"/><Relationship Id="rId7" Target="../media/image78.svg" Type="http://schemas.openxmlformats.org/officeDocument/2006/relationships/image"/><Relationship Id="rId8"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5.xml" Type="http://schemas.openxmlformats.org/officeDocument/2006/relationships/notesSlide"/><Relationship Id="rId2" Target="../media/image79.png" Type="http://schemas.openxmlformats.org/officeDocument/2006/relationships/image"/><Relationship Id="rId3" Target="../media/image80.sv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6.xml" Type="http://schemas.openxmlformats.org/officeDocument/2006/relationships/notesSlide"/><Relationship Id="rId2" Target="../media/image79.png" Type="http://schemas.openxmlformats.org/officeDocument/2006/relationships/image"/><Relationship Id="rId3" Target="../media/image80.svg" Type="http://schemas.openxmlformats.org/officeDocument/2006/relationships/image"/><Relationship Id="rId4" Target="../media/image81.png" Type="http://schemas.openxmlformats.org/officeDocument/2006/relationships/image"/><Relationship Id="rId5" Target="../media/image82.svg" Type="http://schemas.openxmlformats.org/officeDocument/2006/relationships/image"/><Relationship Id="rId6" Target="../media/image83.png" Type="http://schemas.openxmlformats.org/officeDocument/2006/relationships/image"/><Relationship Id="rId7" Target="../media/image84.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 Id="rId4" Target="../media/image77.png" Type="http://schemas.openxmlformats.org/officeDocument/2006/relationships/image"/><Relationship Id="rId5" Target="../media/image78.svg" Type="http://schemas.openxmlformats.org/officeDocument/2006/relationships/image"/><Relationship Id="rId6" Target="../media/image75.png" Type="http://schemas.openxmlformats.org/officeDocument/2006/relationships/image"/><Relationship Id="rId7" Target="../media/image76.svg" Type="http://schemas.openxmlformats.org/officeDocument/2006/relationships/image"/><Relationship Id="rId8"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89.png" Type="http://schemas.openxmlformats.org/officeDocument/2006/relationships/image"/><Relationship Id="rId11" Target="../media/image90.svg" Type="http://schemas.openxmlformats.org/officeDocument/2006/relationships/image"/><Relationship Id="rId12" Target="../media/image91.png" Type="http://schemas.openxmlformats.org/officeDocument/2006/relationships/image"/><Relationship Id="rId13" Target="../media/image92.svg" Type="http://schemas.openxmlformats.org/officeDocument/2006/relationships/image"/><Relationship Id="rId14" Target="../notesSlides/notesSlide18.xml" Type="http://schemas.openxmlformats.org/officeDocument/2006/relationships/notesSlide"/><Relationship Id="rId2" Target="../media/image79.png" Type="http://schemas.openxmlformats.org/officeDocument/2006/relationships/image"/><Relationship Id="rId3" Target="../media/image8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85.png" Type="http://schemas.openxmlformats.org/officeDocument/2006/relationships/image"/><Relationship Id="rId7" Target="../media/image86.svg" Type="http://schemas.openxmlformats.org/officeDocument/2006/relationships/image"/><Relationship Id="rId8" Target="../media/image87.png" Type="http://schemas.openxmlformats.org/officeDocument/2006/relationships/image"/><Relationship Id="rId9" Target="../media/image8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9.xml" Type="http://schemas.openxmlformats.org/officeDocument/2006/relationships/notesSlide"/><Relationship Id="rId2" Target="../media/image93.png" Type="http://schemas.openxmlformats.org/officeDocument/2006/relationships/image"/><Relationship Id="rId3" Target="../media/image94.svg" Type="http://schemas.openxmlformats.org/officeDocument/2006/relationships/image"/><Relationship Id="rId4" Target="../media/image95.png" Type="http://schemas.openxmlformats.org/officeDocument/2006/relationships/image"/><Relationship Id="rId5" Target="../media/image96.svg" Type="http://schemas.openxmlformats.org/officeDocument/2006/relationships/image"/><Relationship Id="rId6" Target="../media/image97.png" Type="http://schemas.openxmlformats.org/officeDocument/2006/relationships/image"/><Relationship Id="rId7" Target="../media/image98.svg" Type="http://schemas.openxmlformats.org/officeDocument/2006/relationships/image"/><Relationship Id="rId8" Target="../media/image99.png" Type="http://schemas.openxmlformats.org/officeDocument/2006/relationships/image"/><Relationship Id="rId9" Target="../media/image10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0.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01.png" Type="http://schemas.openxmlformats.org/officeDocument/2006/relationships/image"/><Relationship Id="rId9" Target="../media/image10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3.png" Type="http://schemas.openxmlformats.org/officeDocument/2006/relationships/image"/><Relationship Id="rId3" Target="../media/image104.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105.png" Type="http://schemas.openxmlformats.org/officeDocument/2006/relationships/image"/><Relationship Id="rId7" Target="../media/image106.svg" Type="http://schemas.openxmlformats.org/officeDocument/2006/relationships/image"/><Relationship Id="rId8"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5.xml" Type="http://schemas.openxmlformats.org/officeDocument/2006/relationships/notesSlide"/><Relationship Id="rId2" Target="../media/image41.png" Type="http://schemas.openxmlformats.org/officeDocument/2006/relationships/image"/><Relationship Id="rId3" Target="../media/image42.svg" Type="http://schemas.openxmlformats.org/officeDocument/2006/relationships/image"/><Relationship Id="rId4" Target="../media/image107.png" Type="http://schemas.openxmlformats.org/officeDocument/2006/relationships/image"/><Relationship Id="rId5" Target="../media/image10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9.png" Type="http://schemas.openxmlformats.org/officeDocument/2006/relationships/image"/><Relationship Id="rId3" Target="../media/image110.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8.xml" Type="http://schemas.openxmlformats.org/officeDocument/2006/relationships/notesSlide"/><Relationship Id="rId2" Target="../media/image111.png" Type="http://schemas.openxmlformats.org/officeDocument/2006/relationships/image"/><Relationship Id="rId3" Target="../media/image112.svg" Type="http://schemas.openxmlformats.org/officeDocument/2006/relationships/image"/><Relationship Id="rId4" Target="../media/image113.png" Type="http://schemas.openxmlformats.org/officeDocument/2006/relationships/image"/><Relationship Id="rId5" Target="../media/image114.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61.png" Type="http://schemas.openxmlformats.org/officeDocument/2006/relationships/image"/><Relationship Id="rId9" Target="../media/image6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7.png" Type="http://schemas.openxmlformats.org/officeDocument/2006/relationships/image"/><Relationship Id="rId11" Target="../media/image118.svg" Type="http://schemas.openxmlformats.org/officeDocument/2006/relationships/image"/><Relationship Id="rId12" Target="../notesSlides/notesSlide29.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115.png" Type="http://schemas.openxmlformats.org/officeDocument/2006/relationships/image"/><Relationship Id="rId5" Target="../media/image116.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65.png" Type="http://schemas.openxmlformats.org/officeDocument/2006/relationships/image"/><Relationship Id="rId9" Target="../media/image6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12" Target="../notesSlides/notesSlide30.xml" Type="http://schemas.openxmlformats.org/officeDocument/2006/relationships/notesSlide"/><Relationship Id="rId2" Target="../media/image57.png" Type="http://schemas.openxmlformats.org/officeDocument/2006/relationships/image"/><Relationship Id="rId3" Target="../media/image58.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119.png" Type="http://schemas.openxmlformats.org/officeDocument/2006/relationships/image"/><Relationship Id="rId9" Target="../media/image120.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31.xml" Type="http://schemas.openxmlformats.org/officeDocument/2006/relationships/notesSlide"/><Relationship Id="rId11" Target="../media/image127.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21.png" Type="http://schemas.openxmlformats.org/officeDocument/2006/relationships/image"/><Relationship Id="rId5" Target="../media/image122.svg" Type="http://schemas.openxmlformats.org/officeDocument/2006/relationships/image"/><Relationship Id="rId6" Target="../media/image123.png" Type="http://schemas.openxmlformats.org/officeDocument/2006/relationships/image"/><Relationship Id="rId7" Target="../media/image124.svg" Type="http://schemas.openxmlformats.org/officeDocument/2006/relationships/image"/><Relationship Id="rId8" Target="../media/image125.png" Type="http://schemas.openxmlformats.org/officeDocument/2006/relationships/image"/><Relationship Id="rId9" Target="../media/image12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1778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00BFFF"/>
                </a:solidFill>
                <a:latin typeface="Noto Sans SC"/>
                <a:ea typeface="Noto Sans SC"/>
                <a:cs typeface="Noto Sans SC"/>
                <a:sym typeface="Noto Sans SC"/>
              </a:rPr>
              <a:t>AI Agent 系统工程实战</a:t>
            </a:r>
            <a:endParaRPr lang="en-US" sz="1100"/>
          </a:p>
        </p:txBody>
      </p:sp>
      <p:sp>
        <p:nvSpPr>
          <p:cNvPr name="AutoShape 4" id="4"/>
          <p:cNvSpPr/>
          <p:nvPr/>
        </p:nvSpPr>
        <p:spPr>
          <a:xfrm rot="0" flipH="false" flipV="false">
            <a:off x="1016000" y="26035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400">
                <a:solidFill>
                  <a:srgbClr val="FFFFFF"/>
                </a:solidFill>
                <a:latin typeface="Noto Sans SC"/>
                <a:ea typeface="Noto Sans SC"/>
                <a:cs typeface="Noto Sans SC"/>
                <a:sym typeface="Noto Sans SC"/>
              </a:rPr>
              <a:t>第2课：一个模型不够用</a:t>
            </a:r>
            <a:endParaRPr lang="en-US" sz="1100"/>
          </a:p>
        </p:txBody>
      </p:sp>
      <p:sp>
        <p:nvSpPr>
          <p:cNvPr name="AutoShape 5" id="5"/>
          <p:cNvSpPr/>
          <p:nvPr/>
        </p:nvSpPr>
        <p:spPr>
          <a:xfrm rot="0" flipH="false" flipV="false">
            <a:off x="1016000" y="3111500"/>
            <a:ext cx="1016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800">
                <a:solidFill>
                  <a:srgbClr val="AAAAAA"/>
                </a:solidFill>
                <a:latin typeface="Noto Sans SC"/>
                <a:ea typeface="Noto Sans SC"/>
                <a:cs typeface="Noto Sans SC"/>
                <a:sym typeface="Noto Sans SC"/>
              </a:rPr>
              <a:t>—— 多模型调度与智能路由</a:t>
            </a:r>
            <a:endParaRPr lang="en-US" sz="1100"/>
          </a:p>
        </p:txBody>
      </p:sp>
      <p:cxnSp>
        <p:nvCxnSpPr>
          <p:cNvPr name="Connector 6" id="6"/>
          <p:cNvCxnSpPr/>
          <p:nvPr/>
        </p:nvCxnSpPr>
        <p:spPr>
          <a:xfrm rot="-34376" flipH="false" flipV="false">
            <a:off x="5461032" y="3676650"/>
            <a:ext cx="1270000" cy="12700"/>
          </a:xfrm>
          <a:prstGeom prst="straightConnector1">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7" id="7"/>
          <p:cNvSpPr/>
          <p:nvPr/>
        </p:nvSpPr>
        <p:spPr>
          <a:xfrm rot="0" flipH="false" flipV="false">
            <a:off x="2286000" y="4191000"/>
            <a:ext cx="7620000" cy="762000"/>
          </a:xfrm>
          <a:prstGeom prst="roundRect">
            <a:avLst>
              <a:gd name="adj" fmla="val 16666"/>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794000" y="4419600"/>
            <a:ext cx="304800" cy="304800"/>
          </a:xfrm>
          <a:prstGeom prst="rect">
            <a:avLst/>
          </a:prstGeom>
        </p:spPr>
      </p:pic>
      <p:sp>
        <p:nvSpPr>
          <p:cNvPr name="AutoShape 9" id="9"/>
          <p:cNvSpPr/>
          <p:nvPr/>
        </p:nvSpPr>
        <p:spPr>
          <a:xfrm rot="0" flipH="false" flipV="false">
            <a:off x="3175000" y="4419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第3章</a:t>
            </a:r>
            <a:endParaRPr lang="en-US" sz="1100"/>
          </a:p>
        </p:txBody>
      </p:sp>
      <p:cxnSp>
        <p:nvCxnSpPr>
          <p:cNvPr name="Connector 10" id="10"/>
          <p:cNvCxnSpPr/>
          <p:nvPr/>
        </p:nvCxnSpPr>
        <p:spPr>
          <a:xfrm rot="5285450" flipH="false" flipV="false">
            <a:off x="4381500" y="4565756"/>
            <a:ext cx="38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4419600"/>
            <a:ext cx="304800" cy="304800"/>
          </a:xfrm>
          <a:prstGeom prst="rect">
            <a:avLst/>
          </a:prstGeom>
        </p:spPr>
      </p:pic>
      <p:sp>
        <p:nvSpPr>
          <p:cNvPr name="AutoShape 12" id="12"/>
          <p:cNvSpPr/>
          <p:nvPr/>
        </p:nvSpPr>
        <p:spPr>
          <a:xfrm rot="0" flipH="false" flipV="false">
            <a:off x="5207000" y="4419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难度：中级</a:t>
            </a:r>
            <a:endParaRPr lang="en-US" sz="1100"/>
          </a:p>
        </p:txBody>
      </p:sp>
      <p:cxnSp>
        <p:nvCxnSpPr>
          <p:cNvPr name="Connector 13" id="13"/>
          <p:cNvCxnSpPr/>
          <p:nvPr/>
        </p:nvCxnSpPr>
        <p:spPr>
          <a:xfrm rot="5285450" flipH="false" flipV="false">
            <a:off x="6413500" y="4565756"/>
            <a:ext cx="381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858000" y="4419600"/>
            <a:ext cx="304800" cy="304800"/>
          </a:xfrm>
          <a:prstGeom prst="rect">
            <a:avLst/>
          </a:prstGeom>
        </p:spPr>
      </p:pic>
      <p:sp>
        <p:nvSpPr>
          <p:cNvPr name="AutoShape 15" id="15"/>
          <p:cNvSpPr/>
          <p:nvPr/>
        </p:nvSpPr>
        <p:spPr>
          <a:xfrm rot="0" flipH="false" flipV="false">
            <a:off x="7239000" y="4419600"/>
            <a:ext cx="1524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时长：3小时</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今天的旅程</a:t>
            </a:r>
            <a:endParaRPr lang="en-US" sz="1100"/>
          </a:p>
        </p:txBody>
      </p:sp>
      <p:sp>
        <p:nvSpPr>
          <p:cNvPr name="AutoShape 4" id="4"/>
          <p:cNvSpPr/>
          <p:nvPr/>
        </p:nvSpPr>
        <p:spPr>
          <a:xfrm rot="0" flipH="false" flipV="false">
            <a:off x="762000" y="1905000"/>
            <a:ext cx="10668000" cy="4318000"/>
          </a:xfrm>
          <a:prstGeom prst="roundRect">
            <a:avLst>
              <a:gd name="adj" fmla="val 2941"/>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59000"/>
            <a:ext cx="254000" cy="254000"/>
          </a:xfrm>
          <a:prstGeom prst="rect">
            <a:avLst/>
          </a:prstGeom>
        </p:spPr>
      </p:pic>
      <p:sp>
        <p:nvSpPr>
          <p:cNvPr name="AutoShape 6" id="6"/>
          <p:cNvSpPr/>
          <p:nvPr/>
        </p:nvSpPr>
        <p:spPr>
          <a:xfrm rot="0" flipH="false" flipV="false">
            <a:off x="1397000" y="21082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模块</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921000" y="2159000"/>
            <a:ext cx="254000" cy="254000"/>
          </a:xfrm>
          <a:prstGeom prst="rect">
            <a:avLst/>
          </a:prstGeom>
        </p:spPr>
      </p:pic>
      <p:sp>
        <p:nvSpPr>
          <p:cNvPr name="AutoShape 8" id="8"/>
          <p:cNvSpPr/>
          <p:nvPr/>
        </p:nvSpPr>
        <p:spPr>
          <a:xfrm rot="0" flipH="false" flipV="false">
            <a:off x="3302000" y="21082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主题内容</a:t>
            </a:r>
            <a:endParaRPr lang="en-US" sz="1100"/>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366000" y="2159000"/>
            <a:ext cx="254000" cy="254000"/>
          </a:xfrm>
          <a:prstGeom prst="rect">
            <a:avLst/>
          </a:prstGeom>
        </p:spPr>
      </p:pic>
      <p:sp>
        <p:nvSpPr>
          <p:cNvPr name="AutoShape 10" id="10"/>
          <p:cNvSpPr/>
          <p:nvPr/>
        </p:nvSpPr>
        <p:spPr>
          <a:xfrm rot="0" flipH="false" flipV="false">
            <a:off x="7747000" y="21082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预计时间</a:t>
            </a:r>
            <a:endParaRPr lang="en-US" sz="1100"/>
          </a:p>
        </p:txBody>
      </p:sp>
      <p:cxnSp>
        <p:nvCxnSpPr>
          <p:cNvPr name="Connector 11" id="11"/>
          <p:cNvCxnSpPr/>
          <p:nvPr/>
        </p:nvCxnSpPr>
        <p:spPr>
          <a:xfrm rot="-4297" flipH="false" flipV="false">
            <a:off x="1016004" y="2533650"/>
            <a:ext cx="1016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2" id="12"/>
          <p:cNvSpPr/>
          <p:nvPr/>
        </p:nvSpPr>
        <p:spPr>
          <a:xfrm rot="0" flipH="false" flipV="false">
            <a:off x="1016000" y="2667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2.1</a:t>
            </a:r>
            <a:endParaRPr lang="en-US" sz="1100"/>
          </a:p>
        </p:txBody>
      </p:sp>
      <p:sp>
        <p:nvSpPr>
          <p:cNvPr name="AutoShape 13" id="13"/>
          <p:cNvSpPr/>
          <p:nvPr/>
        </p:nvSpPr>
        <p:spPr>
          <a:xfrm rot="0" flipH="false" flipV="false">
            <a:off x="2921000" y="2667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LLM能力矩阵</a:t>
            </a:r>
            <a:endParaRPr lang="en-US" sz="1100"/>
          </a:p>
        </p:txBody>
      </p:sp>
      <p:sp>
        <p:nvSpPr>
          <p:cNvPr name="AutoShape 14" id="14"/>
          <p:cNvSpPr/>
          <p:nvPr/>
        </p:nvSpPr>
        <p:spPr>
          <a:xfrm rot="0" flipH="false" flipV="false">
            <a:off x="7366000" y="2667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0:00 - 0:35</a:t>
            </a:r>
            <a:endParaRPr lang="en-US" sz="1100"/>
          </a:p>
        </p:txBody>
      </p:sp>
      <p:sp>
        <p:nvSpPr>
          <p:cNvPr name="AutoShape 15" id="15"/>
          <p:cNvSpPr/>
          <p:nvPr/>
        </p:nvSpPr>
        <p:spPr>
          <a:xfrm rot="0" flipH="false" flipV="false">
            <a:off x="1016000" y="3048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2.2</a:t>
            </a:r>
            <a:endParaRPr lang="en-US" sz="1100"/>
          </a:p>
        </p:txBody>
      </p:sp>
      <p:sp>
        <p:nvSpPr>
          <p:cNvPr name="AutoShape 16" id="16"/>
          <p:cNvSpPr/>
          <p:nvPr/>
        </p:nvSpPr>
        <p:spPr>
          <a:xfrm rot="0" flipH="false" flipV="false">
            <a:off x="2921000" y="3048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路由系统设计</a:t>
            </a:r>
            <a:endParaRPr lang="en-US" sz="1100"/>
          </a:p>
        </p:txBody>
      </p:sp>
      <p:sp>
        <p:nvSpPr>
          <p:cNvPr name="AutoShape 17" id="17"/>
          <p:cNvSpPr/>
          <p:nvPr/>
        </p:nvSpPr>
        <p:spPr>
          <a:xfrm rot="0" flipH="false" flipV="false">
            <a:off x="7366000" y="3048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0:35 - 0:50</a:t>
            </a:r>
            <a:endParaRPr lang="en-US" sz="1100"/>
          </a:p>
        </p:txBody>
      </p:sp>
      <p:sp>
        <p:nvSpPr>
          <p:cNvPr name="AutoShape 18" id="18"/>
          <p:cNvSpPr/>
          <p:nvPr/>
        </p:nvSpPr>
        <p:spPr>
          <a:xfrm rot="0" flipH="false" flipV="false">
            <a:off x="1016000" y="3429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2.3</a:t>
            </a:r>
            <a:endParaRPr lang="en-US" sz="1100"/>
          </a:p>
        </p:txBody>
      </p:sp>
      <p:sp>
        <p:nvSpPr>
          <p:cNvPr name="AutoShape 19" id="19"/>
          <p:cNvSpPr/>
          <p:nvPr/>
        </p:nvSpPr>
        <p:spPr>
          <a:xfrm rot="0" flipH="false" flipV="false">
            <a:off x="2921000" y="3429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动态模型选择</a:t>
            </a:r>
            <a:endParaRPr lang="en-US" sz="1100"/>
          </a:p>
        </p:txBody>
      </p:sp>
      <p:sp>
        <p:nvSpPr>
          <p:cNvPr name="AutoShape 20" id="20"/>
          <p:cNvSpPr/>
          <p:nvPr/>
        </p:nvSpPr>
        <p:spPr>
          <a:xfrm rot="0" flipH="false" flipV="false">
            <a:off x="7366000" y="3429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0:50 - 1:15</a:t>
            </a:r>
            <a:endParaRPr lang="en-US" sz="1100"/>
          </a:p>
        </p:txBody>
      </p:sp>
      <p:sp>
        <p:nvSpPr>
          <p:cNvPr name="AutoShape 21" id="21"/>
          <p:cNvSpPr/>
          <p:nvPr/>
        </p:nvSpPr>
        <p:spPr>
          <a:xfrm rot="0" flipH="false" flipV="false">
            <a:off x="1016000" y="3810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a:t>
            </a:r>
            <a:endParaRPr lang="en-US" sz="1100"/>
          </a:p>
        </p:txBody>
      </p:sp>
      <p:sp>
        <p:nvSpPr>
          <p:cNvPr name="AutoShape 22" id="22"/>
          <p:cNvSpPr/>
          <p:nvPr/>
        </p:nvSpPr>
        <p:spPr>
          <a:xfrm rot="0" flipH="false" flipV="false">
            <a:off x="2921000" y="3810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休息时间</a:t>
            </a:r>
            <a:endParaRPr lang="en-US" sz="1100"/>
          </a:p>
        </p:txBody>
      </p:sp>
      <p:sp>
        <p:nvSpPr>
          <p:cNvPr name="AutoShape 23" id="23"/>
          <p:cNvSpPr/>
          <p:nvPr/>
        </p:nvSpPr>
        <p:spPr>
          <a:xfrm rot="0" flipH="false" flipV="false">
            <a:off x="7366000" y="3810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1:15 - 1:25</a:t>
            </a:r>
            <a:endParaRPr lang="en-US" sz="1100"/>
          </a:p>
        </p:txBody>
      </p:sp>
      <p:sp>
        <p:nvSpPr>
          <p:cNvPr name="AutoShape 24" id="24"/>
          <p:cNvSpPr/>
          <p:nvPr/>
        </p:nvSpPr>
        <p:spPr>
          <a:xfrm rot="0" flipH="false" flipV="false">
            <a:off x="1016000" y="4191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a:t>
            </a:r>
            <a:endParaRPr lang="en-US" sz="1100"/>
          </a:p>
        </p:txBody>
      </p:sp>
      <p:sp>
        <p:nvSpPr>
          <p:cNvPr name="AutoShape 25" id="25"/>
          <p:cNvSpPr/>
          <p:nvPr/>
        </p:nvSpPr>
        <p:spPr>
          <a:xfrm rot="0" flipH="false" flipV="false">
            <a:off x="2921000" y="4191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练习1：实现ModelRouter</a:t>
            </a:r>
            <a:endParaRPr lang="en-US" sz="1100"/>
          </a:p>
        </p:txBody>
      </p:sp>
      <p:sp>
        <p:nvSpPr>
          <p:cNvPr name="AutoShape 26" id="26"/>
          <p:cNvSpPr/>
          <p:nvPr/>
        </p:nvSpPr>
        <p:spPr>
          <a:xfrm rot="0" flipH="false" flipV="false">
            <a:off x="7366000" y="4191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1:25 - 1:55</a:t>
            </a:r>
            <a:endParaRPr lang="en-US" sz="1100"/>
          </a:p>
        </p:txBody>
      </p:sp>
      <p:sp>
        <p:nvSpPr>
          <p:cNvPr name="AutoShape 27" id="27"/>
          <p:cNvSpPr/>
          <p:nvPr/>
        </p:nvSpPr>
        <p:spPr>
          <a:xfrm rot="0" flipH="false" flipV="false">
            <a:off x="1016000" y="4572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2.4</a:t>
            </a:r>
            <a:endParaRPr lang="en-US" sz="1100"/>
          </a:p>
        </p:txBody>
      </p:sp>
      <p:sp>
        <p:nvSpPr>
          <p:cNvPr name="AutoShape 28" id="28"/>
          <p:cNvSpPr/>
          <p:nvPr/>
        </p:nvSpPr>
        <p:spPr>
          <a:xfrm rot="0" flipH="false" flipV="false">
            <a:off x="2921000" y="4572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性能监控体系</a:t>
            </a:r>
            <a:endParaRPr lang="en-US" sz="1100"/>
          </a:p>
        </p:txBody>
      </p:sp>
      <p:sp>
        <p:nvSpPr>
          <p:cNvPr name="AutoShape 29" id="29"/>
          <p:cNvSpPr/>
          <p:nvPr/>
        </p:nvSpPr>
        <p:spPr>
          <a:xfrm rot="0" flipH="false" flipV="false">
            <a:off x="7366000" y="4572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1:55 - 2:10</a:t>
            </a:r>
            <a:endParaRPr lang="en-US" sz="1100"/>
          </a:p>
        </p:txBody>
      </p:sp>
      <p:sp>
        <p:nvSpPr>
          <p:cNvPr name="AutoShape 30" id="30"/>
          <p:cNvSpPr/>
          <p:nvPr/>
        </p:nvSpPr>
        <p:spPr>
          <a:xfrm rot="0" flipH="false" flipV="false">
            <a:off x="1016000" y="4953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2.5</a:t>
            </a:r>
            <a:endParaRPr lang="en-US" sz="1100"/>
          </a:p>
        </p:txBody>
      </p:sp>
      <p:sp>
        <p:nvSpPr>
          <p:cNvPr name="AutoShape 31" id="31"/>
          <p:cNvSpPr/>
          <p:nvPr/>
        </p:nvSpPr>
        <p:spPr>
          <a:xfrm rot="0" flipH="false" flipV="false">
            <a:off x="2921000" y="4953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成本优化实战</a:t>
            </a:r>
            <a:endParaRPr lang="en-US" sz="1100"/>
          </a:p>
        </p:txBody>
      </p:sp>
      <p:sp>
        <p:nvSpPr>
          <p:cNvPr name="AutoShape 32" id="32"/>
          <p:cNvSpPr/>
          <p:nvPr/>
        </p:nvSpPr>
        <p:spPr>
          <a:xfrm rot="0" flipH="false" flipV="false">
            <a:off x="7366000" y="4953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2:10 - 2:25</a:t>
            </a:r>
            <a:endParaRPr lang="en-US" sz="1100"/>
          </a:p>
        </p:txBody>
      </p:sp>
      <p:sp>
        <p:nvSpPr>
          <p:cNvPr name="AutoShape 33" id="33"/>
          <p:cNvSpPr/>
          <p:nvPr/>
        </p:nvSpPr>
        <p:spPr>
          <a:xfrm rot="0" flipH="false" flipV="false">
            <a:off x="1016000" y="53340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a:t>
            </a:r>
            <a:endParaRPr lang="en-US" sz="1100"/>
          </a:p>
        </p:txBody>
      </p:sp>
      <p:sp>
        <p:nvSpPr>
          <p:cNvPr name="AutoShape 34" id="34"/>
          <p:cNvSpPr/>
          <p:nvPr/>
        </p:nvSpPr>
        <p:spPr>
          <a:xfrm rot="0" flipH="false" flipV="false">
            <a:off x="2921000" y="5334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练习2 + 课程总结</a:t>
            </a:r>
            <a:endParaRPr lang="en-US" sz="1100"/>
          </a:p>
        </p:txBody>
      </p:sp>
      <p:sp>
        <p:nvSpPr>
          <p:cNvPr name="AutoShape 35" id="35"/>
          <p:cNvSpPr/>
          <p:nvPr/>
        </p:nvSpPr>
        <p:spPr>
          <a:xfrm rot="0" flipH="false" flipV="false">
            <a:off x="7366000" y="5334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AAAAAA"/>
                </a:solidFill>
                <a:latin typeface="Noto Sans SC"/>
                <a:ea typeface="Noto Sans SC"/>
                <a:cs typeface="Noto Sans SC"/>
                <a:sym typeface="Noto Sans SC"/>
              </a:rPr>
              <a:t>2:25 - 3:00</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同一问题，四个模型的表现</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测试任务：用 Python 实现一个 LRU 缓存</a:t>
            </a:r>
            <a:endParaRPr lang="en-US" sz="1100"/>
          </a:p>
        </p:txBody>
      </p:sp>
      <p:sp>
        <p:nvSpPr>
          <p:cNvPr name="AutoShape 5" id="5"/>
          <p:cNvSpPr/>
          <p:nvPr/>
        </p:nvSpPr>
        <p:spPr>
          <a:xfrm rot="0" flipH="false" flipV="false">
            <a:off x="762000" y="2286000"/>
            <a:ext cx="10668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4765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模型名称</a:t>
            </a:r>
            <a:endParaRPr lang="en-US" sz="1100"/>
          </a:p>
        </p:txBody>
      </p:sp>
      <p:sp>
        <p:nvSpPr>
          <p:cNvPr name="AutoShape 7" id="7"/>
          <p:cNvSpPr/>
          <p:nvPr/>
        </p:nvSpPr>
        <p:spPr>
          <a:xfrm rot="0" flipH="false" flipV="false">
            <a:off x="3556000" y="2476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响应时间</a:t>
            </a:r>
            <a:endParaRPr lang="en-US" sz="1100"/>
          </a:p>
        </p:txBody>
      </p:sp>
      <p:sp>
        <p:nvSpPr>
          <p:cNvPr name="AutoShape 8" id="8"/>
          <p:cNvSpPr/>
          <p:nvPr/>
        </p:nvSpPr>
        <p:spPr>
          <a:xfrm rot="0" flipH="false" flipV="false">
            <a:off x="5334000" y="2476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质量评价</a:t>
            </a:r>
            <a:endParaRPr lang="en-US" sz="1100"/>
          </a:p>
        </p:txBody>
      </p:sp>
      <p:sp>
        <p:nvSpPr>
          <p:cNvPr name="AutoShape 9" id="9"/>
          <p:cNvSpPr/>
          <p:nvPr/>
        </p:nvSpPr>
        <p:spPr>
          <a:xfrm rot="0" flipH="false" flipV="false">
            <a:off x="9144000" y="24765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00BFFF"/>
                </a:solidFill>
                <a:latin typeface="Noto Sans SC"/>
                <a:ea typeface="Noto Sans SC"/>
                <a:cs typeface="Noto Sans SC"/>
                <a:sym typeface="Noto Sans SC"/>
              </a:rPr>
              <a:t>单次成本</a:t>
            </a:r>
            <a:endParaRPr lang="en-US" sz="1100"/>
          </a:p>
        </p:txBody>
      </p:sp>
      <p:cxnSp>
        <p:nvCxnSpPr>
          <p:cNvPr name="Connector 10" id="10"/>
          <p:cNvCxnSpPr/>
          <p:nvPr/>
        </p:nvCxnSpPr>
        <p:spPr>
          <a:xfrm rot="-4297" flipH="false" flipV="false">
            <a:off x="1016004" y="2851150"/>
            <a:ext cx="1016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048000"/>
            <a:ext cx="254000" cy="254000"/>
          </a:xfrm>
          <a:prstGeom prst="rect">
            <a:avLst/>
          </a:prstGeom>
        </p:spPr>
      </p:pic>
      <p:sp>
        <p:nvSpPr>
          <p:cNvPr name="AutoShape 12" id="12"/>
          <p:cNvSpPr/>
          <p:nvPr/>
        </p:nvSpPr>
        <p:spPr>
          <a:xfrm rot="0" flipH="false" flipV="false">
            <a:off x="1333500" y="30226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GPT-4o-mini</a:t>
            </a:r>
            <a:endParaRPr lang="en-US" sz="1100"/>
          </a:p>
        </p:txBody>
      </p:sp>
      <p:sp>
        <p:nvSpPr>
          <p:cNvPr name="AutoShape 13" id="13"/>
          <p:cNvSpPr/>
          <p:nvPr/>
        </p:nvSpPr>
        <p:spPr>
          <a:xfrm rot="0" flipH="false" flipV="false">
            <a:off x="3556000" y="30226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0.8秒</a:t>
            </a:r>
            <a:endParaRPr lang="en-US" sz="1100"/>
          </a:p>
        </p:txBody>
      </p:sp>
      <p:sp>
        <p:nvSpPr>
          <p:cNvPr name="AutoShape 14" id="14"/>
          <p:cNvSpPr/>
          <p:nvPr/>
        </p:nvSpPr>
        <p:spPr>
          <a:xfrm rot="0" flipH="false" flipV="false">
            <a:off x="5334000" y="3022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代码正确，无注释</a:t>
            </a:r>
            <a:endParaRPr lang="en-US" sz="1100"/>
          </a:p>
        </p:txBody>
      </p:sp>
      <p:sp>
        <p:nvSpPr>
          <p:cNvPr name="AutoShape 15" id="15"/>
          <p:cNvSpPr/>
          <p:nvPr/>
        </p:nvSpPr>
        <p:spPr>
          <a:xfrm rot="0" flipH="false" flipV="false">
            <a:off x="9144000" y="30226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$0.0002</a:t>
            </a:r>
            <a:endParaRPr lang="en-US" sz="1100"/>
          </a:p>
        </p:txBody>
      </p:sp>
      <p:pic>
        <p:nvPicPr>
          <p:cNvPr name="Picture 16" id="1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492500"/>
            <a:ext cx="254000" cy="254000"/>
          </a:xfrm>
          <a:prstGeom prst="rect">
            <a:avLst/>
          </a:prstGeom>
        </p:spPr>
      </p:pic>
      <p:sp>
        <p:nvSpPr>
          <p:cNvPr name="AutoShape 17" id="17"/>
          <p:cNvSpPr/>
          <p:nvPr/>
        </p:nvSpPr>
        <p:spPr>
          <a:xfrm rot="0" flipH="false" flipV="false">
            <a:off x="1333500" y="34671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Claude Sonnet</a:t>
            </a:r>
            <a:endParaRPr lang="en-US" sz="1100"/>
          </a:p>
        </p:txBody>
      </p:sp>
      <p:sp>
        <p:nvSpPr>
          <p:cNvPr name="AutoShape 18" id="18"/>
          <p:cNvSpPr/>
          <p:nvPr/>
        </p:nvSpPr>
        <p:spPr>
          <a:xfrm rot="0" flipH="false" flipV="false">
            <a:off x="3556000" y="34671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2.5秒</a:t>
            </a:r>
            <a:endParaRPr lang="en-US" sz="1100"/>
          </a:p>
        </p:txBody>
      </p:sp>
      <p:sp>
        <p:nvSpPr>
          <p:cNvPr name="AutoShape 19" id="19"/>
          <p:cNvSpPr/>
          <p:nvPr/>
        </p:nvSpPr>
        <p:spPr>
          <a:xfrm rot="0" flipH="false" flipV="false">
            <a:off x="5334000" y="34671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高质量，类型标注完整</a:t>
            </a:r>
            <a:endParaRPr lang="en-US" sz="1100"/>
          </a:p>
        </p:txBody>
      </p:sp>
      <p:sp>
        <p:nvSpPr>
          <p:cNvPr name="AutoShape 20" id="20"/>
          <p:cNvSpPr/>
          <p:nvPr/>
        </p:nvSpPr>
        <p:spPr>
          <a:xfrm rot="0" flipH="false" flipV="false">
            <a:off x="9144000" y="34671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$0.015</a:t>
            </a:r>
            <a:endParaRPr lang="en-US" sz="1100"/>
          </a:p>
        </p:txBody>
      </p:sp>
      <p:pic>
        <p:nvPicPr>
          <p:cNvPr name="Picture 21" id="2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3937000"/>
            <a:ext cx="254000" cy="254000"/>
          </a:xfrm>
          <a:prstGeom prst="rect">
            <a:avLst/>
          </a:prstGeom>
        </p:spPr>
      </p:pic>
      <p:sp>
        <p:nvSpPr>
          <p:cNvPr name="AutoShape 22" id="22"/>
          <p:cNvSpPr/>
          <p:nvPr/>
        </p:nvSpPr>
        <p:spPr>
          <a:xfrm rot="0" flipH="false" flipV="false">
            <a:off x="1333500" y="39116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Kimi K2.5</a:t>
            </a:r>
            <a:endParaRPr lang="en-US" sz="1100"/>
          </a:p>
        </p:txBody>
      </p:sp>
      <p:sp>
        <p:nvSpPr>
          <p:cNvPr name="AutoShape 23" id="23"/>
          <p:cNvSpPr/>
          <p:nvPr/>
        </p:nvSpPr>
        <p:spPr>
          <a:xfrm rot="0" flipH="false" flipV="false">
            <a:off x="3556000" y="39116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3.0秒</a:t>
            </a:r>
            <a:endParaRPr lang="en-US" sz="1100"/>
          </a:p>
        </p:txBody>
      </p:sp>
      <p:sp>
        <p:nvSpPr>
          <p:cNvPr name="AutoShape 24" id="24"/>
          <p:cNvSpPr/>
          <p:nvPr/>
        </p:nvSpPr>
        <p:spPr>
          <a:xfrm rot="0" flipH="false" flipV="false">
            <a:off x="5334000" y="3911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不错，中文注释好</a:t>
            </a:r>
            <a:endParaRPr lang="en-US" sz="1100"/>
          </a:p>
        </p:txBody>
      </p:sp>
      <p:sp>
        <p:nvSpPr>
          <p:cNvPr name="AutoShape 25" id="25"/>
          <p:cNvSpPr/>
          <p:nvPr/>
        </p:nvSpPr>
        <p:spPr>
          <a:xfrm rot="0" flipH="false" flipV="false">
            <a:off x="9144000" y="39116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$0.010</a:t>
            </a:r>
            <a:endParaRPr lang="en-US" sz="1100"/>
          </a:p>
        </p:txBody>
      </p:sp>
      <p:pic>
        <p:nvPicPr>
          <p:cNvPr name="Picture 26" id="2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4381500"/>
            <a:ext cx="254000" cy="254000"/>
          </a:xfrm>
          <a:prstGeom prst="rect">
            <a:avLst/>
          </a:prstGeom>
        </p:spPr>
      </p:pic>
      <p:sp>
        <p:nvSpPr>
          <p:cNvPr name="AutoShape 27" id="27"/>
          <p:cNvSpPr/>
          <p:nvPr/>
        </p:nvSpPr>
        <p:spPr>
          <a:xfrm rot="0" flipH="false" flipV="false">
            <a:off x="1333500" y="43561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Gemini Pro</a:t>
            </a:r>
            <a:endParaRPr lang="en-US" sz="1100"/>
          </a:p>
        </p:txBody>
      </p:sp>
      <p:sp>
        <p:nvSpPr>
          <p:cNvPr name="AutoShape 28" id="28"/>
          <p:cNvSpPr/>
          <p:nvPr/>
        </p:nvSpPr>
        <p:spPr>
          <a:xfrm rot="0" flipH="false" flipV="false">
            <a:off x="3556000" y="43561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4.0秒</a:t>
            </a:r>
            <a:endParaRPr lang="en-US" sz="1100"/>
          </a:p>
        </p:txBody>
      </p:sp>
      <p:sp>
        <p:nvSpPr>
          <p:cNvPr name="AutoShape 29" id="29"/>
          <p:cNvSpPr/>
          <p:nvPr/>
        </p:nvSpPr>
        <p:spPr>
          <a:xfrm rot="0" flipH="false" flipV="false">
            <a:off x="5334000" y="43561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全面，含场景分析</a:t>
            </a:r>
            <a:endParaRPr lang="en-US" sz="1100"/>
          </a:p>
        </p:txBody>
      </p:sp>
      <p:sp>
        <p:nvSpPr>
          <p:cNvPr name="AutoShape 30" id="30"/>
          <p:cNvSpPr/>
          <p:nvPr/>
        </p:nvSpPr>
        <p:spPr>
          <a:xfrm rot="0" flipH="false" flipV="false">
            <a:off x="9144000" y="4356100"/>
            <a:ext cx="152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$0.020</a:t>
            </a:r>
            <a:endParaRPr lang="en-US" sz="1100"/>
          </a:p>
        </p:txBody>
      </p:sp>
      <p:sp>
        <p:nvSpPr>
          <p:cNvPr name="AutoShape 31" id="31"/>
          <p:cNvSpPr/>
          <p:nvPr/>
        </p:nvSpPr>
        <p:spPr>
          <a:xfrm rot="0" flipH="false" flipV="false">
            <a:off x="762000" y="5588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5816600"/>
            <a:ext cx="304800" cy="304800"/>
          </a:xfrm>
          <a:prstGeom prst="rect">
            <a:avLst/>
          </a:prstGeom>
        </p:spPr>
      </p:pic>
      <p:sp>
        <p:nvSpPr>
          <p:cNvPr name="AutoShape 33" id="33"/>
          <p:cNvSpPr/>
          <p:nvPr/>
        </p:nvSpPr>
        <p:spPr>
          <a:xfrm rot="0" flipH="false" flipV="false">
            <a:off x="1397000" y="57150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核心观点：没有“最好的模型”，只有“最适合当前任务的模型”</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你会选哪个模型处理所有请求？</a:t>
            </a:r>
            <a:endParaRPr lang="en-US" sz="1100"/>
          </a:p>
        </p:txBody>
      </p:sp>
      <p:sp>
        <p:nvSpPr>
          <p:cNvPr name="AutoShape 4" id="4"/>
          <p:cNvSpPr/>
          <p:nvPr/>
        </p:nvSpPr>
        <p:spPr>
          <a:xfrm rot="0" flipH="false" flipV="false">
            <a:off x="762000" y="1778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如果你是架构师，你会选哪个模型作为唯一模型？</a:t>
            </a:r>
            <a:endParaRPr lang="en-US" sz="1100"/>
          </a:p>
        </p:txBody>
      </p:sp>
      <p:sp>
        <p:nvSpPr>
          <p:cNvPr name="AutoShape 5" id="5"/>
          <p:cNvSpPr/>
          <p:nvPr/>
        </p:nvSpPr>
        <p:spPr>
          <a:xfrm rot="0" flipH="false" flipV="false">
            <a:off x="762000" y="2413000"/>
            <a:ext cx="5143500" cy="2794000"/>
          </a:xfrm>
          <a:prstGeom prst="roundRect">
            <a:avLst>
              <a:gd name="adj" fmla="val 4545"/>
            </a:avLst>
          </a:prstGeom>
          <a:solidFill>
            <a:srgbClr val="FFFFFF">
              <a:alpha val="5000"/>
            </a:srgbClr>
          </a:solidFill>
          <a:ln w="12700" cmpd="sng" cap="flat">
            <a:solidFill>
              <a:srgbClr val="FF0000">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667000"/>
            <a:ext cx="304800" cy="304800"/>
          </a:xfrm>
          <a:prstGeom prst="rect">
            <a:avLst/>
          </a:prstGeom>
        </p:spPr>
      </p:pic>
      <p:sp>
        <p:nvSpPr>
          <p:cNvPr name="AutoShape 7" id="7"/>
          <p:cNvSpPr/>
          <p:nvPr/>
        </p:nvSpPr>
        <p:spPr>
          <a:xfrm rot="0" flipH="false" flipV="false">
            <a:off x="1397000" y="2641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方案一：全用 Claude (昂贵)</a:t>
            </a:r>
            <a:endParaRPr lang="en-US" sz="1100"/>
          </a:p>
        </p:txBody>
      </p:sp>
      <p:cxnSp>
        <p:nvCxnSpPr>
          <p:cNvPr name="Connector 8" id="8"/>
          <p:cNvCxnSpPr/>
          <p:nvPr/>
        </p:nvCxnSpPr>
        <p:spPr>
          <a:xfrm rot="-9418" flipH="false" flipV="false">
            <a:off x="1016009" y="3105150"/>
            <a:ext cx="46355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302000"/>
            <a:ext cx="254000" cy="254000"/>
          </a:xfrm>
          <a:prstGeom prst="rect">
            <a:avLst/>
          </a:prstGeom>
        </p:spPr>
      </p:pic>
      <p:sp>
        <p:nvSpPr>
          <p:cNvPr name="AutoShape 10" id="10"/>
          <p:cNvSpPr/>
          <p:nvPr/>
        </p:nvSpPr>
        <p:spPr>
          <a:xfrm rot="0" flipH="false" flipV="false">
            <a:off x="1397000" y="32766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场景：简单问候 "你好"</a:t>
            </a:r>
            <a:r>
              <a:rPr lang="en-US" b="false" i="false" strike="noStrike" u="none" sz="1400">
                <a:solidFill>
                  <a:srgbClr val="FFFFFF">
                    <a:alpha val="70196"/>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代价：花费 $0.015，等待 2.5秒</a:t>
            </a:r>
          </a:p>
        </p:txBody>
      </p:sp>
      <p:sp>
        <p:nvSpPr>
          <p:cNvPr name="AutoShape 11" id="11"/>
          <p:cNvSpPr/>
          <p:nvPr/>
        </p:nvSpPr>
        <p:spPr>
          <a:xfrm rot="0" flipH="false" flipV="false">
            <a:off x="1016000" y="4191000"/>
            <a:ext cx="4635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0000"/>
                </a:solidFill>
                <a:latin typeface="Noto Sans SC"/>
                <a:ea typeface="Noto Sans SC"/>
                <a:cs typeface="Noto Sans SC"/>
                <a:sym typeface="Noto Sans SC"/>
              </a:rPr>
              <a:t>结论：资源浪费，成本过高</a:t>
            </a:r>
            <a:endParaRPr lang="en-US" sz="1100"/>
          </a:p>
        </p:txBody>
      </p:sp>
      <p:sp>
        <p:nvSpPr>
          <p:cNvPr name="AutoShape 12" id="12"/>
          <p:cNvSpPr/>
          <p:nvPr/>
        </p:nvSpPr>
        <p:spPr>
          <a:xfrm rot="0" flipH="false" flipV="false">
            <a:off x="6286500" y="2413000"/>
            <a:ext cx="5143500" cy="2794000"/>
          </a:xfrm>
          <a:prstGeom prst="roundRect">
            <a:avLst>
              <a:gd name="adj" fmla="val 4545"/>
            </a:avLst>
          </a:prstGeom>
          <a:solidFill>
            <a:srgbClr val="FFFFFF">
              <a:alpha val="5000"/>
            </a:srgbClr>
          </a:solidFill>
          <a:ln w="12700" cmpd="sng" cap="flat">
            <a:solidFill>
              <a:srgbClr val="FF0000">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2667000"/>
            <a:ext cx="304800" cy="304800"/>
          </a:xfrm>
          <a:prstGeom prst="rect">
            <a:avLst/>
          </a:prstGeom>
        </p:spPr>
      </p:pic>
      <p:sp>
        <p:nvSpPr>
          <p:cNvPr name="AutoShape 14" id="14"/>
          <p:cNvSpPr/>
          <p:nvPr/>
        </p:nvSpPr>
        <p:spPr>
          <a:xfrm rot="0" flipH="false" flipV="false">
            <a:off x="6921500" y="2641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方案二：全用 Mini (廉价)</a:t>
            </a:r>
            <a:endParaRPr lang="en-US" sz="1100"/>
          </a:p>
        </p:txBody>
      </p:sp>
      <p:cxnSp>
        <p:nvCxnSpPr>
          <p:cNvPr name="Connector 15" id="15"/>
          <p:cNvCxnSpPr/>
          <p:nvPr/>
        </p:nvCxnSpPr>
        <p:spPr>
          <a:xfrm rot="-9418" flipH="false" flipV="false">
            <a:off x="6540509" y="3105150"/>
            <a:ext cx="46355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40500" y="3302000"/>
            <a:ext cx="254000" cy="254000"/>
          </a:xfrm>
          <a:prstGeom prst="rect">
            <a:avLst/>
          </a:prstGeom>
        </p:spPr>
      </p:pic>
      <p:sp>
        <p:nvSpPr>
          <p:cNvPr name="AutoShape 17" id="17"/>
          <p:cNvSpPr/>
          <p:nvPr/>
        </p:nvSpPr>
        <p:spPr>
          <a:xfrm rot="0" flipH="false" flipV="false">
            <a:off x="6921500" y="3276600"/>
            <a:ext cx="431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场景：复杂架构设计任务</a:t>
            </a:r>
            <a:r>
              <a:rPr lang="en-US" b="false" i="false" strike="noStrike" u="none" sz="1400">
                <a:solidFill>
                  <a:srgbClr val="FFFFFF">
                    <a:alpha val="70196"/>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代价：模型能力不足，输出质量差</a:t>
            </a:r>
          </a:p>
        </p:txBody>
      </p:sp>
      <p:sp>
        <p:nvSpPr>
          <p:cNvPr name="AutoShape 18" id="18"/>
          <p:cNvSpPr/>
          <p:nvPr/>
        </p:nvSpPr>
        <p:spPr>
          <a:xfrm rot="0" flipH="false" flipV="false">
            <a:off x="6540500" y="4191000"/>
            <a:ext cx="4635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FF0000"/>
                </a:solidFill>
                <a:latin typeface="Noto Sans SC"/>
                <a:ea typeface="Noto Sans SC"/>
                <a:cs typeface="Noto Sans SC"/>
                <a:sym typeface="Noto Sans SC"/>
              </a:rPr>
              <a:t>结论：能力不足，无法满足需求</a:t>
            </a:r>
            <a:endParaRPr lang="en-US" sz="1100"/>
          </a:p>
        </p:txBody>
      </p:sp>
      <p:sp>
        <p:nvSpPr>
          <p:cNvPr name="AutoShape 19" id="19"/>
          <p:cNvSpPr/>
          <p:nvPr/>
        </p:nvSpPr>
        <p:spPr>
          <a:xfrm rot="0" flipH="false" flipV="false">
            <a:off x="762000" y="5461000"/>
            <a:ext cx="10668000" cy="762000"/>
          </a:xfrm>
          <a:prstGeom prst="roundRect">
            <a:avLst>
              <a:gd name="adj" fmla="val 16666"/>
            </a:avLst>
          </a:prstGeom>
          <a:solidFill>
            <a:srgbClr val="00BFFF">
              <a:alpha val="15000"/>
            </a:srgbClr>
          </a:solidFill>
          <a:ln w="127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689600"/>
            <a:ext cx="304800" cy="304800"/>
          </a:xfrm>
          <a:prstGeom prst="rect">
            <a:avLst/>
          </a:prstGeom>
        </p:spPr>
      </p:pic>
      <p:sp>
        <p:nvSpPr>
          <p:cNvPr name="AutoShape 21" id="21"/>
          <p:cNvSpPr/>
          <p:nvPr/>
        </p:nvSpPr>
        <p:spPr>
          <a:xfrm rot="0" flipH="false" flipV="false">
            <a:off x="1397000" y="5651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正确答案：你不应该只选一个模型，单一模型无法兼顾成本与性能。</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LLM能力矩阵</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10668000" cy="635000"/>
          </a:xfrm>
          <a:prstGeom prst="roundRect">
            <a:avLst>
              <a:gd name="adj" fmla="val 20000"/>
            </a:avLst>
          </a:prstGeom>
          <a:solidFill>
            <a:srgbClr val="00BFFF">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22500"/>
            <a:ext cx="254000" cy="254000"/>
          </a:xfrm>
          <a:prstGeom prst="rect">
            <a:avLst/>
          </a:prstGeom>
        </p:spPr>
      </p:pic>
      <p:sp>
        <p:nvSpPr>
          <p:cNvPr name="AutoShape 7" id="7"/>
          <p:cNvSpPr/>
          <p:nvPr/>
        </p:nvSpPr>
        <p:spPr>
          <a:xfrm rot="0" flipH="false" flipV="false">
            <a:off x="1333500" y="21844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核心维度</a:t>
            </a:r>
            <a:endParaRPr lang="en-US" sz="1100"/>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048000" y="2222500"/>
            <a:ext cx="254000" cy="254000"/>
          </a:xfrm>
          <a:prstGeom prst="rect">
            <a:avLst/>
          </a:prstGeom>
        </p:spPr>
      </p:pic>
      <p:sp>
        <p:nvSpPr>
          <p:cNvPr name="AutoShape 9" id="9"/>
          <p:cNvSpPr/>
          <p:nvPr/>
        </p:nvSpPr>
        <p:spPr>
          <a:xfrm rot="0" flipH="false" flipV="false">
            <a:off x="3365500" y="2184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Kimi K2.5</a:t>
            </a:r>
            <a:endParaRPr lang="en-US" sz="1100"/>
          </a:p>
        </p:txBody>
      </p:sp>
      <p:pic>
        <p:nvPicPr>
          <p:cNvPr name="Picture 10" id="1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207000" y="2222500"/>
            <a:ext cx="254000" cy="254000"/>
          </a:xfrm>
          <a:prstGeom prst="rect">
            <a:avLst/>
          </a:prstGeom>
        </p:spPr>
      </p:pic>
      <p:sp>
        <p:nvSpPr>
          <p:cNvPr name="AutoShape 11" id="11"/>
          <p:cNvSpPr/>
          <p:nvPr/>
        </p:nvSpPr>
        <p:spPr>
          <a:xfrm rot="0" flipH="false" flipV="false">
            <a:off x="5524500" y="2184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GPT-4o-mini</a:t>
            </a:r>
            <a:endParaRPr lang="en-US" sz="1100"/>
          </a:p>
        </p:txBody>
      </p:sp>
      <p:pic>
        <p:nvPicPr>
          <p:cNvPr name="Picture 12" id="1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366000" y="2222500"/>
            <a:ext cx="254000" cy="254000"/>
          </a:xfrm>
          <a:prstGeom prst="rect">
            <a:avLst/>
          </a:prstGeom>
        </p:spPr>
      </p:pic>
      <p:sp>
        <p:nvSpPr>
          <p:cNvPr name="AutoShape 13" id="13"/>
          <p:cNvSpPr/>
          <p:nvPr/>
        </p:nvSpPr>
        <p:spPr>
          <a:xfrm rot="0" flipH="false" flipV="false">
            <a:off x="7683500" y="2184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Claude Sonnet</a:t>
            </a:r>
            <a:endParaRPr lang="en-US" sz="1100"/>
          </a:p>
        </p:txBody>
      </p:sp>
      <p:pic>
        <p:nvPicPr>
          <p:cNvPr name="Picture 14" id="1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525000" y="2222500"/>
            <a:ext cx="254000" cy="254000"/>
          </a:xfrm>
          <a:prstGeom prst="rect">
            <a:avLst/>
          </a:prstGeom>
        </p:spPr>
      </p:pic>
      <p:sp>
        <p:nvSpPr>
          <p:cNvPr name="AutoShape 15" id="15"/>
          <p:cNvSpPr/>
          <p:nvPr/>
        </p:nvSpPr>
        <p:spPr>
          <a:xfrm rot="0" flipH="false" flipV="false">
            <a:off x="9842500" y="21844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0BFFF"/>
                </a:solidFill>
                <a:latin typeface="Noto Sans SC"/>
                <a:ea typeface="Noto Sans SC"/>
                <a:cs typeface="Noto Sans SC"/>
                <a:sym typeface="Noto Sans SC"/>
              </a:rPr>
              <a:t>Gemini Pro</a:t>
            </a:r>
            <a:endParaRPr lang="en-US" sz="1100"/>
          </a:p>
        </p:txBody>
      </p:sp>
      <p:cxnSp>
        <p:nvCxnSpPr>
          <p:cNvPr name="Connector 16" id="16"/>
          <p:cNvCxnSpPr/>
          <p:nvPr/>
        </p:nvCxnSpPr>
        <p:spPr>
          <a:xfrm rot="-4092" flipH="false" flipV="false">
            <a:off x="762004" y="2660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17" id="17"/>
          <p:cNvSpPr/>
          <p:nvPr/>
        </p:nvSpPr>
        <p:spPr>
          <a:xfrm rot="0" flipH="false" flipV="false">
            <a:off x="1016000" y="285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定位</a:t>
            </a:r>
            <a:endParaRPr lang="en-US" sz="1100"/>
          </a:p>
        </p:txBody>
      </p:sp>
      <p:sp>
        <p:nvSpPr>
          <p:cNvPr name="AutoShape 18" id="18"/>
          <p:cNvSpPr/>
          <p:nvPr/>
        </p:nvSpPr>
        <p:spPr>
          <a:xfrm rot="0" flipH="false" flipV="false">
            <a:off x="3048000" y="285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全能主力</a:t>
            </a:r>
            <a:endParaRPr lang="en-US" sz="1100"/>
          </a:p>
        </p:txBody>
      </p:sp>
      <p:sp>
        <p:nvSpPr>
          <p:cNvPr name="AutoShape 19" id="19"/>
          <p:cNvSpPr/>
          <p:nvPr/>
        </p:nvSpPr>
        <p:spPr>
          <a:xfrm rot="0" flipH="false" flipV="false">
            <a:off x="5207000" y="285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飞毛腿</a:t>
            </a:r>
            <a:endParaRPr lang="en-US" sz="1100"/>
          </a:p>
        </p:txBody>
      </p:sp>
      <p:sp>
        <p:nvSpPr>
          <p:cNvPr name="AutoShape 20" id="20"/>
          <p:cNvSpPr/>
          <p:nvPr/>
        </p:nvSpPr>
        <p:spPr>
          <a:xfrm rot="0" flipH="false" flipV="false">
            <a:off x="7366000" y="285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代码大师</a:t>
            </a:r>
            <a:endParaRPr lang="en-US" sz="1100"/>
          </a:p>
        </p:txBody>
      </p:sp>
      <p:sp>
        <p:nvSpPr>
          <p:cNvPr name="AutoShape 21" id="21"/>
          <p:cNvSpPr/>
          <p:nvPr/>
        </p:nvSpPr>
        <p:spPr>
          <a:xfrm rot="0" flipH="false" flipV="false">
            <a:off x="9525000" y="285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图书馆员</a:t>
            </a:r>
            <a:endParaRPr lang="en-US" sz="1100"/>
          </a:p>
        </p:txBody>
      </p:sp>
      <p:cxnSp>
        <p:nvCxnSpPr>
          <p:cNvPr name="Connector 22" id="22"/>
          <p:cNvCxnSpPr/>
          <p:nvPr/>
        </p:nvCxnSpPr>
        <p:spPr>
          <a:xfrm rot="-4092" flipH="false" flipV="false">
            <a:off x="762004" y="3295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3" id="23"/>
          <p:cNvSpPr/>
          <p:nvPr/>
        </p:nvSpPr>
        <p:spPr>
          <a:xfrm rot="0" flipH="false" flipV="false">
            <a:off x="1016000" y="349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上下文窗口</a:t>
            </a:r>
            <a:endParaRPr lang="en-US" sz="1100"/>
          </a:p>
        </p:txBody>
      </p:sp>
      <p:sp>
        <p:nvSpPr>
          <p:cNvPr name="AutoShape 24" id="24"/>
          <p:cNvSpPr/>
          <p:nvPr/>
        </p:nvSpPr>
        <p:spPr>
          <a:xfrm rot="0" flipH="false" flipV="false">
            <a:off x="3048000" y="349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128K</a:t>
            </a:r>
            <a:endParaRPr lang="en-US" sz="1100"/>
          </a:p>
        </p:txBody>
      </p:sp>
      <p:sp>
        <p:nvSpPr>
          <p:cNvPr name="AutoShape 25" id="25"/>
          <p:cNvSpPr/>
          <p:nvPr/>
        </p:nvSpPr>
        <p:spPr>
          <a:xfrm rot="0" flipH="false" flipV="false">
            <a:off x="5207000" y="349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128K</a:t>
            </a:r>
            <a:endParaRPr lang="en-US" sz="1100"/>
          </a:p>
        </p:txBody>
      </p:sp>
      <p:sp>
        <p:nvSpPr>
          <p:cNvPr name="AutoShape 26" id="26"/>
          <p:cNvSpPr/>
          <p:nvPr/>
        </p:nvSpPr>
        <p:spPr>
          <a:xfrm rot="0" flipH="false" flipV="false">
            <a:off x="7366000" y="349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200K</a:t>
            </a:r>
            <a:endParaRPr lang="en-US" sz="1100"/>
          </a:p>
        </p:txBody>
      </p:sp>
      <p:sp>
        <p:nvSpPr>
          <p:cNvPr name="AutoShape 27" id="27"/>
          <p:cNvSpPr/>
          <p:nvPr/>
        </p:nvSpPr>
        <p:spPr>
          <a:xfrm rot="0" flipH="false" flipV="false">
            <a:off x="9525000" y="349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2M</a:t>
            </a:r>
            <a:endParaRPr lang="en-US" sz="1100"/>
          </a:p>
        </p:txBody>
      </p:sp>
      <p:cxnSp>
        <p:nvCxnSpPr>
          <p:cNvPr name="Connector 28" id="28"/>
          <p:cNvCxnSpPr/>
          <p:nvPr/>
        </p:nvCxnSpPr>
        <p:spPr>
          <a:xfrm rot="-4092" flipH="false" flipV="false">
            <a:off x="762004" y="3930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29" id="29"/>
          <p:cNvSpPr/>
          <p:nvPr/>
        </p:nvSpPr>
        <p:spPr>
          <a:xfrm rot="0" flipH="false" flipV="false">
            <a:off x="1016000" y="412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核心强项</a:t>
            </a:r>
            <a:endParaRPr lang="en-US" sz="1100"/>
          </a:p>
        </p:txBody>
      </p:sp>
      <p:sp>
        <p:nvSpPr>
          <p:cNvPr name="AutoShape 30" id="30"/>
          <p:cNvSpPr/>
          <p:nvPr/>
        </p:nvSpPr>
        <p:spPr>
          <a:xfrm rot="0" flipH="false" flipV="false">
            <a:off x="3048000" y="412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推理/中文</a:t>
            </a:r>
            <a:endParaRPr lang="en-US" sz="1100"/>
          </a:p>
        </p:txBody>
      </p:sp>
      <p:sp>
        <p:nvSpPr>
          <p:cNvPr name="AutoShape 31" id="31"/>
          <p:cNvSpPr/>
          <p:nvPr/>
        </p:nvSpPr>
        <p:spPr>
          <a:xfrm rot="0" flipH="false" flipV="false">
            <a:off x="5207000" y="412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速度/低价</a:t>
            </a:r>
            <a:endParaRPr lang="en-US" sz="1100"/>
          </a:p>
        </p:txBody>
      </p:sp>
      <p:sp>
        <p:nvSpPr>
          <p:cNvPr name="AutoShape 32" id="32"/>
          <p:cNvSpPr/>
          <p:nvPr/>
        </p:nvSpPr>
        <p:spPr>
          <a:xfrm rot="0" flipH="false" flipV="false">
            <a:off x="7366000" y="412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代码/调试</a:t>
            </a:r>
            <a:endParaRPr lang="en-US" sz="1100"/>
          </a:p>
        </p:txBody>
      </p:sp>
      <p:sp>
        <p:nvSpPr>
          <p:cNvPr name="AutoShape 33" id="33"/>
          <p:cNvSpPr/>
          <p:nvPr/>
        </p:nvSpPr>
        <p:spPr>
          <a:xfrm rot="0" flipH="false" flipV="false">
            <a:off x="9525000" y="4127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长文档处理</a:t>
            </a:r>
            <a:endParaRPr lang="en-US" sz="1100"/>
          </a:p>
        </p:txBody>
      </p:sp>
      <p:cxnSp>
        <p:nvCxnSpPr>
          <p:cNvPr name="Connector 34" id="34"/>
          <p:cNvCxnSpPr/>
          <p:nvPr/>
        </p:nvCxnSpPr>
        <p:spPr>
          <a:xfrm rot="-4092" flipH="false" flipV="false">
            <a:off x="762004" y="4565650"/>
            <a:ext cx="10668000" cy="12700"/>
          </a:xfrm>
          <a:prstGeom prst="straightConnector1">
            <a:avLst/>
          </a:prstGeom>
          <a:solidFill>
            <a:srgbClr val="DEE0E3">
              <a:alpha val="100000"/>
            </a:srgbClr>
          </a:solidFill>
          <a:ln w="12700" cmpd="sng" cap="flat">
            <a:solidFill>
              <a:srgbClr val="FFFFFF">
                <a:alpha val="10000"/>
              </a:srgbClr>
            </a:solidFill>
            <a:prstDash val="solid"/>
            <a:round/>
            <a:headEnd type="none" w="med" len="med"/>
            <a:tailEnd type="none" w="med" len="med"/>
          </a:ln>
        </p:spPr>
      </p:cxnSp>
      <p:sp>
        <p:nvSpPr>
          <p:cNvPr name="AutoShape 35" id="35"/>
          <p:cNvSpPr/>
          <p:nvPr/>
        </p:nvSpPr>
        <p:spPr>
          <a:xfrm rot="0" flipH="false" flipV="false">
            <a:off x="1016000" y="476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响应延迟</a:t>
            </a:r>
            <a:endParaRPr lang="en-US" sz="1100"/>
          </a:p>
        </p:txBody>
      </p:sp>
      <p:sp>
        <p:nvSpPr>
          <p:cNvPr name="AutoShape 36" id="36"/>
          <p:cNvSpPr/>
          <p:nvPr/>
        </p:nvSpPr>
        <p:spPr>
          <a:xfrm rot="0" flipH="false" flipV="false">
            <a:off x="3048000" y="476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2-4秒</a:t>
            </a:r>
            <a:endParaRPr lang="en-US" sz="1100"/>
          </a:p>
        </p:txBody>
      </p:sp>
      <p:sp>
        <p:nvSpPr>
          <p:cNvPr name="AutoShape 37" id="37"/>
          <p:cNvSpPr/>
          <p:nvPr/>
        </p:nvSpPr>
        <p:spPr>
          <a:xfrm rot="0" flipH="false" flipV="false">
            <a:off x="5207000" y="476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0.5-1秒</a:t>
            </a:r>
            <a:endParaRPr lang="en-US" sz="1100"/>
          </a:p>
        </p:txBody>
      </p:sp>
      <p:sp>
        <p:nvSpPr>
          <p:cNvPr name="AutoShape 38" id="38"/>
          <p:cNvSpPr/>
          <p:nvPr/>
        </p:nvSpPr>
        <p:spPr>
          <a:xfrm rot="0" flipH="false" flipV="false">
            <a:off x="7366000" y="476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2-3秒</a:t>
            </a:r>
            <a:endParaRPr lang="en-US" sz="1100"/>
          </a:p>
        </p:txBody>
      </p:sp>
      <p:sp>
        <p:nvSpPr>
          <p:cNvPr name="AutoShape 39" id="39"/>
          <p:cNvSpPr/>
          <p:nvPr/>
        </p:nvSpPr>
        <p:spPr>
          <a:xfrm rot="0" flipH="false" flipV="false">
            <a:off x="9525000" y="4762500"/>
            <a:ext cx="203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3-5秒</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成本计算公式</a:t>
            </a:r>
            <a:endParaRPr lang="en-US" sz="1100"/>
          </a:p>
        </p:txBody>
      </p:sp>
      <p:sp>
        <p:nvSpPr>
          <p:cNvPr name="AutoShape 4" id="4"/>
          <p:cNvSpPr/>
          <p:nvPr/>
        </p:nvSpPr>
        <p:spPr>
          <a:xfrm rot="0" flipH="false" flipV="false">
            <a:off x="762000" y="1778000"/>
            <a:ext cx="5080000" cy="4318000"/>
          </a:xfrm>
          <a:prstGeom prst="roundRect">
            <a:avLst>
              <a:gd name="adj" fmla="val 2941"/>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304800" cy="304800"/>
          </a:xfrm>
          <a:prstGeom prst="rect">
            <a:avLst/>
          </a:prstGeom>
        </p:spPr>
      </p:pic>
      <p:sp>
        <p:nvSpPr>
          <p:cNvPr name="AutoShape 6" id="6"/>
          <p:cNvSpPr/>
          <p:nvPr/>
        </p:nvSpPr>
        <p:spPr>
          <a:xfrm rot="0" flipH="false" flipV="false">
            <a:off x="1397000" y="2006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API 调用成本公式</a:t>
            </a:r>
            <a:endParaRPr lang="en-US" sz="1100"/>
          </a:p>
        </p:txBody>
      </p:sp>
      <p:cxnSp>
        <p:nvCxnSpPr>
          <p:cNvPr name="Connector 7" id="7"/>
          <p:cNvCxnSpPr/>
          <p:nvPr/>
        </p:nvCxnSpPr>
        <p:spPr>
          <a:xfrm rot="-9549" flipH="false" flipV="false">
            <a:off x="1016009" y="2406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540000"/>
            <a:ext cx="4572000" cy="304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BD5E1"/>
                </a:solidFill>
                <a:latin typeface="Noto Sans SC"/>
                <a:ea typeface="Noto Sans SC"/>
                <a:cs typeface="Noto Sans SC"/>
                <a:sym typeface="Noto Sans SC"/>
              </a:rPr>
              <a:t>单次调用总成本 =</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solidFill>
                <a:latin typeface="Noto Sans SC"/>
                <a:ea typeface="Noto Sans SC"/>
                <a:cs typeface="Noto Sans SC"/>
                <a:sym typeface="Noto Sans SC"/>
              </a:rPr>
              <a:t>输入费用：(Input Tokens / 1000) × Input Price</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solidFill>
                <a:latin typeface="Noto Sans SC"/>
                <a:ea typeface="Noto Sans SC"/>
                <a:cs typeface="Noto Sans SC"/>
                <a:sym typeface="Noto Sans SC"/>
              </a:rPr>
              <a:t>输出费用：(Output Tokens / 1000) × Output Price</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4A3B8"/>
                </a:solidFill>
                <a:latin typeface="Noto Sans SC"/>
                <a:ea typeface="Noto Sans SC"/>
                <a:cs typeface="Noto Sans SC"/>
                <a:sym typeface="Noto Sans SC"/>
              </a:rPr>
              <a:t> 注：价格单位通常为美元 ($)</a:t>
            </a:r>
          </a:p>
        </p:txBody>
      </p:sp>
      <p:sp>
        <p:nvSpPr>
          <p:cNvPr name="AutoShape 9" id="9"/>
          <p:cNvSpPr/>
          <p:nvPr/>
        </p:nvSpPr>
        <p:spPr>
          <a:xfrm rot="0" flipH="false" flipV="false">
            <a:off x="6096000" y="1778000"/>
            <a:ext cx="5080000" cy="4318000"/>
          </a:xfrm>
          <a:prstGeom prst="roundRect">
            <a:avLst>
              <a:gd name="adj" fmla="val 2941"/>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032000"/>
            <a:ext cx="304800" cy="304800"/>
          </a:xfrm>
          <a:prstGeom prst="rect">
            <a:avLst/>
          </a:prstGeom>
        </p:spPr>
      </p:pic>
      <p:sp>
        <p:nvSpPr>
          <p:cNvPr name="AutoShape 11" id="11"/>
          <p:cNvSpPr/>
          <p:nvPr/>
        </p:nvSpPr>
        <p:spPr>
          <a:xfrm rot="0" flipH="false" flipV="false">
            <a:off x="6731000" y="2006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模型成本对比 (1000输入 + 500输出)</a:t>
            </a:r>
            <a:endParaRPr lang="en-US" sz="1100"/>
          </a:p>
        </p:txBody>
      </p:sp>
      <p:cxnSp>
        <p:nvCxnSpPr>
          <p:cNvPr name="Connector 12" id="12"/>
          <p:cNvCxnSpPr/>
          <p:nvPr/>
        </p:nvCxnSpPr>
        <p:spPr>
          <a:xfrm rot="-9549" flipH="false" flipV="false">
            <a:off x="6350009" y="24066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2667000"/>
            <a:ext cx="254000" cy="254000"/>
          </a:xfrm>
          <a:prstGeom prst="rect">
            <a:avLst/>
          </a:prstGeom>
        </p:spPr>
      </p:pic>
      <p:sp>
        <p:nvSpPr>
          <p:cNvPr name="AutoShape 14" id="14"/>
          <p:cNvSpPr/>
          <p:nvPr/>
        </p:nvSpPr>
        <p:spPr>
          <a:xfrm rot="0" flipH="false" flipV="false">
            <a:off x="6731000" y="26416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GPT-4o (高性能)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94A3B8"/>
                </a:solidFill>
                <a:latin typeface="Noto Sans SC"/>
                <a:ea typeface="Noto Sans SC"/>
                <a:cs typeface="Noto Sans SC"/>
                <a:sym typeface="Noto Sans SC"/>
              </a:rPr>
              <a:t>$0.0025 + $0.005 =</a:t>
            </a:r>
            <a:r>
              <a:rPr lang="en-US" b="true" i="false" strike="noStrike" u="none" sz="1600">
                <a:solidFill>
                  <a:srgbClr val="FFFFFF"/>
                </a:solidFill>
                <a:latin typeface="Noto Sans SC"/>
                <a:ea typeface="Noto Sans SC"/>
                <a:cs typeface="Noto Sans SC"/>
                <a:sym typeface="Noto Sans SC"/>
              </a:rPr>
              <a:t>$0.0075</a:t>
            </a: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3365500"/>
            <a:ext cx="254000" cy="254000"/>
          </a:xfrm>
          <a:prstGeom prst="rect">
            <a:avLst/>
          </a:prstGeom>
        </p:spPr>
      </p:pic>
      <p:sp>
        <p:nvSpPr>
          <p:cNvPr name="AutoShape 16" id="16"/>
          <p:cNvSpPr/>
          <p:nvPr/>
        </p:nvSpPr>
        <p:spPr>
          <a:xfrm rot="0" flipH="false" flipV="false">
            <a:off x="6731000" y="33401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E2E8F0"/>
                </a:solidFill>
                <a:latin typeface="Noto Sans SC"/>
                <a:ea typeface="Noto Sans SC"/>
                <a:cs typeface="Noto Sans SC"/>
                <a:sym typeface="Noto Sans SC"/>
              </a:rPr>
              <a:t>GPT-4o-mini (性价比)</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94A3B8"/>
                </a:solidFill>
                <a:latin typeface="Noto Sans SC"/>
                <a:ea typeface="Noto Sans SC"/>
                <a:cs typeface="Noto Sans SC"/>
                <a:sym typeface="Noto Sans SC"/>
              </a:rPr>
              <a:t>$0.00015 + $0.0003 =</a:t>
            </a:r>
            <a:r>
              <a:rPr lang="en-US" b="true" i="false" strike="noStrike" u="none" sz="1600">
                <a:solidFill>
                  <a:srgbClr val="00BFFF"/>
                </a:solidFill>
                <a:latin typeface="Noto Sans SC"/>
                <a:ea typeface="Noto Sans SC"/>
                <a:cs typeface="Noto Sans SC"/>
                <a:sym typeface="Noto Sans SC"/>
              </a:rPr>
              <a:t>$0.00045</a:t>
            </a:r>
          </a:p>
        </p:txBody>
      </p:sp>
      <p:sp>
        <p:nvSpPr>
          <p:cNvPr name="AutoShape 17" id="17"/>
          <p:cNvSpPr/>
          <p:nvPr/>
        </p:nvSpPr>
        <p:spPr>
          <a:xfrm rot="0" flipH="false" flipV="false">
            <a:off x="6350000" y="4191000"/>
            <a:ext cx="4572000" cy="1016000"/>
          </a:xfrm>
          <a:prstGeom prst="roundRect">
            <a:avLst>
              <a:gd name="adj" fmla="val 12500"/>
            </a:avLst>
          </a:prstGeom>
          <a:solidFill>
            <a:srgbClr val="FFFF00">
              <a:alpha val="10000"/>
            </a:srgbClr>
          </a:solidFill>
          <a:ln w="12700" cmpd="sng" cap="flat">
            <a:solidFill>
              <a:srgbClr val="FFFF00">
                <a:alpha val="4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540500" y="4495800"/>
            <a:ext cx="406400" cy="406400"/>
          </a:xfrm>
          <a:prstGeom prst="rect">
            <a:avLst/>
          </a:prstGeom>
        </p:spPr>
      </p:pic>
      <p:sp>
        <p:nvSpPr>
          <p:cNvPr name="AutoShape 19" id="19"/>
          <p:cNvSpPr/>
          <p:nvPr/>
        </p:nvSpPr>
        <p:spPr>
          <a:xfrm rot="0" flipH="false" flipV="false">
            <a:off x="7048500" y="43180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solidFill>
                <a:latin typeface="Noto Sans SC"/>
                <a:ea typeface="Noto Sans SC"/>
                <a:cs typeface="Noto Sans SC"/>
                <a:sym typeface="Noto Sans SC"/>
              </a:rPr>
              <a:t>价格差距悬殊</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solidFill>
                <a:latin typeface="Noto Sans SC"/>
                <a:ea typeface="Noto Sans SC"/>
                <a:cs typeface="Noto Sans SC"/>
                <a:sym typeface="Noto Sans SC"/>
              </a:rPr>
              <a:t>GPT-4o 成本约为 mini 的</a:t>
            </a:r>
            <a:r>
              <a:rPr lang="en-US" b="true" i="false" strike="noStrike" u="none" sz="2400">
                <a:solidFill>
                  <a:srgbClr val="FFFF00"/>
                </a:solidFill>
                <a:latin typeface="Noto Sans SC"/>
                <a:ea typeface="Noto Sans SC"/>
                <a:cs typeface="Noto Sans SC"/>
                <a:sym typeface="Noto Sans SC"/>
              </a:rPr>
              <a:t>17 倍</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算一笔账：智能路由的成本奇迹</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609600" cy="609600"/>
          </a:xfrm>
          <a:prstGeom prst="rect">
            <a:avLst/>
          </a:prstGeom>
        </p:spPr>
      </p:pic>
      <p:sp>
        <p:nvSpPr>
          <p:cNvPr name="AutoShape 6" id="6"/>
          <p:cNvSpPr/>
          <p:nvPr/>
        </p:nvSpPr>
        <p:spPr>
          <a:xfrm rot="0" flipH="false" flipV="false">
            <a:off x="1016000" y="2984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场景设定</a:t>
            </a:r>
            <a:endParaRPr lang="en-US" sz="1100"/>
          </a:p>
        </p:txBody>
      </p:sp>
      <p:cxnSp>
        <p:nvCxnSpPr>
          <p:cNvPr name="Connector 7" id="7"/>
          <p:cNvCxnSpPr/>
          <p:nvPr/>
        </p:nvCxnSpPr>
        <p:spPr>
          <a:xfrm rot="-17188" flipH="false" flipV="false">
            <a:off x="1016016" y="3422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3556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 每日请求量：1000次</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简单问答占比：80%</a:t>
            </a:r>
            <a:r>
              <a:rPr lang="en-US" b="false" i="false" strike="noStrike" u="none" sz="1400">
                <a:solidFill>
                  <a:srgbClr val="FFFFFF">
                    <a:alpha val="80000"/>
                  </a:srgbClr>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场景：高频、低复杂度交互</a:t>
            </a:r>
          </a:p>
        </p:txBody>
      </p:sp>
      <p:sp>
        <p:nvSpPr>
          <p:cNvPr name="AutoShape 9" id="9"/>
          <p:cNvSpPr/>
          <p:nvPr/>
        </p:nvSpPr>
        <p:spPr>
          <a:xfrm rot="0" flipH="false" flipV="false">
            <a:off x="4445000" y="2032000"/>
            <a:ext cx="3302000" cy="3556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286000"/>
            <a:ext cx="609600" cy="609600"/>
          </a:xfrm>
          <a:prstGeom prst="rect">
            <a:avLst/>
          </a:prstGeom>
        </p:spPr>
      </p:pic>
      <p:sp>
        <p:nvSpPr>
          <p:cNvPr name="AutoShape 11" id="11"/>
          <p:cNvSpPr/>
          <p:nvPr/>
        </p:nvSpPr>
        <p:spPr>
          <a:xfrm rot="0" flipH="false" flipV="false">
            <a:off x="4699000" y="2984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智能路由策略</a:t>
            </a:r>
            <a:endParaRPr lang="en-US" sz="1100"/>
          </a:p>
        </p:txBody>
      </p:sp>
      <p:cxnSp>
        <p:nvCxnSpPr>
          <p:cNvPr name="Connector 12" id="12"/>
          <p:cNvCxnSpPr/>
          <p:nvPr/>
        </p:nvCxnSpPr>
        <p:spPr>
          <a:xfrm rot="-17188" flipH="false" flipV="false">
            <a:off x="4699016" y="3422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699000" y="3556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 复杂任务：保留 GPT-4</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简单任务：切至 GPT-4o-mini</a:t>
            </a:r>
            <a:r>
              <a:rPr lang="en-US" b="false" i="false" strike="noStrike" u="none" sz="1400">
                <a:solidFill>
                  <a:srgbClr val="FFFFFF">
                    <a:alpha val="80000"/>
                  </a:srgbClr>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 目标：精准匹配，降本增效</a:t>
            </a:r>
          </a:p>
        </p:txBody>
      </p:sp>
      <p:sp>
        <p:nvSpPr>
          <p:cNvPr name="AutoShape 14" id="14"/>
          <p:cNvSpPr/>
          <p:nvPr/>
        </p:nvSpPr>
        <p:spPr>
          <a:xfrm rot="0" flipH="false" flipV="false">
            <a:off x="8128000" y="2032000"/>
            <a:ext cx="3302000" cy="3556000"/>
          </a:xfrm>
          <a:prstGeom prst="roundRect">
            <a:avLst>
              <a:gd name="adj" fmla="val 3846"/>
            </a:avLst>
          </a:prstGeom>
          <a:solidFill>
            <a:srgbClr val="00BFFF">
              <a:alpha val="15000"/>
            </a:srgbClr>
          </a:solidFill>
          <a:ln w="254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86000"/>
            <a:ext cx="609600" cy="609600"/>
          </a:xfrm>
          <a:prstGeom prst="rect">
            <a:avLst/>
          </a:prstGeom>
        </p:spPr>
      </p:pic>
      <p:sp>
        <p:nvSpPr>
          <p:cNvPr name="AutoShape 16" id="16"/>
          <p:cNvSpPr/>
          <p:nvPr/>
        </p:nvSpPr>
        <p:spPr>
          <a:xfrm rot="0" flipH="false" flipV="false">
            <a:off x="8382000" y="2984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核心思考</a:t>
            </a:r>
            <a:endParaRPr lang="en-US" sz="1100"/>
          </a:p>
        </p:txBody>
      </p:sp>
      <p:cxnSp>
        <p:nvCxnSpPr>
          <p:cNvPr name="Connector 17" id="17"/>
          <p:cNvCxnSpPr/>
          <p:nvPr/>
        </p:nvCxnSpPr>
        <p:spPr>
          <a:xfrm rot="-17188" flipH="false" flipV="false">
            <a:off x="8382016" y="3422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8382000" y="3556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通过这种分流策略，仅简单问答部分，一个月能节省多少成本？</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模型选择的“不可能三角”</a:t>
            </a:r>
            <a:endParaRPr lang="en-US" sz="1100"/>
          </a:p>
        </p:txBody>
      </p:sp>
      <p:sp>
        <p:nvSpPr>
          <p:cNvPr name="AutoShape 4" id="4"/>
          <p:cNvSpPr/>
          <p:nvPr/>
        </p:nvSpPr>
        <p:spPr>
          <a:xfrm rot="0" flipH="false" flipV="false">
            <a:off x="762000" y="2032000"/>
            <a:ext cx="5080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997200" y="2286000"/>
            <a:ext cx="609600" cy="609600"/>
          </a:xfrm>
          <a:prstGeom prst="rect">
            <a:avLst/>
          </a:prstGeom>
        </p:spPr>
      </p:pic>
      <p:sp>
        <p:nvSpPr>
          <p:cNvPr name="AutoShape 6" id="6"/>
          <p:cNvSpPr/>
          <p:nvPr/>
        </p:nvSpPr>
        <p:spPr>
          <a:xfrm rot="0" flipH="false" flipV="false">
            <a:off x="2540000" y="2921000"/>
            <a:ext cx="152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质量 (Quality)</a:t>
            </a:r>
            <a:endParaRPr lang="en-US" sz="1100"/>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270000" y="3683000"/>
            <a:ext cx="609600" cy="609600"/>
          </a:xfrm>
          <a:prstGeom prst="rect">
            <a:avLst/>
          </a:prstGeom>
        </p:spPr>
      </p:pic>
      <p:sp>
        <p:nvSpPr>
          <p:cNvPr name="AutoShape 8" id="8"/>
          <p:cNvSpPr/>
          <p:nvPr/>
        </p:nvSpPr>
        <p:spPr>
          <a:xfrm rot="0" flipH="false" flipV="false">
            <a:off x="812800" y="4318000"/>
            <a:ext cx="152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成本 (Cost)</a:t>
            </a:r>
            <a:endParaRPr lang="en-US" sz="1100"/>
          </a:p>
        </p:txBody>
      </p:sp>
      <p:pic>
        <p:nvPicPr>
          <p:cNvPr name="Picture 9" id="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724400" y="3683000"/>
            <a:ext cx="609600" cy="609600"/>
          </a:xfrm>
          <a:prstGeom prst="rect">
            <a:avLst/>
          </a:prstGeom>
        </p:spPr>
      </p:pic>
      <p:sp>
        <p:nvSpPr>
          <p:cNvPr name="AutoShape 10" id="10"/>
          <p:cNvSpPr/>
          <p:nvPr/>
        </p:nvSpPr>
        <p:spPr>
          <a:xfrm rot="0" flipH="false" flipV="false">
            <a:off x="4267200" y="4318000"/>
            <a:ext cx="152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FFFFFF"/>
                </a:solidFill>
                <a:latin typeface="Noto Sans SC"/>
                <a:ea typeface="Noto Sans SC"/>
                <a:cs typeface="Noto Sans SC"/>
                <a:sym typeface="Noto Sans SC"/>
              </a:rPr>
              <a:t>速度 (Speed)</a:t>
            </a:r>
            <a:endParaRPr lang="en-US" sz="1100"/>
          </a:p>
        </p:txBody>
      </p:sp>
      <p:sp>
        <p:nvSpPr>
          <p:cNvPr name="AutoShape 11" id="11"/>
          <p:cNvSpPr/>
          <p:nvPr/>
        </p:nvSpPr>
        <p:spPr>
          <a:xfrm rot="0" flipH="false" flipV="false">
            <a:off x="2286000" y="3429000"/>
            <a:ext cx="2032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无法同时满足</a:t>
            </a:r>
            <a:endParaRPr lang="en-US" sz="1100"/>
          </a:p>
        </p:txBody>
      </p:sp>
      <p:sp>
        <p:nvSpPr>
          <p:cNvPr name="AutoShape 12" id="12"/>
          <p:cNvSpPr/>
          <p:nvPr/>
        </p:nvSpPr>
        <p:spPr>
          <a:xfrm rot="0" flipH="false" flipV="false">
            <a:off x="6096000" y="2032000"/>
            <a:ext cx="5334000" cy="1016000"/>
          </a:xfrm>
          <a:prstGeom prst="roundRect">
            <a:avLst>
              <a:gd name="adj" fmla="val 12500"/>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2222500"/>
            <a:ext cx="304800" cy="304800"/>
          </a:xfrm>
          <a:prstGeom prst="rect">
            <a:avLst/>
          </a:prstGeom>
        </p:spPr>
      </p:pic>
      <p:sp>
        <p:nvSpPr>
          <p:cNvPr name="AutoShape 14" id="14"/>
          <p:cNvSpPr/>
          <p:nvPr/>
        </p:nvSpPr>
        <p:spPr>
          <a:xfrm rot="0" flipH="false" flipV="false">
            <a:off x="6731000" y="2159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高质量 + 高速度 = 高成本</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若想兼得质量与速度，必然需要投入更多资源。</a:t>
            </a:r>
          </a:p>
        </p:txBody>
      </p:sp>
      <p:sp>
        <p:nvSpPr>
          <p:cNvPr name="AutoShape 15" id="15"/>
          <p:cNvSpPr/>
          <p:nvPr/>
        </p:nvSpPr>
        <p:spPr>
          <a:xfrm rot="0" flipH="false" flipV="false">
            <a:off x="6096000" y="3175000"/>
            <a:ext cx="5334000" cy="1016000"/>
          </a:xfrm>
          <a:prstGeom prst="roundRect">
            <a:avLst>
              <a:gd name="adj" fmla="val 12500"/>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3365500"/>
            <a:ext cx="304800" cy="304800"/>
          </a:xfrm>
          <a:prstGeom prst="rect">
            <a:avLst/>
          </a:prstGeom>
        </p:spPr>
      </p:pic>
      <p:sp>
        <p:nvSpPr>
          <p:cNvPr name="AutoShape 17" id="17"/>
          <p:cNvSpPr/>
          <p:nvPr/>
        </p:nvSpPr>
        <p:spPr>
          <a:xfrm rot="0" flipH="false" flipV="false">
            <a:off x="6731000" y="3302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高质量 + 低成本 = 低速度</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追求性价比往往意味着需要更长的训练或推理时间。</a:t>
            </a:r>
          </a:p>
        </p:txBody>
      </p:sp>
      <p:sp>
        <p:nvSpPr>
          <p:cNvPr name="AutoShape 18" id="18"/>
          <p:cNvSpPr/>
          <p:nvPr/>
        </p:nvSpPr>
        <p:spPr>
          <a:xfrm rot="0" flipH="false" flipV="false">
            <a:off x="6096000" y="4318000"/>
            <a:ext cx="5334000" cy="1016000"/>
          </a:xfrm>
          <a:prstGeom prst="roundRect">
            <a:avLst>
              <a:gd name="adj" fmla="val 12500"/>
            </a:avLst>
          </a:prstGeom>
          <a:solidFill>
            <a:srgbClr val="00BFFF">
              <a:alpha val="10000"/>
            </a:srgbClr>
          </a:solidFill>
          <a:ln w="12700" cmpd="sng" cap="flat">
            <a:solidFill>
              <a:srgbClr val="00BFFF">
                <a:alpha val="2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4508500"/>
            <a:ext cx="304800" cy="304800"/>
          </a:xfrm>
          <a:prstGeom prst="rect">
            <a:avLst/>
          </a:prstGeom>
        </p:spPr>
      </p:pic>
      <p:sp>
        <p:nvSpPr>
          <p:cNvPr name="AutoShape 20" id="20"/>
          <p:cNvSpPr/>
          <p:nvPr/>
        </p:nvSpPr>
        <p:spPr>
          <a:xfrm rot="0" flipH="false" flipV="false">
            <a:off x="6731000" y="4445000"/>
            <a:ext cx="4572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高速度 + 低成本 = 质量折中</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在有限预算下追求效率，往往需要牺牲部分精度。</a:t>
            </a:r>
          </a:p>
        </p:txBody>
      </p:sp>
      <p:cxnSp>
        <p:nvCxnSpPr>
          <p:cNvPr name="Connector 21" id="21"/>
          <p:cNvCxnSpPr/>
          <p:nvPr/>
        </p:nvCxnSpPr>
        <p:spPr>
          <a:xfrm rot="-4092" flipH="false" flipV="false">
            <a:off x="762004" y="5581650"/>
            <a:ext cx="10668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762000" y="5778500"/>
            <a:ext cx="304800" cy="304800"/>
          </a:xfrm>
          <a:prstGeom prst="rect">
            <a:avLst/>
          </a:prstGeom>
        </p:spPr>
      </p:pic>
      <p:sp>
        <p:nvSpPr>
          <p:cNvPr name="AutoShape 23" id="23"/>
          <p:cNvSpPr/>
          <p:nvPr/>
        </p:nvSpPr>
        <p:spPr>
          <a:xfrm rot="0" flipH="false" flipV="false">
            <a:off x="1143000" y="5740400"/>
            <a:ext cx="10160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智能路由核心目标：为每个任务在三角中找到最优平衡点。</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路由核心 = YAML配置文件</a:t>
            </a:r>
            <a:endParaRPr lang="en-US" sz="1100"/>
          </a:p>
        </p:txBody>
      </p:sp>
      <p:sp>
        <p:nvSpPr>
          <p:cNvPr name="AutoShape 4" id="4"/>
          <p:cNvSpPr/>
          <p:nvPr/>
        </p:nvSpPr>
        <p:spPr>
          <a:xfrm rot="0" flipH="false" flipV="false">
            <a:off x="762000" y="17780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2.2 -- 路由系统设计</a:t>
            </a:r>
            <a:endParaRPr lang="en-US" sz="1100"/>
          </a:p>
        </p:txBody>
      </p:sp>
      <p:sp>
        <p:nvSpPr>
          <p:cNvPr name="AutoShape 5" id="5"/>
          <p:cNvSpPr/>
          <p:nvPr/>
        </p:nvSpPr>
        <p:spPr>
          <a:xfrm rot="0" flipH="false" flipV="false">
            <a:off x="762000" y="2413000"/>
            <a:ext cx="10668000" cy="1270000"/>
          </a:xfrm>
          <a:prstGeom prst="roundRect">
            <a:avLst>
              <a:gd name="adj" fmla="val 10000"/>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743200"/>
            <a:ext cx="609600" cy="609600"/>
          </a:xfrm>
          <a:prstGeom prst="rect">
            <a:avLst/>
          </a:prstGeom>
        </p:spPr>
      </p:pic>
      <p:sp>
        <p:nvSpPr>
          <p:cNvPr name="AutoShape 7" id="7"/>
          <p:cNvSpPr/>
          <p:nvPr/>
        </p:nvSpPr>
        <p:spPr>
          <a:xfrm rot="0" flipH="false" flipV="false">
            <a:off x="1778000" y="2667000"/>
            <a:ext cx="889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核心概念：</a:t>
            </a:r>
            <a:r>
              <a:rPr lang="en-US" b="false" i="false" strike="noStrike" u="none" sz="1800">
                <a:solidFill>
                  <a:srgbClr val="FFFFFF"/>
                </a:solidFill>
                <a:latin typeface="Noto Sans SC"/>
                <a:ea typeface="Noto Sans SC"/>
                <a:cs typeface="Noto Sans SC"/>
                <a:sym typeface="Noto Sans SC"/>
              </a:rPr>
              <a:t>改配置就改行为，</a:t>
            </a:r>
            <a:r>
              <a:rPr lang="en-US" b="true" i="false" strike="noStrike" u="none" sz="1800">
                <a:solidFill>
                  <a:srgbClr val="FFFF00"/>
                </a:solidFill>
                <a:latin typeface="Noto Sans SC"/>
                <a:ea typeface="Noto Sans SC"/>
                <a:cs typeface="Noto Sans SC"/>
                <a:sym typeface="Noto Sans SC"/>
              </a:rPr>
              <a:t>不用改代码</a:t>
            </a:r>
            <a:endParaRPr lang="en-US" sz="1100"/>
          </a:p>
        </p:txBody>
      </p:sp>
      <p:sp>
        <p:nvSpPr>
          <p:cNvPr name="AutoShape 8" id="8"/>
          <p:cNvSpPr/>
          <p:nvPr/>
        </p:nvSpPr>
        <p:spPr>
          <a:xfrm rot="0" flipH="false" flipV="false">
            <a:off x="762000" y="3937000"/>
            <a:ext cx="5207000" cy="1778000"/>
          </a:xfrm>
          <a:prstGeom prst="roundRect">
            <a:avLst>
              <a:gd name="adj" fmla="val 7142"/>
            </a:avLst>
          </a:prstGeom>
          <a:solidFill>
            <a:srgbClr val="FFFFFF">
              <a:alpha val="8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191000"/>
            <a:ext cx="609600" cy="609600"/>
          </a:xfrm>
          <a:prstGeom prst="rect">
            <a:avLst/>
          </a:prstGeom>
        </p:spPr>
      </p:pic>
      <p:sp>
        <p:nvSpPr>
          <p:cNvPr name="AutoShape 10" id="10"/>
          <p:cNvSpPr/>
          <p:nvPr/>
        </p:nvSpPr>
        <p:spPr>
          <a:xfrm rot="0" flipH="false" flipV="false">
            <a:off x="1778000" y="4191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模型定义 (Model Definition)</a:t>
            </a:r>
            <a:endParaRPr lang="en-US" sz="1100"/>
          </a:p>
        </p:txBody>
      </p:sp>
      <p:sp>
        <p:nvSpPr>
          <p:cNvPr name="AutoShape 11" id="11"/>
          <p:cNvSpPr/>
          <p:nvPr/>
        </p:nvSpPr>
        <p:spPr>
          <a:xfrm rot="0" flipH="false" flipV="false">
            <a:off x="1778000" y="4635500"/>
            <a:ext cx="381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定义系统支持的模型列表、参数及特性，构建系统的基础能力库。</a:t>
            </a:r>
            <a:endParaRPr lang="en-US" sz="1100"/>
          </a:p>
        </p:txBody>
      </p:sp>
      <p:sp>
        <p:nvSpPr>
          <p:cNvPr name="AutoShape 12" id="12"/>
          <p:cNvSpPr/>
          <p:nvPr/>
        </p:nvSpPr>
        <p:spPr>
          <a:xfrm rot="0" flipH="false" flipV="false">
            <a:off x="6223000" y="3937000"/>
            <a:ext cx="5207000" cy="1778000"/>
          </a:xfrm>
          <a:prstGeom prst="roundRect">
            <a:avLst>
              <a:gd name="adj" fmla="val 7142"/>
            </a:avLst>
          </a:prstGeom>
          <a:solidFill>
            <a:srgbClr val="FFFFFF">
              <a:alpha val="8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4191000"/>
            <a:ext cx="609600" cy="609600"/>
          </a:xfrm>
          <a:prstGeom prst="rect">
            <a:avLst/>
          </a:prstGeom>
        </p:spPr>
      </p:pic>
      <p:sp>
        <p:nvSpPr>
          <p:cNvPr name="AutoShape 14" id="14"/>
          <p:cNvSpPr/>
          <p:nvPr/>
        </p:nvSpPr>
        <p:spPr>
          <a:xfrm rot="0" flipH="false" flipV="false">
            <a:off x="7239000" y="4191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路由规则 (Routing Rules)</a:t>
            </a:r>
            <a:endParaRPr lang="en-US" sz="1100"/>
          </a:p>
        </p:txBody>
      </p:sp>
      <p:sp>
        <p:nvSpPr>
          <p:cNvPr name="AutoShape 15" id="15"/>
          <p:cNvSpPr/>
          <p:nvPr/>
        </p:nvSpPr>
        <p:spPr>
          <a:xfrm rot="0" flipH="false" flipV="false">
            <a:off x="7239000" y="4635500"/>
            <a:ext cx="381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配置请求分发策略、权重分配及熔断机制，实现灵活的流量调度。</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路由配置YAML -- 模型定义</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86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B949E"/>
                </a:solidFill>
                <a:latin typeface="Roboto Mono"/>
                <a:ea typeface="Roboto Mono"/>
                <a:cs typeface="Roboto Mono"/>
                <a:sym typeface="Roboto Mono"/>
              </a:rPr>
              <a:t>models:</a:t>
            </a:r>
            <a:endParaRPr lang="en-US" sz="1100"/>
          </a:p>
        </p:txBody>
      </p:sp>
      <p:sp>
        <p:nvSpPr>
          <p:cNvPr name="AutoShape 6" id="6"/>
          <p:cNvSpPr/>
          <p:nvPr/>
        </p:nvSpPr>
        <p:spPr>
          <a:xfrm rot="0" flipH="false" flipV="false">
            <a:off x="1016000" y="2667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B949E"/>
                </a:solidFill>
                <a:latin typeface="Roboto Mono"/>
                <a:ea typeface="Roboto Mono"/>
                <a:cs typeface="Roboto Mono"/>
                <a:sym typeface="Roboto Mono"/>
              </a:rPr>
              <a:t>primary:</a:t>
            </a:r>
            <a:endParaRPr lang="en-US" sz="1100"/>
          </a:p>
        </p:txBody>
      </p:sp>
      <p:sp>
        <p:nvSpPr>
          <p:cNvPr name="AutoShape 7" id="7"/>
          <p:cNvSpPr/>
          <p:nvPr/>
        </p:nvSpPr>
        <p:spPr>
          <a:xfrm rot="0" flipH="false" flipV="false">
            <a:off x="1016000" y="3048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B949E"/>
                </a:solidFill>
                <a:latin typeface="Roboto Mono"/>
                <a:ea typeface="Roboto Mono"/>
                <a:cs typeface="Roboto Mono"/>
                <a:sym typeface="Roboto Mono"/>
              </a:rPr>
              <a:t>id: "moonshot/kimi-k2.5"</a:t>
            </a:r>
            <a:endParaRPr lang="en-US" sz="1100"/>
          </a:p>
        </p:txBody>
      </p:sp>
      <p:sp>
        <p:nvSpPr>
          <p:cNvPr name="AutoShape 8" id="8"/>
          <p:cNvSpPr/>
          <p:nvPr/>
        </p:nvSpPr>
        <p:spPr>
          <a:xfrm rot="0" flipH="false" flipV="false">
            <a:off x="1016000" y="3429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B949E"/>
                </a:solidFill>
                <a:latin typeface="Roboto Mono"/>
                <a:ea typeface="Roboto Mono"/>
                <a:cs typeface="Roboto Mono"/>
                <a:sym typeface="Roboto Mono"/>
              </a:rPr>
              <a:t>context_window: 128000</a:t>
            </a:r>
            <a:endParaRPr lang="en-US" sz="1100"/>
          </a:p>
        </p:txBody>
      </p:sp>
      <p:sp>
        <p:nvSpPr>
          <p:cNvPr name="AutoShape 9" id="9"/>
          <p:cNvSpPr/>
          <p:nvPr/>
        </p:nvSpPr>
        <p:spPr>
          <a:xfrm rot="0" flipH="false" flipV="false">
            <a:off x="1016000" y="3810000"/>
            <a:ext cx="10160000" cy="355600"/>
          </a:xfrm>
          <a:prstGeom prst="roundRect">
            <a:avLst>
              <a:gd name="adj" fmla="val 17857"/>
            </a:avLst>
          </a:prstGeom>
          <a:solidFill>
            <a:srgbClr val="FFFF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3810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Roboto Mono"/>
                <a:ea typeface="Roboto Mono"/>
                <a:cs typeface="Roboto Mono"/>
                <a:sym typeface="Roboto Mono"/>
              </a:rPr>
              <a:t>strengths: [reasoning, coding, chinese]</a:t>
            </a:r>
            <a:endParaRPr lang="en-US" sz="1100"/>
          </a:p>
        </p:txBody>
      </p:sp>
      <p:sp>
        <p:nvSpPr>
          <p:cNvPr name="AutoShape 11" id="11"/>
          <p:cNvSpPr/>
          <p:nvPr/>
        </p:nvSpPr>
        <p:spPr>
          <a:xfrm rot="0" flipH="false" flipV="false">
            <a:off x="1016000" y="4191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B949E"/>
                </a:solidFill>
                <a:latin typeface="Roboto Mono"/>
                <a:ea typeface="Roboto Mono"/>
                <a:cs typeface="Roboto Mono"/>
                <a:sym typeface="Roboto Mono"/>
              </a:rPr>
              <a:t>fast:</a:t>
            </a:r>
            <a:endParaRPr lang="en-US" sz="1100"/>
          </a:p>
        </p:txBody>
      </p:sp>
      <p:sp>
        <p:nvSpPr>
          <p:cNvPr name="AutoShape 12" id="12"/>
          <p:cNvSpPr/>
          <p:nvPr/>
        </p:nvSpPr>
        <p:spPr>
          <a:xfrm rot="0" flipH="false" flipV="false">
            <a:off x="1016000" y="4572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8B949E"/>
                </a:solidFill>
                <a:latin typeface="Roboto Mono"/>
                <a:ea typeface="Roboto Mono"/>
                <a:cs typeface="Roboto Mono"/>
                <a:sym typeface="Roboto Mono"/>
              </a:rPr>
              <a:t>id: "openai/gpt-4o-mini"</a:t>
            </a:r>
            <a:endParaRPr lang="en-US" sz="1100"/>
          </a:p>
        </p:txBody>
      </p:sp>
      <p:sp>
        <p:nvSpPr>
          <p:cNvPr name="AutoShape 13" id="13"/>
          <p:cNvSpPr/>
          <p:nvPr/>
        </p:nvSpPr>
        <p:spPr>
          <a:xfrm rot="0" flipH="false" flipV="false">
            <a:off x="1016000" y="4953000"/>
            <a:ext cx="10160000" cy="355600"/>
          </a:xfrm>
          <a:prstGeom prst="roundRect">
            <a:avLst>
              <a:gd name="adj" fmla="val 17857"/>
            </a:avLst>
          </a:prstGeom>
          <a:solidFill>
            <a:srgbClr val="FFFF00">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4953000"/>
            <a:ext cx="10160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Roboto Mono"/>
                <a:ea typeface="Roboto Mono"/>
                <a:cs typeface="Roboto Mono"/>
                <a:sym typeface="Roboto Mono"/>
              </a:rPr>
              <a:t>strengths: [speed, cost_efficient]</a:t>
            </a:r>
            <a:endParaRPr lang="en-US" sz="1100"/>
          </a:p>
        </p:txBody>
      </p:sp>
      <p:pic>
        <p:nvPicPr>
          <p:cNvPr name="Picture 15" id="1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461000"/>
            <a:ext cx="254000" cy="254000"/>
          </a:xfrm>
          <a:prstGeom prst="rect">
            <a:avLst/>
          </a:prstGeom>
        </p:spPr>
      </p:pic>
      <p:sp>
        <p:nvSpPr>
          <p:cNvPr name="AutoShape 16" id="16"/>
          <p:cNvSpPr/>
          <p:nvPr/>
        </p:nvSpPr>
        <p:spPr>
          <a:xfrm rot="0" flipH="false" flipV="false">
            <a:off x="1397000" y="5435600"/>
            <a:ext cx="9652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核心配置：通过 strengths 属性定义模型能力，为后续智能路由提供决策依据。</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路由配置YAML -- 路由规则</a:t>
            </a:r>
            <a:endParaRPr lang="en-US" sz="1100"/>
          </a:p>
        </p:txBody>
      </p:sp>
      <p:sp>
        <p:nvSpPr>
          <p:cNvPr name="AutoShape 4" id="4"/>
          <p:cNvSpPr/>
          <p:nvPr/>
        </p:nvSpPr>
        <p:spPr>
          <a:xfrm rot="0" flipH="false" flipV="false">
            <a:off x="762000" y="2032000"/>
            <a:ext cx="6096000" cy="4064000"/>
          </a:xfrm>
          <a:prstGeom prst="roundRect">
            <a:avLst>
              <a:gd name="adj" fmla="val 3125"/>
            </a:avLst>
          </a:prstGeom>
          <a:solidFill>
            <a:srgbClr val="1E293B">
              <a:alpha val="80000"/>
            </a:srgbClr>
          </a:solidFill>
          <a:ln w="12700" cmpd="sng" cap="flat">
            <a:solidFill>
              <a:srgbClr val="334155">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860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4A3B8"/>
                </a:solidFill>
                <a:latin typeface="Noto Sans SC"/>
                <a:ea typeface="Noto Sans SC"/>
                <a:cs typeface="Noto Sans SC"/>
                <a:sym typeface="Noto Sans SC"/>
              </a:rPr>
              <a:t>routing:</a:t>
            </a:r>
            <a:endParaRPr lang="en-US" sz="1100"/>
          </a:p>
        </p:txBody>
      </p:sp>
      <p:sp>
        <p:nvSpPr>
          <p:cNvPr name="AutoShape 6" id="6"/>
          <p:cNvSpPr/>
          <p:nvPr/>
        </p:nvSpPr>
        <p:spPr>
          <a:xfrm rot="0" flipH="false" flipV="false">
            <a:off x="1016000" y="26670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4A3B8"/>
                </a:solidFill>
                <a:latin typeface="Noto Sans SC"/>
                <a:ea typeface="Noto Sans SC"/>
                <a:cs typeface="Noto Sans SC"/>
                <a:sym typeface="Noto Sans SC"/>
              </a:rPr>
              <a:t>- pattern: "代码|编程|debug|报错"</a:t>
            </a:r>
            <a:r>
              <a:rPr lang="en-US" b="false" i="false" strike="noStrike" u="none" sz="1200">
                <a:solidFill>
                  <a:srgbClr val="64748B"/>
                </a:solidFill>
                <a:latin typeface="Noto Sans SC"/>
                <a:ea typeface="Noto Sans SC"/>
                <a:cs typeface="Noto Sans SC"/>
                <a:sym typeface="Noto Sans SC"/>
              </a:rPr>
              <a:t># 正则匹配关键词</a:t>
            </a:r>
            <a:endParaRPr lang="en-US" sz="1100"/>
          </a:p>
        </p:txBody>
      </p:sp>
      <p:sp>
        <p:nvSpPr>
          <p:cNvPr name="AutoShape 7" id="7"/>
          <p:cNvSpPr/>
          <p:nvPr/>
        </p:nvSpPr>
        <p:spPr>
          <a:xfrm rot="0" flipH="false" flipV="false">
            <a:off x="1016000" y="30480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4A3B8"/>
                </a:solidFill>
                <a:latin typeface="Noto Sans SC"/>
                <a:ea typeface="Noto Sans SC"/>
                <a:cs typeface="Noto Sans SC"/>
                <a:sym typeface="Noto Sans SC"/>
              </a:rPr>
              <a:t>model: coding</a:t>
            </a:r>
            <a:endParaRPr lang="en-US" sz="1100"/>
          </a:p>
        </p:txBody>
      </p:sp>
      <p:sp>
        <p:nvSpPr>
          <p:cNvPr name="AutoShape 8" id="8"/>
          <p:cNvSpPr/>
          <p:nvPr/>
        </p:nvSpPr>
        <p:spPr>
          <a:xfrm rot="0" flipH="false" flipV="false">
            <a:off x="1016000" y="3429000"/>
            <a:ext cx="5588000" cy="406400"/>
          </a:xfrm>
          <a:prstGeom prst="roundRect">
            <a:avLst>
              <a:gd name="adj" fmla="val 15625"/>
            </a:avLst>
          </a:prstGeom>
          <a:solidFill>
            <a:srgbClr val="FFFF00">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43000" y="3454400"/>
            <a:ext cx="533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priority: 1</a:t>
            </a:r>
            <a:r>
              <a:rPr lang="en-US" b="false" i="false" strike="noStrike" u="none" sz="1200">
                <a:solidFill>
                  <a:srgbClr val="64748B"/>
                </a:solidFill>
                <a:latin typeface="Noto Sans SC"/>
                <a:ea typeface="Noto Sans SC"/>
                <a:cs typeface="Noto Sans SC"/>
                <a:sym typeface="Noto Sans SC"/>
              </a:rPr>
              <a:t># 最高优先级</a:t>
            </a:r>
            <a:endParaRPr lang="en-US" sz="1100"/>
          </a:p>
        </p:txBody>
      </p:sp>
      <p:sp>
        <p:nvSpPr>
          <p:cNvPr name="AutoShape 10" id="10"/>
          <p:cNvSpPr/>
          <p:nvPr/>
        </p:nvSpPr>
        <p:spPr>
          <a:xfrm rot="0" flipH="false" flipV="false">
            <a:off x="1016000" y="38735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4A3B8"/>
                </a:solidFill>
                <a:latin typeface="Noto Sans SC"/>
                <a:ea typeface="Noto Sans SC"/>
                <a:cs typeface="Noto Sans SC"/>
                <a:sym typeface="Noto Sans SC"/>
              </a:rPr>
              <a:t>- pattern: "总结|摘要"</a:t>
            </a:r>
            <a:r>
              <a:rPr lang="en-US" b="false" i="false" strike="noStrike" u="none" sz="1200">
                <a:solidFill>
                  <a:srgbClr val="64748B"/>
                </a:solidFill>
                <a:latin typeface="Noto Sans SC"/>
                <a:ea typeface="Noto Sans SC"/>
                <a:cs typeface="Noto Sans SC"/>
                <a:sym typeface="Noto Sans SC"/>
              </a:rPr>
              <a:t># 匹配长文本需求</a:t>
            </a:r>
            <a:endParaRPr lang="en-US" sz="1100"/>
          </a:p>
        </p:txBody>
      </p:sp>
      <p:sp>
        <p:nvSpPr>
          <p:cNvPr name="AutoShape 11" id="11"/>
          <p:cNvSpPr/>
          <p:nvPr/>
        </p:nvSpPr>
        <p:spPr>
          <a:xfrm rot="0" flipH="false" flipV="false">
            <a:off x="1016000" y="42545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4A3B8"/>
                </a:solidFill>
                <a:latin typeface="Noto Sans SC"/>
                <a:ea typeface="Noto Sans SC"/>
                <a:cs typeface="Noto Sans SC"/>
                <a:sym typeface="Noto Sans SC"/>
              </a:rPr>
              <a:t>model: long_context</a:t>
            </a:r>
            <a:endParaRPr lang="en-US" sz="1100"/>
          </a:p>
        </p:txBody>
      </p:sp>
      <p:sp>
        <p:nvSpPr>
          <p:cNvPr name="AutoShape 12" id="12"/>
          <p:cNvSpPr/>
          <p:nvPr/>
        </p:nvSpPr>
        <p:spPr>
          <a:xfrm rot="0" flipH="false" flipV="false">
            <a:off x="1016000" y="4635500"/>
            <a:ext cx="558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4A3B8"/>
                </a:solidFill>
                <a:latin typeface="Noto Sans SC"/>
                <a:ea typeface="Noto Sans SC"/>
                <a:cs typeface="Noto Sans SC"/>
                <a:sym typeface="Noto Sans SC"/>
              </a:rPr>
              <a:t>priority: 2</a:t>
            </a:r>
            <a:endParaRPr lang="en-US" sz="1100"/>
          </a:p>
        </p:txBody>
      </p:sp>
      <p:sp>
        <p:nvSpPr>
          <p:cNvPr name="AutoShape 13" id="13"/>
          <p:cNvSpPr/>
          <p:nvPr/>
        </p:nvSpPr>
        <p:spPr>
          <a:xfrm rot="0" flipH="false" flipV="false">
            <a:off x="1016000" y="5016500"/>
            <a:ext cx="5588000" cy="406400"/>
          </a:xfrm>
          <a:prstGeom prst="roundRect">
            <a:avLst>
              <a:gd name="adj" fmla="val 15625"/>
            </a:avLst>
          </a:prstGeom>
          <a:solidFill>
            <a:srgbClr val="FFFF00">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143000" y="5041900"/>
            <a:ext cx="533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00"/>
                </a:solidFill>
                <a:latin typeface="Noto Sans SC"/>
                <a:ea typeface="Noto Sans SC"/>
                <a:cs typeface="Noto Sans SC"/>
                <a:sym typeface="Noto Sans SC"/>
              </a:rPr>
              <a:t>default: primary</a:t>
            </a:r>
            <a:r>
              <a:rPr lang="en-US" b="false" i="false" strike="noStrike" u="none" sz="1200">
                <a:solidFill>
                  <a:srgbClr val="64748B"/>
                </a:solidFill>
                <a:latin typeface="Noto Sans SC"/>
                <a:ea typeface="Noto Sans SC"/>
                <a:cs typeface="Noto Sans SC"/>
                <a:sym typeface="Noto Sans SC"/>
              </a:rPr>
              <a:t># 兜底策略</a:t>
            </a:r>
            <a:endParaRPr lang="en-US" sz="1100"/>
          </a:p>
        </p:txBody>
      </p:sp>
      <p:sp>
        <p:nvSpPr>
          <p:cNvPr name="AutoShape 15" id="15"/>
          <p:cNvSpPr/>
          <p:nvPr/>
        </p:nvSpPr>
        <p:spPr>
          <a:xfrm rot="0" flipH="false" flipV="false">
            <a:off x="7112000" y="2032000"/>
            <a:ext cx="4318000" cy="1905000"/>
          </a:xfrm>
          <a:prstGeom prst="roundRect">
            <a:avLst>
              <a:gd name="adj" fmla="val 6666"/>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366000" y="2286000"/>
            <a:ext cx="304800" cy="304800"/>
          </a:xfrm>
          <a:prstGeom prst="rect">
            <a:avLst/>
          </a:prstGeom>
        </p:spPr>
      </p:pic>
      <p:sp>
        <p:nvSpPr>
          <p:cNvPr name="AutoShape 17" id="17"/>
          <p:cNvSpPr/>
          <p:nvPr/>
        </p:nvSpPr>
        <p:spPr>
          <a:xfrm rot="0" flipH="false" flipV="false">
            <a:off x="7747000" y="2260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优先级控制 (Priority)</a:t>
            </a:r>
            <a:endParaRPr lang="en-US" sz="1100"/>
          </a:p>
        </p:txBody>
      </p:sp>
      <p:sp>
        <p:nvSpPr>
          <p:cNvPr name="AutoShape 18" id="18"/>
          <p:cNvSpPr/>
          <p:nvPr/>
        </p:nvSpPr>
        <p:spPr>
          <a:xfrm rot="0" flipH="false" flipV="false">
            <a:off x="7366000" y="2667000"/>
            <a:ext cx="381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CBD5E1"/>
                </a:solidFill>
                <a:latin typeface="Noto Sans SC"/>
                <a:ea typeface="Noto Sans SC"/>
                <a:cs typeface="Noto Sans SC"/>
                <a:sym typeface="Noto Sans SC"/>
              </a:rPr>
              <a:t>系统按优先级从高到低进行匹配。数值越小优先级越高。Priority 1 会优先匹配包含“代码”、“debug”等关键词的请求。</a:t>
            </a:r>
            <a:endParaRPr lang="en-US" sz="1100"/>
          </a:p>
        </p:txBody>
      </p:sp>
      <p:sp>
        <p:nvSpPr>
          <p:cNvPr name="AutoShape 19" id="19"/>
          <p:cNvSpPr/>
          <p:nvPr/>
        </p:nvSpPr>
        <p:spPr>
          <a:xfrm rot="0" flipH="false" flipV="false">
            <a:off x="7112000" y="4191000"/>
            <a:ext cx="4318000" cy="1905000"/>
          </a:xfrm>
          <a:prstGeom prst="roundRect">
            <a:avLst>
              <a:gd name="adj" fmla="val 6666"/>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366000" y="4445000"/>
            <a:ext cx="304800" cy="304800"/>
          </a:xfrm>
          <a:prstGeom prst="rect">
            <a:avLst/>
          </a:prstGeom>
        </p:spPr>
      </p:pic>
      <p:sp>
        <p:nvSpPr>
          <p:cNvPr name="AutoShape 21" id="21"/>
          <p:cNvSpPr/>
          <p:nvPr/>
        </p:nvSpPr>
        <p:spPr>
          <a:xfrm rot="0" flipH="false" flipV="false">
            <a:off x="7747000" y="44196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兜底策略 (Default)</a:t>
            </a:r>
            <a:endParaRPr lang="en-US" sz="1100"/>
          </a:p>
        </p:txBody>
      </p:sp>
      <p:sp>
        <p:nvSpPr>
          <p:cNvPr name="AutoShape 22" id="22"/>
          <p:cNvSpPr/>
          <p:nvPr/>
        </p:nvSpPr>
        <p:spPr>
          <a:xfrm rot="0" flipH="false" flipV="false">
            <a:off x="7366000" y="4826000"/>
            <a:ext cx="381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CBD5E1"/>
                </a:solidFill>
                <a:latin typeface="Noto Sans SC"/>
                <a:ea typeface="Noto Sans SC"/>
                <a:cs typeface="Noto Sans SC"/>
                <a:sym typeface="Noto Sans SC"/>
              </a:rPr>
              <a:t>当所有规则都无法匹配用户输入时，系统会自动回退到 default 指定的 primary 模型，确保服务的可用性。</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帮我总结这段代码的功能</a:t>
            </a:r>
            <a:endParaRPr lang="en-US" sz="1100"/>
          </a:p>
        </p:txBody>
      </p:sp>
      <p:sp>
        <p:nvSpPr>
          <p:cNvPr name="AutoShape 4" id="4"/>
          <p:cNvSpPr/>
          <p:nvPr/>
        </p:nvSpPr>
        <p:spPr>
          <a:xfrm rot="0" flipH="false" flipV="false">
            <a:off x="762000" y="2032000"/>
            <a:ext cx="10668000" cy="1270000"/>
          </a:xfrm>
          <a:prstGeom prst="roundRect">
            <a:avLst>
              <a:gd name="adj" fmla="val 10000"/>
            </a:avLst>
          </a:prstGeom>
          <a:solidFill>
            <a:srgbClr val="FFF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22500"/>
            <a:ext cx="406400" cy="406400"/>
          </a:xfrm>
          <a:prstGeom prst="rect">
            <a:avLst/>
          </a:prstGeom>
        </p:spPr>
      </p:pic>
      <p:sp>
        <p:nvSpPr>
          <p:cNvPr name="AutoShape 6" id="6"/>
          <p:cNvSpPr/>
          <p:nvPr/>
        </p:nvSpPr>
        <p:spPr>
          <a:xfrm rot="0" flipH="false" flipV="false">
            <a:off x="1524000" y="2222500"/>
            <a:ext cx="9525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90196"/>
                  </a:srgbClr>
                </a:solidFill>
                <a:latin typeface="Noto Sans SC"/>
                <a:ea typeface="Noto Sans SC"/>
                <a:cs typeface="Noto Sans SC"/>
                <a:sym typeface="Noto Sans SC"/>
              </a:rPr>
              <a:t>问题：对于用户输入“帮我总结这段代码的功能”，系统会匹配到哪个模型？</a:t>
            </a:r>
            <a:endParaRPr lang="en-US" sz="1100"/>
          </a:p>
        </p:txBody>
      </p:sp>
      <p:sp>
        <p:nvSpPr>
          <p:cNvPr name="AutoShape 7" id="7"/>
          <p:cNvSpPr/>
          <p:nvPr/>
        </p:nvSpPr>
        <p:spPr>
          <a:xfrm rot="0" flipH="false" flipV="false">
            <a:off x="762000" y="3556000"/>
            <a:ext cx="10668000" cy="889000"/>
          </a:xfrm>
          <a:prstGeom prst="roundRect">
            <a:avLst>
              <a:gd name="adj" fmla="val 14285"/>
            </a:avLst>
          </a:prstGeom>
          <a:solidFill>
            <a:srgbClr val="00BFFF">
              <a:alpha val="15000"/>
            </a:srgbClr>
          </a:solidFill>
          <a:ln w="25400" cmpd="sng" cap="flat">
            <a:solidFill>
              <a:srgbClr val="00BFFF">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822700"/>
            <a:ext cx="355600" cy="355600"/>
          </a:xfrm>
          <a:prstGeom prst="rect">
            <a:avLst/>
          </a:prstGeom>
        </p:spPr>
      </p:pic>
      <p:sp>
        <p:nvSpPr>
          <p:cNvPr name="AutoShape 9" id="9"/>
          <p:cNvSpPr/>
          <p:nvPr/>
        </p:nvSpPr>
        <p:spPr>
          <a:xfrm rot="0" flipH="false" flipV="false">
            <a:off x="1524000" y="3746500"/>
            <a:ext cx="914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A. coding 模型</a:t>
            </a:r>
            <a:r>
              <a:rPr lang="en-US" b="false" i="false" strike="noStrike" u="none" sz="1400">
                <a:solidFill>
                  <a:srgbClr val="FFFFFF">
                    <a:alpha val="70196"/>
                  </a:srgbClr>
                </a:solidFill>
                <a:latin typeface="Noto Sans SC"/>
                <a:ea typeface="Noto Sans SC"/>
                <a:cs typeface="Noto Sans SC"/>
                <a:sym typeface="Noto Sans SC"/>
              </a:rPr>
              <a:t>(包含"代码"关键词，优先级 Priority 1)</a:t>
            </a:r>
            <a:endParaRPr lang="en-US" sz="1100"/>
          </a:p>
        </p:txBody>
      </p:sp>
      <p:sp>
        <p:nvSpPr>
          <p:cNvPr name="AutoShape 10" id="10"/>
          <p:cNvSpPr/>
          <p:nvPr/>
        </p:nvSpPr>
        <p:spPr>
          <a:xfrm rot="0" flipH="false" flipV="false">
            <a:off x="762000" y="4572000"/>
            <a:ext cx="10668000" cy="889000"/>
          </a:xfrm>
          <a:prstGeom prst="roundRect">
            <a:avLst>
              <a:gd name="adj" fmla="val 14285"/>
            </a:avLst>
          </a:prstGeom>
          <a:solidFill>
            <a:srgbClr val="FFFFFF">
              <a:alpha val="5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838700"/>
            <a:ext cx="355600" cy="355600"/>
          </a:xfrm>
          <a:prstGeom prst="rect">
            <a:avLst/>
          </a:prstGeom>
        </p:spPr>
      </p:pic>
      <p:sp>
        <p:nvSpPr>
          <p:cNvPr name="AutoShape 12" id="12"/>
          <p:cNvSpPr/>
          <p:nvPr/>
        </p:nvSpPr>
        <p:spPr>
          <a:xfrm rot="0" flipH="false" flipV="false">
            <a:off x="1524000" y="4762500"/>
            <a:ext cx="914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80000"/>
                  </a:srgbClr>
                </a:solidFill>
                <a:latin typeface="Noto Sans SC"/>
                <a:ea typeface="Noto Sans SC"/>
                <a:cs typeface="Noto Sans SC"/>
                <a:sym typeface="Noto Sans SC"/>
              </a:rPr>
              <a:t>B. long_context 模型</a:t>
            </a:r>
            <a:r>
              <a:rPr lang="en-US" b="false" i="false" strike="noStrike" u="none" sz="1400">
                <a:solidFill>
                  <a:srgbClr val="FFFFFF">
                    <a:alpha val="50196"/>
                  </a:srgbClr>
                </a:solidFill>
                <a:latin typeface="Noto Sans SC"/>
                <a:ea typeface="Noto Sans SC"/>
                <a:cs typeface="Noto Sans SC"/>
                <a:sym typeface="Noto Sans SC"/>
              </a:rPr>
              <a:t>(包含"总结"关键词，优先级 Priority 2)</a:t>
            </a:r>
            <a:endParaRPr lang="en-US" sz="1100"/>
          </a:p>
        </p:txBody>
      </p:sp>
      <p:sp>
        <p:nvSpPr>
          <p:cNvPr name="AutoShape 13" id="13"/>
          <p:cNvSpPr/>
          <p:nvPr/>
        </p:nvSpPr>
        <p:spPr>
          <a:xfrm rot="0" flipH="false" flipV="false">
            <a:off x="762000" y="5588000"/>
            <a:ext cx="10668000" cy="889000"/>
          </a:xfrm>
          <a:prstGeom prst="roundRect">
            <a:avLst>
              <a:gd name="adj" fmla="val 14285"/>
            </a:avLst>
          </a:prstGeom>
          <a:solidFill>
            <a:srgbClr val="FFFFFF">
              <a:alpha val="5000"/>
            </a:srgbClr>
          </a:solidFill>
          <a:ln w="12700" cmpd="sng" cap="flat">
            <a:solidFill>
              <a:srgbClr val="FFFFFF">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854700"/>
            <a:ext cx="355600" cy="355600"/>
          </a:xfrm>
          <a:prstGeom prst="rect">
            <a:avLst/>
          </a:prstGeom>
        </p:spPr>
      </p:pic>
      <p:sp>
        <p:nvSpPr>
          <p:cNvPr name="AutoShape 15" id="15"/>
          <p:cNvSpPr/>
          <p:nvPr/>
        </p:nvSpPr>
        <p:spPr>
          <a:xfrm rot="0" flipH="false" flipV="false">
            <a:off x="1524000" y="5778500"/>
            <a:ext cx="914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alpha val="80000"/>
                  </a:srgbClr>
                </a:solidFill>
                <a:latin typeface="Noto Sans SC"/>
                <a:ea typeface="Noto Sans SC"/>
                <a:cs typeface="Noto Sans SC"/>
                <a:sym typeface="Noto Sans SC"/>
              </a:rPr>
              <a:t>C. primary 模型</a:t>
            </a:r>
            <a:r>
              <a:rPr lang="en-US" b="false" i="false" strike="noStrike" u="none" sz="1400">
                <a:solidFill>
                  <a:srgbClr val="FFFFFF">
                    <a:alpha val="50196"/>
                  </a:srgbClr>
                </a:solidFill>
                <a:latin typeface="Noto Sans SC"/>
                <a:ea typeface="Noto Sans SC"/>
                <a:cs typeface="Noto Sans SC"/>
                <a:sym typeface="Noto Sans SC"/>
              </a:rPr>
              <a:t>(兜底模型，优先级最低)</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路由规则三原则</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609600" cy="609600"/>
          </a:xfrm>
          <a:prstGeom prst="rect">
            <a:avLst/>
          </a:prstGeom>
        </p:spPr>
      </p:pic>
      <p:sp>
        <p:nvSpPr>
          <p:cNvPr name="AutoShape 6" id="6"/>
          <p:cNvSpPr/>
          <p:nvPr/>
        </p:nvSpPr>
        <p:spPr>
          <a:xfrm rot="0" flipH="false" flipV="false">
            <a:off x="1066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高优先级规则更具体</a:t>
            </a:r>
            <a:endParaRPr lang="en-US" sz="1100"/>
          </a:p>
        </p:txBody>
      </p:sp>
      <p:cxnSp>
        <p:nvCxnSpPr>
          <p:cNvPr name="Connector 7" id="7"/>
          <p:cNvCxnSpPr/>
          <p:nvPr/>
        </p:nvCxnSpPr>
        <p:spPr>
          <a:xfrm rot="-16215" flipH="false" flipV="false">
            <a:off x="1066815" y="3486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66800" y="3619500"/>
            <a:ext cx="26924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高优先级：匹配具体报错 (如 Python traceback)</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低优先级：匹配通用关键词 (如 代码/编程)</a:t>
            </a:r>
          </a:p>
        </p:txBody>
      </p:sp>
      <p:sp>
        <p:nvSpPr>
          <p:cNvPr name="AutoShape 9" id="9"/>
          <p:cNvSpPr/>
          <p:nvPr/>
        </p:nvSpPr>
        <p:spPr>
          <a:xfrm rot="0" flipH="false" flipV="false">
            <a:off x="4445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336800"/>
            <a:ext cx="609600" cy="609600"/>
          </a:xfrm>
          <a:prstGeom prst="rect">
            <a:avLst/>
          </a:prstGeom>
        </p:spPr>
      </p:pic>
      <p:sp>
        <p:nvSpPr>
          <p:cNvPr name="AutoShape 11" id="11"/>
          <p:cNvSpPr/>
          <p:nvPr/>
        </p:nvSpPr>
        <p:spPr>
          <a:xfrm rot="0" flipH="false" flipV="false">
            <a:off x="4749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兜底规则不可省略</a:t>
            </a:r>
            <a:endParaRPr lang="en-US" sz="1100"/>
          </a:p>
        </p:txBody>
      </p:sp>
      <p:cxnSp>
        <p:nvCxnSpPr>
          <p:cNvPr name="Connector 12" id="12"/>
          <p:cNvCxnSpPr/>
          <p:nvPr/>
        </p:nvCxnSpPr>
        <p:spPr>
          <a:xfrm rot="-16215" flipH="false" flipV="false">
            <a:off x="4749815" y="3486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4749800" y="3619500"/>
            <a:ext cx="26924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必须配置默认值 (default: primary)</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确保所有未匹配请求都能被处理</a:t>
            </a:r>
          </a:p>
        </p:txBody>
      </p:sp>
      <p:sp>
        <p:nvSpPr>
          <p:cNvPr name="AutoShape 14" id="14"/>
          <p:cNvSpPr/>
          <p:nvPr/>
        </p:nvSpPr>
        <p:spPr>
          <a:xfrm rot="0" flipH="false" flipV="false">
            <a:off x="8128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336800"/>
            <a:ext cx="609600" cy="609600"/>
          </a:xfrm>
          <a:prstGeom prst="rect">
            <a:avLst/>
          </a:prstGeom>
        </p:spPr>
      </p:pic>
      <p:sp>
        <p:nvSpPr>
          <p:cNvPr name="AutoShape 16" id="16"/>
          <p:cNvSpPr/>
          <p:nvPr/>
        </p:nvSpPr>
        <p:spPr>
          <a:xfrm rot="0" flipH="false" flipV="false">
            <a:off x="8432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规则数量要克制</a:t>
            </a:r>
            <a:endParaRPr lang="en-US" sz="1100"/>
          </a:p>
        </p:txBody>
      </p:sp>
      <p:cxnSp>
        <p:nvCxnSpPr>
          <p:cNvPr name="Connector 17" id="17"/>
          <p:cNvCxnSpPr/>
          <p:nvPr/>
        </p:nvCxnSpPr>
        <p:spPr>
          <a:xfrm rot="-16215" flipH="false" flipV="false">
            <a:off x="8432815" y="3486150"/>
            <a:ext cx="26924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8" id="18"/>
          <p:cNvSpPr/>
          <p:nvPr/>
        </p:nvSpPr>
        <p:spPr>
          <a:xfrm rot="0" flipH="false" flipV="false">
            <a:off x="8432800" y="3619500"/>
            <a:ext cx="2692400" cy="1524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推荐生产配置：3条规则 + 1个默认值</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避免过度设计，减少维护成本</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select_model() 三层递进逻辑</a:t>
            </a:r>
            <a:endParaRPr lang="en-US" sz="1100"/>
          </a:p>
        </p:txBody>
      </p:sp>
      <p:sp>
        <p:nvSpPr>
          <p:cNvPr name="AutoShape 4" id="4"/>
          <p:cNvSpPr/>
          <p:nvPr/>
        </p:nvSpPr>
        <p:spPr>
          <a:xfrm rot="0" flipH="false" flipV="false">
            <a:off x="762000" y="1460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80000"/>
                  </a:srgbClr>
                </a:solidFill>
                <a:latin typeface="Noto Sans SC"/>
                <a:ea typeface="Noto Sans SC"/>
                <a:cs typeface="Noto Sans SC"/>
                <a:sym typeface="Noto Sans SC"/>
              </a:rPr>
              <a:t>模块 2.3 -- 动态模型选择机制详解</a:t>
            </a:r>
            <a:endParaRPr lang="en-US" sz="1100"/>
          </a:p>
        </p:txBody>
      </p:sp>
      <p:sp>
        <p:nvSpPr>
          <p:cNvPr name="AutoShape 5" id="5"/>
          <p:cNvSpPr/>
          <p:nvPr/>
        </p:nvSpPr>
        <p:spPr>
          <a:xfrm rot="0" flipH="false" flipV="false">
            <a:off x="762000" y="2159000"/>
            <a:ext cx="3302000" cy="3302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413000"/>
            <a:ext cx="609600" cy="609600"/>
          </a:xfrm>
          <a:prstGeom prst="rect">
            <a:avLst/>
          </a:prstGeom>
        </p:spPr>
      </p:pic>
      <p:sp>
        <p:nvSpPr>
          <p:cNvPr name="AutoShape 7" id="7"/>
          <p:cNvSpPr/>
          <p:nvPr/>
        </p:nvSpPr>
        <p:spPr>
          <a:xfrm rot="0" flipH="false" flipV="false">
            <a:off x="1016000" y="3111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第一层：规则匹配</a:t>
            </a:r>
            <a:endParaRPr lang="en-US" sz="1100"/>
          </a:p>
        </p:txBody>
      </p:sp>
      <p:cxnSp>
        <p:nvCxnSpPr>
          <p:cNvPr name="Connector 8" id="8"/>
          <p:cNvCxnSpPr/>
          <p:nvPr/>
        </p:nvCxnSpPr>
        <p:spPr>
          <a:xfrm rot="-17188" flipH="false" flipV="false">
            <a:off x="1016016" y="3549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9" id="9"/>
          <p:cNvSpPr/>
          <p:nvPr/>
        </p:nvSpPr>
        <p:spPr>
          <a:xfrm rot="0" flipH="false" flipV="false">
            <a:off x="1016000" y="368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基于正则表达式的规则匹配，是人工经验的直接体现。</a:t>
            </a:r>
            <a:endParaRPr lang="en-US" sz="1100"/>
          </a:p>
        </p:txBody>
      </p:sp>
      <p:sp>
        <p:nvSpPr>
          <p:cNvPr name="AutoShape 10" id="10"/>
          <p:cNvSpPr/>
          <p:nvPr/>
        </p:nvSpPr>
        <p:spPr>
          <a:xfrm rot="0" flipH="false" flipV="false">
            <a:off x="4445000" y="2159000"/>
            <a:ext cx="3302000" cy="3302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413000"/>
            <a:ext cx="609600" cy="609600"/>
          </a:xfrm>
          <a:prstGeom prst="rect">
            <a:avLst/>
          </a:prstGeom>
        </p:spPr>
      </p:pic>
      <p:sp>
        <p:nvSpPr>
          <p:cNvPr name="AutoShape 12" id="12"/>
          <p:cNvSpPr/>
          <p:nvPr/>
        </p:nvSpPr>
        <p:spPr>
          <a:xfrm rot="0" flipH="false" flipV="false">
            <a:off x="4699000" y="3111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第二层：上下文长度</a:t>
            </a:r>
            <a:endParaRPr lang="en-US" sz="1100"/>
          </a:p>
        </p:txBody>
      </p:sp>
      <p:cxnSp>
        <p:nvCxnSpPr>
          <p:cNvPr name="Connector 13" id="13"/>
          <p:cNvCxnSpPr/>
          <p:nvPr/>
        </p:nvCxnSpPr>
        <p:spPr>
          <a:xfrm rot="-17188" flipH="false" flipV="false">
            <a:off x="4699016" y="3549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4699000" y="368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判断上下文长度，若</a:t>
            </a:r>
            <a:r>
              <a:rPr lang="en-US" b="true" i="false" strike="noStrike" u="none" sz="1400">
                <a:solidFill>
                  <a:srgbClr val="FFFF00"/>
                </a:solidFill>
                <a:latin typeface="Noto Sans SC"/>
                <a:ea typeface="Noto Sans SC"/>
                <a:cs typeface="Noto Sans SC"/>
                <a:sym typeface="Noto Sans SC"/>
              </a:rPr>
              <a:t>&gt;100K</a:t>
            </a:r>
            <a:r>
              <a:rPr lang="en-US" b="false" i="false" strike="noStrike" u="none" sz="1400">
                <a:solidFill>
                  <a:srgbClr val="FFFFFF">
                    <a:alpha val="70196"/>
                  </a:srgbClr>
                </a:solidFill>
                <a:latin typeface="Noto Sans SC"/>
                <a:ea typeface="Noto Sans SC"/>
                <a:cs typeface="Noto Sans SC"/>
                <a:sym typeface="Noto Sans SC"/>
              </a:rPr>
              <a:t>自动切换至支持长上下文的模型（如 Gemini）。</a:t>
            </a:r>
            <a:endParaRPr lang="en-US" sz="1100"/>
          </a:p>
        </p:txBody>
      </p:sp>
      <p:sp>
        <p:nvSpPr>
          <p:cNvPr name="AutoShape 15" id="15"/>
          <p:cNvSpPr/>
          <p:nvPr/>
        </p:nvSpPr>
        <p:spPr>
          <a:xfrm rot="0" flipH="false" flipV="false">
            <a:off x="8128000" y="2159000"/>
            <a:ext cx="3302000" cy="3302000"/>
          </a:xfrm>
          <a:prstGeom prst="roundRect">
            <a:avLst>
              <a:gd name="adj" fmla="val 384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413000"/>
            <a:ext cx="609600" cy="609600"/>
          </a:xfrm>
          <a:prstGeom prst="rect">
            <a:avLst/>
          </a:prstGeom>
        </p:spPr>
      </p:pic>
      <p:sp>
        <p:nvSpPr>
          <p:cNvPr name="AutoShape 17" id="17"/>
          <p:cNvSpPr/>
          <p:nvPr/>
        </p:nvSpPr>
        <p:spPr>
          <a:xfrm rot="0" flipH="false" flipV="false">
            <a:off x="8382000" y="3111500"/>
            <a:ext cx="279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第三层：复杂度估计</a:t>
            </a:r>
            <a:endParaRPr lang="en-US" sz="1100"/>
          </a:p>
        </p:txBody>
      </p:sp>
      <p:cxnSp>
        <p:nvCxnSpPr>
          <p:cNvPr name="Connector 18" id="18"/>
          <p:cNvCxnSpPr/>
          <p:nvPr/>
        </p:nvCxnSpPr>
        <p:spPr>
          <a:xfrm rot="-17188" flipH="false" flipV="false">
            <a:off x="8382016" y="3549650"/>
            <a:ext cx="254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9" id="19"/>
          <p:cNvSpPr/>
          <p:nvPr/>
        </p:nvSpPr>
        <p:spPr>
          <a:xfrm rot="0" flipH="false" flipV="false">
            <a:off x="8382000" y="3683000"/>
            <a:ext cx="2794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通过算法动态评估请求的复杂度，自动选择最匹配的模型资源。</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决策流程 -- "帮我debug这段代码"</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用户输入信息</a:t>
            </a:r>
            <a:endParaRPr lang="en-US" sz="1100"/>
          </a:p>
        </p:txBody>
      </p:sp>
      <p:cxnSp>
        <p:nvCxnSpPr>
          <p:cNvPr name="Connector 7" id="7"/>
          <p:cNvCxnSpPr/>
          <p:nvPr/>
        </p:nvCxnSpPr>
        <p:spPr>
          <a:xfrm rot="-15626" flipH="false" flipV="false">
            <a:off x="10160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Query:</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FFFFFF"/>
                </a:solidFill>
                <a:latin typeface="Noto Sans SC"/>
                <a:ea typeface="Noto Sans SC"/>
                <a:cs typeface="Noto Sans SC"/>
                <a:sym typeface="Noto Sans SC"/>
              </a:rPr>
              <a:t>"帮我debug这段代码"</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Context Length:</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FFFFFF"/>
                </a:solidFill>
                <a:latin typeface="Noto Sans SC"/>
                <a:ea typeface="Noto Sans SC"/>
                <a:cs typeface="Noto Sans SC"/>
                <a:sym typeface="Noto Sans SC"/>
              </a:rPr>
              <a:t>5000 Tokens</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254500" y="3606800"/>
            <a:ext cx="406400" cy="406400"/>
          </a:xfrm>
          <a:prstGeom prst="rect">
            <a:avLst/>
          </a:prstGeom>
        </p:spPr>
      </p:pic>
      <p:sp>
        <p:nvSpPr>
          <p:cNvPr name="AutoShape 10" id="10"/>
          <p:cNvSpPr/>
          <p:nvPr/>
        </p:nvSpPr>
        <p:spPr>
          <a:xfrm rot="0" flipH="false" flipV="false">
            <a:off x="4826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080000" y="2286000"/>
            <a:ext cx="406400" cy="406400"/>
          </a:xfrm>
          <a:prstGeom prst="rect">
            <a:avLst/>
          </a:prstGeom>
        </p:spPr>
      </p:pic>
      <p:sp>
        <p:nvSpPr>
          <p:cNvPr name="AutoShape 12" id="12"/>
          <p:cNvSpPr/>
          <p:nvPr/>
        </p:nvSpPr>
        <p:spPr>
          <a:xfrm rot="0" flipH="false" flipV="false">
            <a:off x="5588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第一层：正则匹配</a:t>
            </a:r>
            <a:endParaRPr lang="en-US" sz="1100"/>
          </a:p>
        </p:txBody>
      </p:sp>
      <p:cxnSp>
        <p:nvCxnSpPr>
          <p:cNvPr name="Connector 13" id="13"/>
          <p:cNvCxnSpPr/>
          <p:nvPr/>
        </p:nvCxnSpPr>
        <p:spPr>
          <a:xfrm rot="-15626" flipH="false" flipV="false">
            <a:off x="50800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50800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匹配规则：</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solidFill>
                <a:latin typeface="Noto Sans SC"/>
                <a:ea typeface="Noto Sans SC"/>
                <a:cs typeface="Noto Sans SC"/>
                <a:sym typeface="Noto Sans SC"/>
              </a:rPr>
              <a:t>"代码|编程|debug|报错"</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匹配结果：</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00BFFF"/>
                </a:solidFill>
                <a:latin typeface="Noto Sans SC"/>
                <a:ea typeface="Noto Sans SC"/>
                <a:cs typeface="Noto Sans SC"/>
                <a:sym typeface="Noto Sans SC"/>
              </a:rPr>
              <a:t>命中 "debug"</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初步模型：</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FFFFFF"/>
                </a:solidFill>
                <a:latin typeface="Noto Sans SC"/>
                <a:ea typeface="Noto Sans SC"/>
                <a:cs typeface="Noto Sans SC"/>
                <a:sym typeface="Noto Sans SC"/>
              </a:rPr>
              <a:t>coding</a:t>
            </a: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318500" y="3606800"/>
            <a:ext cx="406400" cy="406400"/>
          </a:xfrm>
          <a:prstGeom prst="rect">
            <a:avLst/>
          </a:prstGeom>
        </p:spPr>
      </p:pic>
      <p:sp>
        <p:nvSpPr>
          <p:cNvPr name="AutoShape 16" id="16"/>
          <p:cNvSpPr/>
          <p:nvPr/>
        </p:nvSpPr>
        <p:spPr>
          <a:xfrm rot="0" flipH="false" flipV="false">
            <a:off x="8890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144000" y="2286000"/>
            <a:ext cx="406400" cy="406400"/>
          </a:xfrm>
          <a:prstGeom prst="rect">
            <a:avLst/>
          </a:prstGeom>
        </p:spPr>
      </p:pic>
      <p:sp>
        <p:nvSpPr>
          <p:cNvPr name="AutoShape 18" id="18"/>
          <p:cNvSpPr/>
          <p:nvPr/>
        </p:nvSpPr>
        <p:spPr>
          <a:xfrm rot="0" flipH="false" flipV="false">
            <a:off x="9652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第二层：容量检查</a:t>
            </a:r>
            <a:endParaRPr lang="en-US" sz="1100"/>
          </a:p>
        </p:txBody>
      </p:sp>
      <p:cxnSp>
        <p:nvCxnSpPr>
          <p:cNvPr name="Connector 19" id="19"/>
          <p:cNvCxnSpPr/>
          <p:nvPr/>
        </p:nvCxnSpPr>
        <p:spPr>
          <a:xfrm rot="-15626" flipH="false" flipV="false">
            <a:off x="91440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0" id="20"/>
          <p:cNvSpPr/>
          <p:nvPr/>
        </p:nvSpPr>
        <p:spPr>
          <a:xfrm rot="0" flipH="false" flipV="false">
            <a:off x="91440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模型上限：</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solidFill>
                <a:latin typeface="Noto Sans SC"/>
                <a:ea typeface="Noto Sans SC"/>
                <a:cs typeface="Noto Sans SC"/>
                <a:sym typeface="Noto Sans SC"/>
              </a:rPr>
              <a:t>200K Tokens (80%阈值)</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计算判断：</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5000 &lt; 160K → 通过</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最终决策：</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00BFFF"/>
                </a:solidFill>
                <a:latin typeface="Noto Sans SC"/>
                <a:ea typeface="Noto Sans SC"/>
                <a:cs typeface="Noto Sans SC"/>
                <a:sym typeface="Noto Sans SC"/>
              </a:rPr>
              <a:t>Claude 3.5 Sonnet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决策流程 -- "你好"</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311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输入层 (Input)</a:t>
            </a:r>
            <a:endParaRPr lang="en-US" sz="1100"/>
          </a:p>
        </p:txBody>
      </p:sp>
      <p:cxnSp>
        <p:nvCxnSpPr>
          <p:cNvPr name="Connector 7" id="7"/>
          <p:cNvCxnSpPr/>
          <p:nvPr/>
        </p:nvCxnSpPr>
        <p:spPr>
          <a:xfrm rot="-15626" flipH="false" flipV="false">
            <a:off x="10160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Query:</a:t>
            </a:r>
            <a:r>
              <a:rPr lang="en-US" b="false" i="false" strike="noStrike" u="none" sz="1400">
                <a:solidFill>
                  <a:srgbClr val="FFFFFF"/>
                </a:solidFill>
                <a:latin typeface="Noto Sans SC"/>
                <a:ea typeface="Noto Sans SC"/>
                <a:cs typeface="Noto Sans SC"/>
                <a:sym typeface="Noto Sans SC"/>
              </a:rPr>
              <a:t>"你好"</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Context:</a:t>
            </a:r>
            <a:r>
              <a:rPr lang="en-US" b="false" i="false" strike="noStrike" u="none" sz="1400">
                <a:solidFill>
                  <a:srgbClr val="FFFFFF"/>
                </a:solidFill>
                <a:latin typeface="Noto Sans SC"/>
                <a:ea typeface="Noto Sans SC"/>
                <a:cs typeface="Noto Sans SC"/>
                <a:sym typeface="Noto Sans SC"/>
              </a:rPr>
              <a:t>100 tokens</a:t>
            </a: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191000" y="3657600"/>
            <a:ext cx="304800" cy="304800"/>
          </a:xfrm>
          <a:prstGeom prst="rect">
            <a:avLst/>
          </a:prstGeom>
        </p:spPr>
      </p:pic>
      <p:sp>
        <p:nvSpPr>
          <p:cNvPr name="AutoShape 10" id="10"/>
          <p:cNvSpPr/>
          <p:nvPr/>
        </p:nvSpPr>
        <p:spPr>
          <a:xfrm rot="0" flipH="false" flipV="false">
            <a:off x="46228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876800" y="2286000"/>
            <a:ext cx="406400" cy="406400"/>
          </a:xfrm>
          <a:prstGeom prst="rect">
            <a:avLst/>
          </a:prstGeom>
        </p:spPr>
      </p:pic>
      <p:sp>
        <p:nvSpPr>
          <p:cNvPr name="AutoShape 12" id="12"/>
          <p:cNvSpPr/>
          <p:nvPr/>
        </p:nvSpPr>
        <p:spPr>
          <a:xfrm rot="0" flipH="false" flipV="false">
            <a:off x="5384800" y="2311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过滤层 (Filter)</a:t>
            </a:r>
            <a:endParaRPr lang="en-US" sz="1100"/>
          </a:p>
        </p:txBody>
      </p:sp>
      <p:cxnSp>
        <p:nvCxnSpPr>
          <p:cNvPr name="Connector 13" id="13"/>
          <p:cNvCxnSpPr/>
          <p:nvPr/>
        </p:nvCxnSpPr>
        <p:spPr>
          <a:xfrm rot="-15626" flipH="false" flipV="false">
            <a:off x="48768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4" id="14"/>
          <p:cNvSpPr/>
          <p:nvPr/>
        </p:nvSpPr>
        <p:spPr>
          <a:xfrm rot="0" flipH="false" flipV="false">
            <a:off x="48768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[Layer 1] 正则匹配</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solidFill>
                <a:latin typeface="Noto Sans SC"/>
                <a:ea typeface="Noto Sans SC"/>
                <a:cs typeface="Noto Sans SC"/>
                <a:sym typeface="Noto Sans SC"/>
              </a:rPr>
              <a:t>结果：无命中</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[Layer 2] 上下文检查</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solidFill>
                <a:latin typeface="Noto Sans SC"/>
                <a:ea typeface="Noto Sans SC"/>
                <a:cs typeface="Noto Sans SC"/>
                <a:sym typeface="Noto Sans SC"/>
              </a:rPr>
              <a:t>结果：100 &lt; 100K，不触发</a:t>
            </a: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051800" y="3657600"/>
            <a:ext cx="304800" cy="304800"/>
          </a:xfrm>
          <a:prstGeom prst="rect">
            <a:avLst/>
          </a:prstGeom>
        </p:spPr>
      </p:pic>
      <p:sp>
        <p:nvSpPr>
          <p:cNvPr name="AutoShape 16" id="16"/>
          <p:cNvSpPr/>
          <p:nvPr/>
        </p:nvSpPr>
        <p:spPr>
          <a:xfrm rot="0" flipH="false" flipV="false">
            <a:off x="8483600" y="2032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737600" y="2286000"/>
            <a:ext cx="406400" cy="406400"/>
          </a:xfrm>
          <a:prstGeom prst="rect">
            <a:avLst/>
          </a:prstGeom>
        </p:spPr>
      </p:pic>
      <p:sp>
        <p:nvSpPr>
          <p:cNvPr name="AutoShape 18" id="18"/>
          <p:cNvSpPr/>
          <p:nvPr/>
        </p:nvSpPr>
        <p:spPr>
          <a:xfrm rot="0" flipH="false" flipV="false">
            <a:off x="9245600" y="23114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决策层 (Decision)</a:t>
            </a:r>
            <a:endParaRPr lang="en-US" sz="1100"/>
          </a:p>
        </p:txBody>
      </p:sp>
      <p:cxnSp>
        <p:nvCxnSpPr>
          <p:cNvPr name="Connector 19" id="19"/>
          <p:cNvCxnSpPr/>
          <p:nvPr/>
        </p:nvCxnSpPr>
        <p:spPr>
          <a:xfrm rot="-15626" flipH="false" flipV="false">
            <a:off x="8737614" y="2787650"/>
            <a:ext cx="2794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0" id="20"/>
          <p:cNvSpPr/>
          <p:nvPr/>
        </p:nvSpPr>
        <p:spPr>
          <a:xfrm rot="0" flipH="false" flipV="false">
            <a:off x="8737600" y="2921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复杂度得分: 0.002</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50196"/>
                  </a:srgbClr>
                </a:solidFill>
                <a:latin typeface="Noto Sans SC"/>
                <a:ea typeface="Noto Sans SC"/>
                <a:cs typeface="Noto Sans SC"/>
                <a:sym typeface="Noto Sans SC"/>
              </a:rPr>
              <a:t>(长度/代码/术语/推理均为0)</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70196"/>
                  </a:srgbClr>
                </a:solidFill>
                <a:latin typeface="Noto Sans SC"/>
                <a:ea typeface="Noto Sans SC"/>
                <a:cs typeface="Noto Sans SC"/>
                <a:sym typeface="Noto Sans SC"/>
              </a:rPr>
              <a:t>判定结果:</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00BFFF"/>
                </a:solidFill>
                <a:latin typeface="Noto Sans SC"/>
                <a:ea typeface="Noto Sans SC"/>
                <a:cs typeface="Noto Sans SC"/>
                <a:sym typeface="Noto Sans SC"/>
              </a:rPr>
              <a:t>Fast Model (GPT-4o-mini)</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_estimate_complexity() 四因子评分</a:t>
            </a:r>
            <a:endParaRPr lang="en-US" sz="1100"/>
          </a:p>
        </p:txBody>
      </p:sp>
      <p:sp>
        <p:nvSpPr>
          <p:cNvPr name="AutoShape 4" id="4"/>
          <p:cNvSpPr/>
          <p:nvPr/>
        </p:nvSpPr>
        <p:spPr>
          <a:xfrm rot="0" flipH="false" flipV="false">
            <a:off x="762000" y="1778000"/>
            <a:ext cx="6096000" cy="4318000"/>
          </a:xfrm>
          <a:prstGeom prst="roundRect">
            <a:avLst>
              <a:gd name="adj" fmla="val 2941"/>
            </a:avLst>
          </a:prstGeom>
          <a:solidFill>
            <a:srgbClr val="141923">
              <a:alpha val="9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6096000" cy="457200"/>
          </a:xfrm>
          <a:prstGeom prst="roundRect">
            <a:avLst>
              <a:gd name="adj" fmla="val 0"/>
            </a:avLst>
          </a:prstGeom>
          <a:solidFill>
            <a:srgbClr val="282D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930400"/>
            <a:ext cx="152400" cy="152400"/>
          </a:xfrm>
          <a:prstGeom prst="ellipse">
            <a:avLst/>
          </a:prstGeom>
          <a:solidFill>
            <a:srgbClr val="FF5F5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06500" y="1930400"/>
            <a:ext cx="152400" cy="152400"/>
          </a:xfrm>
          <a:prstGeom prst="ellipse">
            <a:avLst/>
          </a:prstGeom>
          <a:solidFill>
            <a:srgbClr val="FFBD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460500" y="1930400"/>
            <a:ext cx="152400" cy="152400"/>
          </a:xfrm>
          <a:prstGeom prst="ellipse">
            <a:avLst/>
          </a:prstGeom>
          <a:solidFill>
            <a:srgbClr val="27C93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89000" y="2286000"/>
            <a:ext cx="5842000" cy="368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678DD"/>
                </a:solidFill>
                <a:latin typeface="Noto Sans SC"/>
                <a:ea typeface="Noto Sans SC"/>
                <a:cs typeface="Noto Sans SC"/>
                <a:sym typeface="Noto Sans SC"/>
              </a:rPr>
              <a:t>def</a:t>
            </a:r>
            <a:r>
              <a:rPr lang="en-US" b="false" i="false" strike="noStrike" u="none" sz="1400">
                <a:solidFill>
                  <a:srgbClr val="DCDFE4"/>
                </a:solidFill>
                <a:latin typeface="Noto Sans SC"/>
                <a:ea typeface="Noto Sans SC"/>
                <a:cs typeface="Noto Sans SC"/>
                <a:sym typeface="Noto Sans SC"/>
              </a:rPr>
              <a:t>_estimate_complexity(self, query: str) -&gt; float:</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DCDFE4"/>
                </a:solidFill>
                <a:latin typeface="Noto Sans SC"/>
                <a:ea typeface="Noto Sans SC"/>
                <a:cs typeface="Noto Sans SC"/>
                <a:sym typeface="Noto Sans SC"/>
              </a:rPr>
              <a:t>factors = {</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8C379"/>
                </a:solidFill>
                <a:latin typeface="Noto Sans SC"/>
                <a:ea typeface="Noto Sans SC"/>
                <a:cs typeface="Noto Sans SC"/>
                <a:sym typeface="Noto Sans SC"/>
              </a:rPr>
              <a:t>'length'</a:t>
            </a:r>
            <a:r>
              <a:rPr lang="en-US" b="false" i="false" strike="noStrike" u="none" sz="1400">
                <a:solidFill>
                  <a:srgbClr val="DCDFE4"/>
                </a:solidFill>
                <a:latin typeface="Noto Sans SC"/>
                <a:ea typeface="Noto Sans SC"/>
                <a:cs typeface="Noto Sans SC"/>
                <a:sym typeface="Noto Sans SC"/>
              </a:rPr>
              <a:t>: min(len(query) / 1000, 1.0),</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8C379"/>
                </a:solidFill>
                <a:latin typeface="Noto Sans SC"/>
                <a:ea typeface="Noto Sans SC"/>
                <a:cs typeface="Noto Sans SC"/>
                <a:sym typeface="Noto Sans SC"/>
              </a:rPr>
              <a:t>'code_blocks'</a:t>
            </a:r>
            <a:r>
              <a:rPr lang="en-US" b="false" i="false" strike="noStrike" u="none" sz="1400">
                <a:solidFill>
                  <a:srgbClr val="DCDFE4"/>
                </a:solidFill>
                <a:latin typeface="Noto Sans SC"/>
                <a:ea typeface="Noto Sans SC"/>
                <a:cs typeface="Noto Sans SC"/>
                <a:sym typeface="Noto Sans SC"/>
              </a:rPr>
              <a:t>: len(re.findall(r'```', query)) *</a:t>
            </a:r>
            <a:r>
              <a:rPr lang="en-US" b="false" i="false" strike="noStrike" u="none" sz="1400">
                <a:solidFill>
                  <a:srgbClr val="D19A66"/>
                </a:solidFill>
                <a:latin typeface="Noto Sans SC"/>
                <a:ea typeface="Noto Sans SC"/>
                <a:cs typeface="Noto Sans SC"/>
                <a:sym typeface="Noto Sans SC"/>
              </a:rPr>
              <a:t>0.2</a:t>
            </a:r>
            <a:r>
              <a:rPr lang="en-US" b="false" i="false" strike="noStrike" u="none" sz="1400">
                <a:solidFill>
                  <a:srgbClr val="5C6370"/>
                </a:solidFill>
                <a:latin typeface="Noto Sans SC"/>
                <a:ea typeface="Noto Sans SC"/>
                <a:cs typeface="Noto Sans SC"/>
                <a:sym typeface="Noto Sans SC"/>
              </a:rPr>
              <a:t>, # 重点关注</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8C379"/>
                </a:solidFill>
                <a:latin typeface="Noto Sans SC"/>
                <a:ea typeface="Noto Sans SC"/>
                <a:cs typeface="Noto Sans SC"/>
                <a:sym typeface="Noto Sans SC"/>
              </a:rPr>
              <a:t>'technical_terms'</a:t>
            </a:r>
            <a:r>
              <a:rPr lang="en-US" b="false" i="false" strike="noStrike" u="none" sz="1400">
                <a:solidFill>
                  <a:srgbClr val="DCDFE4"/>
                </a:solidFill>
                <a:latin typeface="Noto Sans SC"/>
                <a:ea typeface="Noto Sans SC"/>
                <a:cs typeface="Noto Sans SC"/>
                <a:sym typeface="Noto Sans SC"/>
              </a:rPr>
              <a:t>: len(re.findall(</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DCDFE4"/>
                </a:solidFill>
                <a:latin typeface="Noto Sans SC"/>
                <a:ea typeface="Noto Sans SC"/>
                <a:cs typeface="Noto Sans SC"/>
                <a:sym typeface="Noto Sans SC"/>
              </a:rPr>
              <a:t>r'\b(API|架构|算法|模型)\b', query)) *</a:t>
            </a:r>
            <a:r>
              <a:rPr lang="en-US" b="false" i="false" strike="noStrike" u="none" sz="1400">
                <a:solidFill>
                  <a:srgbClr val="D19A66"/>
                </a:solidFill>
                <a:latin typeface="Noto Sans SC"/>
                <a:ea typeface="Noto Sans SC"/>
                <a:cs typeface="Noto Sans SC"/>
                <a:sym typeface="Noto Sans SC"/>
              </a:rPr>
              <a:t>0.1</a:t>
            </a:r>
            <a:r>
              <a:rPr lang="en-US" b="false" i="false" strike="noStrike" u="none" sz="1400">
                <a:solidFill>
                  <a:srgbClr val="DCDFE4"/>
                </a:solidFill>
                <a:latin typeface="Noto Sans SC"/>
                <a:ea typeface="Noto Sans SC"/>
                <a:cs typeface="Noto Sans SC"/>
                <a:sym typeface="Noto Sans SC"/>
              </a:rPr>
              <a:t>,</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8C379"/>
                </a:solidFill>
                <a:latin typeface="Noto Sans SC"/>
                <a:ea typeface="Noto Sans SC"/>
                <a:cs typeface="Noto Sans SC"/>
                <a:sym typeface="Noto Sans SC"/>
              </a:rPr>
              <a:t>'reasoning'</a:t>
            </a:r>
            <a:r>
              <a:rPr lang="en-US" b="false" i="false" strike="noStrike" u="none" sz="1400">
                <a:solidFill>
                  <a:srgbClr val="DCDFE4"/>
                </a:solidFill>
                <a:latin typeface="Noto Sans SC"/>
                <a:ea typeface="Noto Sans SC"/>
                <a:cs typeface="Noto Sans SC"/>
                <a:sym typeface="Noto Sans SC"/>
              </a:rPr>
              <a:t>: len(re.findall(</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DCDFE4"/>
                </a:solidFill>
                <a:latin typeface="Noto Sans SC"/>
                <a:ea typeface="Noto Sans SC"/>
                <a:cs typeface="Noto Sans SC"/>
                <a:sym typeface="Noto Sans SC"/>
              </a:rPr>
              <a:t>r'\b(为什么|如何|分析)\b', query)) *</a:t>
            </a:r>
            <a:r>
              <a:rPr lang="en-US" b="false" i="false" strike="noStrike" u="none" sz="1400">
                <a:solidFill>
                  <a:srgbClr val="D19A66"/>
                </a:solidFill>
                <a:latin typeface="Noto Sans SC"/>
                <a:ea typeface="Noto Sans SC"/>
                <a:cs typeface="Noto Sans SC"/>
                <a:sym typeface="Noto Sans SC"/>
              </a:rPr>
              <a:t>0.15</a:t>
            </a:r>
            <a:r>
              <a:rPr lang="en-US" b="false" i="false" strike="noStrike" u="none" sz="1400">
                <a:solidFill>
                  <a:srgbClr val="5C6370"/>
                </a:solidFill>
                <a:latin typeface="Noto Sans SC"/>
                <a:ea typeface="Noto Sans SC"/>
                <a:cs typeface="Noto Sans SC"/>
                <a:sym typeface="Noto Sans SC"/>
              </a:rPr>
              <a:t>, # 重点关注</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DCDFE4"/>
                </a:solidFill>
                <a:latin typeface="Noto Sans SC"/>
                <a:ea typeface="Noto Sans SC"/>
                <a:cs typeface="Noto Sans SC"/>
                <a:sym typeface="Noto Sans SC"/>
              </a:rPr>
              <a:t>}</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C678DD"/>
                </a:solidFill>
                <a:latin typeface="Noto Sans SC"/>
                <a:ea typeface="Noto Sans SC"/>
                <a:cs typeface="Noto Sans SC"/>
                <a:sym typeface="Noto Sans SC"/>
              </a:rPr>
              <a:t>return</a:t>
            </a:r>
            <a:r>
              <a:rPr lang="en-US" b="false" i="false" strike="noStrike" u="none" sz="1400">
                <a:solidFill>
                  <a:srgbClr val="DCDFE4"/>
                </a:solidFill>
                <a:latin typeface="Noto Sans SC"/>
                <a:ea typeface="Noto Sans SC"/>
                <a:cs typeface="Noto Sans SC"/>
                <a:sym typeface="Noto Sans SC"/>
              </a:rPr>
              <a:t>min(sum(factors.values()), 1.0)</a:t>
            </a:r>
          </a:p>
        </p:txBody>
      </p:sp>
      <p:sp>
        <p:nvSpPr>
          <p:cNvPr name="AutoShape 10" id="10"/>
          <p:cNvSpPr/>
          <p:nvPr/>
        </p:nvSpPr>
        <p:spPr>
          <a:xfrm rot="0" flipH="false" flipV="false">
            <a:off x="7112000" y="1778000"/>
            <a:ext cx="43180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302500" y="1968500"/>
            <a:ext cx="406400" cy="406400"/>
          </a:xfrm>
          <a:prstGeom prst="rect">
            <a:avLst/>
          </a:prstGeom>
        </p:spPr>
      </p:pic>
      <p:sp>
        <p:nvSpPr>
          <p:cNvPr name="AutoShape 12" id="12"/>
          <p:cNvSpPr/>
          <p:nvPr/>
        </p:nvSpPr>
        <p:spPr>
          <a:xfrm rot="0" flipH="false" flipV="false">
            <a:off x="7810500" y="1968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代码块因子 (Code Blocks)</a:t>
            </a:r>
            <a:endParaRPr lang="en-US" sz="1100"/>
          </a:p>
        </p:txBody>
      </p:sp>
      <p:sp>
        <p:nvSpPr>
          <p:cNvPr name="AutoShape 13" id="13"/>
          <p:cNvSpPr/>
          <p:nvPr/>
        </p:nvSpPr>
        <p:spPr>
          <a:xfrm rot="0" flipH="false" flipV="false">
            <a:off x="7810500" y="23495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B4BEC8"/>
                </a:solidFill>
                <a:latin typeface="Noto Sans SC"/>
                <a:ea typeface="Noto Sans SC"/>
                <a:cs typeface="Noto Sans SC"/>
                <a:sym typeface="Noto Sans SC"/>
              </a:rPr>
              <a:t>权重 0.2。检测代码块标记 ```，代码越多复杂度越高。</a:t>
            </a:r>
            <a:endParaRPr lang="en-US" sz="1100"/>
          </a:p>
        </p:txBody>
      </p:sp>
      <p:sp>
        <p:nvSpPr>
          <p:cNvPr name="AutoShape 14" id="14"/>
          <p:cNvSpPr/>
          <p:nvPr/>
        </p:nvSpPr>
        <p:spPr>
          <a:xfrm rot="0" flipH="false" flipV="false">
            <a:off x="7112000" y="3238500"/>
            <a:ext cx="43180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302500" y="3429000"/>
            <a:ext cx="406400" cy="406400"/>
          </a:xfrm>
          <a:prstGeom prst="rect">
            <a:avLst/>
          </a:prstGeom>
        </p:spPr>
      </p:pic>
      <p:sp>
        <p:nvSpPr>
          <p:cNvPr name="AutoShape 16" id="16"/>
          <p:cNvSpPr/>
          <p:nvPr/>
        </p:nvSpPr>
        <p:spPr>
          <a:xfrm rot="0" flipH="false" flipV="false">
            <a:off x="7810500" y="34290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推理因子 (Reasoning)</a:t>
            </a:r>
            <a:endParaRPr lang="en-US" sz="1100"/>
          </a:p>
        </p:txBody>
      </p:sp>
      <p:sp>
        <p:nvSpPr>
          <p:cNvPr name="AutoShape 17" id="17"/>
          <p:cNvSpPr/>
          <p:nvPr/>
        </p:nvSpPr>
        <p:spPr>
          <a:xfrm rot="0" flipH="false" flipV="false">
            <a:off x="7810500" y="38100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B4BEC8"/>
                </a:solidFill>
                <a:latin typeface="Noto Sans SC"/>
                <a:ea typeface="Noto Sans SC"/>
                <a:cs typeface="Noto Sans SC"/>
                <a:sym typeface="Noto Sans SC"/>
              </a:rPr>
              <a:t>权重 0.15。识别“为什么”、“如何”等词汇，评估逻辑深度。</a:t>
            </a:r>
            <a:endParaRPr lang="en-US" sz="1100"/>
          </a:p>
        </p:txBody>
      </p:sp>
      <p:sp>
        <p:nvSpPr>
          <p:cNvPr name="AutoShape 18" id="18"/>
          <p:cNvSpPr/>
          <p:nvPr/>
        </p:nvSpPr>
        <p:spPr>
          <a:xfrm rot="0" flipH="false" flipV="false">
            <a:off x="7112000" y="4699000"/>
            <a:ext cx="4318000" cy="1270000"/>
          </a:xfrm>
          <a:prstGeom prst="roundRect">
            <a:avLst>
              <a:gd name="adj" fmla="val 10000"/>
            </a:avLst>
          </a:prstGeom>
          <a:solidFill>
            <a:srgbClr val="FFFFFF">
              <a:alpha val="5000"/>
            </a:srgbClr>
          </a:solidFill>
          <a:ln w="12700" cmpd="sng" cap="flat">
            <a:solidFill>
              <a:srgbClr val="FFFFFF">
                <a:alpha val="1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302500" y="4889500"/>
            <a:ext cx="406400" cy="406400"/>
          </a:xfrm>
          <a:prstGeom prst="rect">
            <a:avLst/>
          </a:prstGeom>
        </p:spPr>
      </p:pic>
      <p:sp>
        <p:nvSpPr>
          <p:cNvPr name="AutoShape 20" id="20"/>
          <p:cNvSpPr/>
          <p:nvPr/>
        </p:nvSpPr>
        <p:spPr>
          <a:xfrm rot="0" flipH="false" flipV="false">
            <a:off x="7810500" y="4889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基础因子 (Length &amp; Terms)</a:t>
            </a:r>
            <a:endParaRPr lang="en-US" sz="1100"/>
          </a:p>
        </p:txBody>
      </p:sp>
      <p:sp>
        <p:nvSpPr>
          <p:cNvPr name="AutoShape 21" id="21"/>
          <p:cNvSpPr/>
          <p:nvPr/>
        </p:nvSpPr>
        <p:spPr>
          <a:xfrm rot="0" flipH="false" flipV="false">
            <a:off x="7810500" y="52705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B4BEC8"/>
                </a:solidFill>
                <a:latin typeface="Noto Sans SC"/>
                <a:ea typeface="Noto Sans SC"/>
                <a:cs typeface="Noto Sans SC"/>
                <a:sym typeface="Noto Sans SC"/>
              </a:rPr>
              <a:t>长度因子：长度归一化处理；技术术语：识别专业词汇。</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计算复杂度</a:t>
            </a:r>
            <a:endParaRPr lang="en-US" sz="1100"/>
          </a:p>
        </p:txBody>
      </p:sp>
      <p:sp>
        <p:nvSpPr>
          <p:cNvPr name="AutoShape 4" id="4"/>
          <p:cNvSpPr/>
          <p:nvPr/>
        </p:nvSpPr>
        <p:spPr>
          <a:xfrm rot="0" flipH="false" flipV="false">
            <a:off x="762000" y="2032000"/>
            <a:ext cx="5080000" cy="4064000"/>
          </a:xfrm>
          <a:prstGeom prst="roundRect">
            <a:avLst>
              <a:gd name="adj" fmla="val 31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304800" cy="304800"/>
          </a:xfrm>
          <a:prstGeom prst="rect">
            <a:avLst/>
          </a:prstGeom>
        </p:spPr>
      </p:pic>
      <p:sp>
        <p:nvSpPr>
          <p:cNvPr name="AutoShape 6" id="6"/>
          <p:cNvSpPr/>
          <p:nvPr/>
        </p:nvSpPr>
        <p:spPr>
          <a:xfrm rot="0" flipH="false" flipV="false">
            <a:off x="1397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输入问题 (Input)</a:t>
            </a:r>
            <a:endParaRPr lang="en-US" sz="1100"/>
          </a:p>
        </p:txBody>
      </p:sp>
      <p:cxnSp>
        <p:nvCxnSpPr>
          <p:cNvPr name="Connector 7" id="7"/>
          <p:cNvCxnSpPr/>
          <p:nvPr/>
        </p:nvCxnSpPr>
        <p:spPr>
          <a:xfrm rot="-9549" flipH="false" flipV="false">
            <a:off x="1016009" y="27241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921000"/>
            <a:ext cx="4572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DCDCDC"/>
                </a:solidFill>
                <a:latin typeface="Noto Sans SC"/>
                <a:ea typeface="Noto Sans SC"/>
                <a:cs typeface="Noto Sans SC"/>
                <a:sym typeface="Noto Sans SC"/>
              </a:rPr>
              <a:t>“为什么数据库的API响应变慢了？”</a:t>
            </a:r>
            <a:endParaRPr lang="en-US" sz="1100"/>
          </a:p>
        </p:txBody>
      </p:sp>
      <p:sp>
        <p:nvSpPr>
          <p:cNvPr name="AutoShape 9" id="9"/>
          <p:cNvSpPr/>
          <p:nvPr/>
        </p:nvSpPr>
        <p:spPr>
          <a:xfrm rot="0" flipH="false" flipV="false">
            <a:off x="6096000" y="2032000"/>
            <a:ext cx="5080000" cy="4064000"/>
          </a:xfrm>
          <a:prstGeom prst="roundRect">
            <a:avLst>
              <a:gd name="adj" fmla="val 31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286000"/>
            <a:ext cx="304800" cy="304800"/>
          </a:xfrm>
          <a:prstGeom prst="rect">
            <a:avLst/>
          </a:prstGeom>
        </p:spPr>
      </p:pic>
      <p:sp>
        <p:nvSpPr>
          <p:cNvPr name="AutoShape 11" id="11"/>
          <p:cNvSpPr/>
          <p:nvPr/>
        </p:nvSpPr>
        <p:spPr>
          <a:xfrm rot="0" flipH="false" flipV="false">
            <a:off x="6731000" y="2260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计算因子 (Factors)</a:t>
            </a:r>
            <a:endParaRPr lang="en-US" sz="1100"/>
          </a:p>
        </p:txBody>
      </p:sp>
      <p:cxnSp>
        <p:nvCxnSpPr>
          <p:cNvPr name="Connector 12" id="12"/>
          <p:cNvCxnSpPr/>
          <p:nvPr/>
        </p:nvCxnSpPr>
        <p:spPr>
          <a:xfrm rot="-9549" flipH="false" flipV="false">
            <a:off x="6350009" y="2724150"/>
            <a:ext cx="4572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2984500"/>
            <a:ext cx="254000" cy="254000"/>
          </a:xfrm>
          <a:prstGeom prst="rect">
            <a:avLst/>
          </a:prstGeom>
        </p:spPr>
      </p:pic>
      <p:sp>
        <p:nvSpPr>
          <p:cNvPr name="AutoShape 14" id="14"/>
          <p:cNvSpPr/>
          <p:nvPr/>
        </p:nvSpPr>
        <p:spPr>
          <a:xfrm rot="0" flipH="false" flipV="false">
            <a:off x="6731000" y="2959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文本长度: 16字 / 1000 =</a:t>
            </a:r>
            <a:r>
              <a:rPr lang="en-US" b="true" i="false" strike="noStrike" u="none" sz="1400">
                <a:solidFill>
                  <a:srgbClr val="00BFFF"/>
                </a:solidFill>
                <a:latin typeface="Noto Sans SC"/>
                <a:ea typeface="Noto Sans SC"/>
                <a:cs typeface="Noto Sans SC"/>
                <a:sym typeface="Noto Sans SC"/>
              </a:rPr>
              <a:t>0.016</a:t>
            </a:r>
            <a:endParaRPr lang="en-US" sz="1100"/>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350000" y="3365500"/>
            <a:ext cx="254000" cy="254000"/>
          </a:xfrm>
          <a:prstGeom prst="rect">
            <a:avLst/>
          </a:prstGeom>
        </p:spPr>
      </p:pic>
      <p:sp>
        <p:nvSpPr>
          <p:cNvPr name="AutoShape 16" id="16"/>
          <p:cNvSpPr/>
          <p:nvPr/>
        </p:nvSpPr>
        <p:spPr>
          <a:xfrm rot="0" flipH="false" flipV="false">
            <a:off x="6731000" y="3340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代码块数量: 0 =</a:t>
            </a:r>
            <a:r>
              <a:rPr lang="en-US" b="true" i="false" strike="noStrike" u="none" sz="1400">
                <a:solidFill>
                  <a:srgbClr val="00BFFF"/>
                </a:solidFill>
                <a:latin typeface="Noto Sans SC"/>
                <a:ea typeface="Noto Sans SC"/>
                <a:cs typeface="Noto Sans SC"/>
                <a:sym typeface="Noto Sans SC"/>
              </a:rPr>
              <a:t>0</a:t>
            </a:r>
            <a:endParaRPr lang="en-US" sz="1100"/>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350000" y="3746500"/>
            <a:ext cx="254000" cy="254000"/>
          </a:xfrm>
          <a:prstGeom prst="rect">
            <a:avLst/>
          </a:prstGeom>
        </p:spPr>
      </p:pic>
      <p:sp>
        <p:nvSpPr>
          <p:cNvPr name="AutoShape 18" id="18"/>
          <p:cNvSpPr/>
          <p:nvPr/>
        </p:nvSpPr>
        <p:spPr>
          <a:xfrm rot="0" flipH="false" flipV="false">
            <a:off x="6731000" y="3721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技术术语(数据库/API): 2 × 0.1 =</a:t>
            </a:r>
            <a:r>
              <a:rPr lang="en-US" b="true" i="false" strike="noStrike" u="none" sz="1400">
                <a:solidFill>
                  <a:srgbClr val="00BFFF"/>
                </a:solidFill>
                <a:latin typeface="Noto Sans SC"/>
                <a:ea typeface="Noto Sans SC"/>
                <a:cs typeface="Noto Sans SC"/>
                <a:sym typeface="Noto Sans SC"/>
              </a:rPr>
              <a:t>0.2</a:t>
            </a:r>
            <a:endParaRPr lang="en-US" sz="1100"/>
          </a:p>
        </p:txBody>
      </p:sp>
      <p:pic>
        <p:nvPicPr>
          <p:cNvPr name="Picture 19" id="1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350000" y="4127500"/>
            <a:ext cx="254000" cy="254000"/>
          </a:xfrm>
          <a:prstGeom prst="rect">
            <a:avLst/>
          </a:prstGeom>
        </p:spPr>
      </p:pic>
      <p:sp>
        <p:nvSpPr>
          <p:cNvPr name="AutoShape 20" id="20"/>
          <p:cNvSpPr/>
          <p:nvPr/>
        </p:nvSpPr>
        <p:spPr>
          <a:xfrm rot="0" flipH="false" flipV="false">
            <a:off x="6731000" y="4102100"/>
            <a:ext cx="4318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C8C8C8"/>
                </a:solidFill>
                <a:latin typeface="Noto Sans SC"/>
                <a:ea typeface="Noto Sans SC"/>
                <a:cs typeface="Noto Sans SC"/>
                <a:sym typeface="Noto Sans SC"/>
              </a:rPr>
              <a:t>推理指示词(为什么): 1 × 0.15 =</a:t>
            </a:r>
            <a:r>
              <a:rPr lang="en-US" b="true" i="false" strike="noStrike" u="none" sz="1400">
                <a:solidFill>
                  <a:srgbClr val="00BFFF"/>
                </a:solidFill>
                <a:latin typeface="Noto Sans SC"/>
                <a:ea typeface="Noto Sans SC"/>
                <a:cs typeface="Noto Sans SC"/>
                <a:sym typeface="Noto Sans SC"/>
              </a:rPr>
              <a:t>0.15</a:t>
            </a:r>
            <a:endParaRPr lang="en-US" sz="1100"/>
          </a:p>
        </p:txBody>
      </p:sp>
      <p:cxnSp>
        <p:nvCxnSpPr>
          <p:cNvPr name="Connector 21" id="21"/>
          <p:cNvCxnSpPr/>
          <p:nvPr/>
        </p:nvCxnSpPr>
        <p:spPr>
          <a:xfrm rot="-9549" flipH="false" flipV="false">
            <a:off x="6350009" y="4565650"/>
            <a:ext cx="4572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sp>
        <p:nvSpPr>
          <p:cNvPr name="AutoShape 22" id="22"/>
          <p:cNvSpPr/>
          <p:nvPr/>
        </p:nvSpPr>
        <p:spPr>
          <a:xfrm rot="0" flipH="false" flipV="false">
            <a:off x="6350000" y="4762500"/>
            <a:ext cx="457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综合得分:</a:t>
            </a:r>
            <a:r>
              <a:rPr lang="en-US" b="true" i="false" strike="noStrike" u="none" sz="2400">
                <a:solidFill>
                  <a:srgbClr val="FFFF00"/>
                </a:solidFill>
                <a:latin typeface="Noto Sans SC"/>
                <a:ea typeface="Noto Sans SC"/>
                <a:cs typeface="Noto Sans SC"/>
                <a:sym typeface="Noto Sans SC"/>
              </a:rPr>
              <a:t>0.366 (中等复杂度)</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容量检查：context &lt; window x 0.8</a:t>
            </a:r>
            <a:endParaRPr lang="en-US" sz="1100"/>
          </a:p>
        </p:txBody>
      </p:sp>
      <p:sp>
        <p:nvSpPr>
          <p:cNvPr name="AutoShape 4" id="4"/>
          <p:cNvSpPr/>
          <p:nvPr/>
        </p:nvSpPr>
        <p:spPr>
          <a:xfrm rot="0" flipH="false" flipV="false">
            <a:off x="762000" y="2032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609600" cy="609600"/>
          </a:xfrm>
          <a:prstGeom prst="rect">
            <a:avLst/>
          </a:prstGeom>
        </p:spPr>
      </p:pic>
      <p:sp>
        <p:nvSpPr>
          <p:cNvPr name="AutoShape 6" id="6"/>
          <p:cNvSpPr/>
          <p:nvPr/>
        </p:nvSpPr>
        <p:spPr>
          <a:xfrm rot="0" flipH="false" flipV="false">
            <a:off x="1066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预留输出空间</a:t>
            </a:r>
            <a:endParaRPr lang="en-US" sz="1100"/>
          </a:p>
        </p:txBody>
      </p:sp>
      <p:sp>
        <p:nvSpPr>
          <p:cNvPr name="AutoShape 7" id="7"/>
          <p:cNvSpPr/>
          <p:nvPr/>
        </p:nvSpPr>
        <p:spPr>
          <a:xfrm rot="0" flipH="false" flipV="false">
            <a:off x="1066800" y="3492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如果输入完全填满上下文窗口，模型将没有剩余空间生成回复，导致输出中断。</a:t>
            </a:r>
            <a:endParaRPr lang="en-US" sz="1100"/>
          </a:p>
        </p:txBody>
      </p:sp>
      <p:sp>
        <p:nvSpPr>
          <p:cNvPr name="AutoShape 8" id="8"/>
          <p:cNvSpPr/>
          <p:nvPr/>
        </p:nvSpPr>
        <p:spPr>
          <a:xfrm rot="0" flipH="false" flipV="false">
            <a:off x="4445000" y="2032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336800"/>
            <a:ext cx="609600" cy="609600"/>
          </a:xfrm>
          <a:prstGeom prst="rect">
            <a:avLst/>
          </a:prstGeom>
        </p:spPr>
      </p:pic>
      <p:sp>
        <p:nvSpPr>
          <p:cNvPr name="AutoShape 10" id="10"/>
          <p:cNvSpPr/>
          <p:nvPr/>
        </p:nvSpPr>
        <p:spPr>
          <a:xfrm rot="0" flipH="false" flipV="false">
            <a:off x="4749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系统提示词占用</a:t>
            </a:r>
            <a:endParaRPr lang="en-US" sz="1100"/>
          </a:p>
        </p:txBody>
      </p:sp>
      <p:sp>
        <p:nvSpPr>
          <p:cNvPr name="AutoShape 11" id="11"/>
          <p:cNvSpPr/>
          <p:nvPr/>
        </p:nvSpPr>
        <p:spPr>
          <a:xfrm rot="0" flipH="false" flipV="false">
            <a:off x="4749800" y="3492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System Prompt 是隐藏的开销，它也会消耗 Token 数量，必须计算在总容量之内。</a:t>
            </a:r>
            <a:endParaRPr lang="en-US" sz="1100"/>
          </a:p>
        </p:txBody>
      </p:sp>
      <p:sp>
        <p:nvSpPr>
          <p:cNvPr name="AutoShape 12" id="12"/>
          <p:cNvSpPr/>
          <p:nvPr/>
        </p:nvSpPr>
        <p:spPr>
          <a:xfrm rot="0" flipH="false" flipV="false">
            <a:off x="8128000" y="2032000"/>
            <a:ext cx="3302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336800"/>
            <a:ext cx="609600" cy="609600"/>
          </a:xfrm>
          <a:prstGeom prst="rect">
            <a:avLst/>
          </a:prstGeom>
        </p:spPr>
      </p:pic>
      <p:sp>
        <p:nvSpPr>
          <p:cNvPr name="AutoShape 14" id="14"/>
          <p:cNvSpPr/>
          <p:nvPr/>
        </p:nvSpPr>
        <p:spPr>
          <a:xfrm rot="0" flipH="false" flipV="false">
            <a:off x="8432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计数误差安全网</a:t>
            </a:r>
            <a:endParaRPr lang="en-US" sz="1100"/>
          </a:p>
        </p:txBody>
      </p:sp>
      <p:sp>
        <p:nvSpPr>
          <p:cNvPr name="AutoShape 15" id="15"/>
          <p:cNvSpPr/>
          <p:nvPr/>
        </p:nvSpPr>
        <p:spPr>
          <a:xfrm rot="0" flipH="false" flipV="false">
            <a:off x="8432800" y="3492500"/>
            <a:ext cx="26924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Token 计数工具并非绝对精确，保留 20% 的余量可有效防止因计算误差导致的上下文溢出。</a:t>
            </a:r>
            <a:endParaRPr lang="en-US" sz="1100"/>
          </a:p>
        </p:txBody>
      </p:sp>
      <p:sp>
        <p:nvSpPr>
          <p:cNvPr name="AutoShape 16" id="16"/>
          <p:cNvSpPr/>
          <p:nvPr/>
        </p:nvSpPr>
        <p:spPr>
          <a:xfrm rot="0" flipH="false" flipV="false">
            <a:off x="762000" y="5334000"/>
            <a:ext cx="10668000" cy="762000"/>
          </a:xfrm>
          <a:prstGeom prst="roundRect">
            <a:avLst>
              <a:gd name="adj" fmla="val 16666"/>
            </a:avLst>
          </a:prstGeom>
          <a:solidFill>
            <a:srgbClr val="00BFFF">
              <a:alpha val="15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5562600"/>
            <a:ext cx="304800" cy="304800"/>
          </a:xfrm>
          <a:prstGeom prst="rect">
            <a:avLst/>
          </a:prstGeom>
        </p:spPr>
      </p:pic>
      <p:sp>
        <p:nvSpPr>
          <p:cNvPr name="AutoShape 18" id="18"/>
          <p:cNvSpPr/>
          <p:nvPr/>
        </p:nvSpPr>
        <p:spPr>
          <a:xfrm rot="0" flipH="false" flipV="false">
            <a:off x="1460500" y="5524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FFFFFF"/>
                </a:solidFill>
                <a:latin typeface="Noto Sans SC"/>
                <a:ea typeface="Noto Sans SC"/>
                <a:cs typeface="Noto Sans SC"/>
                <a:sym typeface="Noto Sans SC"/>
              </a:rPr>
              <a:t>磁盘用到 90% 就该报警，不是等到 100% —— 容量管理的黄金法则</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练习1：实现完整的ModelRouter类</a:t>
            </a:r>
            <a:endParaRPr lang="en-US" sz="1100"/>
          </a:p>
        </p:txBody>
      </p:sp>
      <p:sp>
        <p:nvSpPr>
          <p:cNvPr name="AutoShape 4" id="4"/>
          <p:cNvSpPr/>
          <p:nvPr/>
        </p:nvSpPr>
        <p:spPr>
          <a:xfrm rot="0" flipH="false" flipV="false">
            <a:off x="762000" y="2032000"/>
            <a:ext cx="5207000" cy="1651000"/>
          </a:xfrm>
          <a:prstGeom prst="roundRect">
            <a:avLst>
              <a:gd name="adj" fmla="val 769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时间限制</a:t>
            </a:r>
            <a:endParaRPr lang="en-US" sz="1100"/>
          </a:p>
        </p:txBody>
      </p:sp>
      <p:sp>
        <p:nvSpPr>
          <p:cNvPr name="AutoShape 7" id="7"/>
          <p:cNvSpPr/>
          <p:nvPr/>
        </p:nvSpPr>
        <p:spPr>
          <a:xfrm rot="0" flipH="false" flipV="false">
            <a:off x="1524000" y="2730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预计耗时 30 分钟，请合理分配时间。</a:t>
            </a:r>
            <a:endParaRPr lang="en-US" sz="1100"/>
          </a:p>
        </p:txBody>
      </p:sp>
      <p:sp>
        <p:nvSpPr>
          <p:cNvPr name="AutoShape 8" id="8"/>
          <p:cNvSpPr/>
          <p:nvPr/>
        </p:nvSpPr>
        <p:spPr>
          <a:xfrm rot="0" flipH="false" flipV="false">
            <a:off x="6223000" y="2032000"/>
            <a:ext cx="5207000" cy="1651000"/>
          </a:xfrm>
          <a:prstGeom prst="roundRect">
            <a:avLst>
              <a:gd name="adj" fmla="val 769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286000"/>
            <a:ext cx="406400" cy="406400"/>
          </a:xfrm>
          <a:prstGeom prst="rect">
            <a:avLst/>
          </a:prstGeom>
        </p:spPr>
      </p:pic>
      <p:sp>
        <p:nvSpPr>
          <p:cNvPr name="AutoShape 10" id="10"/>
          <p:cNvSpPr/>
          <p:nvPr/>
        </p:nvSpPr>
        <p:spPr>
          <a:xfrm rot="0" flipH="false" flipV="false">
            <a:off x="6985000" y="2286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核心实现任务</a:t>
            </a:r>
            <a:endParaRPr lang="en-US" sz="1100"/>
          </a:p>
        </p:txBody>
      </p:sp>
      <p:sp>
        <p:nvSpPr>
          <p:cNvPr name="AutoShape 11" id="11"/>
          <p:cNvSpPr/>
          <p:nvPr/>
        </p:nvSpPr>
        <p:spPr>
          <a:xfrm rot="0" flipH="false" flipV="false">
            <a:off x="6985000" y="2730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完成三个核心方法：select_model()、_estimate_complexity()、_check_capacity()</a:t>
            </a:r>
            <a:endParaRPr lang="en-US" sz="1100"/>
          </a:p>
        </p:txBody>
      </p:sp>
      <p:sp>
        <p:nvSpPr>
          <p:cNvPr name="AutoShape 12" id="12"/>
          <p:cNvSpPr/>
          <p:nvPr/>
        </p:nvSpPr>
        <p:spPr>
          <a:xfrm rot="0" flipH="false" flipV="false">
            <a:off x="762000" y="3937000"/>
            <a:ext cx="5207000" cy="1651000"/>
          </a:xfrm>
          <a:prstGeom prst="roundRect">
            <a:avLst>
              <a:gd name="adj" fmla="val 769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191000"/>
            <a:ext cx="406400" cy="406400"/>
          </a:xfrm>
          <a:prstGeom prst="rect">
            <a:avLst/>
          </a:prstGeom>
        </p:spPr>
      </p:pic>
      <p:sp>
        <p:nvSpPr>
          <p:cNvPr name="AutoShape 14" id="14"/>
          <p:cNvSpPr/>
          <p:nvPr/>
        </p:nvSpPr>
        <p:spPr>
          <a:xfrm rot="0" flipH="false" flipV="false">
            <a:off x="1524000" y="4191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验证标准</a:t>
            </a:r>
            <a:endParaRPr lang="en-US" sz="1100"/>
          </a:p>
        </p:txBody>
      </p:sp>
      <p:sp>
        <p:nvSpPr>
          <p:cNvPr name="AutoShape 15" id="15"/>
          <p:cNvSpPr/>
          <p:nvPr/>
        </p:nvSpPr>
        <p:spPr>
          <a:xfrm rot="0" flipH="false" flipV="false">
            <a:off x="1524000" y="4635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确保 5 个测试场景全部通过，无报错。</a:t>
            </a:r>
            <a:endParaRPr lang="en-US" sz="1100"/>
          </a:p>
        </p:txBody>
      </p:sp>
      <p:sp>
        <p:nvSpPr>
          <p:cNvPr name="AutoShape 16" id="16"/>
          <p:cNvSpPr/>
          <p:nvPr/>
        </p:nvSpPr>
        <p:spPr>
          <a:xfrm rot="0" flipH="false" flipV="false">
            <a:off x="6223000" y="3937000"/>
            <a:ext cx="5207000" cy="1651000"/>
          </a:xfrm>
          <a:prstGeom prst="roundRect">
            <a:avLst>
              <a:gd name="adj" fmla="val 769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191000"/>
            <a:ext cx="406400" cy="406400"/>
          </a:xfrm>
          <a:prstGeom prst="rect">
            <a:avLst/>
          </a:prstGeom>
        </p:spPr>
      </p:pic>
      <p:sp>
        <p:nvSpPr>
          <p:cNvPr name="AutoShape 18" id="18"/>
          <p:cNvSpPr/>
          <p:nvPr/>
        </p:nvSpPr>
        <p:spPr>
          <a:xfrm rot="0" flipH="false" flipV="false">
            <a:off x="6985000" y="4191000"/>
            <a:ext cx="431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参考资源</a:t>
            </a:r>
            <a:endParaRPr lang="en-US" sz="1100"/>
          </a:p>
        </p:txBody>
      </p:sp>
      <p:sp>
        <p:nvSpPr>
          <p:cNvPr name="AutoShape 19" id="19"/>
          <p:cNvSpPr/>
          <p:nvPr/>
        </p:nvSpPr>
        <p:spPr>
          <a:xfrm rot="0" flipH="false" flipV="false">
            <a:off x="6985000" y="4635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文件：exercise_03_model_router.py</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参考：讲义模块2.3 ModelRouter完整代码</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没有监控就没有优化</a:t>
            </a:r>
            <a:endParaRPr lang="en-US" sz="1100"/>
          </a:p>
        </p:txBody>
      </p:sp>
      <p:sp>
        <p:nvSpPr>
          <p:cNvPr name="AutoShape 4" id="4"/>
          <p:cNvSpPr/>
          <p:nvPr/>
        </p:nvSpPr>
        <p:spPr>
          <a:xfrm rot="0" flipH="false" flipV="false">
            <a:off x="762000" y="1714500"/>
            <a:ext cx="1066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模块 2.4 -- 性能监控体系</a:t>
            </a:r>
            <a:endParaRPr lang="en-US" sz="1100"/>
          </a:p>
        </p:txBody>
      </p:sp>
      <p:sp>
        <p:nvSpPr>
          <p:cNvPr name="AutoShape 5" id="5"/>
          <p:cNvSpPr/>
          <p:nvPr/>
        </p:nvSpPr>
        <p:spPr>
          <a:xfrm rot="0" flipH="false" flipV="false">
            <a:off x="762000" y="2413000"/>
            <a:ext cx="3302000" cy="2794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717800"/>
            <a:ext cx="609600" cy="609600"/>
          </a:xfrm>
          <a:prstGeom prst="rect">
            <a:avLst/>
          </a:prstGeom>
        </p:spPr>
      </p:pic>
      <p:sp>
        <p:nvSpPr>
          <p:cNvPr name="AutoShape 7" id="7"/>
          <p:cNvSpPr/>
          <p:nvPr/>
        </p:nvSpPr>
        <p:spPr>
          <a:xfrm rot="0" flipH="false" flipV="false">
            <a:off x="1066800" y="3429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调用量统计</a:t>
            </a:r>
            <a:endParaRPr lang="en-US" sz="1100"/>
          </a:p>
        </p:txBody>
      </p:sp>
      <p:sp>
        <p:nvSpPr>
          <p:cNvPr name="AutoShape 8" id="8"/>
          <p:cNvSpPr/>
          <p:nvPr/>
        </p:nvSpPr>
        <p:spPr>
          <a:xfrm rot="0" flipH="false" flipV="false">
            <a:off x="1066800" y="3873500"/>
            <a:ext cx="26924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每个模型被调用了多少次？掌握流量分布与热点情况。</a:t>
            </a:r>
            <a:endParaRPr lang="en-US" sz="1100"/>
          </a:p>
        </p:txBody>
      </p:sp>
      <p:sp>
        <p:nvSpPr>
          <p:cNvPr name="AutoShape 9" id="9"/>
          <p:cNvSpPr/>
          <p:nvPr/>
        </p:nvSpPr>
        <p:spPr>
          <a:xfrm rot="0" flipH="false" flipV="false">
            <a:off x="4445000" y="2413000"/>
            <a:ext cx="3302000" cy="2794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717800"/>
            <a:ext cx="609600" cy="609600"/>
          </a:xfrm>
          <a:prstGeom prst="rect">
            <a:avLst/>
          </a:prstGeom>
        </p:spPr>
      </p:pic>
      <p:sp>
        <p:nvSpPr>
          <p:cNvPr name="AutoShape 11" id="11"/>
          <p:cNvSpPr/>
          <p:nvPr/>
        </p:nvSpPr>
        <p:spPr>
          <a:xfrm rot="0" flipH="false" flipV="false">
            <a:off x="4749800" y="3429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成功率与延迟</a:t>
            </a:r>
            <a:endParaRPr lang="en-US" sz="1100"/>
          </a:p>
        </p:txBody>
      </p:sp>
      <p:sp>
        <p:nvSpPr>
          <p:cNvPr name="AutoShape 12" id="12"/>
          <p:cNvSpPr/>
          <p:nvPr/>
        </p:nvSpPr>
        <p:spPr>
          <a:xfrm rot="0" flipH="false" flipV="false">
            <a:off x="4749800" y="3873500"/>
            <a:ext cx="26924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实时监控服务可用性，分析响应延迟表现，定位性能瓶颈。</a:t>
            </a:r>
            <a:endParaRPr lang="en-US" sz="1100"/>
          </a:p>
        </p:txBody>
      </p:sp>
      <p:sp>
        <p:nvSpPr>
          <p:cNvPr name="AutoShape 13" id="13"/>
          <p:cNvSpPr/>
          <p:nvPr/>
        </p:nvSpPr>
        <p:spPr>
          <a:xfrm rot="0" flipH="false" flipV="false">
            <a:off x="8128000" y="2413000"/>
            <a:ext cx="3302000" cy="2794000"/>
          </a:xfrm>
          <a:prstGeom prst="roundRect">
            <a:avLst>
              <a:gd name="adj" fmla="val 454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717800"/>
            <a:ext cx="609600" cy="609600"/>
          </a:xfrm>
          <a:prstGeom prst="rect">
            <a:avLst/>
          </a:prstGeom>
        </p:spPr>
      </p:pic>
      <p:sp>
        <p:nvSpPr>
          <p:cNvPr name="AutoShape 15" id="15"/>
          <p:cNvSpPr/>
          <p:nvPr/>
        </p:nvSpPr>
        <p:spPr>
          <a:xfrm rot="0" flipH="false" flipV="false">
            <a:off x="8432800" y="3429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成本分布监控</a:t>
            </a:r>
            <a:endParaRPr lang="en-US" sz="1100"/>
          </a:p>
        </p:txBody>
      </p:sp>
      <p:sp>
        <p:nvSpPr>
          <p:cNvPr name="AutoShape 16" id="16"/>
          <p:cNvSpPr/>
          <p:nvPr/>
        </p:nvSpPr>
        <p:spPr>
          <a:xfrm rot="0" flipH="false" flipV="false">
            <a:off x="8432800" y="3873500"/>
            <a:ext cx="26924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追踪资源消耗，确保成本分布在预算范围内，实现降本增效。</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五个核心监控指标</a:t>
            </a:r>
            <a:endParaRPr lang="en-US" sz="1100"/>
          </a:p>
        </p:txBody>
      </p:sp>
      <p:sp>
        <p:nvSpPr>
          <p:cNvPr name="AutoShape 4" id="4"/>
          <p:cNvSpPr/>
          <p:nvPr/>
        </p:nvSpPr>
        <p:spPr>
          <a:xfrm rot="0" flipH="false" flipV="false">
            <a:off x="762000" y="2032000"/>
            <a:ext cx="10668000" cy="4064000"/>
          </a:xfrm>
          <a:prstGeom prst="roundRect">
            <a:avLst>
              <a:gd name="adj" fmla="val 312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graphicFrame>
        <p:nvGraphicFramePr>
          <p:cNvPr name="Table 5" id="5"/>
          <p:cNvGraphicFramePr>
            <a:graphicFrameLocks noGrp="true"/>
          </p:cNvGraphicFramePr>
          <p:nvPr/>
        </p:nvGraphicFramePr>
        <p:xfrm>
          <a:off x="762000" y="2032000"/>
          <a:ext cx="10668000" cy="3492500"/>
        </p:xfrm>
        <a:graphic>
          <a:graphicData uri="http://schemas.openxmlformats.org/drawingml/2006/table">
            <a:tbl>
              <a:tblPr>
                <a:effectLst/>
              </a:tblPr>
              <a:tblGrid>
                <a:gridCol w="2540000"/>
                <a:gridCol w="4318000"/>
                <a:gridCol w="3810000"/>
              </a:tblGrid>
              <a:tr h="635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指标名称</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含义解析</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健康阈值</a:t>
                      </a:r>
                      <a:endParaRPr lang="en-US" sz="1100"/>
                    </a:p>
                  </a:txBody>
                  <a:tcPr anchor="ctr" anchorCtr="false" marL="101600" marR="101600" marT="101600" marB="101600">
                    <a:lnL>
                      <a:noFill/>
                    </a:lnL>
                    <a:lnR>
                      <a:noFill/>
                    </a:lnR>
                    <a:lnT>
                      <a:noFill/>
                    </a:lnT>
                    <a:lnB>
                      <a:noFill/>
                    </a:lnB>
                    <a:solidFill>
                      <a:srgbClr val="00BFFF">
                        <a:alpha val="20000"/>
                      </a:srgbClr>
                    </a:solidFill>
                  </a:tcPr>
                </a:tc>
              </a:tr>
              <a:tr h="571500">
                <a:tc>
                  <a:txBody>
                    <a:bodyPr anchor="t" rtlCol="false"/>
                    <a:lstStyle/>
                    <a:p>
                      <a:pPr algn="ctr" indent="0">
                        <a:lnSpc>
                          <a:spcPct val="100000"/>
                        </a:lnSpc>
                        <a:defRPr/>
                      </a:pPr>
                      <a:r>
                        <a:rPr lang="en-US" b="false" i="false" strike="noStrike" u="none" sz="1400">
                          <a:solidFill>
                            <a:srgbClr val="DCDCDC"/>
                          </a:solidFill>
                          <a:latin typeface="Noto Sans SC"/>
                          <a:ea typeface="Noto Sans SC"/>
                          <a:cs typeface="Noto Sans SC"/>
                          <a:sym typeface="Noto Sans SC"/>
                        </a:rPr>
                        <a:t>total_calls</a:t>
                      </a:r>
                      <a:endParaRPr lang="en-US" sz="1100"/>
                    </a:p>
                  </a:txBody>
                  <a:tcPr anchor="ctr" anchorCtr="false" marL="101600" marR="101600" marT="101600" marB="101600">
                    <a:lnL>
                      <a:noFill/>
                    </a:lnL>
                    <a:lnR>
                      <a:noFill/>
                    </a:lnR>
                    <a:lnT>
                      <a:noFill/>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总调用次数，反映模型使用分布情况</a:t>
                      </a:r>
                      <a:endParaRPr lang="en-US" sz="1100"/>
                    </a:p>
                  </a:txBody>
                  <a:tcPr anchor="ctr" anchorCtr="false" marL="101600" marR="101600" marT="101600" marB="101600">
                    <a:lnL>
                      <a:noFill/>
                    </a:lnL>
                    <a:lnR>
                      <a:noFill/>
                    </a:lnR>
                    <a:lnT>
                      <a:noFill/>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关注分布是否合理</a:t>
                      </a:r>
                      <a:endParaRPr lang="en-US" sz="1100"/>
                    </a:p>
                  </a:txBody>
                  <a:tcPr anchor="ctr" anchorCtr="false" marL="101600" marR="101600" marT="101600" marB="101600">
                    <a:lnL>
                      <a:noFill/>
                    </a:lnL>
                    <a:lnR>
                      <a:noFill/>
                    </a:lnR>
                    <a:lnT>
                      <a:noFill/>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DCDCDC"/>
                          </a:solidFill>
                          <a:latin typeface="Noto Sans SC"/>
                          <a:ea typeface="Noto Sans SC"/>
                          <a:cs typeface="Noto Sans SC"/>
                          <a:sym typeface="Noto Sans SC"/>
                        </a:rPr>
                        <a:t>success_rate</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请求成功响应的比例</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&gt;= 95%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DCDCDC"/>
                          </a:solidFill>
                          <a:latin typeface="Noto Sans SC"/>
                          <a:ea typeface="Noto Sans SC"/>
                          <a:cs typeface="Noto Sans SC"/>
                          <a:sym typeface="Noto Sans SC"/>
                        </a:rPr>
                        <a:t>avg_latency</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所有请求的平均响应时间</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依模型而异</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true" i="false" strike="noStrike" u="none" sz="1400">
                          <a:solidFill>
                            <a:srgbClr val="00BFFF"/>
                          </a:solidFill>
                          <a:latin typeface="Noto Sans SC"/>
                          <a:ea typeface="Noto Sans SC"/>
                          <a:cs typeface="Noto Sans SC"/>
                          <a:sym typeface="Noto Sans SC"/>
                        </a:rPr>
                        <a:t>p95_latency</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95%用户的真实体验延迟</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true" i="false" strike="noStrike" u="none" sz="1400">
                          <a:solidFill>
                            <a:srgbClr val="00BFFF"/>
                          </a:solidFill>
                          <a:latin typeface="Noto Sans SC"/>
                          <a:ea typeface="Noto Sans SC"/>
                          <a:cs typeface="Noto Sans SC"/>
                          <a:sym typeface="Noto Sans SC"/>
                        </a:rPr>
                        <a:t>&lt; 10,000ms</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571500">
                <a:tc>
                  <a:txBody>
                    <a:bodyPr anchor="t" rtlCol="false"/>
                    <a:lstStyle/>
                    <a:p>
                      <a:pPr algn="ctr" indent="0">
                        <a:lnSpc>
                          <a:spcPct val="100000"/>
                        </a:lnSpc>
                        <a:defRPr/>
                      </a:pPr>
                      <a:r>
                        <a:rPr lang="en-US" b="false" i="false" strike="noStrike" u="none" sz="1400">
                          <a:solidFill>
                            <a:srgbClr val="DCDCDC"/>
                          </a:solidFill>
                          <a:latin typeface="Noto Sans SC"/>
                          <a:ea typeface="Noto Sans SC"/>
                          <a:cs typeface="Noto Sans SC"/>
                          <a:sym typeface="Noto Sans SC"/>
                        </a:rPr>
                        <a:t>total_cost</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服务运行产生的总费用</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月预算内</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noFill/>
                  </a:tcPr>
                </a:tc>
              </a:tr>
            </a:tbl>
          </a:graphicData>
        </a:graphic>
      </p:graphicFrame>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P95 vs 平均延迟</a:t>
            </a:r>
            <a:endParaRPr lang="en-US" sz="1100"/>
          </a:p>
        </p:txBody>
      </p:sp>
      <p:sp>
        <p:nvSpPr>
          <p:cNvPr name="AutoShape 4" id="4"/>
          <p:cNvSpPr/>
          <p:nvPr/>
        </p:nvSpPr>
        <p:spPr>
          <a:xfrm rot="0" flipH="false" flipV="false">
            <a:off x="762000" y="2032000"/>
            <a:ext cx="5080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测试场景设定</a:t>
            </a:r>
            <a:endParaRPr lang="en-US" sz="1100"/>
          </a:p>
        </p:txBody>
      </p:sp>
      <p:sp>
        <p:nvSpPr>
          <p:cNvPr name="AutoShape 7" id="7"/>
          <p:cNvSpPr/>
          <p:nvPr/>
        </p:nvSpPr>
        <p:spPr>
          <a:xfrm rot="0" flipH="false" flipV="false">
            <a:off x="1016000" y="27305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总请求数：100个</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正常响应：99个请求耗时 1秒</a:t>
            </a:r>
            <a:r>
              <a:rPr lang="en-US" b="false" i="false" strike="noStrike" u="none" sz="1400">
                <a:solidFill>
                  <a:srgbClr val="FFFFFF">
                    <a:alpha val="80000"/>
                  </a:srgbClr>
                </a:solidFill>
                <a:latin typeface="Noto Sans SC"/>
                <a:ea typeface="Noto Sans SC"/>
                <a:cs typeface="Noto Sans SC"/>
                <a:sym typeface="Noto Sans SC"/>
              </a:rPr>
              <a:t/>
            </a:r>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极端异常：1个请求耗时 30秒</a:t>
            </a:r>
          </a:p>
        </p:txBody>
      </p:sp>
      <p:sp>
        <p:nvSpPr>
          <p:cNvPr name="AutoShape 8" id="8"/>
          <p:cNvSpPr/>
          <p:nvPr/>
        </p:nvSpPr>
        <p:spPr>
          <a:xfrm rot="0" flipH="false" flipV="false">
            <a:off x="6096000" y="2032000"/>
            <a:ext cx="5080000" cy="1905000"/>
          </a:xfrm>
          <a:prstGeom prst="roundRect">
            <a:avLst>
              <a:gd name="adj" fmla="val 6666"/>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2286000"/>
            <a:ext cx="406400" cy="406400"/>
          </a:xfrm>
          <a:prstGeom prst="rect">
            <a:avLst/>
          </a:prstGeom>
        </p:spPr>
      </p:pic>
      <p:sp>
        <p:nvSpPr>
          <p:cNvPr name="AutoShape 10" id="10"/>
          <p:cNvSpPr/>
          <p:nvPr/>
        </p:nvSpPr>
        <p:spPr>
          <a:xfrm rot="0" flipH="false" flipV="false">
            <a:off x="6858000" y="2286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数据计算对比</a:t>
            </a:r>
            <a:endParaRPr lang="en-US" sz="1100"/>
          </a:p>
        </p:txBody>
      </p:sp>
      <p:sp>
        <p:nvSpPr>
          <p:cNvPr name="AutoShape 11" id="11"/>
          <p:cNvSpPr/>
          <p:nvPr/>
        </p:nvSpPr>
        <p:spPr>
          <a:xfrm rot="0" flipH="false" flipV="false">
            <a:off x="6350000" y="2730500"/>
            <a:ext cx="215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平均延迟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2400">
                <a:solidFill>
                  <a:srgbClr val="FFFFFF"/>
                </a:solidFill>
                <a:latin typeface="Noto Sans SC"/>
                <a:ea typeface="Noto Sans SC"/>
                <a:cs typeface="Noto Sans SC"/>
                <a:sym typeface="Noto Sans SC"/>
              </a:rPr>
              <a:t>1.29 秒</a:t>
            </a:r>
          </a:p>
        </p:txBody>
      </p:sp>
      <p:sp>
        <p:nvSpPr>
          <p:cNvPr name="AutoShape 12" id="12"/>
          <p:cNvSpPr/>
          <p:nvPr/>
        </p:nvSpPr>
        <p:spPr>
          <a:xfrm rot="0" flipH="false" flipV="false">
            <a:off x="8763000" y="2730500"/>
            <a:ext cx="215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P95 延迟</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2400">
                <a:solidFill>
                  <a:srgbClr val="00BFFF"/>
                </a:solidFill>
                <a:latin typeface="Noto Sans SC"/>
                <a:ea typeface="Noto Sans SC"/>
                <a:cs typeface="Noto Sans SC"/>
                <a:sym typeface="Noto Sans SC"/>
              </a:rPr>
              <a:t>1.00 秒</a:t>
            </a:r>
          </a:p>
        </p:txBody>
      </p:sp>
      <p:sp>
        <p:nvSpPr>
          <p:cNvPr name="AutoShape 13" id="13"/>
          <p:cNvSpPr/>
          <p:nvPr/>
        </p:nvSpPr>
        <p:spPr>
          <a:xfrm rot="0" flipH="false" flipV="false">
            <a:off x="762000" y="4191000"/>
            <a:ext cx="10414000" cy="1524000"/>
          </a:xfrm>
          <a:prstGeom prst="roundRect">
            <a:avLst>
              <a:gd name="adj" fmla="val 8333"/>
            </a:avLst>
          </a:prstGeom>
          <a:solidFill>
            <a:srgbClr val="00BFFF">
              <a:alpha val="10000"/>
            </a:srgbClr>
          </a:solidFill>
          <a:ln w="12700" cmpd="sng" cap="flat">
            <a:solidFill>
              <a:srgbClr val="FFFF00">
                <a:alpha val="5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45000"/>
            <a:ext cx="508000" cy="508000"/>
          </a:xfrm>
          <a:prstGeom prst="rect">
            <a:avLst/>
          </a:prstGeom>
        </p:spPr>
      </p:pic>
      <p:sp>
        <p:nvSpPr>
          <p:cNvPr name="AutoShape 15" id="15"/>
          <p:cNvSpPr/>
          <p:nvPr/>
        </p:nvSpPr>
        <p:spPr>
          <a:xfrm rot="0" flipH="false" flipV="false">
            <a:off x="1651000" y="4445000"/>
            <a:ext cx="914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00"/>
                </a:solidFill>
                <a:latin typeface="Noto Sans SC"/>
                <a:ea typeface="Noto Sans SC"/>
                <a:cs typeface="Noto Sans SC"/>
                <a:sym typeface="Noto Sans SC"/>
              </a:rPr>
              <a:t>核心结论：P95 更能反映真实体验</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FFFF">
                    <a:alpha val="80000"/>
                  </a:srgbClr>
                </a:solidFill>
                <a:latin typeface="Noto Sans SC"/>
                <a:ea typeface="Noto Sans SC"/>
                <a:cs typeface="Noto Sans SC"/>
                <a:sym typeface="Noto Sans SC"/>
              </a:rPr>
              <a:t>平均延迟受极端异常值（30秒）影响较大，呈现出“尚可”的假象；而 P95 延迟能够有效排除长尾异常，准确反映了95%用户的真实快速响应体验。</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P95延迟计算</a:t>
            </a:r>
            <a:endParaRPr lang="en-US" sz="1100"/>
          </a:p>
        </p:txBody>
      </p:sp>
      <p:sp>
        <p:nvSpPr>
          <p:cNvPr name="AutoShape 4" id="4"/>
          <p:cNvSpPr/>
          <p:nvPr/>
        </p:nvSpPr>
        <p:spPr>
          <a:xfrm rot="0" flipH="false" flipV="false">
            <a:off x="762000" y="2032000"/>
            <a:ext cx="10668000" cy="3556000"/>
          </a:xfrm>
          <a:prstGeom prst="roundRect">
            <a:avLst>
              <a:gd name="adj" fmla="val 3571"/>
            </a:avLst>
          </a:prstGeom>
          <a:solidFill>
            <a:srgbClr val="141E30">
              <a:alpha val="8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222500"/>
            <a:ext cx="10160000" cy="330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9CA3AF"/>
                </a:solidFill>
                <a:latin typeface="Noto Sans SC"/>
                <a:ea typeface="Noto Sans SC"/>
                <a:cs typeface="Noto Sans SC"/>
                <a:sym typeface="Noto Sans SC"/>
              </a:rPr>
              <a:t>def get_model_stats(self, model_id: str, days: int = 7):</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9CA3AF"/>
                </a:solidFill>
                <a:latin typeface="Noto Sans SC"/>
                <a:ea typeface="Noto Sans SC"/>
                <a:cs typeface="Noto Sans SC"/>
                <a:sym typeface="Noto Sans SC"/>
              </a:rPr>
              <a:t>entries = self._get_recent_entries(model_id, days)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latencies = [e['latency_ms'] for e in entries]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return {</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'total_calls': len(entries),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'success_rate': sum(successes) / len(successes),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'avg_latency_ms': sum(latencies) / len(latencies),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FFFF00"/>
                </a:solidFill>
                <a:latin typeface="Noto Sans SC"/>
                <a:ea typeface="Noto Sans SC"/>
                <a:cs typeface="Noto Sans SC"/>
                <a:sym typeface="Noto Sans SC"/>
              </a:rPr>
              <a:t>'p95_latency_ms': sorted(latencies)[int(len(latencies) * 0.95)],</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'total_cost': sum(costs),</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9CA3AF"/>
                </a:solidFill>
                <a:latin typeface="Noto Sans SC"/>
                <a:ea typeface="Noto Sans SC"/>
                <a:cs typeface="Noto Sans SC"/>
                <a:sym typeface="Noto Sans SC"/>
              </a:rPr>
              <a:t>}</a:t>
            </a: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5842000"/>
            <a:ext cx="304800" cy="304800"/>
          </a:xfrm>
          <a:prstGeom prst="rect">
            <a:avLst/>
          </a:prstGeom>
        </p:spPr>
      </p:pic>
      <p:sp>
        <p:nvSpPr>
          <p:cNvPr name="AutoShape 7" id="7"/>
          <p:cNvSpPr/>
          <p:nvPr/>
        </p:nvSpPr>
        <p:spPr>
          <a:xfrm rot="0" flipH="false" flipV="false">
            <a:off x="1193800" y="5816600"/>
            <a:ext cx="990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D1D5DB"/>
                </a:solidFill>
                <a:latin typeface="Noto Sans SC"/>
                <a:ea typeface="Noto Sans SC"/>
                <a:cs typeface="Noto Sans SC"/>
                <a:sym typeface="Noto Sans SC"/>
              </a:rPr>
              <a:t>核心逻辑：通过 sorted() 排序后，取列表中 95% 位置的数值作为 P95 延迟指标。</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762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自动推荐策略</a:t>
            </a:r>
            <a:endParaRPr lang="en-US" sz="1100"/>
          </a:p>
        </p:txBody>
      </p:sp>
      <p:sp>
        <p:nvSpPr>
          <p:cNvPr name="AutoShape 4" id="4"/>
          <p:cNvSpPr/>
          <p:nvPr/>
        </p:nvSpPr>
        <p:spPr>
          <a:xfrm rot="0" flipH="false" flipV="false">
            <a:off x="762000" y="2032000"/>
            <a:ext cx="3302000" cy="3556000"/>
          </a:xfrm>
          <a:prstGeom prst="roundRect">
            <a:avLst>
              <a:gd name="adj" fmla="val 3846"/>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609600" cy="609600"/>
          </a:xfrm>
          <a:prstGeom prst="rect">
            <a:avLst/>
          </a:prstGeom>
        </p:spPr>
      </p:pic>
      <p:sp>
        <p:nvSpPr>
          <p:cNvPr name="AutoShape 6" id="6"/>
          <p:cNvSpPr/>
          <p:nvPr/>
        </p:nvSpPr>
        <p:spPr>
          <a:xfrm rot="0" flipH="false" flipV="false">
            <a:off x="1066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数据采集与遍历</a:t>
            </a:r>
            <a:endParaRPr lang="en-US" sz="1100"/>
          </a:p>
        </p:txBody>
      </p:sp>
      <p:sp>
        <p:nvSpPr>
          <p:cNvPr name="AutoShape 7" id="7"/>
          <p:cNvSpPr/>
          <p:nvPr/>
        </p:nvSpPr>
        <p:spPr>
          <a:xfrm rot="0" flipH="false" flipV="false">
            <a:off x="1066800" y="3492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系统定期遍历所有模型的最近7天监控数据，建立数据基础。</a:t>
            </a:r>
            <a:endParaRPr lang="en-US" sz="1100"/>
          </a:p>
        </p:txBody>
      </p:sp>
      <p:sp>
        <p:nvSpPr>
          <p:cNvPr name="AutoShape 8" id="8"/>
          <p:cNvSpPr/>
          <p:nvPr/>
        </p:nvSpPr>
        <p:spPr>
          <a:xfrm rot="0" flipH="false" flipV="false">
            <a:off x="4445000" y="2032000"/>
            <a:ext cx="3302000" cy="3556000"/>
          </a:xfrm>
          <a:prstGeom prst="roundRect">
            <a:avLst>
              <a:gd name="adj" fmla="val 3846"/>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2336800"/>
            <a:ext cx="609600" cy="609600"/>
          </a:xfrm>
          <a:prstGeom prst="rect">
            <a:avLst/>
          </a:prstGeom>
        </p:spPr>
      </p:pic>
      <p:sp>
        <p:nvSpPr>
          <p:cNvPr name="AutoShape 10" id="10"/>
          <p:cNvSpPr/>
          <p:nvPr/>
        </p:nvSpPr>
        <p:spPr>
          <a:xfrm rot="0" flipH="false" flipV="false">
            <a:off x="4749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成功率阈值检测</a:t>
            </a:r>
            <a:endParaRPr lang="en-US" sz="1100"/>
          </a:p>
        </p:txBody>
      </p:sp>
      <p:sp>
        <p:nvSpPr>
          <p:cNvPr name="AutoShape 11" id="11"/>
          <p:cNvSpPr/>
          <p:nvPr/>
        </p:nvSpPr>
        <p:spPr>
          <a:xfrm rot="0" flipH="false" flipV="false">
            <a:off x="4749800" y="3492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检查成功率是否 &lt; 95%。</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6B6B"/>
                </a:solidFill>
                <a:latin typeface="Noto Sans SC"/>
                <a:ea typeface="Noto Sans SC"/>
                <a:cs typeface="Noto Sans SC"/>
                <a:sym typeface="Noto Sans SC"/>
              </a:rPr>
              <a:t>触发建议：检查API稳定性或重试逻辑。</a:t>
            </a:r>
          </a:p>
        </p:txBody>
      </p:sp>
      <p:sp>
        <p:nvSpPr>
          <p:cNvPr name="AutoShape 12" id="12"/>
          <p:cNvSpPr/>
          <p:nvPr/>
        </p:nvSpPr>
        <p:spPr>
          <a:xfrm rot="0" flipH="false" flipV="false">
            <a:off x="8128000" y="2032000"/>
            <a:ext cx="3302000" cy="3556000"/>
          </a:xfrm>
          <a:prstGeom prst="roundRect">
            <a:avLst>
              <a:gd name="adj" fmla="val 3846"/>
            </a:avLst>
          </a:prstGeom>
          <a:solidFill>
            <a:srgbClr val="1E293B">
              <a:alpha val="6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2336800"/>
            <a:ext cx="609600" cy="609600"/>
          </a:xfrm>
          <a:prstGeom prst="rect">
            <a:avLst/>
          </a:prstGeom>
        </p:spPr>
      </p:pic>
      <p:sp>
        <p:nvSpPr>
          <p:cNvPr name="AutoShape 14" id="14"/>
          <p:cNvSpPr/>
          <p:nvPr/>
        </p:nvSpPr>
        <p:spPr>
          <a:xfrm rot="0" flipH="false" flipV="false">
            <a:off x="8432800" y="30480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P95 延迟监控</a:t>
            </a:r>
            <a:endParaRPr lang="en-US" sz="1100"/>
          </a:p>
        </p:txBody>
      </p:sp>
      <p:sp>
        <p:nvSpPr>
          <p:cNvPr name="AutoShape 15" id="15"/>
          <p:cNvSpPr/>
          <p:nvPr/>
        </p:nvSpPr>
        <p:spPr>
          <a:xfrm rot="0" flipH="false" flipV="false">
            <a:off x="8432800" y="3492500"/>
            <a:ext cx="26924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检查延迟是否 &gt; 10秒。</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FF6B6B"/>
                </a:solidFill>
                <a:latin typeface="Noto Sans SC"/>
                <a:ea typeface="Noto Sans SC"/>
                <a:cs typeface="Noto Sans SC"/>
                <a:sym typeface="Noto Sans SC"/>
              </a:rPr>
              <a:t>触发建议：考虑降级或切换模型。</a:t>
            </a:r>
          </a:p>
        </p:txBody>
      </p:sp>
      <p:sp>
        <p:nvSpPr>
          <p:cNvPr name="AutoShape 16" id="16"/>
          <p:cNvSpPr/>
          <p:nvPr/>
        </p:nvSpPr>
        <p:spPr>
          <a:xfrm rot="0" flipH="false" flipV="false">
            <a:off x="762000" y="5842000"/>
            <a:ext cx="10668000" cy="508000"/>
          </a:xfrm>
          <a:prstGeom prst="roundRect">
            <a:avLst>
              <a:gd name="adj" fmla="val 25000"/>
            </a:avLst>
          </a:prstGeom>
          <a:solidFill>
            <a:srgbClr val="00BFFF">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52500" y="5969000"/>
            <a:ext cx="254000" cy="254000"/>
          </a:xfrm>
          <a:prstGeom prst="rect">
            <a:avLst/>
          </a:prstGeom>
        </p:spPr>
      </p:pic>
      <p:sp>
        <p:nvSpPr>
          <p:cNvPr name="AutoShape 18" id="18"/>
          <p:cNvSpPr/>
          <p:nvPr/>
        </p:nvSpPr>
        <p:spPr>
          <a:xfrm rot="0" flipH="false" flipV="false">
            <a:off x="1333500" y="5943600"/>
            <a:ext cx="9525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若无异常触发，则判定系统健康，保持当前运行状态。</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实际运行效果</a:t>
            </a:r>
            <a:endParaRPr lang="en-US" sz="1100"/>
          </a:p>
        </p:txBody>
      </p:sp>
      <p:cxnSp>
        <p:nvCxnSpPr>
          <p:cNvPr name="Connector 4" id="4"/>
          <p:cNvCxnSpPr/>
          <p:nvPr/>
        </p:nvCxnSpPr>
        <p:spPr>
          <a:xfrm rot="-42969" flipH="false" flipV="false">
            <a:off x="762040" y="1771650"/>
            <a:ext cx="1016000" cy="12700"/>
          </a:xfrm>
          <a:prstGeom prst="straightConnector1">
            <a:avLst/>
          </a:prstGeom>
          <a:solidFill>
            <a:srgbClr val="DEE0E3">
              <a:alpha val="100000"/>
            </a:srgbClr>
          </a:solidFill>
          <a:ln w="38100" cmpd="sng" cap="flat">
            <a:solidFill>
              <a:srgbClr val="00BFFF">
                <a:alpha val="100000"/>
              </a:srgbClr>
            </a:solidFill>
            <a:prstDash val="solid"/>
            <a:round/>
            <a:headEnd type="none" w="lg" len="lg"/>
            <a:tailEnd type="none" w="lg" len="lg"/>
          </a:ln>
        </p:spPr>
      </p:cxnSp>
      <p:graphicFrame>
        <p:nvGraphicFramePr>
          <p:cNvPr name="Table 5" id="5"/>
          <p:cNvGraphicFramePr>
            <a:graphicFrameLocks noGrp="true"/>
          </p:cNvGraphicFramePr>
          <p:nvPr/>
        </p:nvGraphicFramePr>
        <p:xfrm>
          <a:off x="762000" y="2286000"/>
          <a:ext cx="10668000" cy="3175000"/>
        </p:xfrm>
        <a:graphic>
          <a:graphicData uri="http://schemas.openxmlformats.org/drawingml/2006/table">
            <a:tbl>
              <a:tblPr>
                <a:effectLst/>
              </a:tblPr>
              <a:tblGrid>
                <a:gridCol w="3048000"/>
                <a:gridCol w="2540000"/>
                <a:gridCol w="2540000"/>
                <a:gridCol w="2540000"/>
              </a:tblGrid>
              <a:tr h="635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场景任务</a:t>
                      </a:r>
                      <a:endParaRPr lang="en-US" sz="1100"/>
                    </a:p>
                  </a:txBody>
                  <a:tcPr anchor="ctr" anchorCtr="false" marL="101600" marR="101600" marT="101600" marB="101600">
                    <a:lnL>
                      <a:noFill/>
                    </a:lnL>
                    <a:lnR>
                      <a:noFill/>
                    </a:lnR>
                    <a:lnT>
                      <a:noFill/>
                    </a:lnT>
                    <a:lnB cmpd="sng" algn="ctr" cap="flat" w="127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自动选择模型</a:t>
                      </a:r>
                      <a:endParaRPr lang="en-US" sz="1100"/>
                    </a:p>
                  </a:txBody>
                  <a:tcPr anchor="ctr" anchorCtr="false" marL="101600" marR="101600" marT="101600" marB="101600">
                    <a:lnL>
                      <a:noFill/>
                    </a:lnL>
                    <a:lnR>
                      <a:noFill/>
                    </a:lnR>
                    <a:lnT>
                      <a:noFill/>
                    </a:lnT>
                    <a:lnB cmpd="sng" algn="ctr" cap="flat" w="127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延迟 (ms)</a:t>
                      </a:r>
                      <a:endParaRPr lang="en-US" sz="1100"/>
                    </a:p>
                  </a:txBody>
                  <a:tcPr anchor="ctr" anchorCtr="false" marL="101600" marR="101600" marT="101600" marB="101600">
                    <a:lnL>
                      <a:noFill/>
                    </a:lnL>
                    <a:lnR>
                      <a:noFill/>
                    </a:lnR>
                    <a:lnT>
                      <a:noFill/>
                    </a:lnT>
                    <a:lnB cmpd="sng" algn="ctr" cap="flat" w="12700">
                      <a:solidFill>
                        <a:srgbClr val="00BFFF"/>
                      </a:solidFill>
                      <a:prstDash val="solid"/>
                      <a:round/>
                      <a:headEnd type="none" w="med" len="med"/>
                      <a:tailEnd type="none" w="med" len="med"/>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成本 ($)</a:t>
                      </a:r>
                      <a:endParaRPr lang="en-US" sz="1100"/>
                    </a:p>
                  </a:txBody>
                  <a:tcPr anchor="ctr" anchorCtr="false" marL="101600" marR="101600" marT="101600" marB="101600">
                    <a:lnL>
                      <a:noFill/>
                    </a:lnL>
                    <a:lnR>
                      <a:noFill/>
                    </a:lnR>
                    <a:lnT>
                      <a:noFill/>
                    </a:lnT>
                    <a:lnB cmpd="sng" algn="ctr" cap="flat" w="12700">
                      <a:solidFill>
                        <a:srgbClr val="00BFFF"/>
                      </a:solidFill>
                      <a:prstDash val="solid"/>
                      <a:round/>
                      <a:headEnd type="none" w="med" len="med"/>
                      <a:tailEnd type="none" w="med" len="med"/>
                    </a:lnB>
                    <a:solidFill>
                      <a:srgbClr val="00BFFF">
                        <a:alpha val="20000"/>
                      </a:srgbClr>
                    </a:solidFill>
                  </a:tcPr>
                </a:tc>
              </a:tr>
              <a:tr h="6350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简单问候 "你好"</a:t>
                      </a:r>
                      <a:endParaRPr lang="en-US" sz="1100"/>
                    </a:p>
                  </a:txBody>
                  <a:tcPr anchor="ctr" anchorCtr="false" marL="101600" marR="101600" marT="101600" marB="101600">
                    <a:lnL>
                      <a:noFill/>
                    </a:lnL>
                    <a:lnR>
                      <a:noFill/>
                    </a:lnR>
                    <a:lnT cmpd="sng" algn="ctr" cap="flat" w="127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gpt-4o-mini</a:t>
                      </a:r>
                      <a:endParaRPr lang="en-US" sz="1100"/>
                    </a:p>
                  </a:txBody>
                  <a:tcPr anchor="ctr" anchorCtr="false" marL="101600" marR="101600" marT="101600" marB="101600">
                    <a:lnL>
                      <a:noFill/>
                    </a:lnL>
                    <a:lnR>
                      <a:noFill/>
                    </a:lnR>
                    <a:lnT cmpd="sng" algn="ctr" cap="flat" w="127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800ms</a:t>
                      </a:r>
                      <a:endParaRPr lang="en-US" sz="1100"/>
                    </a:p>
                  </a:txBody>
                  <a:tcPr anchor="ctr" anchorCtr="false" marL="101600" marR="101600" marT="101600" marB="101600">
                    <a:lnL>
                      <a:noFill/>
                    </a:lnL>
                    <a:lnR>
                      <a:noFill/>
                    </a:lnR>
                    <a:lnT cmpd="sng" algn="ctr" cap="flat" w="127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$0.0001</a:t>
                      </a:r>
                      <a:endParaRPr lang="en-US" sz="1100"/>
                    </a:p>
                  </a:txBody>
                  <a:tcPr anchor="ctr" anchorCtr="false" marL="101600" marR="101600" marT="101600" marB="101600">
                    <a:lnL>
                      <a:noFill/>
                    </a:lnL>
                    <a:lnR>
                      <a:noFill/>
                    </a:lnR>
                    <a:lnT cmpd="sng" algn="ctr" cap="flat" w="12700">
                      <a:solidFill>
                        <a:srgbClr val="00B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6350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代码调试任务</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claude-sonnet</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2500ms</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$0.015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6350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长文档总结 (100页)</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gemini-pro</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5000ms</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$0.05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r h="635000">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分布式架构设计</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kimi-k2.5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3500ms</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400">
                          <a:solidFill>
                            <a:srgbClr val="FFFFFF"/>
                          </a:solidFill>
                          <a:latin typeface="Noto Sans SC"/>
                          <a:ea typeface="Noto Sans SC"/>
                          <a:cs typeface="Noto Sans SC"/>
                          <a:sym typeface="Noto Sans SC"/>
                        </a:rPr>
                        <a:t>$0.025</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noFill/>
                  </a:tcPr>
                </a:tc>
              </a:tr>
            </a:tbl>
          </a:graphicData>
        </a:graphic>
      </p:graphicFrame>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F172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成本对比：有路由 vs 无路由</a:t>
            </a:r>
            <a:endParaRPr lang="en-US" sz="1100"/>
          </a:p>
        </p:txBody>
      </p:sp>
      <p:graphicFrame>
        <p:nvGraphicFramePr>
          <p:cNvPr name="Table 4" id="4"/>
          <p:cNvGraphicFramePr>
            <a:graphicFrameLocks noGrp="true"/>
          </p:cNvGraphicFramePr>
          <p:nvPr/>
        </p:nvGraphicFramePr>
        <p:xfrm>
          <a:off x="762000" y="2032000"/>
          <a:ext cx="10668000" cy="2540000"/>
        </p:xfrm>
        <a:graphic>
          <a:graphicData uri="http://schemas.openxmlformats.org/drawingml/2006/table">
            <a:tbl>
              <a:tblPr>
                <a:effectLst/>
              </a:tblPr>
              <a:tblGrid>
                <a:gridCol w="2540000"/>
                <a:gridCol w="2794000"/>
                <a:gridCol w="2794000"/>
                <a:gridCol w="2540000"/>
              </a:tblGrid>
              <a:tr h="508000">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场景</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路由后成本</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全用主力成本</a:t>
                      </a:r>
                      <a:endParaRPr lang="en-US" sz="1100"/>
                    </a:p>
                  </a:txBody>
                  <a:tcPr anchor="ctr" anchorCtr="false" marL="101600" marR="101600" marT="101600" marB="101600">
                    <a:lnL>
                      <a:noFill/>
                    </a:lnL>
                    <a:lnR>
                      <a:noFill/>
                    </a:lnR>
                    <a:lnT>
                      <a:noFill/>
                    </a:lnT>
                    <a:lnB>
                      <a:noFill/>
                    </a:lnB>
                    <a:solidFill>
                      <a:srgbClr val="00BFFF">
                        <a:alpha val="20000"/>
                      </a:srgbClr>
                    </a:solidFill>
                  </a:tcPr>
                </a:tc>
                <a:tc>
                  <a:txBody>
                    <a:bodyPr anchor="t" rtlCol="false"/>
                    <a:lstStyle/>
                    <a:p>
                      <a:pPr algn="ctr" indent="0">
                        <a:lnSpc>
                          <a:spcPct val="100000"/>
                        </a:lnSpc>
                        <a:defRPr/>
                      </a:pPr>
                      <a:r>
                        <a:rPr lang="en-US" b="true" i="false" strike="noStrike" u="none" sz="1600">
                          <a:solidFill>
                            <a:srgbClr val="00BFFF"/>
                          </a:solidFill>
                          <a:latin typeface="Noto Sans SC"/>
                          <a:ea typeface="Noto Sans SC"/>
                          <a:cs typeface="Noto Sans SC"/>
                          <a:sym typeface="Noto Sans SC"/>
                        </a:rPr>
                        <a:t>节省比例</a:t>
                      </a:r>
                      <a:endParaRPr lang="en-US" sz="1100"/>
                    </a:p>
                  </a:txBody>
                  <a:tcPr anchor="ctr" anchorCtr="false" marL="101600" marR="101600" marT="101600" marB="101600">
                    <a:lnL>
                      <a:noFill/>
                    </a:lnL>
                    <a:lnR>
                      <a:noFill/>
                    </a:lnR>
                    <a:lnT>
                      <a:noFill/>
                    </a:lnT>
                    <a:lnB>
                      <a:noFill/>
                    </a:lnB>
                    <a:solidFill>
                      <a:srgbClr val="00BFFF">
                        <a:alpha val="20000"/>
                      </a:srgbClr>
                    </a:solidFill>
                  </a:tcPr>
                </a:tc>
              </a:tr>
              <a:tr h="508000">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"你好"</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$0.0001</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$0.005</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FFFF00"/>
                          </a:solidFill>
                          <a:latin typeface="Noto Sans SC"/>
                          <a:ea typeface="Noto Sans SC"/>
                          <a:cs typeface="Noto Sans SC"/>
                          <a:sym typeface="Noto Sans SC"/>
                        </a:rPr>
                        <a:t>98%</a:t>
                      </a:r>
                      <a:endParaRPr lang="en-US" sz="1100"/>
                    </a:p>
                  </a:txBody>
                  <a:tcPr anchor="ctr" anchorCtr="false" marL="101600" marR="101600" marT="101600" marB="101600">
                    <a:lnL>
                      <a:noFill/>
                    </a:lnL>
                    <a:lnR>
                      <a:noFill/>
                    </a:lnR>
                    <a:lnT>
                      <a:noFill/>
                    </a:lnT>
                    <a:lnB>
                      <a:noFill/>
                    </a:lnB>
                    <a:solidFill>
                      <a:srgbClr val="FFFFFF">
                        <a:alpha val="5000"/>
                      </a:srgbClr>
                    </a:solidFill>
                  </a:tcPr>
                </a:tc>
              </a:tr>
              <a:tr h="508000">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"debug代码"</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$0.015</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$0.025</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FFFF00"/>
                          </a:solidFill>
                          <a:latin typeface="Noto Sans SC"/>
                          <a:ea typeface="Noto Sans SC"/>
                          <a:cs typeface="Noto Sans SC"/>
                          <a:sym typeface="Noto Sans SC"/>
                        </a:rPr>
                        <a:t>40%</a:t>
                      </a:r>
                      <a:endParaRPr lang="en-US" sz="1100"/>
                    </a:p>
                  </a:txBody>
                  <a:tcPr anchor="ctr" anchorCtr="false" marL="101600" marR="101600" marT="101600" marB="101600">
                    <a:lnL>
                      <a:noFill/>
                    </a:lnL>
                    <a:lnR>
                      <a:noFill/>
                    </a:lnR>
                    <a:lnT>
                      <a:noFill/>
                    </a:lnT>
                    <a:lnB>
                      <a:noFill/>
                    </a:lnB>
                    <a:solidFill>
                      <a:srgbClr val="FFFFFF">
                        <a:alpha val="5000"/>
                      </a:srgbClr>
                    </a:solidFill>
                  </a:tcPr>
                </a:tc>
              </a:tr>
              <a:tr h="508000">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"总结PDF"</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$0.05</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$0.10</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true" i="false" strike="noStrike" u="none" sz="1400">
                          <a:solidFill>
                            <a:srgbClr val="FFFF00"/>
                          </a:solidFill>
                          <a:latin typeface="Noto Sans SC"/>
                          <a:ea typeface="Noto Sans SC"/>
                          <a:cs typeface="Noto Sans SC"/>
                          <a:sym typeface="Noto Sans SC"/>
                        </a:rPr>
                        <a:t>50%</a:t>
                      </a:r>
                      <a:endParaRPr lang="en-US" sz="1100"/>
                    </a:p>
                  </a:txBody>
                  <a:tcPr anchor="ctr" anchorCtr="false" marL="101600" marR="101600" marT="101600" marB="101600">
                    <a:lnL>
                      <a:noFill/>
                    </a:lnL>
                    <a:lnR>
                      <a:noFill/>
                    </a:lnR>
                    <a:lnT>
                      <a:noFill/>
                    </a:lnT>
                    <a:lnB>
                      <a:noFill/>
                    </a:lnB>
                    <a:solidFill>
                      <a:srgbClr val="FFFFFF">
                        <a:alpha val="5000"/>
                      </a:srgbClr>
                    </a:solidFill>
                  </a:tcPr>
                </a:tc>
              </a:tr>
              <a:tr h="508000">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"设计架构"</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$0.025</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$0.025</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ctr" indent="0">
                        <a:lnSpc>
                          <a:spcPct val="100000"/>
                        </a:lnSpc>
                        <a:defRPr/>
                      </a:pPr>
                      <a:r>
                        <a:rPr lang="en-US" b="false" i="false" strike="noStrike" u="none" sz="1400">
                          <a:solidFill>
                            <a:srgbClr val="E5E7EB"/>
                          </a:solidFill>
                          <a:latin typeface="Noto Sans SC"/>
                          <a:ea typeface="Noto Sans SC"/>
                          <a:cs typeface="Noto Sans SC"/>
                          <a:sym typeface="Noto Sans SC"/>
                        </a:rPr>
                        <a:t>0%</a:t>
                      </a:r>
                      <a:endParaRPr lang="en-US" sz="1100"/>
                    </a:p>
                  </a:txBody>
                  <a:tcPr anchor="ctr" anchorCtr="false" marL="101600" marR="101600" marT="101600" marB="101600">
                    <a:lnL>
                      <a:noFill/>
                    </a:lnL>
                    <a:lnR>
                      <a:noFill/>
                    </a:lnR>
                    <a:lnT>
                      <a:noFill/>
                    </a:lnT>
                    <a:lnB>
                      <a:noFill/>
                    </a:lnB>
                    <a:solidFill>
                      <a:srgbClr val="FFFFFF">
                        <a:alpha val="5000"/>
                      </a:srgbClr>
                    </a:solidFill>
                  </a:tcPr>
                </a:tc>
              </a:tr>
            </a:tbl>
          </a:graphicData>
        </a:graphic>
      </p:graphicFrame>
      <p:sp>
        <p:nvSpPr>
          <p:cNvPr name="AutoShape 5" id="5"/>
          <p:cNvSpPr/>
          <p:nvPr/>
        </p:nvSpPr>
        <p:spPr>
          <a:xfrm rot="0" flipH="false" flipV="false">
            <a:off x="762000" y="4826000"/>
            <a:ext cx="10668000" cy="1016000"/>
          </a:xfrm>
          <a:prstGeom prst="roundRect">
            <a:avLst>
              <a:gd name="adj" fmla="val 12500"/>
            </a:avLst>
          </a:prstGeom>
          <a:solidFill>
            <a:srgbClr val="00BFFF">
              <a:alpha val="10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5130800"/>
            <a:ext cx="406400" cy="406400"/>
          </a:xfrm>
          <a:prstGeom prst="rect">
            <a:avLst/>
          </a:prstGeom>
        </p:spPr>
      </p:pic>
      <p:sp>
        <p:nvSpPr>
          <p:cNvPr name="AutoShape 7" id="7"/>
          <p:cNvSpPr/>
          <p:nvPr/>
        </p:nvSpPr>
        <p:spPr>
          <a:xfrm rot="0" flipH="false" flipV="false">
            <a:off x="1524000" y="5080000"/>
            <a:ext cx="444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综合成本降低：</a:t>
            </a:r>
            <a:r>
              <a:rPr lang="en-US" b="true" i="false" strike="noStrike" u="none" sz="2000">
                <a:solidFill>
                  <a:srgbClr val="FFFF00"/>
                </a:solidFill>
                <a:latin typeface="Noto Sans SC"/>
                <a:ea typeface="Noto Sans SC"/>
                <a:cs typeface="Noto Sans SC"/>
                <a:sym typeface="Noto Sans SC"/>
              </a:rPr>
              <a:t>~60%</a:t>
            </a:r>
            <a:endParaRPr lang="en-US" sz="1100"/>
          </a:p>
        </p:txBody>
      </p:sp>
      <p:cxnSp>
        <p:nvCxnSpPr>
          <p:cNvPr name="Connector 8" id="8"/>
          <p:cNvCxnSpPr/>
          <p:nvPr/>
        </p:nvCxnSpPr>
        <p:spPr>
          <a:xfrm rot="5331254" flipH="false" flipV="false">
            <a:off x="5778500" y="5327713"/>
            <a:ext cx="635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5130800"/>
            <a:ext cx="406400" cy="406400"/>
          </a:xfrm>
          <a:prstGeom prst="rect">
            <a:avLst/>
          </a:prstGeom>
        </p:spPr>
      </p:pic>
      <p:sp>
        <p:nvSpPr>
          <p:cNvPr name="AutoShape 10" id="10"/>
          <p:cNvSpPr/>
          <p:nvPr/>
        </p:nvSpPr>
        <p:spPr>
          <a:xfrm rot="0" flipH="false" flipV="false">
            <a:off x="6858000" y="5080000"/>
            <a:ext cx="4445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E5E7EB"/>
                </a:solidFill>
                <a:latin typeface="Noto Sans SC"/>
                <a:ea typeface="Noto Sans SC"/>
                <a:cs typeface="Noto Sans SC"/>
                <a:sym typeface="Noto Sans SC"/>
              </a:rPr>
              <a:t>响应速度提升：</a:t>
            </a:r>
            <a:r>
              <a:rPr lang="en-US" b="true" i="false" strike="noStrike" u="none" sz="2000">
                <a:solidFill>
                  <a:srgbClr val="FFFF00"/>
                </a:solidFill>
                <a:latin typeface="Noto Sans SC"/>
                <a:ea typeface="Noto Sans SC"/>
                <a:cs typeface="Noto Sans SC"/>
                <a:sym typeface="Noto Sans SC"/>
              </a:rPr>
              <a:t>~40%</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成本优化四原则</a:t>
            </a:r>
            <a:endParaRPr lang="en-US" sz="1100"/>
          </a:p>
        </p:txBody>
      </p:sp>
      <p:sp>
        <p:nvSpPr>
          <p:cNvPr name="AutoShape 4" id="4"/>
          <p:cNvSpPr/>
          <p:nvPr/>
        </p:nvSpPr>
        <p:spPr>
          <a:xfrm rot="0" flipH="false" flipV="false">
            <a:off x="762000" y="2032000"/>
            <a:ext cx="5143500" cy="2032000"/>
          </a:xfrm>
          <a:prstGeom prst="roundRect">
            <a:avLst>
              <a:gd name="adj" fmla="val 625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2336800"/>
            <a:ext cx="406400" cy="406400"/>
          </a:xfrm>
          <a:prstGeom prst="rect">
            <a:avLst/>
          </a:prstGeom>
        </p:spPr>
      </p:pic>
      <p:sp>
        <p:nvSpPr>
          <p:cNvPr name="AutoShape 6" id="6"/>
          <p:cNvSpPr/>
          <p:nvPr/>
        </p:nvSpPr>
        <p:spPr>
          <a:xfrm rot="0" flipH="false" flipV="false">
            <a:off x="1574800" y="2336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识别“杀鸡用牛刀”</a:t>
            </a:r>
            <a:endParaRPr lang="en-US" sz="1100"/>
          </a:p>
        </p:txBody>
      </p:sp>
      <p:sp>
        <p:nvSpPr>
          <p:cNvPr name="AutoShape 7" id="7"/>
          <p:cNvSpPr/>
          <p:nvPr/>
        </p:nvSpPr>
        <p:spPr>
          <a:xfrm rot="0" flipH="false" flipV="false">
            <a:off x="1066800" y="2794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大部分请求其实是简单的，约50-70%的场景不需要最强模型，识别并降级处理。</a:t>
            </a:r>
            <a:endParaRPr lang="en-US" sz="1100"/>
          </a:p>
        </p:txBody>
      </p:sp>
      <p:sp>
        <p:nvSpPr>
          <p:cNvPr name="AutoShape 8" id="8"/>
          <p:cNvSpPr/>
          <p:nvPr/>
        </p:nvSpPr>
        <p:spPr>
          <a:xfrm rot="0" flipH="false" flipV="false">
            <a:off x="6286500" y="2032000"/>
            <a:ext cx="5143500" cy="2032000"/>
          </a:xfrm>
          <a:prstGeom prst="roundRect">
            <a:avLst>
              <a:gd name="adj" fmla="val 625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91300" y="2336800"/>
            <a:ext cx="406400" cy="406400"/>
          </a:xfrm>
          <a:prstGeom prst="rect">
            <a:avLst/>
          </a:prstGeom>
        </p:spPr>
      </p:pic>
      <p:sp>
        <p:nvSpPr>
          <p:cNvPr name="AutoShape 10" id="10"/>
          <p:cNvSpPr/>
          <p:nvPr/>
        </p:nvSpPr>
        <p:spPr>
          <a:xfrm rot="0" flipH="false" flipV="false">
            <a:off x="7099300" y="2336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策略先粗后细</a:t>
            </a:r>
            <a:endParaRPr lang="en-US" sz="1100"/>
          </a:p>
        </p:txBody>
      </p:sp>
      <p:sp>
        <p:nvSpPr>
          <p:cNvPr name="AutoShape 11" id="11"/>
          <p:cNvSpPr/>
          <p:nvPr/>
        </p:nvSpPr>
        <p:spPr>
          <a:xfrm rot="0" flipH="false" flipV="false">
            <a:off x="6591300" y="2794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优先制定3-5条核心规则，快速覆盖80%的高频场景，避免过度设计。</a:t>
            </a:r>
            <a:endParaRPr lang="en-US" sz="1100"/>
          </a:p>
        </p:txBody>
      </p:sp>
      <p:sp>
        <p:nvSpPr>
          <p:cNvPr name="AutoShape 12" id="12"/>
          <p:cNvSpPr/>
          <p:nvPr/>
        </p:nvSpPr>
        <p:spPr>
          <a:xfrm rot="0" flipH="false" flipV="false">
            <a:off x="762000" y="4318000"/>
            <a:ext cx="5143500" cy="2032000"/>
          </a:xfrm>
          <a:prstGeom prst="roundRect">
            <a:avLst>
              <a:gd name="adj" fmla="val 625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66800" y="4622800"/>
            <a:ext cx="406400" cy="406400"/>
          </a:xfrm>
          <a:prstGeom prst="rect">
            <a:avLst/>
          </a:prstGeom>
        </p:spPr>
      </p:pic>
      <p:sp>
        <p:nvSpPr>
          <p:cNvPr name="AutoShape 14" id="14"/>
          <p:cNvSpPr/>
          <p:nvPr/>
        </p:nvSpPr>
        <p:spPr>
          <a:xfrm rot="0" flipH="false" flipV="false">
            <a:off x="1574800" y="4622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监控驱动优化</a:t>
            </a:r>
            <a:endParaRPr lang="en-US" sz="1100"/>
          </a:p>
        </p:txBody>
      </p:sp>
      <p:sp>
        <p:nvSpPr>
          <p:cNvPr name="AutoShape 15" id="15"/>
          <p:cNvSpPr/>
          <p:nvPr/>
        </p:nvSpPr>
        <p:spPr>
          <a:xfrm rot="0" flipH="false" flipV="false">
            <a:off x="1066800" y="5080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建立全链路监控体系，用数据说话，拒绝凭感觉优化，确保每一次调整都有据可依。</a:t>
            </a:r>
            <a:endParaRPr lang="en-US" sz="1100"/>
          </a:p>
        </p:txBody>
      </p:sp>
      <p:sp>
        <p:nvSpPr>
          <p:cNvPr name="AutoShape 16" id="16"/>
          <p:cNvSpPr/>
          <p:nvPr/>
        </p:nvSpPr>
        <p:spPr>
          <a:xfrm rot="0" flipH="false" flipV="false">
            <a:off x="6286500" y="4318000"/>
            <a:ext cx="5143500" cy="2032000"/>
          </a:xfrm>
          <a:prstGeom prst="roundRect">
            <a:avLst>
              <a:gd name="adj" fmla="val 625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91300" y="4622800"/>
            <a:ext cx="406400" cy="406400"/>
          </a:xfrm>
          <a:prstGeom prst="rect">
            <a:avLst/>
          </a:prstGeom>
        </p:spPr>
      </p:pic>
      <p:sp>
        <p:nvSpPr>
          <p:cNvPr name="AutoShape 18" id="18"/>
          <p:cNvSpPr/>
          <p:nvPr/>
        </p:nvSpPr>
        <p:spPr>
          <a:xfrm rot="0" flipH="false" flipV="false">
            <a:off x="7099300" y="46228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保留兜底模型</a:t>
            </a:r>
            <a:endParaRPr lang="en-US" sz="1100"/>
          </a:p>
        </p:txBody>
      </p:sp>
      <p:sp>
        <p:nvSpPr>
          <p:cNvPr name="AutoShape 19" id="19"/>
          <p:cNvSpPr/>
          <p:nvPr/>
        </p:nvSpPr>
        <p:spPr>
          <a:xfrm rot="0" flipH="false" flipV="false">
            <a:off x="6591300" y="5080000"/>
            <a:ext cx="45339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始终将最强模型作为默认选项，确保复杂任务的处理质量，避免降级带来的体验损失。</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192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练习2：为混合场景设计路由规则</a:t>
            </a:r>
            <a:endParaRPr lang="en-US" sz="1100"/>
          </a:p>
        </p:txBody>
      </p:sp>
      <p:sp>
        <p:nvSpPr>
          <p:cNvPr name="AutoShape 4" id="4"/>
          <p:cNvSpPr/>
          <p:nvPr/>
        </p:nvSpPr>
        <p:spPr>
          <a:xfrm rot="0" flipH="false" flipV="false">
            <a:off x="762000" y="2032000"/>
            <a:ext cx="3302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时间要求</a:t>
            </a:r>
            <a:endParaRPr lang="en-US" sz="1100"/>
          </a:p>
        </p:txBody>
      </p:sp>
      <p:sp>
        <p:nvSpPr>
          <p:cNvPr name="AutoShape 7" id="7"/>
          <p:cNvSpPr/>
          <p:nvPr/>
        </p:nvSpPr>
        <p:spPr>
          <a:xfrm rot="0" flipH="false" flipV="false">
            <a:off x="1016000" y="2730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25分钟（小组讨论形式）</a:t>
            </a:r>
            <a:endParaRPr lang="en-US" sz="1100"/>
          </a:p>
        </p:txBody>
      </p:sp>
      <p:sp>
        <p:nvSpPr>
          <p:cNvPr name="AutoShape 8" id="8"/>
          <p:cNvSpPr/>
          <p:nvPr/>
        </p:nvSpPr>
        <p:spPr>
          <a:xfrm rot="0" flipH="false" flipV="false">
            <a:off x="4445000" y="2032000"/>
            <a:ext cx="3302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699000" y="2286000"/>
            <a:ext cx="406400" cy="406400"/>
          </a:xfrm>
          <a:prstGeom prst="rect">
            <a:avLst/>
          </a:prstGeom>
        </p:spPr>
      </p:pic>
      <p:sp>
        <p:nvSpPr>
          <p:cNvPr name="AutoShape 10" id="10"/>
          <p:cNvSpPr/>
          <p:nvPr/>
        </p:nvSpPr>
        <p:spPr>
          <a:xfrm rot="0" flipH="false" flipV="false">
            <a:off x="5207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业务场景</a:t>
            </a:r>
            <a:endParaRPr lang="en-US" sz="1100"/>
          </a:p>
        </p:txBody>
      </p:sp>
      <p:sp>
        <p:nvSpPr>
          <p:cNvPr name="AutoShape 11" id="11"/>
          <p:cNvSpPr/>
          <p:nvPr/>
        </p:nvSpPr>
        <p:spPr>
          <a:xfrm rot="0" flipH="false" flipV="false">
            <a:off x="4699000" y="2730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客服300次/天 + 内容创作50次/天 + 数据分析30次/天</a:t>
            </a:r>
            <a:endParaRPr lang="en-US" sz="1100"/>
          </a:p>
        </p:txBody>
      </p:sp>
      <p:sp>
        <p:nvSpPr>
          <p:cNvPr name="AutoShape 12" id="12"/>
          <p:cNvSpPr/>
          <p:nvPr/>
        </p:nvSpPr>
        <p:spPr>
          <a:xfrm rot="0" flipH="false" flipV="false">
            <a:off x="8128000" y="2032000"/>
            <a:ext cx="3302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86000"/>
            <a:ext cx="406400" cy="406400"/>
          </a:xfrm>
          <a:prstGeom prst="rect">
            <a:avLst/>
          </a:prstGeom>
        </p:spPr>
      </p:pic>
      <p:sp>
        <p:nvSpPr>
          <p:cNvPr name="AutoShape 14" id="14"/>
          <p:cNvSpPr/>
          <p:nvPr/>
        </p:nvSpPr>
        <p:spPr>
          <a:xfrm rot="0" flipH="false" flipV="false">
            <a:off x="8890000" y="2286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预算约束</a:t>
            </a:r>
            <a:endParaRPr lang="en-US" sz="1100"/>
          </a:p>
        </p:txBody>
      </p:sp>
      <p:sp>
        <p:nvSpPr>
          <p:cNvPr name="AutoShape 15" id="15"/>
          <p:cNvSpPr/>
          <p:nvPr/>
        </p:nvSpPr>
        <p:spPr>
          <a:xfrm rot="0" flipH="false" flipV="false">
            <a:off x="8382000" y="2730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月预算上限 $500</a:t>
            </a:r>
            <a:endParaRPr lang="en-US" sz="1100"/>
          </a:p>
        </p:txBody>
      </p:sp>
      <p:sp>
        <p:nvSpPr>
          <p:cNvPr name="AutoShape 16" id="16"/>
          <p:cNvSpPr/>
          <p:nvPr/>
        </p:nvSpPr>
        <p:spPr>
          <a:xfrm rot="0" flipH="false" flipV="false">
            <a:off x="762000" y="4064000"/>
            <a:ext cx="3302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318000"/>
            <a:ext cx="406400" cy="406400"/>
          </a:xfrm>
          <a:prstGeom prst="rect">
            <a:avLst/>
          </a:prstGeom>
        </p:spPr>
      </p:pic>
      <p:sp>
        <p:nvSpPr>
          <p:cNvPr name="AutoShape 18" id="18"/>
          <p:cNvSpPr/>
          <p:nvPr/>
        </p:nvSpPr>
        <p:spPr>
          <a:xfrm rot="0" flipH="false" flipV="false">
            <a:off x="1524000" y="4318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交付产出</a:t>
            </a:r>
            <a:endParaRPr lang="en-US" sz="1100"/>
          </a:p>
        </p:txBody>
      </p:sp>
      <p:sp>
        <p:nvSpPr>
          <p:cNvPr name="AutoShape 19" id="19"/>
          <p:cNvSpPr/>
          <p:nvPr/>
        </p:nvSpPr>
        <p:spPr>
          <a:xfrm rot="0" flipH="false" flipV="false">
            <a:off x="1016000" y="4762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YAML路由配置文件 + 详细成本估算表</a:t>
            </a:r>
            <a:endParaRPr lang="en-US" sz="1100"/>
          </a:p>
        </p:txBody>
      </p:sp>
      <p:sp>
        <p:nvSpPr>
          <p:cNvPr name="AutoShape 20" id="20"/>
          <p:cNvSpPr/>
          <p:nvPr/>
        </p:nvSpPr>
        <p:spPr>
          <a:xfrm rot="0" flipH="false" flipV="false">
            <a:off x="4445000" y="4064000"/>
            <a:ext cx="3302000" cy="1778000"/>
          </a:xfrm>
          <a:prstGeom prst="roundRect">
            <a:avLst>
              <a:gd name="adj" fmla="val 7142"/>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699000" y="4318000"/>
            <a:ext cx="406400" cy="406400"/>
          </a:xfrm>
          <a:prstGeom prst="rect">
            <a:avLst/>
          </a:prstGeom>
        </p:spPr>
      </p:pic>
      <p:sp>
        <p:nvSpPr>
          <p:cNvPr name="AutoShape 22" id="22"/>
          <p:cNvSpPr/>
          <p:nvPr/>
        </p:nvSpPr>
        <p:spPr>
          <a:xfrm rot="0" flipH="false" flipV="false">
            <a:off x="5207000" y="4318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参考文件</a:t>
            </a:r>
            <a:endParaRPr lang="en-US" sz="1100"/>
          </a:p>
        </p:txBody>
      </p:sp>
      <p:sp>
        <p:nvSpPr>
          <p:cNvPr name="AutoShape 23" id="23"/>
          <p:cNvSpPr/>
          <p:nvPr/>
        </p:nvSpPr>
        <p:spPr>
          <a:xfrm rot="0" flipH="false" flipV="false">
            <a:off x="4699000" y="4762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exercise_04_routing_design.yml</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第2课核心总结</a:t>
            </a:r>
            <a:endParaRPr lang="en-US" sz="1100"/>
          </a:p>
        </p:txBody>
      </p:sp>
      <p:sp>
        <p:nvSpPr>
          <p:cNvPr name="AutoShape 4" id="4"/>
          <p:cNvSpPr/>
          <p:nvPr/>
        </p:nvSpPr>
        <p:spPr>
          <a:xfrm rot="0" flipH="false" flipV="false">
            <a:off x="762000" y="19050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108200"/>
            <a:ext cx="406400" cy="406400"/>
          </a:xfrm>
          <a:prstGeom prst="rect">
            <a:avLst/>
          </a:prstGeom>
        </p:spPr>
      </p:pic>
      <p:sp>
        <p:nvSpPr>
          <p:cNvPr name="AutoShape 6" id="6"/>
          <p:cNvSpPr/>
          <p:nvPr/>
        </p:nvSpPr>
        <p:spPr>
          <a:xfrm rot="0" flipH="false" flipV="false">
            <a:off x="1574800" y="1905000"/>
            <a:ext cx="8890000" cy="812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没有最好的模型</a:t>
            </a:r>
            <a:r>
              <a:rPr lang="en-US" b="false" i="false" strike="noStrike" u="none" sz="1400">
                <a:solidFill>
                  <a:srgbClr val="FFFFFF">
                    <a:alpha val="70196"/>
                  </a:srgbClr>
                </a:solidFill>
                <a:latin typeface="Noto Sans SC"/>
                <a:ea typeface="Noto Sans SC"/>
                <a:cs typeface="Noto Sans SC"/>
                <a:sym typeface="Noto Sans SC"/>
              </a:rPr>
              <a:t>—— 只有最适合当前任务的模型</a:t>
            </a:r>
            <a:endParaRPr lang="en-US" sz="1100"/>
          </a:p>
        </p:txBody>
      </p:sp>
      <p:sp>
        <p:nvSpPr>
          <p:cNvPr name="AutoShape 7" id="7"/>
          <p:cNvSpPr/>
          <p:nvPr/>
        </p:nvSpPr>
        <p:spPr>
          <a:xfrm rot="0" flipH="false" flipV="false">
            <a:off x="762000" y="28194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022600"/>
            <a:ext cx="406400" cy="406400"/>
          </a:xfrm>
          <a:prstGeom prst="rect">
            <a:avLst/>
          </a:prstGeom>
        </p:spPr>
      </p:pic>
      <p:sp>
        <p:nvSpPr>
          <p:cNvPr name="AutoShape 9" id="9"/>
          <p:cNvSpPr/>
          <p:nvPr/>
        </p:nvSpPr>
        <p:spPr>
          <a:xfrm rot="0" flipH="false" flipV="false">
            <a:off x="1574800" y="2819400"/>
            <a:ext cx="8890000" cy="812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简单规则最有效</a:t>
            </a:r>
            <a:r>
              <a:rPr lang="en-US" b="false" i="false" strike="noStrike" u="none" sz="1400">
                <a:solidFill>
                  <a:srgbClr val="FFFFFF">
                    <a:alpha val="70196"/>
                  </a:srgbClr>
                </a:solidFill>
                <a:latin typeface="Noto Sans SC"/>
                <a:ea typeface="Noto Sans SC"/>
                <a:cs typeface="Noto Sans SC"/>
                <a:sym typeface="Noto Sans SC"/>
              </a:rPr>
              <a:t>—— 3条正则 + 1个默认值 = 成本降低60%</a:t>
            </a:r>
            <a:endParaRPr lang="en-US" sz="1100"/>
          </a:p>
        </p:txBody>
      </p:sp>
      <p:sp>
        <p:nvSpPr>
          <p:cNvPr name="AutoShape 10" id="10"/>
          <p:cNvSpPr/>
          <p:nvPr/>
        </p:nvSpPr>
        <p:spPr>
          <a:xfrm rot="0" flipH="false" flipV="false">
            <a:off x="762000" y="37338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937000"/>
            <a:ext cx="406400" cy="406400"/>
          </a:xfrm>
          <a:prstGeom prst="rect">
            <a:avLst/>
          </a:prstGeom>
        </p:spPr>
      </p:pic>
      <p:sp>
        <p:nvSpPr>
          <p:cNvPr name="AutoShape 12" id="12"/>
          <p:cNvSpPr/>
          <p:nvPr/>
        </p:nvSpPr>
        <p:spPr>
          <a:xfrm rot="0" flipH="false" flipV="false">
            <a:off x="1574800" y="3733800"/>
            <a:ext cx="8890000" cy="812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复杂度估计不需要AI</a:t>
            </a:r>
            <a:r>
              <a:rPr lang="en-US" b="false" i="false" strike="noStrike" u="none" sz="1400">
                <a:solidFill>
                  <a:srgbClr val="FFFFFF">
                    <a:alpha val="70196"/>
                  </a:srgbClr>
                </a:solidFill>
                <a:latin typeface="Noto Sans SC"/>
                <a:ea typeface="Noto Sans SC"/>
                <a:cs typeface="Noto Sans SC"/>
                <a:sym typeface="Noto Sans SC"/>
              </a:rPr>
              <a:t>—— 启发式多因子评分够用</a:t>
            </a:r>
            <a:endParaRPr lang="en-US" sz="1100"/>
          </a:p>
        </p:txBody>
      </p:sp>
      <p:sp>
        <p:nvSpPr>
          <p:cNvPr name="AutoShape 13" id="13"/>
          <p:cNvSpPr/>
          <p:nvPr/>
        </p:nvSpPr>
        <p:spPr>
          <a:xfrm rot="0" flipH="false" flipV="false">
            <a:off x="762000" y="46482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16000" y="4851400"/>
            <a:ext cx="406400" cy="406400"/>
          </a:xfrm>
          <a:prstGeom prst="rect">
            <a:avLst/>
          </a:prstGeom>
        </p:spPr>
      </p:pic>
      <p:sp>
        <p:nvSpPr>
          <p:cNvPr name="AutoShape 15" id="15"/>
          <p:cNvSpPr/>
          <p:nvPr/>
        </p:nvSpPr>
        <p:spPr>
          <a:xfrm rot="0" flipH="false" flipV="false">
            <a:off x="1574800" y="4648200"/>
            <a:ext cx="8890000" cy="812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监控是优化的基础</a:t>
            </a:r>
            <a:r>
              <a:rPr lang="en-US" b="false" i="false" strike="noStrike" u="none" sz="1400">
                <a:solidFill>
                  <a:srgbClr val="FFFFFF">
                    <a:alpha val="70196"/>
                  </a:srgbClr>
                </a:solidFill>
                <a:latin typeface="Noto Sans SC"/>
                <a:ea typeface="Noto Sans SC"/>
                <a:cs typeface="Noto Sans SC"/>
                <a:sym typeface="Noto Sans SC"/>
              </a:rPr>
              <a:t>—— 没有P95数据就没有优化方向</a:t>
            </a:r>
            <a:endParaRPr lang="en-US" sz="1100"/>
          </a:p>
        </p:txBody>
      </p:sp>
      <p:sp>
        <p:nvSpPr>
          <p:cNvPr name="AutoShape 16" id="16"/>
          <p:cNvSpPr/>
          <p:nvPr/>
        </p:nvSpPr>
        <p:spPr>
          <a:xfrm rot="0" flipH="false" flipV="false">
            <a:off x="762000" y="5562600"/>
            <a:ext cx="10668000" cy="812800"/>
          </a:xfrm>
          <a:prstGeom prst="roundRect">
            <a:avLst>
              <a:gd name="adj" fmla="val 15625"/>
            </a:avLst>
          </a:prstGeom>
          <a:solidFill>
            <a:srgbClr val="FFFFFF">
              <a:alpha val="8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765800"/>
            <a:ext cx="406400" cy="406400"/>
          </a:xfrm>
          <a:prstGeom prst="rect">
            <a:avLst/>
          </a:prstGeom>
        </p:spPr>
      </p:pic>
      <p:sp>
        <p:nvSpPr>
          <p:cNvPr name="AutoShape 18" id="18"/>
          <p:cNvSpPr/>
          <p:nvPr/>
        </p:nvSpPr>
        <p:spPr>
          <a:xfrm rot="0" flipH="false" flipV="false">
            <a:off x="1574800" y="5562600"/>
            <a:ext cx="8890000" cy="812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容量检查是安全网</a:t>
            </a:r>
            <a:r>
              <a:rPr lang="en-US" b="false" i="false" strike="noStrike" u="none" sz="1400">
                <a:solidFill>
                  <a:srgbClr val="FFFFFF">
                    <a:alpha val="70196"/>
                  </a:srgbClr>
                </a:solidFill>
                <a:latin typeface="Noto Sans SC"/>
                <a:ea typeface="Noto Sans SC"/>
                <a:cs typeface="Noto Sans SC"/>
                <a:sym typeface="Noto Sans SC"/>
              </a:rPr>
              <a:t>—— 留20%余量防止溢出</a:t>
            </a:r>
            <a:endParaRPr lang="en-US" sz="1100"/>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下节课预告</a:t>
            </a:r>
            <a:endParaRPr lang="en-US" sz="1100"/>
          </a:p>
        </p:txBody>
      </p:sp>
      <p:sp>
        <p:nvSpPr>
          <p:cNvPr name="AutoShape 4" id="4"/>
          <p:cNvSpPr/>
          <p:nvPr/>
        </p:nvSpPr>
        <p:spPr>
          <a:xfrm rot="0" flipH="false" flipV="false">
            <a:off x="762000" y="2032000"/>
            <a:ext cx="52070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当前挑战：上下文拥堵</a:t>
            </a:r>
            <a:endParaRPr lang="en-US" sz="1100"/>
          </a:p>
        </p:txBody>
      </p:sp>
      <p:cxnSp>
        <p:nvCxnSpPr>
          <p:cNvPr name="Connector 7" id="7"/>
          <p:cNvCxnSpPr/>
          <p:nvPr/>
        </p:nvCxnSpPr>
        <p:spPr>
          <a:xfrm rot="-9291" flipH="false" flipV="false">
            <a:off x="1016009" y="27241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8" id="8"/>
          <p:cNvSpPr/>
          <p:nvPr/>
        </p:nvSpPr>
        <p:spPr>
          <a:xfrm rot="0" flipH="false" flipV="false">
            <a:off x="1016000" y="2857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虽然模型路由解决了“用什么模型”的问题，但当Agent同时处理交易、写代码等多任务时，上下文窗口被挤占，提示词互相干扰。</a:t>
            </a:r>
            <a:endParaRPr lang="en-US" sz="1100"/>
          </a:p>
        </p:txBody>
      </p:sp>
      <p:sp>
        <p:nvSpPr>
          <p:cNvPr name="AutoShape 9" id="9"/>
          <p:cNvSpPr/>
          <p:nvPr/>
        </p:nvSpPr>
        <p:spPr>
          <a:xfrm rot="0" flipH="false" flipV="false">
            <a:off x="6223000" y="2032000"/>
            <a:ext cx="5207000" cy="2286000"/>
          </a:xfrm>
          <a:prstGeom prst="roundRect">
            <a:avLst>
              <a:gd name="adj" fmla="val 5555"/>
            </a:avLst>
          </a:prstGeom>
          <a:solidFill>
            <a:srgbClr val="00BFFF">
              <a:alpha val="10000"/>
            </a:srgbClr>
          </a:solidFill>
          <a:ln w="12700" cmpd="sng" cap="flat">
            <a:solidFill>
              <a:srgbClr val="00BFFF">
                <a:alpha val="5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2286000"/>
            <a:ext cx="406400" cy="406400"/>
          </a:xfrm>
          <a:prstGeom prst="rect">
            <a:avLst/>
          </a:prstGeom>
        </p:spPr>
      </p:pic>
      <p:sp>
        <p:nvSpPr>
          <p:cNvPr name="AutoShape 11" id="11"/>
          <p:cNvSpPr/>
          <p:nvPr/>
        </p:nvSpPr>
        <p:spPr>
          <a:xfrm rot="0" flipH="false" flipV="false">
            <a:off x="6985000" y="2286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FFFFFF"/>
                </a:solidFill>
                <a:latin typeface="Noto Sans SC"/>
                <a:ea typeface="Noto Sans SC"/>
                <a:cs typeface="Noto Sans SC"/>
                <a:sym typeface="Noto Sans SC"/>
              </a:rPr>
              <a:t>下节主题：多Agent架构</a:t>
            </a:r>
            <a:endParaRPr lang="en-US" sz="1100"/>
          </a:p>
        </p:txBody>
      </p:sp>
      <p:cxnSp>
        <p:nvCxnSpPr>
          <p:cNvPr name="Connector 12" id="12"/>
          <p:cNvCxnSpPr/>
          <p:nvPr/>
        </p:nvCxnSpPr>
        <p:spPr>
          <a:xfrm rot="-9291" flipH="false" flipV="false">
            <a:off x="6477009" y="2724150"/>
            <a:ext cx="4699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13" id="13"/>
          <p:cNvSpPr/>
          <p:nvPr/>
        </p:nvSpPr>
        <p:spPr>
          <a:xfrm rot="0" flipH="false" flipV="false">
            <a:off x="6477000" y="2857500"/>
            <a:ext cx="4699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FFFFFF">
                    <a:alpha val="80000"/>
                  </a:srgbClr>
                </a:solidFill>
                <a:latin typeface="Noto Sans SC"/>
                <a:ea typeface="Noto Sans SC"/>
                <a:cs typeface="Noto Sans SC"/>
                <a:sym typeface="Noto Sans SC"/>
              </a:rPr>
              <a:t>深入探讨如何通过分布式架构解决单一Agent的瓶颈，实现真正的任务并行与协作。</a:t>
            </a:r>
            <a:endParaRPr lang="en-US" sz="1100"/>
          </a:p>
        </p:txBody>
      </p:sp>
      <p:sp>
        <p:nvSpPr>
          <p:cNvPr name="AutoShape 14" id="14"/>
          <p:cNvSpPr/>
          <p:nvPr/>
        </p:nvSpPr>
        <p:spPr>
          <a:xfrm rot="0" flipH="false" flipV="false">
            <a:off x="762000" y="4572000"/>
            <a:ext cx="5207000" cy="1016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762500"/>
            <a:ext cx="304800" cy="304800"/>
          </a:xfrm>
          <a:prstGeom prst="rect">
            <a:avLst/>
          </a:prstGeom>
        </p:spPr>
      </p:pic>
      <p:sp>
        <p:nvSpPr>
          <p:cNvPr name="AutoShape 16" id="16"/>
          <p:cNvSpPr/>
          <p:nvPr/>
        </p:nvSpPr>
        <p:spPr>
          <a:xfrm rot="0" flipH="false" flipV="false">
            <a:off x="1460500" y="4762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难度升级：中级 → 中高级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架构设计复杂度提升，涉及更多系统级思考</a:t>
            </a:r>
          </a:p>
        </p:txBody>
      </p:sp>
      <p:sp>
        <p:nvSpPr>
          <p:cNvPr name="AutoShape 17" id="17"/>
          <p:cNvSpPr/>
          <p:nvPr/>
        </p:nvSpPr>
        <p:spPr>
          <a:xfrm rot="0" flipH="false" flipV="false">
            <a:off x="6223000" y="4572000"/>
            <a:ext cx="5207000" cy="1016000"/>
          </a:xfrm>
          <a:prstGeom prst="roundRect">
            <a:avLst>
              <a:gd name="adj" fmla="val 12500"/>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762500"/>
            <a:ext cx="304800" cy="304800"/>
          </a:xfrm>
          <a:prstGeom prst="rect">
            <a:avLst/>
          </a:prstGeom>
        </p:spPr>
      </p:pic>
      <p:sp>
        <p:nvSpPr>
          <p:cNvPr name="AutoShape 19" id="19"/>
          <p:cNvSpPr/>
          <p:nvPr/>
        </p:nvSpPr>
        <p:spPr>
          <a:xfrm rot="0" flipH="false" flipV="false">
            <a:off x="6921500" y="4762500"/>
            <a:ext cx="431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FFFFFF"/>
                </a:solidFill>
                <a:latin typeface="Noto Sans SC"/>
                <a:ea typeface="Noto Sans SC"/>
                <a:cs typeface="Noto Sans SC"/>
                <a:sym typeface="Noto Sans SC"/>
              </a:rPr>
              <a:t>预习建议：Redis Pub/Sub</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FFFFFF">
                    <a:alpha val="60000"/>
                  </a:srgbClr>
                </a:solidFill>
                <a:latin typeface="Noto Sans SC"/>
                <a:ea typeface="Noto Sans SC"/>
                <a:cs typeface="Noto Sans SC"/>
                <a:sym typeface="Noto Sans SC"/>
              </a:rPr>
              <a:t>提前了解消息队列与发布订阅模式的基础知识</a:t>
            </a:r>
          </a:p>
        </p:txBody>
      </p:sp>
      <p:pic>
        <p:nvPicPr>
          <p:cNvPr name="Picture 20" id="20"/>
          <p:cNvPicPr>
            <a:picLocks noChangeAspect="true"/>
          </p:cNvPicPr>
          <p:nvPr/>
        </p:nvPicPr>
        <p:blipFill>
          <a:blip r:embed="rId11"/>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